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68" r:id="rId61"/>
    <p:sldId id="274" r:id="rId12"/>
    <p:sldId id="269" r:id="rId6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51E"/>
    <a:srgbClr val="FB6306"/>
    <a:srgbClr val="FAFAFA"/>
    <a:srgbClr val="FFFFFF"/>
    <a:srgbClr val="0061DA"/>
    <a:srgbClr val="F74912"/>
    <a:srgbClr val="E9BB9F"/>
    <a:srgbClr val="EB002C"/>
    <a:srgbClr val="FFDD71"/>
    <a:srgbClr val="F95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5" autoAdjust="0"/>
    <p:restoredTop sz="84988" autoAdjust="0"/>
  </p:normalViewPr>
  <p:slideViewPr>
    <p:cSldViewPr>
      <p:cViewPr>
        <p:scale>
          <a:sx n="98" d="100"/>
          <a:sy n="98" d="100"/>
        </p:scale>
        <p:origin x="245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034" y="-108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.xml"/><Relationship Id="rId62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r">
              <a:defRPr sz="1200"/>
            </a:lvl1pPr>
          </a:lstStyle>
          <a:p>
            <a:fld id="{AA418431-0B53-4AF1-8AD8-9A9A7D49F4A5}" type="datetimeFigureOut">
              <a:rPr lang="ko-KR" altLang="en-US" smtClean="0"/>
              <a:pPr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72050" cy="3729037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0"/>
          </a:gradFill>
          <a:ln w="12700">
            <a:solidFill>
              <a:prstClr val="black"/>
            </a:solidFill>
          </a:ln>
        </p:spPr>
        <p:txBody>
          <a:bodyPr vert="horz" lIns="94531" tIns="47265" rIns="94531" bIns="4726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2" y="4721186"/>
            <a:ext cx="5445759" cy="4472702"/>
          </a:xfrm>
          <a:prstGeom prst="rect">
            <a:avLst/>
          </a:prstGeom>
        </p:spPr>
        <p:txBody>
          <a:bodyPr vert="horz" lIns="94531" tIns="47265" rIns="94531" bIns="4726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r">
              <a:defRPr sz="1200"/>
            </a:lvl1pPr>
          </a:lstStyle>
          <a:p>
            <a:fld id="{72D75F77-8026-4911-8E6D-EBCB86E5E0B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65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정제기 1대의 과거 최대인 월 11 Batch를 30일(720 h)에 놓으면 투입 간격은 65.5 h이고, 11 × 190 = 2,090 kg입니다.</a:t>
            </a:r>
          </a:p>
          <a:p>
            <a:r>
              <a:t>막대는 준비·투입 2 h + 순수 정제 45 h를 정제기 운전으로, 이후 다음 투입까지를 해제·전환 구간(구성 확인)으로 표시했습니다. 정제가 끝난 Batch는 PQC~이송·FQC 8 h 뒤 충진하며, 그동안 다음 Batch가 정제됩니다.</a:t>
            </a:r>
          </a:p>
          <a:p>
            <a:r>
              <a:t>순수 정제만 놓고 보면 720 ÷ 45 = 16 Batch(3,040 kg)이지만 점유·전환·보수 등을 뺀 이론값입니다. 11 Batch 기준 495 h를 뺀 225 h를 전부 손실이나 충진시간으로 보지 않습니다.</a:t>
            </a:r>
          </a:p>
          <a:p>
            <a:r>
              <a:t>현재 연간 Capa. 26.2톤은 190 kg 기준 137.9 Batch 상당(월 11.5 Batch, 2,183 kg)입니다. 운전시간·가동률을 조정해서 맞춘 값이 아닙니다.</a:t>
            </a:r>
          </a:p>
          <a:p>
            <a:r>
              <a:t>2026 출하 제시분은 19,220 kg(하이닉스 16,980 + 이지켐 2,240)이며 CXMT·한솔 물량은 아직 제시되지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정제기 2대 운전 예시입니다. 설비별 투입 간격 64.6 h는 월 Capa. 4,290.9 kg ÷ 190 = 22.6 Batch를 평균 월 730 h에 2대로 나눈 역산값이고, 정제기 2 시차 30 h는 설명용 가정입니다. 실제 투입 간격은 초류 진행과 충진 처리능력을 보고 정합니다.</a:t>
            </a:r>
          </a:p>
          <a:p>
            <a:r>
              <a:t>30일(720 h) 안에 FQC가 끝나는 Batch는 22개(4,180 kg)이고, 월평균 730 h 기준으로는 22.6 Batch = 4,291 kg입니다.</a:t>
            </a:r>
          </a:p>
          <a:p>
            <a:r>
              <a:t>두 정제기의 완료 시점이 엇갈려 5 Gal 충진(18 h)과 200 L 충진(8 h)이 겹치지 않게 배치됩니다. 충진은 출하 비중(7월 기준 200 L 약 30%)에 맞춰 일부 Batch를 200 L로 표시했습니다.</a:t>
            </a:r>
          </a:p>
          <a:p>
            <a:r>
              <a:t>기존 생산계획의 5~12월 3,564 kg은 190 kg 기준 월 18.8 Batch, 설비별 간격 약 78 h에 해당합니다. 2028년 105℃ 기준 4,563.6 kg은 월 24.0 Batch입니다.</a:t>
            </a:r>
          </a:p>
          <a:p>
            <a:r>
              <a:t>Batch 수가 늘어나면 글로브 박스 충진·검사·Tank·포장이 먼저 병목이 될 수 있어, 정제능력과 최종 출하능력은 구분해서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버전을 같은 출하계획(2027 41.72톤, 2028 45.76톤)과 비교했습니다. 2027년 1~4월은 확정 생산(2,178 · 2,178 · 3,168 · 1,188 kg)으로 두 버전이 같고, 재고는 2027.1.1 기초재고 2,882 kg에서 시작해 전월 재고 + 생산 − 출하로 이어집니다.</a:t>
            </a:r>
          </a:p>
          <a:p>
            <a:r>
              <a:t>① Capa. 기준: 2027년 5~12월 47,200 ÷ 11 = 4,290.9 kg/월, 2028년 105℃ 50,200 ÷ 11 = 4,563.6 kg/월(4월 대정비 1,188 kg 별도). 2027년 +1,319 kg, 2028년 +5,628 kg. 4월 대정비 달에 재고가 −579 kg까지 내려가고, '27 말 +4,201 kg, '28 말 +9,829 kg입니다.</a:t>
            </a:r>
          </a:p>
          <a:p>
            <a:r>
              <a:t>② 기존 생산계획: 2027년 5~12월 3,564 kg, 2028년 3,564 kg(4월 1,188 · 8~12월 3,168 kg). 2027년 −4,496 kg, 2028년 −7,348 kg으로 '27 말 −1,614 kg, '28 말 −8,962 kg까지 부족이 커집니다.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2027년 ① Capa. 기준 (47.2톤). 생산 43,039 kg, 출하 41,720 kg, 차이 +1,319 kg. 2027년 1~4월은 확정 생산(2,178 · 2,178 · 3,168 · 1,188 kg, 4월 대정비)입니다. 5월부터 월 Capa. 47,200 ÷ 11 = 4,290.9 kg을 적용했습니다. 재고는 2027.1.1 기초재고 2,882 kg에서 전월 재고 + 생산 − 출하로 이어지며, 2027년 최저 −579 kg(4월), 연말 +4,201 kg입니다. 출하: 하이닉스 22,720 ÷ 12, CXMT 7,000, 이지켐 8,400, 한솔 3,600 kg. 이지켐은 7월부터 월 840 kg입니다.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2027년 ② 기존 생산계획. 생산 37,224 kg, 출하 41,720 kg, 차이 −4,496 kg. 2027년 1~4월은 확정 생산(2,178 · 2,178 · 3,168 · 1,188 kg, 4월 대정비)입니다. 기존 생산계획 수치(3,564 · 3,168 · 2,178 · 1,188 kg)는 198 kg × 정수 Batch(18 · 16 · 11 · 6)와 일치합니다 — 계획 Batch량 기준 확인 필요. 재고는 2027.1.1 기초재고 2,882 kg에서 전월 재고 + 생산 − 출하로 이어지며, 2027년 최저 −1,614 kg(12월), 연말 −1,614 kg입니다. 출하: 하이닉스 22,720 ÷ 12, CXMT 7,000, 이지켐 8,400, 한솔 3,600 kg. 이지켐은 7월부터 월 840 kg입니다.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2028년 ① Capa. 기준 (50.2톤). 생산 51,388 kg, 출하 45,760 kg, 차이 +5,628 kg. 105℃ 50.2톤 기준으로 50,200 ÷ 11 = 4,563.6 kg, 4월 대정비 1,188 kg입니다. 105℃는 품질 검증·승인이 전제입니다. 재고는 2027.1.1 기초재고 2,882 kg에서 전월 재고 + 생산 − 출하로 이어지며, 2028년 최저 +3,827 kg(4월), 연말 +9,829 kg입니다. 출하: 하이닉스 22,720 ÷ 12, CXMT 9,360, 이지켐 10,080, 한솔 3,600 kg. 2028년 물량은 2027년 하반기 수준을 유지한 비교용 가정입니다.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2028년 ② 기존 생산계획. 생산 38,412 kg, 출하 45,760 kg, 차이 −7,348 kg. 기존 생산계획 수치(3,564 · 3,168 · 2,178 · 1,188 kg)는 198 kg × 정수 Batch(18 · 16 · 11 · 6)와 일치합니다 — 계획 Batch량 기준 확인 필요. 재고는 2027.1.1 기초재고 2,882 kg에서 전월 재고 + 생산 − 출하로 이어지며, 2028년 최저 −8,962 kg(12월), 연말 −8,962 kg입니다. 출하: 하이닉스 22,720 ÷ 12, CXMT 9,360, 이지켐 10,080, 한솔 3,600 kg. 2028년 물량은 2027년 하반기 수준을 유지한 비교용 가정입니다.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후공정 작업량은 출하 물량으로 계산했습니다. 5 Gal은 (하이닉스 + CXMT) ÷ 20 kg × 2 h, 200 L은 이지켐 140 kg · 한솔 150 kg 용기 × 8 h(수동 기준)입니다.</a:t>
            </a:r>
          </a:p>
          <a:p>
            <a:r>
              <a:t>2027년 하반기부터 5 Gal 충진이 월 약 267 h로 1교대(8 h × 22일 = 176 h)를 넘습니다. 정제기가 2대가 되어도 충진·검사·Tank가 따라오지 못하면 출하량은 늘지 않으므로 교대·인원 계획이 함께 필요합니다.</a:t>
            </a:r>
          </a:p>
          <a:p>
            <a:r>
              <a:t>ARS는 실제 충진은 더 길 수 있지만 용기 투입·반출·퍼지를 포함하면 수동과 전체 시간이 비슷할 수 있다는 설명이 있어, 실측 전까지 수동 8 h를 그대로 적용했습니다. ARS 효과는 Capa.에 더하지 않았습니다.</a:t>
            </a:r>
          </a:p>
          <a:p>
            <a:r>
              <a:t>충진·포장 1~1.5일, 18 h → 9 h는 검토 중인 개선 방향으로, 계산에는 반영하지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생산팀과 나눈 대화 중 생산·품질·설비·충진 관련 내용만 정리했습니다. 구두로 언급된 회수량(160~170 kg, 약 220 kg, 195~200 kg)은 운전 조건과 대상이 구분되지 않아 확정 생산량으로 쓰지 않고, 환산 기준은 190 kg/Batch를 유지했습니다.</a:t>
            </a:r>
          </a:p>
          <a:p>
            <a:r>
              <a:t>수율은 신규 Crude만이 아니라 재투입·Mix를 포함한 총 투입량 기준으로 따로 계산해야 합니다(Excel 09 시트 입력란). '135 · 120'은 단위가 확인되지 않아 생산량으로 입력하지 않았고, '65%에서 5% 상승'도 정의를 확인할 항목입니다.</a:t>
            </a:r>
          </a:p>
          <a:p>
            <a:r>
              <a:t>이지켐은 색도 때문에 추가 투입을 제한하는 경우가 있어, 고객별 품질·색도 규격과 합격률을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As-is는 정제기 1대로 하이닉스·CXMT·이지켐(한솔 '27~)을 함께 생산합니다.</a:t>
            </a:r>
          </a:p>
          <a:p>
            <a:r>
              <a:t>57 h는 IQC부터 FQC까지의 현재 보고 기준이고, 순수 정제 45 h는 57 − IQC 2 − 준비·투입 2 − PQC~이송 6 − FQC 2로 계산한 값입니다(실측 아님). 대화 중 57 − 2 − 6 = 49 h 계산, 과거 약 72 h · 최근 약 53 h 언급이 있어 원자료의 측정 시작·종료점은 확인이 필요합니다.</a:t>
            </a:r>
          </a:p>
          <a:p>
            <a:r>
              <a:t>PQC와 제품 이송은 합쳐서 6 h입니다. 57 h에는 충진·OQC가 포함되지 않습니다.</a:t>
            </a:r>
          </a:p>
          <a:p>
            <a:r>
              <a:t>5 Gal 9병은 2 h × 9 = 18 h 작업이며 현장에서는 근무시간 기준 약 2일로 설명합니다. 200 L은 이지켐·한솔 모두 수동 8 h/용기로 반영했습니다.</a:t>
            </a:r>
          </a:p>
          <a:p>
            <a:r>
              <a:t>경로별 합계 77 h · 67 h는 확인된 시간 항목을 더한 값으로, 달력 기준 납기나 다음 Batch 투입 간격과는 다릅니다. 충진이 진행되는 동안 다음 Batch 정제가 가능합니다.</a:t>
            </a:r>
          </a:p>
          <a:p>
            <a:r>
              <a:t>190 kg과 5 Gal 9병 180 kg의 차이 10 kg은 잔량·추가 충진·다른 고객 배분 여부를 확인할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리플럭스 이후에는 정제기 2대를 활용합니다. 정제기 1을 먼저 투입·운전하고, 초류 진행에 맞춰 정제기 2를 투입해 두 설비의 운전 구간을 겹칩니다(현장 설명: 다음 날 투입·초류 중간·초류 종료 무렵 — 투입 간격은 미확정).</a:t>
            </a:r>
          </a:p>
          <a:p>
            <a:r>
              <a:t>정제기별 Batch 시간이 절반으로 줄어드는 것이 아니라 두 설비의 생산을 겹쳐 전체 생산량을 늘리는 방식이며, 제품 회수 시점이 엇갈려 검사·충진 부하가 한꺼번에 몰리지 않습니다. 57 ÷ 2 = 28.5 h는 이상적인 경우의 도착 간격 설명일 뿐 정제기별 Batch 시간이 아닙니다.</a:t>
            </a:r>
          </a:p>
          <a:p>
            <a:r>
              <a:t>일정: '27.1~3 정제기 1대 확정 생산(2,178 · 2,178 · 3,168 kg) → '27.4 대정비(1,188 kg) → '27.5부터 정제기 2대. 대정비는 매년 4월로 반영했습니다. 200 L ARS는 '27.7부터(이지켐·한솔), 5 Gal은 글로브 박스를 유지합니다.</a:t>
            </a:r>
          </a:p>
          <a:p>
            <a:r>
              <a:t>Capa.: 26.2 + 21 = 47.2톤/년. 월 기준은 47,200 ÷ 11 = 4,290.9 kg이고 대정비 월(4월)은 1,188 kg을 따로 둡니다. 2028년은 105℃ 적용(+3톤)으로 50.2톤, 50,200 ÷ 11 = 월 4,563.6 kg — 열 안정성·Dimer·Unknown impurity·수율 검증과 승인이 전제입니다.</a:t>
            </a:r>
          </a:p>
          <a:p>
            <a:r>
              <a:t>47.2톤이 현재의 2배(52.4톤)가 아닌 것은 추가 투입용 Mix·Premix 준비 등에 설비 시간이 필요하기 때문이며, 각 요인의 손실량은 아직 정량화되지 않았습니다.</a:t>
            </a:r>
          </a:p>
          <a:p>
            <a:r>
              <a:t>리플럭스는 하이닉스 요구 품질 대응과 생산능력 확대를 함께 보는 프로젝트입니다. 추가 정제기가 기존 설비 개조인지 신규 설치인지, 설비 번호(2070·2060 등)는 도면과 대조해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71A4B21-8DEE-4335-81E3-826974046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05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D615167A-2341-4D77-BF97-C98DABC7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571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3547" y="3829914"/>
            <a:ext cx="8229600" cy="63356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2040" y="573234"/>
            <a:ext cx="8229600" cy="2508741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  <a:lvl3pPr algn="r"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0715BF9F-7BEC-43D5-AA15-65F5EC73A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38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02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공정 흐름과 공정시간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현재 정제기 1대 · IQC~FQC 57 h (순수 정제 45 h) · 정제 중 이전 Batch 검사·충진 병행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noFill/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40940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900940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00940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공용 정제기 1대 · 103℃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공동 (한솔 '27~)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139771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280940" y="1310000"/>
            <a:ext cx="113895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422949" y="1915000"/>
            <a:ext cx="1335982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 (현장 약 2일)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FFF3E6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200 L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8 h/용기 (이지켐 · 한솔)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92594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46427" y="251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92594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46427" y="303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한솔('27~)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090940" y="975000"/>
            <a:ext cx="168052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090940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0187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42514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59" name="Rectangle 257"/>
          <p:cNvSpPr/>
          <p:nvPr/>
        </p:nvSpPr>
        <p:spPr>
          <a:xfrm>
            <a:off x="283464" y="3502151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34747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공정시간 단순 합계 (h)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IQC~FQC 57 h + 충진 + OQC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83464" y="3822191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9병 (하이닉스·CXMT)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1920240" y="3767328"/>
            <a:ext cx="160316" cy="27432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080556" y="3767328"/>
            <a:ext cx="160316" cy="27432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240873" y="3767328"/>
            <a:ext cx="3607129" cy="27432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5848003" y="3767328"/>
            <a:ext cx="480950" cy="274320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70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PQC 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6328954" y="3767328"/>
            <a:ext cx="160316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489271" y="3767328"/>
            <a:ext cx="1442851" cy="27432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18 h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7932123" y="3767328"/>
            <a:ext cx="160316" cy="27432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8147304" y="3803904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77 h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283464" y="4169663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이지켐 200 L 1용기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920240" y="4114800"/>
            <a:ext cx="160316" cy="27432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2080556" y="4114800"/>
            <a:ext cx="160316" cy="27432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2240873" y="4114800"/>
            <a:ext cx="3607129" cy="27432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5848003" y="4114800"/>
            <a:ext cx="480950" cy="274320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70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PQC 6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6328954" y="4114800"/>
            <a:ext cx="160316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489271" y="4114800"/>
            <a:ext cx="641267" cy="27432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8 h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7130538" y="4114800"/>
            <a:ext cx="160316" cy="27432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7345719" y="415137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67 h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283464" y="4517136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한솔 200 L 1용기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920240" y="4462272"/>
            <a:ext cx="160316" cy="27432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2080556" y="4462272"/>
            <a:ext cx="160316" cy="27432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2240873" y="4462272"/>
            <a:ext cx="3607129" cy="27432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848003" y="4462272"/>
            <a:ext cx="480950" cy="274320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70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PQC 6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6328954" y="4462272"/>
            <a:ext cx="160316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6489271" y="4462272"/>
            <a:ext cx="641267" cy="27432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8 h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7130538" y="4462272"/>
            <a:ext cx="160316" cy="27432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7345719" y="449884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67 h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6489271" y="3712463"/>
            <a:ext cx="12801" cy="10607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5940631" y="4791456"/>
            <a:ext cx="109728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▲ IQC~FQC 57 h</a:t>
            </a:r>
          </a:p>
        </p:txBody>
      </p:sp>
      <p:graphicFrame>
        <p:nvGraphicFramePr>
          <p:cNvPr id="290" name="Table 289"/>
          <p:cNvGraphicFramePr>
            <a:graphicFrameLocks noGrp="1"/>
          </p:cNvGraphicFramePr>
          <p:nvPr/>
        </p:nvGraphicFramePr>
        <p:xfrm>
          <a:off x="283464" y="5074920"/>
          <a:ext cx="8567928" cy="1097280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1051560"/>
                <a:gridCol w="1051560"/>
                <a:gridCol w="1051560"/>
                <a:gridCol w="1051560"/>
                <a:gridCol w="1984248"/>
              </a:tblGrid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경로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IQC~FQC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OQC·출하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충진량 · 기준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9병 (하이닉스·CXMT)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180 kg (9병) · 2 h/병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200 L 1용기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 kg · 8 h/용기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200 L 1용기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 kg · 8 h/용기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운영과 투자 일정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2대의 투입 시점을 엇갈리게 운영하여 생산을 병행하고, 후공정 부하를 분산하는 계획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solidFill>
            <a:srgbClr val="FDEDF0"/>
          </a:solidFill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78009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438009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438009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정제기 1·2 · 투입 시점 엇갈림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공용 배정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930895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721496" y="1310000"/>
            <a:ext cx="69839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31231" y="1915000"/>
            <a:ext cx="1723129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 (설비별)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 (유지)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EFE6F7"/>
          </a:solidFill>
          <a:ln w="15875">
            <a:solidFill>
              <a:srgbClr val="7030A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→ ARS ('27.7~)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수동 8 h/용기 · ARS 단계별 시간 실측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792193" y="251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12256" y="251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792193" y="303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12256" y="303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102622" y="975000"/>
            <a:ext cx="1668842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102622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26615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67256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462" name="Round Same Side Corner Rectangle 178"/>
          <p:cNvSpPr/>
          <p:nvPr/>
        </p:nvSpPr>
        <p:spPr>
          <a:xfrm rot="10800000">
            <a:off x="5338152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3" name="Rectangle 177"/>
          <p:cNvSpPr/>
          <p:nvPr/>
        </p:nvSpPr>
        <p:spPr>
          <a:xfrm>
            <a:off x="5478152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4" name="TextBox 179"/>
          <p:cNvSpPr txBox="1"/>
          <p:nvPr/>
        </p:nvSpPr>
        <p:spPr>
          <a:xfrm>
            <a:off x="5338152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994214" y="1280160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시차</a:t>
            </a:r>
          </a:p>
        </p:txBody>
      </p:sp>
      <p:sp>
        <p:nvSpPr>
          <p:cNvPr id="466" name="Rectangle 257"/>
          <p:cNvSpPr/>
          <p:nvPr/>
        </p:nvSpPr>
        <p:spPr>
          <a:xfrm>
            <a:off x="283464" y="3465575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7" name="TextBox 258"/>
          <p:cNvSpPr txBox="1"/>
          <p:nvPr/>
        </p:nvSpPr>
        <p:spPr>
          <a:xfrm>
            <a:off x="393192" y="34381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투자 · 운영 일정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매년 4월 대정비 · '27.5 정제기 2대 생산 시작</a:t>
            </a:r>
          </a:p>
        </p:txBody>
      </p:sp>
      <p:graphicFrame>
        <p:nvGraphicFramePr>
          <p:cNvPr id="468" name="Table 467"/>
          <p:cNvGraphicFramePr>
            <a:graphicFrameLocks noGrp="1"/>
          </p:cNvGraphicFramePr>
          <p:nvPr/>
        </p:nvGraphicFramePr>
        <p:xfrm>
          <a:off x="283464" y="3675887"/>
          <a:ext cx="8540496" cy="1504187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2028년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(확정)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 · 2,178 · 3,168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 (매년 4월)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생산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4,290.9 kg (47,200 ÷ 11) · 기존 생산계획 3,564 kg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4,563.6 kg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 wrap="none"/>
                    <a:lstStyle/>
                    <a:p>
                      <a:pPr algn="ctr"/>
                      <a:r>
                        <a:rPr sz="7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'27.7~ (이지켐 · 한솔) · 5 Gal은 글로브 박스 유지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4DFEC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105℃ (2028)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103 → 105℃ · +3톤 (50.2톤)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4DFEC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9" name="Rectangle 257"/>
          <p:cNvSpPr/>
          <p:nvPr/>
        </p:nvSpPr>
        <p:spPr>
          <a:xfrm>
            <a:off x="283464" y="531266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70" name="TextBox 258"/>
          <p:cNvSpPr txBox="1"/>
          <p:nvPr/>
        </p:nvSpPr>
        <p:spPr>
          <a:xfrm>
            <a:off x="393192" y="5285232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 기준 — 4월 대정비 1,188 kg · 나머지 11개월에 연간 Capa. ÷ 11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471" name="Table 470"/>
          <p:cNvGraphicFramePr>
            <a:graphicFrameLocks noGrp="1"/>
          </p:cNvGraphicFramePr>
          <p:nvPr/>
        </p:nvGraphicFramePr>
        <p:xfrm>
          <a:off x="283464" y="5522976"/>
          <a:ext cx="8567928" cy="749808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1188720"/>
                <a:gridCol w="1371600"/>
                <a:gridCol w="1554480"/>
                <a:gridCol w="2075688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Capa.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 (대정비)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나머지 11개월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정제기 1대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 ÷ 12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('27.5~)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47.2톤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47,200 ÷ 11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105℃ 적용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50.2톤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50,200 ÷ 11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정제기 1대 한 달 운전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1대 한 달 11 Batch = 2,090 kg (과거 최대) · 연간 26.2톤 = 월 2,183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30일 운전 예시 — 과거 최대 월 11 Batch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투입 간격 720 ÷ 11 = 65.5 h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207008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462125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717243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972360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2227478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2482596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2737713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2992831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247948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3503066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3758183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4013301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268419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4523536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4778654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5033772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5288889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5544007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799124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54242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6309359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64477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6819595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7074712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329830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7584947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7840065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8095183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8350300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8605418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283464" y="1243584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일 (30일)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283464" y="1495044"/>
            <a:ext cx="9144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1207008" y="1728216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283464" y="1842516"/>
            <a:ext cx="9144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PQC~FQC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207008" y="2075688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283464" y="2189988"/>
            <a:ext cx="9144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207008" y="2423160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283464" y="2537460"/>
            <a:ext cx="9144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충진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207008" y="2770632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283464" y="2884932"/>
            <a:ext cx="9144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kg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1207008" y="3118103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207008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462125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717243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972360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227478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482596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737713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992831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3247948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3503066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758183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4013301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4268419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4523536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4778654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5033772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5288889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5544007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5799124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6054242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6309359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6564477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6819595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7074712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7329830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7584947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7840065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8095183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8350300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8605418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8860536" y="1399032"/>
            <a:ext cx="9144" cy="17190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207008" y="1453896"/>
            <a:ext cx="2125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228267" y="145389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1727873" y="1453896"/>
            <a:ext cx="19616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727873" y="1801368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924043" y="145389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2423648" y="1453896"/>
            <a:ext cx="19616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2423648" y="1801368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2619818" y="145389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3119423" y="1453896"/>
            <a:ext cx="19616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3119423" y="1801368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3315593" y="145389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3815198" y="1453896"/>
            <a:ext cx="19616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3815198" y="1801368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4011368" y="145389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4510974" y="1453896"/>
            <a:ext cx="19616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4510974" y="1801368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4707144" y="145389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5206749" y="1453896"/>
            <a:ext cx="19616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5206749" y="1801368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5402919" y="145389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B7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5902524" y="1453896"/>
            <a:ext cx="19616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5902524" y="1801368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6098694" y="145389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B8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6598300" y="1453896"/>
            <a:ext cx="19616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6598300" y="1801368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6794469" y="145389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B9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7294075" y="1453896"/>
            <a:ext cx="19616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7294075" y="1801368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7490245" y="145389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B10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7989850" y="1453896"/>
            <a:ext cx="19616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7989850" y="1801368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8186020" y="145389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B11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8685625" y="1453896"/>
            <a:ext cx="174910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8685625" y="1801368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1207008" y="2148840"/>
            <a:ext cx="101467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1584312" y="28803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190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1812912" y="2148840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2280087" y="28803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380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2508687" y="2148840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2975862" y="28803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570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3204462" y="2148840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3671638" y="28803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760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3900238" y="2496312"/>
            <a:ext cx="85039" cy="219456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4367413" y="28803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950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4596013" y="2148840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5063188" y="28803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1,140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5291788" y="2148840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5758963" y="28803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1,330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5987563" y="2148840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454739" y="28803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1,520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6683339" y="2496312"/>
            <a:ext cx="85039" cy="219456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7150514" y="28803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1,710</a:t>
            </a:r>
          </a:p>
        </p:txBody>
      </p:sp>
      <p:sp>
        <p:nvSpPr>
          <p:cNvPr id="385" name="Rectangle 384"/>
          <p:cNvSpPr/>
          <p:nvPr/>
        </p:nvSpPr>
        <p:spPr>
          <a:xfrm>
            <a:off x="7379114" y="2148840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7846289" y="28803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1,900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8074889" y="2148840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8542065" y="28803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2,090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8770665" y="2496312"/>
            <a:ext cx="85039" cy="219456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1207008" y="3200399"/>
            <a:ext cx="182880" cy="10972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1435608" y="3172968"/>
            <a:ext cx="128016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준비·정제 47 h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2743200" y="3200399"/>
            <a:ext cx="182880" cy="109728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2971800" y="3172968"/>
            <a:ext cx="128016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해제·전환 (확인)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4279392" y="3200399"/>
            <a:ext cx="182880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4507992" y="3172968"/>
            <a:ext cx="128016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PQC~FQC 8 h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5583" y="3200399"/>
            <a:ext cx="182880" cy="10972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6044183" y="3172968"/>
            <a:ext cx="128016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 Gal 충진 18 h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7351775" y="3200399"/>
            <a:ext cx="182880" cy="109728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7580375" y="3172968"/>
            <a:ext cx="128016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200 L 충진 8 h</a:t>
            </a:r>
          </a:p>
        </p:txBody>
      </p:sp>
      <p:sp>
        <p:nvSpPr>
          <p:cNvPr id="400" name="Rectangle 257"/>
          <p:cNvSpPr/>
          <p:nvPr/>
        </p:nvSpPr>
        <p:spPr>
          <a:xfrm>
            <a:off x="283464" y="3557015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1" name="TextBox 258"/>
          <p:cNvSpPr txBox="1"/>
          <p:nvPr/>
        </p:nvSpPr>
        <p:spPr>
          <a:xfrm>
            <a:off x="393192" y="352958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생산량 비교 — 정제기 1대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402" name="Table 401"/>
          <p:cNvGraphicFramePr>
            <a:graphicFrameLocks noGrp="1"/>
          </p:cNvGraphicFramePr>
          <p:nvPr/>
        </p:nvGraphicFramePr>
        <p:xfrm>
          <a:off x="283464" y="3785615"/>
          <a:ext cx="8567928" cy="1463040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1005840"/>
                <a:gridCol w="1097280"/>
                <a:gridCol w="1097280"/>
                <a:gridCol w="2990088"/>
              </a:tblGrid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(t)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이론 (순수 정제만)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36.5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 h ÷ 45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최대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25.1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Batch × 190 kg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 kg ÷ 12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출하 (제시분)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8.4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1,602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19.2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CXMT·한솔 미제시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3" name="Rectangle 257"/>
          <p:cNvSpPr/>
          <p:nvPr/>
        </p:nvSpPr>
        <p:spPr>
          <a:xfrm>
            <a:off x="283464" y="5385816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4" name="TextBox 258"/>
          <p:cNvSpPr txBox="1"/>
          <p:nvPr/>
        </p:nvSpPr>
        <p:spPr>
          <a:xfrm>
            <a:off x="393192" y="535838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과거 최대 11 Batch의 720 h 구성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283464" y="56875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720 h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1207008" y="5632704"/>
            <a:ext cx="5261800" cy="329184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 11 × 45 = 495 h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6468808" y="5632704"/>
            <a:ext cx="233857" cy="329184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80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6702666" y="5632704"/>
            <a:ext cx="2157869" cy="32918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80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해제·전환·대기·보수 등 203 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시차 운전 한 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 · 30일 22 Batch = 4,180 kg · 월평균 22.6 Batch = 4,291 kg (47.2톤)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4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- 4 -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30일 운전 예시 — 정제기 2대 투입 시점 엇갈림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설비별 투입 간격 64.6 h · 정제기 2 시차 30 h (가정)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207008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462125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717243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972360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2227478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2482596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2737713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2992831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247948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3503066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3758183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4013301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268419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4523536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4778654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5033772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5288889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5544007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799124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54242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6309359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64477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6819595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7074712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329830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7584947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7840065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8095183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8350300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8605418" y="1243584"/>
            <a:ext cx="25511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283464" y="1243584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일 (30일)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283464" y="1485900"/>
            <a:ext cx="9144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1207008" y="1709928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283464" y="1815084"/>
            <a:ext cx="9144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2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207008" y="2039112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283464" y="2144268"/>
            <a:ext cx="9144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PQC~FQC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207008" y="2368296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283464" y="2473452"/>
            <a:ext cx="9144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207008" y="2697479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283464" y="2802636"/>
            <a:ext cx="9144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충진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1207008" y="302666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283464" y="3131820"/>
            <a:ext cx="9144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kg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1207008" y="3355848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207008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462125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717243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972360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227478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482596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737713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992831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247948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503066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758183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4013301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4268419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4523536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4778654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5033772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5288889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5544007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5799124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6054242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6309359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6564477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6819595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7074712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7329830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7584947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7840065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8095183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8350300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605418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8860536" y="1399032"/>
            <a:ext cx="9144" cy="1956816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207008" y="1444752"/>
            <a:ext cx="2125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228267" y="1444752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1727873" y="1444752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727873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915472" y="1444752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1-2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2415078" y="1444752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2415078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2602677" y="1444752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1-3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3102283" y="1444752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3102283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3289882" y="1444752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1-4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3789488" y="1444752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3789488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3977087" y="1444752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1-5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4476693" y="1444752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476693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4664292" y="1444752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1-6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5163898" y="1444752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5163898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5351497" y="1444752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1-7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5851103" y="1444752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5851103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6038702" y="1444752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1-8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6538308" y="1444752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6538308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6725907" y="1444752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1-9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7225513" y="1444752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7225513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7413112" y="1444752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1-10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7912718" y="1444752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7912718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8100317" y="1444752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1-11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8599923" y="1444752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8599923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8787523" y="1444752"/>
            <a:ext cx="73012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1207008" y="1773936"/>
            <a:ext cx="152557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1359565" y="1773936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1359565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1547164" y="177393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2046770" y="1773936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046770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234369" y="177393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2-2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2733975" y="1773936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733975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921574" y="177393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2-3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3421180" y="1773936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3421180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3608779" y="177393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2-4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4108385" y="1773936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4108385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4295984" y="177393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2-5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4795590" y="1773936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4795590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4983189" y="177393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2-6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5482795" y="1773936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5482795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5670394" y="177393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2-7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6170000" y="1773936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6170000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6357599" y="177393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2-8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6857205" y="1773936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6857205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7044804" y="177393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2-9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7544410" y="1773936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7544410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7732009" y="1773936"/>
            <a:ext cx="499605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2-10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8231615" y="1773936"/>
            <a:ext cx="187599" cy="219456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231615" y="2103120"/>
            <a:ext cx="85039" cy="21945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19214" y="1773936"/>
            <a:ext cx="441321" cy="219456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2-11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1207008" y="2432304"/>
            <a:ext cx="110037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1216004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190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1444604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1584312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380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1812912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1903209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570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2131809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2271517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760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2500117" y="2761487"/>
            <a:ext cx="85039" cy="219456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2590414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950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2819014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2958722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1,140</a:t>
            </a:r>
          </a:p>
        </p:txBody>
      </p:sp>
      <p:sp>
        <p:nvSpPr>
          <p:cNvPr id="416" name="Rectangle 415"/>
          <p:cNvSpPr/>
          <p:nvPr/>
        </p:nvSpPr>
        <p:spPr>
          <a:xfrm>
            <a:off x="3187322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3277619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1,330</a:t>
            </a:r>
          </a:p>
        </p:txBody>
      </p:sp>
      <p:sp>
        <p:nvSpPr>
          <p:cNvPr id="418" name="Rectangle 417"/>
          <p:cNvSpPr/>
          <p:nvPr/>
        </p:nvSpPr>
        <p:spPr>
          <a:xfrm>
            <a:off x="3506219" y="2761487"/>
            <a:ext cx="85039" cy="219456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3645927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1,520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3874527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3964824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1,710</a:t>
            </a:r>
          </a:p>
        </p:txBody>
      </p:sp>
      <p:sp>
        <p:nvSpPr>
          <p:cNvPr id="422" name="Rectangle 421"/>
          <p:cNvSpPr/>
          <p:nvPr/>
        </p:nvSpPr>
        <p:spPr>
          <a:xfrm>
            <a:off x="4193424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4333132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1,900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4561732" y="2761487"/>
            <a:ext cx="85039" cy="219456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5" name="TextBox 424"/>
          <p:cNvSpPr txBox="1"/>
          <p:nvPr/>
        </p:nvSpPr>
        <p:spPr>
          <a:xfrm>
            <a:off x="4652029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2,090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4880629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5020337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2,280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5248937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9" name="TextBox 428"/>
          <p:cNvSpPr txBox="1"/>
          <p:nvPr/>
        </p:nvSpPr>
        <p:spPr>
          <a:xfrm>
            <a:off x="5339234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2,470</a:t>
            </a:r>
          </a:p>
        </p:txBody>
      </p:sp>
      <p:sp>
        <p:nvSpPr>
          <p:cNvPr id="430" name="Rectangle 429"/>
          <p:cNvSpPr/>
          <p:nvPr/>
        </p:nvSpPr>
        <p:spPr>
          <a:xfrm>
            <a:off x="5567834" y="2761487"/>
            <a:ext cx="85039" cy="219456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5707542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2,660</a:t>
            </a:r>
          </a:p>
        </p:txBody>
      </p:sp>
      <p:sp>
        <p:nvSpPr>
          <p:cNvPr id="432" name="Rectangle 431"/>
          <p:cNvSpPr/>
          <p:nvPr/>
        </p:nvSpPr>
        <p:spPr>
          <a:xfrm>
            <a:off x="5936142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3" name="TextBox 432"/>
          <p:cNvSpPr txBox="1"/>
          <p:nvPr/>
        </p:nvSpPr>
        <p:spPr>
          <a:xfrm>
            <a:off x="6026439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2,850</a:t>
            </a:r>
          </a:p>
        </p:txBody>
      </p:sp>
      <p:sp>
        <p:nvSpPr>
          <p:cNvPr id="434" name="Rectangle 433"/>
          <p:cNvSpPr/>
          <p:nvPr/>
        </p:nvSpPr>
        <p:spPr>
          <a:xfrm>
            <a:off x="6255039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6394747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3,040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6623347" y="2761487"/>
            <a:ext cx="85039" cy="219456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7" name="TextBox 436"/>
          <p:cNvSpPr txBox="1"/>
          <p:nvPr/>
        </p:nvSpPr>
        <p:spPr>
          <a:xfrm>
            <a:off x="6713644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3,230</a:t>
            </a:r>
          </a:p>
        </p:txBody>
      </p:sp>
      <p:sp>
        <p:nvSpPr>
          <p:cNvPr id="438" name="Rectangle 437"/>
          <p:cNvSpPr/>
          <p:nvPr/>
        </p:nvSpPr>
        <p:spPr>
          <a:xfrm>
            <a:off x="6942244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7081952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3,420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7310552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7400849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3,610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7629449" y="2761487"/>
            <a:ext cx="85039" cy="219456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7769157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3,800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7997757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8088054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3,990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8316654" y="2432304"/>
            <a:ext cx="191338" cy="21945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8456362" y="31272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4,180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8684962" y="2761487"/>
            <a:ext cx="85039" cy="219456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1207008" y="3438144"/>
            <a:ext cx="182880" cy="10972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0" name="TextBox 449"/>
          <p:cNvSpPr txBox="1"/>
          <p:nvPr/>
        </p:nvSpPr>
        <p:spPr>
          <a:xfrm>
            <a:off x="1435608" y="3410712"/>
            <a:ext cx="128016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준비·정제 47 h</a:t>
            </a:r>
          </a:p>
        </p:txBody>
      </p:sp>
      <p:sp>
        <p:nvSpPr>
          <p:cNvPr id="451" name="Rectangle 450"/>
          <p:cNvSpPr/>
          <p:nvPr/>
        </p:nvSpPr>
        <p:spPr>
          <a:xfrm>
            <a:off x="2743200" y="3438144"/>
            <a:ext cx="182880" cy="109728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2971800" y="3410712"/>
            <a:ext cx="128016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해제·전환 (확인)</a:t>
            </a:r>
          </a:p>
        </p:txBody>
      </p:sp>
      <p:sp>
        <p:nvSpPr>
          <p:cNvPr id="453" name="Rectangle 452"/>
          <p:cNvSpPr/>
          <p:nvPr/>
        </p:nvSpPr>
        <p:spPr>
          <a:xfrm>
            <a:off x="4279392" y="3438144"/>
            <a:ext cx="182880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4" name="TextBox 453"/>
          <p:cNvSpPr txBox="1"/>
          <p:nvPr/>
        </p:nvSpPr>
        <p:spPr>
          <a:xfrm>
            <a:off x="4507992" y="3410712"/>
            <a:ext cx="128016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PQC~FQC 8 h</a:t>
            </a:r>
          </a:p>
        </p:txBody>
      </p:sp>
      <p:sp>
        <p:nvSpPr>
          <p:cNvPr id="455" name="Rectangle 454"/>
          <p:cNvSpPr/>
          <p:nvPr/>
        </p:nvSpPr>
        <p:spPr>
          <a:xfrm>
            <a:off x="5815583" y="3438144"/>
            <a:ext cx="182880" cy="10972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6044183" y="3410712"/>
            <a:ext cx="128016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 Gal 충진 18 h</a:t>
            </a:r>
          </a:p>
        </p:txBody>
      </p:sp>
      <p:sp>
        <p:nvSpPr>
          <p:cNvPr id="457" name="Rectangle 456"/>
          <p:cNvSpPr/>
          <p:nvPr/>
        </p:nvSpPr>
        <p:spPr>
          <a:xfrm>
            <a:off x="7351775" y="3438144"/>
            <a:ext cx="182880" cy="109728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8" name="TextBox 457"/>
          <p:cNvSpPr txBox="1"/>
          <p:nvPr/>
        </p:nvSpPr>
        <p:spPr>
          <a:xfrm>
            <a:off x="7580375" y="3410712"/>
            <a:ext cx="128016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200 L 충진 8 h</a:t>
            </a:r>
          </a:p>
        </p:txBody>
      </p:sp>
      <p:sp>
        <p:nvSpPr>
          <p:cNvPr id="459" name="Rectangle 257"/>
          <p:cNvSpPr/>
          <p:nvPr/>
        </p:nvSpPr>
        <p:spPr>
          <a:xfrm>
            <a:off x="283464" y="379476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0" name="TextBox 258"/>
          <p:cNvSpPr txBox="1"/>
          <p:nvPr/>
        </p:nvSpPr>
        <p:spPr>
          <a:xfrm>
            <a:off x="393192" y="3767328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생산량 비교 (대정비 외 달)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461" name="Table 460"/>
          <p:cNvGraphicFramePr>
            <a:graphicFrameLocks noGrp="1"/>
          </p:cNvGraphicFramePr>
          <p:nvPr/>
        </p:nvGraphicFramePr>
        <p:xfrm>
          <a:off x="283464" y="4023360"/>
          <a:ext cx="8567928" cy="2029968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822960"/>
                <a:gridCol w="1097280"/>
                <a:gridCol w="1188720"/>
                <a:gridCol w="1188720"/>
                <a:gridCol w="1618488"/>
              </a:tblGrid>
              <a:tr h="3383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(t)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설비별 간격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383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63.5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최대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25.1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65.5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생산계획 ('27.5~)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37.2 ('27)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Capa. 47.2톤 기준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47.2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383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105℃ 50.2톤 기준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50.2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2027~2028 생산 계획 버전 비교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'28 말 재고 — ① Capa. 기준 +9,829 kg · ② 기존 생산계획 −8,962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5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- 5 -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연간 생산 · 출하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재고 = 전월 재고 + 생산 − 출하 · 2027.1.1 기초재고 2,882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932688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713232"/>
                <a:gridCol w="713232"/>
                <a:gridCol w="658368"/>
                <a:gridCol w="713232"/>
                <a:gridCol w="713232"/>
                <a:gridCol w="658368"/>
                <a:gridCol w="731520"/>
                <a:gridCol w="731520"/>
                <a:gridCol w="923544"/>
              </a:tblGrid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버전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출하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생산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출하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'28 말 재고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Capa. 기준 (47.2 / 50.2톤)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43,039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+1,319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51,388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+5,628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 ('27.4)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기존 생산계획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37,224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−4,496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38,412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−7,348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 ('28.12)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231343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228600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 월별 생산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2542032"/>
          <a:ext cx="8567928" cy="1591056"/>
        </p:xfrm>
        <a:graphic>
          <a:graphicData uri="http://schemas.openxmlformats.org/drawingml/2006/table">
            <a:tbl>
              <a:tblPr firstRow="0" bandRow="0"/>
              <a:tblGrid>
                <a:gridCol w="1005840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758952"/>
              </a:tblGrid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43,039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+2,307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+1,731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+1,566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+1,336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+1,813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+2,291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+2,769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+3,246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+3,724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37,224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+2,307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+1,731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+1,566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−349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−118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−367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−617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−866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−1,115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−1,365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283464" y="4288536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393192" y="426110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2028 월별 생산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283464" y="4517136"/>
          <a:ext cx="8567928" cy="1591056"/>
        </p:xfrm>
        <a:graphic>
          <a:graphicData uri="http://schemas.openxmlformats.org/drawingml/2006/table">
            <a:tbl>
              <a:tblPr firstRow="0" bandRow="0"/>
              <a:tblGrid>
                <a:gridCol w="1005840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758952"/>
              </a:tblGrid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51,388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+4,952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+5,702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+6,452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+3,827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+4,577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+5,327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+6,078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+6,828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+7,578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+8,329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+9,079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38,412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−1,863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−2,113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−2,362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−4,987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−5,237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−5,486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−5,735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−6,381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−7,026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−7,671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−8,317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① Capa. 기준 (47.2톤)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43.04톤 vs 출하 41.72톤 → +1,319 kg · 연말 재고 +4,201 kg (4월 −579)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6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- 6 -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출하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1~3월 확정 · 4월 대정비 1,188 · 5~12월 47,200 ÷ 11 = 4,290.9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4517136"/>
        </p:xfrm>
        <a:graphic>
          <a:graphicData uri="http://schemas.openxmlformats.org/drawingml/2006/table">
            <a:tbl>
              <a:tblPr firstRow="0" bandRow="0"/>
              <a:tblGrid>
                <a:gridCol w="1051560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768096"/>
              </a:tblGrid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43,039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(÷190)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226.5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+958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+958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+1,319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+2,307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+1,731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+1,566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+1,336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+2,291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+2,769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+3,246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+3,724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+4,201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SK하이닉스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8,400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219.6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② 기존 생산계획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37.22톤 vs 출하 41.72톤 → −4,496 kg · 연말 재고 −1,614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7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- 7 -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출하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1~3월 확정 · 4월 대정비 1,188 · 5~12월 3,564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4517136"/>
        </p:xfrm>
        <a:graphic>
          <a:graphicData uri="http://schemas.openxmlformats.org/drawingml/2006/table">
            <a:tbl>
              <a:tblPr firstRow="0" bandRow="0"/>
              <a:tblGrid>
                <a:gridCol w="1051560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768096"/>
              </a:tblGrid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37,224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(÷190)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195.9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−4,496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+2,307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+1,731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+1,566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−118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−367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−617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−866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−1,115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−1,365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−1,614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SK하이닉스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8,400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41,720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219.6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수동/수동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2028년 ① Capa. 기준 (50.2톤)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51.39톤 vs 출하 45.76톤 → +5,628 kg · 연말 재고 +9,829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8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- 8 -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출하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4월 대정비 1,188 · 나머지 11개월 50,200 ÷ 11 = 4,563.6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4517136"/>
        </p:xfrm>
        <a:graphic>
          <a:graphicData uri="http://schemas.openxmlformats.org/drawingml/2006/table">
            <a:tbl>
              <a:tblPr firstRow="0" bandRow="0"/>
              <a:tblGrid>
                <a:gridCol w="1051560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768096"/>
              </a:tblGrid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2대·105℃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2대·105℃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51,388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(÷190)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270.5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−2,625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+5,628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+4,952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+5,702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+6,452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+3,827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+4,577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+5,327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+6,078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+6,828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+7,578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+8,329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+9,079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+9,829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SK하이닉스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9,360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240.8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2028년 ② 기존 생산계획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38.41톤 vs 출하 45.76톤 → −7,348 kg · 연말 재고 −8,962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9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- 9 -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출하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4월 대정비 1,188 · 1~7월 3,564 · 8~12월 3,168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4517136"/>
        </p:xfrm>
        <a:graphic>
          <a:graphicData uri="http://schemas.openxmlformats.org/drawingml/2006/table">
            <a:tbl>
              <a:tblPr firstRow="0" bandRow="0"/>
              <a:tblGrid>
                <a:gridCol w="1051560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562356"/>
                <a:gridCol w="768096"/>
              </a:tblGrid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38,412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(÷190)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202.2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−2,625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−7,348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−1,863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−2,362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−4,987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−5,237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−5,486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−5,735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−6,381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−7,026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−7,671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−8,317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−8,962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SK하이닉스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9,360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240.8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ARS/ARS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후공정 부하 검토 — 충진 · 검사 · OQC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정제능력과 출하능력은 별개 · 5 Gal 충진 최대 월 267 h = 1교대 176 h의 152%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10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- 10 -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 작업량 (출하계획 기준)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출하 물량으로 계산 — 생산 버전과 무관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256032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960120"/>
                <a:gridCol w="960120"/>
                <a:gridCol w="960120"/>
                <a:gridCol w="960120"/>
                <a:gridCol w="2624328"/>
              </a:tblGrid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'27.1~2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'27.3~6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'27.7~12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'28 (월)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병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+ CXMT ÷ 20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가용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8 h × 22일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부하율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108%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141%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기준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140 · 한솔 150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OQC·출하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2 h · 1용기 2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h (PQC~FQC)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 × 필요 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÷ 190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3959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3931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병목 검토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4187952"/>
          <a:ext cx="8567928" cy="1920240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828800"/>
                <a:gridCol w="2468880"/>
                <a:gridCol w="2532888"/>
              </a:tblGrid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자원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이후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글로브 박스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18 h (약 2일)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267 h &gt; 1교대 176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 · 인원 · 글로브 박스 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'27.7~ (시간 비슷할 수 있음)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단계별 시간 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(PQC · 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증가 · 회수 시점 겹침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인력 · 승인 대기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Product Tank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 합격 후 이송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제품 보관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Tank 수 · 용량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· 포장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 Batch 약 2일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1~1.5일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개선 방안 · 일정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생산팀 확인 사항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생산팀 대화 내용과 추가 확인 항목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생산·설비·품질·충진 관련 확인 내용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4983480"/>
        </p:xfrm>
        <a:graphic>
          <a:graphicData uri="http://schemas.openxmlformats.org/drawingml/2006/table">
            <a:tbl>
              <a:tblPr firstRow="0" bandRow="0"/>
              <a:tblGrid>
                <a:gridCol w="1234440"/>
                <a:gridCol w="4343400"/>
                <a:gridCol w="2990088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74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생산팀 설명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공정시간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h에서 IQC·준비·PQC~이송·FQC를 빼면 순수 정제 45 h · 대화 중 57 − 2 − 6 = 49 h 계산도 있음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원자료 시간 측정의 시작점·종료점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시간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약 72 h, 최근 약 53 h 언급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값의 측정 범위가 같은지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 투입 후 초류 진행에 맞춰 정제기 2 투입 (다음 날 / 초류 중간 / 초류 종료 무렵 언급)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 투입 시점 · 설비 번호(2070·2060) 도면 대조 · 개조/신규 여부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생산물 도착 간격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÷ 2 = 28.5 h는 이상적인 경우의 도착 간격 설명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Capa. 2배 아님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투입용 Mix·Premix 준비 등에 설비 시간이 필요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Mix·Premix 준비시간 · 사용 설비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목적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요구 품질 대응을 위한 정제 기능 개선 · 환류 운전은 회수 속도와 Batch 시간에 영향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환류 운전 시 Batch 시간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회수량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약 160~170 kg / 추가 투입 시 약 220 kg / 전체 약 195~200 kg (197 kg) / Crude 200 kg × 75~80% ≈ 150~160 kg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투입·회수·양품·잔량 실측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수율 표현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"65%에서 5% 올렸다"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정의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135 · 120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 유무에 따라 언급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단위 · 색도 등 품질 지표인지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색도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색도 조건 때문에 추가 투입 제한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품질·색도 규격 · 합격률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18 h 작업, 근무시간 반영 시 약 2일 · 개선 방향 1~1.5일 · 18 h → 9 h 방안 검토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교대·연장근무 · 충진 인원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자체 충진은 더 길 수 있으나 용기 투입·반출·퍼지 포함 시 전체 시간은 비슷할 수 있음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작업 단계별 시간 (용기 준비~설비 전환)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충진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수동 충진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전환 후 시간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물량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대화 중 '약 40톤' 언급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4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95502</TotalTime>
  <Words>9459</Words>
  <Application>Microsoft Office PowerPoint</Application>
  <PresentationFormat>화면 슬라이드 쇼(4:3)</PresentationFormat>
  <Paragraphs>2567</Paragraphs>
  <Slides>54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73" baseType="lpstr">
      <vt:lpstr>Meiryo UI</vt:lpstr>
      <vt:lpstr>ＭＳ Ｐゴシック</vt:lpstr>
      <vt:lpstr>Paperlogy 4 Regular</vt:lpstr>
      <vt:lpstr>Paperlogy 5 Medium</vt:lpstr>
      <vt:lpstr>Paperlogy 6 SemiBold</vt:lpstr>
      <vt:lpstr>Paperlogy 7 Bold</vt:lpstr>
      <vt:lpstr>Paperlogy 8 ExtraBold</vt:lpstr>
      <vt:lpstr>Pretendard</vt:lpstr>
      <vt:lpstr>Pretendard Light</vt:lpstr>
      <vt:lpstr>Pretendard Medium</vt:lpstr>
      <vt:lpstr>Pretendard SemiBold</vt:lpstr>
      <vt:lpstr>맑은 고딕</vt:lpstr>
      <vt:lpstr>맑은 고딕</vt:lpstr>
      <vt:lpstr>Arial</vt:lpstr>
      <vt:lpstr>Arial Narrow</vt:lpstr>
      <vt:lpstr>Tahoma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R2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김지현(JIHYUN KIM)/SK트리켐 마케팅팀/SKMR</cp:lastModifiedBy>
  <cp:revision>2121</cp:revision>
  <cp:lastPrinted>2024-01-02T22:30:24Z</cp:lastPrinted>
  <dcterms:created xsi:type="dcterms:W3CDTF">2016-08-27T13:10:56Z</dcterms:created>
  <dcterms:modified xsi:type="dcterms:W3CDTF">2026-09-10T02:13:59Z</dcterms:modified>
</cp:coreProperties>
</file>