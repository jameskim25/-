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6"/>
  </p:notesMasterIdLst>
  <p:sldIdLst>
    <p:sldId id="268" r:id="rId61"/>
    <p:sldId id="274" r:id="rId12"/>
    <p:sldId id="275" r:id="rId13"/>
    <p:sldId id="269" r:id="rId62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</p:sldIdLst>
  <p:sldSz cx="9144000" cy="6858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251E"/>
    <a:srgbClr val="FB6306"/>
    <a:srgbClr val="FAFAFA"/>
    <a:srgbClr val="FFFFFF"/>
    <a:srgbClr val="0061DA"/>
    <a:srgbClr val="F74912"/>
    <a:srgbClr val="E9BB9F"/>
    <a:srgbClr val="EB002C"/>
    <a:srgbClr val="FFDD71"/>
    <a:srgbClr val="F951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15" autoAdjust="0"/>
    <p:restoredTop sz="84988" autoAdjust="0"/>
  </p:normalViewPr>
  <p:slideViewPr>
    <p:cSldViewPr>
      <p:cViewPr>
        <p:scale>
          <a:sx n="98" d="100"/>
          <a:sy n="98" d="100"/>
        </p:scale>
        <p:origin x="245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1" d="100"/>
          <a:sy n="91" d="100"/>
        </p:scale>
        <p:origin x="-2034" y="-108"/>
      </p:cViewPr>
      <p:guideLst>
        <p:guide orient="horz" pos="3131"/>
        <p:guide pos="2145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Relationship Id="rId61" Type="http://schemas.openxmlformats.org/officeDocument/2006/relationships/slide" Target="slides/slide1.xml"/><Relationship Id="rId62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7" cy="496965"/>
          </a:xfrm>
          <a:prstGeom prst="rect">
            <a:avLst/>
          </a:prstGeom>
        </p:spPr>
        <p:txBody>
          <a:bodyPr vert="horz" lIns="94531" tIns="47265" rIns="94531" bIns="4726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7" cy="496965"/>
          </a:xfrm>
          <a:prstGeom prst="rect">
            <a:avLst/>
          </a:prstGeom>
        </p:spPr>
        <p:txBody>
          <a:bodyPr vert="horz" lIns="94531" tIns="47265" rIns="94531" bIns="47265" rtlCol="0"/>
          <a:lstStyle>
            <a:lvl1pPr algn="r">
              <a:defRPr sz="1200"/>
            </a:lvl1pPr>
          </a:lstStyle>
          <a:p>
            <a:fld id="{AA418431-0B53-4AF1-8AD8-9A9A7D49F4A5}" type="datetimeFigureOut">
              <a:rPr lang="ko-KR" altLang="en-US" smtClean="0"/>
              <a:pPr/>
              <a:t>2026-09-10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72050" cy="3729037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12700">
            <a:solidFill>
              <a:prstClr val="black"/>
            </a:solidFill>
          </a:ln>
        </p:spPr>
        <p:txBody>
          <a:bodyPr vert="horz" lIns="94531" tIns="47265" rIns="94531" bIns="4726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2" y="4721186"/>
            <a:ext cx="5445759" cy="4472702"/>
          </a:xfrm>
          <a:prstGeom prst="rect">
            <a:avLst/>
          </a:prstGeom>
        </p:spPr>
        <p:txBody>
          <a:bodyPr vert="horz" lIns="94531" tIns="47265" rIns="94531" bIns="47265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648"/>
            <a:ext cx="2949787" cy="496965"/>
          </a:xfrm>
          <a:prstGeom prst="rect">
            <a:avLst/>
          </a:prstGeom>
        </p:spPr>
        <p:txBody>
          <a:bodyPr vert="horz" lIns="94531" tIns="47265" rIns="94531" bIns="4726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9" y="9440648"/>
            <a:ext cx="2949787" cy="496965"/>
          </a:xfrm>
          <a:prstGeom prst="rect">
            <a:avLst/>
          </a:prstGeom>
        </p:spPr>
        <p:txBody>
          <a:bodyPr vert="horz" lIns="94531" tIns="47265" rIns="94531" bIns="47265" rtlCol="0" anchor="b"/>
          <a:lstStyle>
            <a:lvl1pPr algn="r">
              <a:defRPr sz="1200"/>
            </a:lvl1pPr>
          </a:lstStyle>
          <a:p>
            <a:fld id="{72D75F77-8026-4911-8E6D-EBCB86E5E0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657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10월 생산계획의 표시일은 해당 Batch의 생산과 충진이 모두 끝나는 완료 예정일이며, Batch 번호는 각각 독립된 생산 Batch입니다.</a:t>
            </a:r>
          </a:p>
          <a:p>
            <a:r>
              <a:t>10월에는 #82~#92 11 Batch가 완료되어 2,178 kg입니다. 9월 마지막 #81(9/28)부터 #92(10/29)까지 31일 동안 11번 완료되어 평균 간격은 2.82일 = 67.6 h입니다(3일 간격 9회, 2일 간격 2회).</a:t>
            </a:r>
          </a:p>
          <a:p>
            <a:r>
              <a:t>정제기는 Batch마다 준비·투입 2 h + 순수 정제 45 h = 47 h를 순수하게 사용하고, 나머지 20.6 h는 제품 이송 중 점유·세척·전환·투입 대기 등입니다.</a:t>
            </a:r>
          </a:p>
          <a:p>
            <a:r>
              <a:t>순수 정제만으로 계산한 720 ÷ 45 = 16 Batch는 이론값이고, 실제 계획은 대기를 포함해 11 Batch입니다. 현재 연간 Capa. 26.2톤은 월 11.5 Batch 상당입니다.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우리가 계산한 77 h(5 Gal)·67 h(200 L)는 각 공정의 순수 작업시간을 더한 값이라 대기시간이 들어 있지 않습니다.</a:t>
            </a:r>
          </a:p>
          <a:p>
            <a:r>
              <a:t>10월 생산계획의 평균 완료 간격 67.6 h에서 정제기 순수 점유 47 h(준비·투입 2 + 순수 정제 45)를 빼면 Batch마다 평균 20.6 h의 대기·전환이 있습니다(순수 비율 69%).</a:t>
            </a:r>
          </a:p>
          <a:p>
            <a:r>
              <a:t>이 대기를 더하면 1 Batch의 실제 소요는 5 Gal 약 97.6 h(4.1일), 200 L 약 87.6 h(3.7일)입니다. 완료 간격(67.6 h)보다 길기 때문에 앞 Batch를 충진하는 동안 다음 Batch를 정제하는 병행 운전이 전제입니다.</a:t>
            </a:r>
          </a:p>
          <a:p>
            <a:r>
              <a:t>마일스톤의 대기 위치는 평균값을 FQC 뒤에 모아 표시한 것으로, 실제로는 제품 이송 점유·세척·전환·투입 대기·충진 대기(근무시간)로 나뉩니다. 5 Gal 충진은 18 h 작업이지만 근무시간 기준 약 2일이 걸려 충진 단계만 봐도 대기가 약 30 h입니다.</a:t>
            </a:r>
          </a:p>
          <a:p>
            <a:r>
              <a:t>정제기 2대 운영 시 47.2톤을 내려면 설비별 대기를 20.6 h에서 26.0 h 수준으로 줄여야 합니다(5장).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정제기 2대 운영 예시입니다. 협의 계획 월 20 Batch를 평균 월 730 h에 2대로 나누면 설비별 주기는 73.0 h입니다. 정제기 2는 정제기 1보다 30 h 늦게 투입하는 것으로 가정했습니다(실제 시차는 초류 진행을 보고 결정).</a:t>
            </a:r>
          </a:p>
          <a:p>
            <a:r>
              <a:t>달력의 완료일은 투입 후 5 Gal 기준 실제 소요(순수 77 h + 대기 20.6 h = 97.6 h)가 지난 날짜입니다. 2027년 7월에는 정제기 ① 10 Batch, ② 10 Batch, 합계 20 Batch = 3,960 kg이 완료됩니다.</a:t>
            </a:r>
          </a:p>
          <a:p>
            <a:r>
              <a:t>설비별 주기 73.0 h = 순수 47 h + 대기 26.0 h로, 10월 생산계획의 대기 20.6 h보다 여유가 있어 2대 월 20 Batch는 현재 운영 수준으로 달성 가능합니다.</a:t>
            </a:r>
          </a:p>
          <a:p>
            <a:r>
              <a:t>반대로 정제기 1대 월 12 Batch(2026.10~12, Case III는 2027.1~3까지)는 주기 60.8 h, 대기 13.8 h가 필요해 현재 10월 계획(11 Batch · 대기 20.6 h)보다 대기를 6.8 h 줄여야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생산팀과 협의한 세 가지 Case입니다. 공통 조건: 26.9말 재고 2,300 kg, 2026.10~12 정제기 1대 월 12 Batch(2,376 kg), 198 kg/Batch, 4월 대정비 6 Batch(1,188 kg), 2대 운전 후 월 20 Batch(3,960 kg).</a:t>
            </a:r>
          </a:p>
          <a:p>
            <a:r>
              <a:t>Case I은 판매를 계획 대비 CXMT·이지켐 물량으로 조정(2027 판매 37,820 kg)하고 1월 리플럭스 도입·2월 운전입니다. 2027 생산 42,372 kg으로 재고가 '27 말 7,680 kg까지 늘어납니다.</a:t>
            </a:r>
          </a:p>
          <a:p>
            <a:r>
              <a:t>Case II는 월 300 kg 추가 물량(2027 판매 41,420 kg)에 1월 도입으로, 4월 대정비 때 재고가 2,420 kg까지 줄었다가 '27 말 4,080 kg입니다.</a:t>
            </a:r>
          </a:p>
          <a:p>
            <a:r>
              <a:t>Case III은 추가 물량에 리플럭스를 4월 도입·5월 운전으로 늦춘 경우로, 1~3월 1대 12 Batch로는 판매를 따라가지 못해 4월 재고가 44 kg(0.0개월)까지 떨어집니다. 외부 상품 도입을 반영해야 합니다.</a:t>
            </a:r>
          </a:p>
          <a:p>
            <a:r>
              <a:t>재고일(개월)은 협의 자료 값을 그대로 옮겼습니다(산식 확인 필요).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I. 판매 : 계획 比 CXMT, 이지켐 물량 조정 / 생산 : 1월 Reflux Column 도입 운영 (2월 운전).</a:t>
            </a:r>
          </a:p>
          <a:p>
            <a:r>
              <a:t>생산은 월 Batch × 198 kg(Batch size 200 kg × Yield 99%)이며, 2026.9월 생산 1,770 kg은 협의 자료 값입니다. 정제기 1대 기간은 월 12 Batch, 리플럭스 운전 후 월 20 Batch, 4월은 대정비로 6 Batch입니다.</a:t>
            </a:r>
          </a:p>
          <a:p>
            <a:r>
              <a:t>2027 생산 42,372 kg, 판매 37,820 kg으로 +4,552 kg, 재고는 '27 말 7,680 kg이고 최저는 2027.1월 3,044 kg입니다.</a:t>
            </a:r>
          </a:p>
          <a:p>
            <a:r>
              <a:t>판매는 SKH 연 22,720 kg, CXMT 4월부터(580 → 7월 780 kg), 이지켐 560 → 6월부터 840 kg입니다. 2026년 판매 합계는 협의 자료 값(10·12월은 고객별 합보다 140 kg 큼)을 그대로 썼습니다.</a:t>
            </a:r>
          </a:p>
          <a:p>
            <a:r>
              <a:t>재고일(개월)은 협의 자료 값입니다(산식 확인 필요).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II. 판매 : 추가 물량 / 생산 : 1월 Reflux Column 도입 운영 (2월 운전).</a:t>
            </a:r>
          </a:p>
          <a:p>
            <a:r>
              <a:t>생산은 월 Batch × 198 kg(Batch size 200 kg × Yield 99%)이며, 2026.9월 생산 1,770 kg은 협의 자료 값입니다. 정제기 1대 기간은 월 12 Batch, 리플럭스 운전 후 월 20 Batch, 4월은 대정비로 6 Batch입니다.</a:t>
            </a:r>
          </a:p>
          <a:p>
            <a:r>
              <a:t>2027 생산 42,372 kg, 판매 41,420 kg으로 +952 kg, 재고는 '27 말 4,080 kg이고 최저는 2027.4월 2,420 kg입니다.</a:t>
            </a:r>
          </a:p>
          <a:p>
            <a:r>
              <a:t>판매는 SKH 연 22,720 kg, CXMT 4월부터(580 → 7월 780 kg), 이지켐 560 → 6월부터 840 kg, 추가 물량 월 300 kg입니다. 2026년 판매 합계는 협의 자료 값(10·12월은 고객별 합보다 140 kg 큼)을 그대로 썼습니다.</a:t>
            </a:r>
          </a:p>
          <a:p>
            <a:r>
              <a:t>재고일(개월)은 협의 자료 값입니다(산식 확인 필요).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III. 판매 : 추가 물량 / 생산 : 4월 Reflux Column 도입 운영 (5월 운전) / 외부 상품 도입 반영 필요.</a:t>
            </a:r>
          </a:p>
          <a:p>
            <a:r>
              <a:t>생산은 월 Batch × 198 kg(Batch size 200 kg × Yield 99%)이며, 2026.9월 생산 1,770 kg은 협의 자료 값입니다. 정제기 1대 기간은 월 12 Batch, 리플럭스 운전 후 월 20 Batch, 4월은 대정비로 6 Batch입니다.</a:t>
            </a:r>
          </a:p>
          <a:p>
            <a:r>
              <a:t>2027 생산 39,996 kg, 판매 41,420 kg으로 −1,424 kg, 재고는 '27 말 1,704 kg이고 최저는 2027.4월 44 kg입니다.</a:t>
            </a:r>
          </a:p>
          <a:p>
            <a:r>
              <a:t>판매는 SKH 연 22,720 kg, CXMT 4월부터(580 → 7월 780 kg), 이지켐 560 → 6월부터 840 kg, 추가 물량 월 300 kg입니다. 2026년 판매 합계는 협의 자료 값(10·12월은 고객별 합보다 140 kg 큼)을 그대로 썼습니다.</a:t>
            </a:r>
          </a:p>
          <a:p>
            <a:r>
              <a:t>재고일(개월)은 협의 자료 값입니다(산식 확인 필요).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후공정 작업량은 판매 물량이 가장 큰 Case II로 계산했습니다. 5 Gal은 (SKH + CXMT) ÷ 20 kg × 2 h, 200 L은 이지켐 140 kg · 추가 물량 150 kg 용기(한솔 기준 가정) × 8 h(수동 기준)입니다.</a:t>
            </a:r>
          </a:p>
          <a:p>
            <a:r>
              <a:t>2027년 하반기에는 5 Gal 충진이 월 약 278 h로 1교대(8 h × 22일 = 176 h)를 넘습니다. 정제기가 2대가 되어도 충진·검사·Tank가 따라오지 못하면 출하량은 늘지 않으므로 교대·인원 계획이 함께 필요합니다.</a:t>
            </a:r>
          </a:p>
          <a:p>
            <a:r>
              <a:t>ARS는 실제 충진은 더 길 수 있지만 용기 투입·반출·퍼지를 포함하면 수동과 전체 시간이 비슷할 수 있다는 설명이 있어, 실측 전까지 수동 8 h를 그대로 적용했습니다. ARS 효과는 Capa.에 더하지 않았습니다.</a:t>
            </a:r>
          </a:p>
          <a:p>
            <a:r>
              <a:t>충진·포장 1~1.5일, 18 h → 9 h는 검토 중인 개선 방향으로, 계산에는 반영하지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생산팀과 협의한 내용입니다. Batch size 200 kg에 Yield 99%를 적용해 Batch당 198 kg으로 생산량을 계산하고, Batch time 55 h(IQC를 뺀 준비·투입~FQC와 같은 값으로 보임)와 원단위 1.010을 기준으로 삼았습니다.</a:t>
            </a:r>
          </a:p>
          <a:p>
            <a:r>
              <a:t>재고일(개월)은 협의 자료 값을 그대로 썼으며, 재고 ÷ 판매로는 같은 값이 나오지 않아 산식을 확인해야 합니다. 2026년 판매 합계와 고객별 물량의 차이(10·12월 140 kg), 26년 SKH 연간 합계 표기 차이(9,960 / 17,210)도 확인 항목입니다.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생산팀과 나눈 대화 중 생산·품질·설비·충진 관련 내용만 정리했습니다. 구두로 언급된 회수량(160~170 kg, 약 220 kg, 195~200 kg)은 운전 조건과 대상이 구분되지 않아 확정 생산량으로 쓰지 않았고, 생산량은 협의 기준 198 kg/Batch를 적용했습니다.</a:t>
            </a:r>
          </a:p>
          <a:p>
            <a:r>
              <a:t>수율은 신규 Crude만이 아니라 재투입·Mix를 포함한 총 투입량 기준으로 따로 계산해야 합니다(Excel 10 시트 입력란). '135 · 120'은 단위가 확인되지 않아 생산량으로 입력하지 않았고, '65%에서 5% 상승'도 정의를 확인할 항목입니다.</a:t>
            </a:r>
          </a:p>
          <a:p>
            <a:r>
              <a:t>이지켐은 색도 때문에 추가 투입을 제한하는 경우가 있어, 고객별 품질·색도 규격과 합격률을 별도로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As-is는 정제기 1대로 하이닉스·CXMT·이지켐(한솔 '27~)을 함께 생산합니다.</a:t>
            </a:r>
          </a:p>
          <a:p>
            <a:r>
              <a:t>57 h는 IQC부터 FQC까지의 현재 보고 기준이고, 순수 정제 45 h는 57 − IQC 2 − 준비·투입 2 − PQC~이송 6 − FQC 2로 계산한 값입니다(실측 아님). 대화 중 57 − 2 − 6 = 49 h 계산, 과거 약 72 h · 최근 약 53 h 언급이 있어 원자료의 측정 시작·종료점은 확인이 필요합니다.</a:t>
            </a:r>
          </a:p>
          <a:p>
            <a:r>
              <a:t>PQC와 제품 이송은 합쳐서 6 h입니다. 57 h에는 충진·OQC가 포함되지 않습니다.</a:t>
            </a:r>
          </a:p>
          <a:p>
            <a:r>
              <a:t>5 Gal 9병은 2 h × 9 = 18 h 작업이며 현장에서는 근무시간 기준 약 2일로 설명합니다. 200 L은 이지켐·한솔 모두 수동 8 h/용기로 반영했습니다.</a:t>
            </a:r>
          </a:p>
          <a:p>
            <a:r>
              <a:t>경로별 합계 77 h · 67 h는 확인된 시간 항목을 더한 값으로, 달력 기준 납기나 다음 Batch 투입 간격과는 다릅니다. 충진이 진행되는 동안 다음 Batch 정제가 가능합니다.</a:t>
            </a:r>
          </a:p>
          <a:p>
            <a:r>
              <a:t>Batch당 198 kg과 5 Gal 9병 180 kg의 차이 18 kg은 잔량·추가 충진·다른 고객 배분 여부를 확인할 항목입니다.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리플럭스 이후에는 정제기 2대를 활용합니다. 정제기 1을 먼저 투입·운전하고, 초류 진행에 맞춰 정제기 2를 투입해 두 설비의 운전 구간을 겹칩니다(투입 간격은 미확정). 정제기별 Batch 시간이 절반으로 줄어드는 것이 아니라 두 설비의 생산을 겹쳐 전체 생산량을 늘립니다.</a:t>
            </a:r>
          </a:p>
          <a:p>
            <a:r>
              <a:t>생산팀 협의 기준: Batch size 200 kg × Yield 99% = 198 kg/Batch, Batch time 55 h, 원단위 1.010. 정제기 1대 월 12 Batch(2,376 kg), 2대 월 20 Batch(3,960 kg), 4월 대정비 6 Batch(1,188 kg).</a:t>
            </a:r>
          </a:p>
          <a:p>
            <a:r>
              <a:t>Case I·II: '27.1 리플럭스 도입 운영, '27.2 운전(16 Batch), 3월부터 20 Batch. Case III: '27.4 도입, '27.5부터 20 Batch — 1~3월은 1대 12 Batch로 유지합니다.</a:t>
            </a:r>
          </a:p>
          <a:p>
            <a:r>
              <a:t>정제기 2대 월 20 Batch는 연 47.5톤 수준으로 리플럭스 47.2톤 계획과 맞습니다. 47.2톤이 현재의 2배(52.4톤)가 아닌 것은 Mix·Premix 준비 등 설비 시간이 필요하기 때문입니다.</a:t>
            </a:r>
          </a:p>
          <a:p>
            <a:r>
              <a:t>200 L은 '27.7부터 ARS(이지켐·추가 물량), 5 Gal은 글로브 박스를 유지합니다. 추가 정제기의 개조/신규 여부와 설비 번호(2070·2060 등)는 도면과 대조해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C71A4B21-8DEE-4335-81E3-826974046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0532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/>
              <a:t>-</a:t>
            </a:r>
            <a:fld id="{B45B5F3F-A87E-4E73-9154-1C8A9C2706CD}" type="slidenum">
              <a:rPr lang="ko-KR" altLang="en-US" smtClean="0"/>
              <a:pPr/>
              <a:t>‹#›</a:t>
            </a:fld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0509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D615167A-2341-4D77-BF97-C98DABC78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0532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/>
              <a:t>-</a:t>
            </a:r>
            <a:fld id="{B45B5F3F-A87E-4E73-9154-1C8A9C2706CD}" type="slidenum">
              <a:rPr lang="ko-KR" altLang="en-US" smtClean="0"/>
              <a:pPr/>
              <a:t>‹#›</a:t>
            </a:fld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5710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547" y="3829914"/>
            <a:ext cx="8229600" cy="63356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2040" y="573234"/>
            <a:ext cx="8229600" cy="2508741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0715BF9F-7BEC-43D5-AA15-65F5EC73A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0532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/>
              <a:t>-</a:t>
            </a:r>
            <a:fld id="{B45B5F3F-A87E-4E73-9154-1C8A9C2706CD}" type="slidenum">
              <a:rPr lang="ko-KR" altLang="en-US" smtClean="0"/>
              <a:pPr/>
              <a:t>‹#›</a:t>
            </a:fld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33806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0532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/>
              <a:t>-</a:t>
            </a:r>
            <a:fld id="{B45B5F3F-A87E-4E73-9154-1C8A9C2706CD}" type="slidenum">
              <a:rPr lang="ko-KR" altLang="en-US" smtClean="0"/>
              <a:pPr/>
              <a:t>‹#›</a:t>
            </a:fld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2028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.png"/><Relationship Id="rId4" Type="http://schemas.openxmlformats.org/officeDocument/2006/relationships/image" Target="../media/image13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.png"/><Relationship Id="rId4" Type="http://schemas.openxmlformats.org/officeDocument/2006/relationships/image" Target="../media/image13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38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38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38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38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38.png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38.png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38.png"/><Relationship Id="rId4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38.png"/><Relationship Id="rId4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38.png"/><Relationship Id="rId4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38.png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E96E-E472-E164-23F2-95F3E9DCB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E2DD2F-BCF5-ECAE-E5D5-3CF0B6E970A6}"/>
              </a:ext>
            </a:extLst>
          </p:cNvPr>
          <p:cNvSpPr txBox="1"/>
          <p:nvPr/>
        </p:nvSpPr>
        <p:spPr>
          <a:xfrm>
            <a:off x="419241" y="188640"/>
            <a:ext cx="7400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800" dirty="0" b="1">
                <a:gradFill>
                  <a:gsLst>
                    <a:gs pos="0">
                      <a:srgbClr val="FF7900"/>
                    </a:gs>
                    <a:gs pos="67000">
                      <a:srgbClr val="EB002C"/>
                    </a:gs>
                  </a:gsLst>
                  <a:lin ang="5400000" scaled="1"/>
                </a:gradFill>
              </a:rPr>
              <a:t>As-is | 공정 흐름과 공정시간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334A9-F66D-C6A4-7BE9-6D50F9536A48}"/>
              </a:ext>
            </a:extLst>
          </p:cNvPr>
          <p:cNvSpPr/>
          <p:nvPr/>
        </p:nvSpPr>
        <p:spPr>
          <a:xfrm>
            <a:off x="243076" y="0"/>
            <a:ext cx="45719" cy="900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E35880-4093-876B-A5F4-41C1E861B78E}"/>
              </a:ext>
            </a:extLst>
          </p:cNvPr>
          <p:cNvSpPr txBox="1"/>
          <p:nvPr/>
        </p:nvSpPr>
        <p:spPr>
          <a:xfrm>
            <a:off x="683568" y="649029"/>
            <a:ext cx="821735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600" dirty="0"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현재 정제기 1대 · IQC~FQC 57 h (순수 정제 45 h) · 정제 중 이전 Batch 검사·충진 병행</a:t>
            </a:r>
            <a:endParaRPr lang="en-US" altLang="ko-KR" sz="1600" dirty="0">
              <a:solidFill>
                <a:srgbClr val="FB630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FCEA6BD-DE04-59B4-A8D4-190141D5218B}"/>
              </a:ext>
            </a:extLst>
          </p:cNvPr>
          <p:cNvSpPr>
            <a:spLocks noChangeAspect="1"/>
          </p:cNvSpPr>
          <p:nvPr/>
        </p:nvSpPr>
        <p:spPr>
          <a:xfrm>
            <a:off x="419241" y="682139"/>
            <a:ext cx="180000" cy="180000"/>
          </a:xfrm>
          <a:prstGeom prst="ellipse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latin typeface="Noto Sans KR" pitchFamily="2" charset="-127"/>
                <a:ea typeface="Noto Sans KR" pitchFamily="2" charset="-127"/>
              </a:rPr>
              <a:t>1</a:t>
            </a:r>
            <a:endParaRPr kumimoji="1" lang="ko-KR" altLang="en-US" sz="1000" b="1" dirty="0">
              <a:latin typeface="Noto Sans KR" pitchFamily="2" charset="-127"/>
              <a:ea typeface="Noto Sans KR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8A963E8-7BFA-8421-BB5D-9C25023F1E9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165102"/>
            <a:ext cx="872541" cy="372545"/>
          </a:xfrm>
          <a:prstGeom prst="rect">
            <a:avLst/>
          </a:prstGeom>
        </p:spPr>
      </p:pic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93943A90-8311-883B-A173-01407C63CEE4}"/>
              </a:ext>
            </a:extLst>
          </p:cNvPr>
          <p:cNvSpPr/>
          <p:nvPr/>
        </p:nvSpPr>
        <p:spPr>
          <a:xfrm>
            <a:off x="234424" y="6411907"/>
            <a:ext cx="1027462" cy="2525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100" dirty="0">
                <a:solidFill>
                  <a:schemeClr val="bg1">
                    <a:lumMod val="50000"/>
                  </a:schemeClr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Confidential</a:t>
            </a:r>
            <a:endParaRPr kumimoji="1" lang="ko-KR" altLang="en-US" sz="1100" dirty="0">
              <a:solidFill>
                <a:schemeClr val="bg1">
                  <a:lumMod val="50000"/>
                </a:schemeClr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163" name="직선 연결선[R] 162">
            <a:extLst>
              <a:ext uri="{FF2B5EF4-FFF2-40B4-BE49-F238E27FC236}">
                <a16:creationId xmlns:a16="http://schemas.microsoft.com/office/drawing/2014/main" id="{8DEBABA2-333E-086B-36F6-137958AA3974}"/>
              </a:ext>
            </a:extLst>
          </p:cNvPr>
          <p:cNvCxnSpPr>
            <a:cxnSpLocks/>
          </p:cNvCxnSpPr>
          <p:nvPr/>
        </p:nvCxnSpPr>
        <p:spPr>
          <a:xfrm>
            <a:off x="1442533" y="6538184"/>
            <a:ext cx="72008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53F489-CBFB-4C6F-878D-02975AD51256}"/>
              </a:ext>
            </a:extLst>
          </p:cNvPr>
          <p:cNvSpPr txBox="1"/>
          <p:nvPr/>
        </p:nvSpPr>
        <p:spPr>
          <a:xfrm>
            <a:off x="3972000" y="6461240"/>
            <a:ext cx="120000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ko-KR" sz="1000" dirty="0" b="0" i="0">
                <a:solidFill>
                  <a:srgbClr val="7F7F7F"/>
                </a:solidFill>
                <a:latin typeface="Noto Sans KR" panose="02000403000000020004" pitchFamily="2" charset="-127"/>
                <a:ea typeface="Noto Sans KR" panose="02000403000000020004" pitchFamily="2" charset="-127"/>
                <a:cs typeface="Noto Sans KR" panose="02000403000000020004" pitchFamily="2" charset="-127"/>
              </a:rPr>
              <a:t>- 1 -</a:t>
            </a:r>
            <a:endParaRPr kumimoji="1" lang="ko-KR" altLang="en-US" sz="1000" dirty="0">
              <a:solidFill>
                <a:schemeClr val="bg1">
                  <a:lumMod val="50000"/>
                </a:schemeClr>
              </a:solidFill>
              <a:latin typeface="Noto Sans KR" panose="02000403000000020004" pitchFamily="2" charset="-127"/>
              <a:ea typeface="Noto Sans KR" panose="02000403000000020004" pitchFamily="2" charset="-127"/>
              <a:cs typeface="Noto Sans KR" panose="02000403000000020004" pitchFamily="2" charset="-127"/>
            </a:endParaRPr>
          </a:p>
        </p:txBody>
      </p:sp>
      <p:sp>
        <p:nvSpPr>
          <p:cNvPr id="165" name="Can 164"/>
          <p:cNvSpPr/>
          <p:nvPr/>
        </p:nvSpPr>
        <p:spPr>
          <a:xfrm>
            <a:off x="600640" y="1100000"/>
            <a:ext cx="360000" cy="420000"/>
          </a:xfrm>
          <a:prstGeom prst="can">
            <a:avLst/>
          </a:prstGeom>
          <a:solidFill>
            <a:srgbClr val="EDEDED"/>
          </a:solidFill>
          <a:ln w="15875">
            <a:solidFill>
              <a:srgbClr val="7F7F7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7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Crude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288436" y="1570000"/>
            <a:ext cx="984407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288436" y="1570000"/>
            <a:ext cx="984407" cy="34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09531" y="1615000"/>
            <a:ext cx="942218" cy="26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원재료 입고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Lake Materials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722859" y="1180000"/>
            <a:ext cx="703148" cy="2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IQC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624418" y="1570000"/>
            <a:ext cx="900029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624418" y="1570000"/>
            <a:ext cx="900029" cy="34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645513" y="1615000"/>
            <a:ext cx="857841" cy="26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수입검사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NMR·ICP·IC</a:t>
            </a:r>
          </a:p>
        </p:txBody>
      </p:sp>
      <p:sp>
        <p:nvSpPr>
          <p:cNvPr id="173" name="Can 172"/>
          <p:cNvSpPr/>
          <p:nvPr/>
        </p:nvSpPr>
        <p:spPr>
          <a:xfrm>
            <a:off x="3233226" y="1140000"/>
            <a:ext cx="270000" cy="340000"/>
          </a:xfrm>
          <a:prstGeom prst="can">
            <a:avLst/>
          </a:prstGeom>
          <a:solidFill>
            <a:srgbClr val="EDEDED"/>
          </a:solidFill>
          <a:ln w="15875">
            <a:solidFill>
              <a:srgbClr val="7F7F7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2876022" y="1570000"/>
            <a:ext cx="984407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2876022" y="1570000"/>
            <a:ext cx="984407" cy="34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897117" y="1615000"/>
            <a:ext cx="942218" cy="26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준비 · 투입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Canister → 정제기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155753" y="1030000"/>
            <a:ext cx="1870374" cy="890000"/>
          </a:xfrm>
          <a:prstGeom prst="rect">
            <a:avLst/>
          </a:prstGeom>
          <a:noFill/>
          <a:ln w="25400">
            <a:solidFill>
              <a:srgbClr val="EB002C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5040940" y="1065000"/>
            <a:ext cx="100000" cy="140000"/>
          </a:xfrm>
          <a:prstGeom prst="rect">
            <a:avLst/>
          </a:prstGeom>
          <a:solidFill>
            <a:srgbClr val="BFBFBF"/>
          </a:solidFill>
          <a:ln w="12700">
            <a:solidFill>
              <a:srgbClr val="7F7F7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9" name="Round Same Side Corner Rectangle 178"/>
          <p:cNvSpPr/>
          <p:nvPr/>
        </p:nvSpPr>
        <p:spPr>
          <a:xfrm rot="10800000">
            <a:off x="4900940" y="1195000"/>
            <a:ext cx="380000" cy="355000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A6A6A6"/>
          </a:solidFill>
          <a:ln w="15875">
            <a:solidFill>
              <a:srgbClr val="595959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900940" y="1260000"/>
            <a:ext cx="380000" cy="2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정제기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4212004" y="1570000"/>
            <a:ext cx="1757871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4212004" y="1570000"/>
            <a:ext cx="1757871" cy="34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4233099" y="1615000"/>
            <a:ext cx="1715682" cy="26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공용 정제기 1대 · 103℃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4개 고객 공동 (한솔 '27~)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6419890" y="1180000"/>
            <a:ext cx="703148" cy="2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PQC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6321450" y="1570000"/>
            <a:ext cx="900029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6321450" y="1570000"/>
            <a:ext cx="900029" cy="34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6342544" y="1615000"/>
            <a:ext cx="857841" cy="26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공정검사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NMR</a:t>
            </a:r>
          </a:p>
        </p:txBody>
      </p:sp>
      <p:sp>
        <p:nvSpPr>
          <p:cNvPr id="188" name="Can 187"/>
          <p:cNvSpPr/>
          <p:nvPr/>
        </p:nvSpPr>
        <p:spPr>
          <a:xfrm>
            <a:off x="7907447" y="1100000"/>
            <a:ext cx="400000" cy="420000"/>
          </a:xfrm>
          <a:prstGeom prst="can">
            <a:avLst/>
          </a:prstGeom>
          <a:solidFill>
            <a:srgbClr val="FFE3CC"/>
          </a:solidFill>
          <a:ln w="15875">
            <a:solidFill>
              <a:srgbClr val="FF7900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Product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7573054" y="1570000"/>
            <a:ext cx="1068785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573054" y="1570000"/>
            <a:ext cx="1068785" cy="34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7594148" y="1615000"/>
            <a:ext cx="1026596" cy="26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Product Tank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PQC 합격 후 이송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960640" y="1310000"/>
            <a:ext cx="762218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193" name="Connector 192"/>
          <p:cNvCxnSpPr/>
          <p:nvPr/>
        </p:nvCxnSpPr>
        <p:spPr>
          <a:xfrm>
            <a:off x="2426007" y="1310000"/>
            <a:ext cx="807218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194" name="Connector 193"/>
          <p:cNvCxnSpPr/>
          <p:nvPr/>
        </p:nvCxnSpPr>
        <p:spPr>
          <a:xfrm>
            <a:off x="3503226" y="1310000"/>
            <a:ext cx="1397713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195" name="Connector 194"/>
          <p:cNvCxnSpPr/>
          <p:nvPr/>
        </p:nvCxnSpPr>
        <p:spPr>
          <a:xfrm>
            <a:off x="5280940" y="1310000"/>
            <a:ext cx="113895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196" name="Connector 195"/>
          <p:cNvCxnSpPr/>
          <p:nvPr/>
        </p:nvCxnSpPr>
        <p:spPr>
          <a:xfrm>
            <a:off x="7123039" y="1310000"/>
            <a:ext cx="784407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sp>
        <p:nvSpPr>
          <p:cNvPr id="197" name="Rounded Rectangle 196"/>
          <p:cNvSpPr/>
          <p:nvPr/>
        </p:nvSpPr>
        <p:spPr>
          <a:xfrm>
            <a:off x="429066" y="1915000"/>
            <a:ext cx="703148" cy="150000"/>
          </a:xfrm>
          <a:prstGeom prst="roundRect">
            <a:avLst>
              <a:gd name="adj" fmla="val 30000"/>
            </a:avLst>
          </a:prstGeom>
          <a:solidFill>
            <a:srgbClr val="E2EFD9"/>
          </a:solidFill>
          <a:ln w="952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5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–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1722859" y="1915000"/>
            <a:ext cx="703148" cy="150000"/>
          </a:xfrm>
          <a:prstGeom prst="roundRect">
            <a:avLst>
              <a:gd name="adj" fmla="val 30000"/>
            </a:avLst>
          </a:prstGeom>
          <a:solidFill>
            <a:srgbClr val="E2EFD9"/>
          </a:solidFill>
          <a:ln w="952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5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2 h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2974463" y="1915000"/>
            <a:ext cx="787526" cy="150000"/>
          </a:xfrm>
          <a:prstGeom prst="roundRect">
            <a:avLst>
              <a:gd name="adj" fmla="val 30000"/>
            </a:avLst>
          </a:prstGeom>
          <a:solidFill>
            <a:srgbClr val="E2EFD9"/>
          </a:solidFill>
          <a:ln w="952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5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2 h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4422949" y="1915000"/>
            <a:ext cx="1335982" cy="150000"/>
          </a:xfrm>
          <a:prstGeom prst="roundRect">
            <a:avLst>
              <a:gd name="adj" fmla="val 30000"/>
            </a:avLst>
          </a:prstGeom>
          <a:solidFill>
            <a:srgbClr val="E2EFD9"/>
          </a:solidFill>
          <a:ln w="952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5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순수 정제 45 h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6391573" y="1915000"/>
            <a:ext cx="2186060" cy="150000"/>
          </a:xfrm>
          <a:prstGeom prst="roundRect">
            <a:avLst>
              <a:gd name="adj" fmla="val 30000"/>
            </a:avLst>
          </a:prstGeom>
          <a:solidFill>
            <a:srgbClr val="E2EFD9"/>
          </a:solidFill>
          <a:ln w="952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5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PQC~제품 이송 합계 6 h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386877" y="2640000"/>
            <a:ext cx="731274" cy="2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FQC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88436" y="2920000"/>
            <a:ext cx="928155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제품검사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429066" y="3100000"/>
            <a:ext cx="646896" cy="150000"/>
          </a:xfrm>
          <a:prstGeom prst="roundRect">
            <a:avLst>
              <a:gd name="adj" fmla="val 30000"/>
            </a:avLst>
          </a:prstGeom>
          <a:solidFill>
            <a:srgbClr val="E2EFD9"/>
          </a:solidFill>
          <a:ln w="952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5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2 h</a:t>
            </a:r>
          </a:p>
        </p:txBody>
      </p:sp>
      <p:cxnSp>
        <p:nvCxnSpPr>
          <p:cNvPr id="206" name="Connector 205"/>
          <p:cNvCxnSpPr/>
          <p:nvPr/>
        </p:nvCxnSpPr>
        <p:spPr>
          <a:xfrm>
            <a:off x="1118151" y="2770000"/>
            <a:ext cx="337511" cy="0"/>
          </a:xfrm>
          <a:prstGeom prst="line">
            <a:avLst/>
          </a:prstGeom>
          <a:ln w="15875">
            <a:solidFill>
              <a:srgbClr val="1A1A1A"/>
            </a:solidFill>
          </a:ln>
        </p:spPr>
      </p:cxnSp>
      <p:cxnSp>
        <p:nvCxnSpPr>
          <p:cNvPr id="207" name="Connector 206"/>
          <p:cNvCxnSpPr/>
          <p:nvPr/>
        </p:nvCxnSpPr>
        <p:spPr>
          <a:xfrm>
            <a:off x="1455663" y="2510000"/>
            <a:ext cx="4572" cy="520000"/>
          </a:xfrm>
          <a:prstGeom prst="line">
            <a:avLst/>
          </a:prstGeom>
          <a:ln w="15875">
            <a:solidFill>
              <a:srgbClr val="1A1A1A"/>
            </a:solidFill>
          </a:ln>
        </p:spPr>
      </p:cxnSp>
      <p:cxnSp>
        <p:nvCxnSpPr>
          <p:cNvPr id="208" name="Connector 207"/>
          <p:cNvCxnSpPr/>
          <p:nvPr/>
        </p:nvCxnSpPr>
        <p:spPr>
          <a:xfrm>
            <a:off x="1455663" y="2510000"/>
            <a:ext cx="23907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209" name="Connector 208"/>
          <p:cNvCxnSpPr/>
          <p:nvPr/>
        </p:nvCxnSpPr>
        <p:spPr>
          <a:xfrm>
            <a:off x="1455663" y="3030000"/>
            <a:ext cx="23907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sp>
        <p:nvSpPr>
          <p:cNvPr id="210" name="Rectangle 209"/>
          <p:cNvSpPr/>
          <p:nvPr/>
        </p:nvSpPr>
        <p:spPr>
          <a:xfrm>
            <a:off x="1694733" y="2300000"/>
            <a:ext cx="3164167" cy="420000"/>
          </a:xfrm>
          <a:prstGeom prst="rect">
            <a:avLst/>
          </a:prstGeom>
          <a:solidFill>
            <a:srgbClr val="E2EFD9"/>
          </a:solidFill>
          <a:ln w="1587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1694733" y="2300000"/>
            <a:ext cx="63283" cy="4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1835363" y="2400000"/>
            <a:ext cx="590644" cy="220000"/>
          </a:xfrm>
          <a:prstGeom prst="roundRect">
            <a:avLst>
              <a:gd name="adj" fmla="val 15000"/>
            </a:avLst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7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G/B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510385" y="2310000"/>
            <a:ext cx="2292263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5 Gal 글로브 박스 충진</a:t>
            </a:r>
          </a:p>
          <a:p>
            <a:pPr algn="l">
              <a:spcAft>
                <a:spcPts val="0"/>
              </a:spcAft>
            </a:pPr>
            <a:r>
              <a:rPr sz="62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20 kg/병 · 필터 포함 · 하이닉스·CXMT</a:t>
            </a:r>
          </a:p>
          <a:p>
            <a:pPr algn="l">
              <a:spcAft>
                <a:spcPts val="0"/>
              </a:spcAft>
            </a:pPr>
            <a:r>
              <a:rPr sz="63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2 h/병 · 9병 18 h (현장 약 2일)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1694733" y="2820000"/>
            <a:ext cx="3164167" cy="420000"/>
          </a:xfrm>
          <a:prstGeom prst="rect">
            <a:avLst/>
          </a:prstGeom>
          <a:solidFill>
            <a:srgbClr val="FFF3E6"/>
          </a:solidFill>
          <a:ln w="15875">
            <a:solidFill>
              <a:srgbClr val="FF7900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694733" y="2820000"/>
            <a:ext cx="63283" cy="420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16" name="Rounded Rectangle 215"/>
          <p:cNvSpPr/>
          <p:nvPr/>
        </p:nvSpPr>
        <p:spPr>
          <a:xfrm>
            <a:off x="1835363" y="2920000"/>
            <a:ext cx="590644" cy="220000"/>
          </a:xfrm>
          <a:prstGeom prst="roundRect">
            <a:avLst>
              <a:gd name="adj" fmla="val 15000"/>
            </a:avLst>
          </a:prstGeom>
          <a:solidFill>
            <a:srgbClr val="FF790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7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200 L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510385" y="2830000"/>
            <a:ext cx="2292263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200 L 수동 충진</a:t>
            </a:r>
          </a:p>
          <a:p>
            <a:pPr algn="l">
              <a:spcAft>
                <a:spcPts val="0"/>
              </a:spcAft>
            </a:pPr>
            <a:r>
              <a:rPr sz="62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이지켐 140 · 한솔 150 kg/용기 · 필터 포함</a:t>
            </a:r>
          </a:p>
          <a:p>
            <a:pPr algn="l">
              <a:spcAft>
                <a:spcPts val="0"/>
              </a:spcAft>
            </a:pPr>
            <a:r>
              <a:rPr sz="63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8 h/용기 (이지켐 · 한솔)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4999531" y="2380000"/>
            <a:ext cx="646896" cy="2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OQC</a:t>
            </a:r>
          </a:p>
        </p:txBody>
      </p:sp>
      <p:cxnSp>
        <p:nvCxnSpPr>
          <p:cNvPr id="219" name="Connector 218"/>
          <p:cNvCxnSpPr/>
          <p:nvPr/>
        </p:nvCxnSpPr>
        <p:spPr>
          <a:xfrm>
            <a:off x="4925940" y="2510000"/>
            <a:ext cx="10000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220" name="Connector 219"/>
          <p:cNvCxnSpPr/>
          <p:nvPr/>
        </p:nvCxnSpPr>
        <p:spPr>
          <a:xfrm>
            <a:off x="5646427" y="2510000"/>
            <a:ext cx="393763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sp>
        <p:nvSpPr>
          <p:cNvPr id="221" name="Rectangle 220"/>
          <p:cNvSpPr/>
          <p:nvPr/>
        </p:nvSpPr>
        <p:spPr>
          <a:xfrm>
            <a:off x="6040190" y="2300000"/>
            <a:ext cx="2816812" cy="4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404040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6124568" y="2300000"/>
            <a:ext cx="2704308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출하 </a:t>
            </a:r>
            <a:r>
              <a:rPr sz="700" b="0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■</a:t>
            </a: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 SK하이닉스  </a:t>
            </a:r>
            <a:r>
              <a:rPr sz="700" b="0" i="0">
                <a:solidFill>
                  <a:srgbClr val="1B8A95"/>
                </a:solidFill>
                <a:latin typeface="Noto Sans KR"/>
                <a:ea typeface="Noto Sans KR"/>
                <a:cs typeface="Noto Sans KR"/>
              </a:rPr>
              <a:t>■</a:t>
            </a: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 CXMT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4999531" y="2900000"/>
            <a:ext cx="646896" cy="2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OQC</a:t>
            </a:r>
          </a:p>
        </p:txBody>
      </p:sp>
      <p:cxnSp>
        <p:nvCxnSpPr>
          <p:cNvPr id="224" name="Connector 223"/>
          <p:cNvCxnSpPr/>
          <p:nvPr/>
        </p:nvCxnSpPr>
        <p:spPr>
          <a:xfrm>
            <a:off x="4925940" y="3030000"/>
            <a:ext cx="10000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225" name="Connector 224"/>
          <p:cNvCxnSpPr/>
          <p:nvPr/>
        </p:nvCxnSpPr>
        <p:spPr>
          <a:xfrm>
            <a:off x="5646427" y="3030000"/>
            <a:ext cx="393763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sp>
        <p:nvSpPr>
          <p:cNvPr id="226" name="Rectangle 225"/>
          <p:cNvSpPr/>
          <p:nvPr/>
        </p:nvSpPr>
        <p:spPr>
          <a:xfrm>
            <a:off x="6040190" y="2820000"/>
            <a:ext cx="2816812" cy="4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404040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6124568" y="2820000"/>
            <a:ext cx="2704308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출하 </a:t>
            </a:r>
            <a:r>
              <a:rPr sz="700" b="0" i="0">
                <a:solidFill>
                  <a:srgbClr val="FF7900"/>
                </a:solidFill>
                <a:latin typeface="Noto Sans KR"/>
                <a:ea typeface="Noto Sans KR"/>
                <a:cs typeface="Noto Sans KR"/>
              </a:rPr>
              <a:t>■</a:t>
            </a: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 이지켐  </a:t>
            </a:r>
            <a:r>
              <a:rPr sz="750" b="1" i="0">
                <a:solidFill>
                  <a:srgbClr val="7030A0"/>
                </a:solidFill>
                <a:latin typeface="Noto Sans KR"/>
                <a:ea typeface="Noto Sans KR"/>
                <a:cs typeface="Noto Sans KR"/>
              </a:rPr>
              <a:t>■</a:t>
            </a: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 한솔('27~)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899909" y="3250000"/>
            <a:ext cx="3986345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3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OQC·출하 : 5 Gal 9병 2 h · 200 L 1용기 2 h</a:t>
            </a:r>
          </a:p>
        </p:txBody>
      </p:sp>
      <p:cxnSp>
        <p:nvCxnSpPr>
          <p:cNvPr id="229" name="Connector 228"/>
          <p:cNvCxnSpPr/>
          <p:nvPr/>
        </p:nvCxnSpPr>
        <p:spPr>
          <a:xfrm>
            <a:off x="8107447" y="2065000"/>
            <a:ext cx="4572" cy="165000"/>
          </a:xfrm>
          <a:prstGeom prst="line">
            <a:avLst/>
          </a:prstGeom>
          <a:ln w="15875">
            <a:solidFill>
              <a:srgbClr val="1A1A1A"/>
            </a:solidFill>
          </a:ln>
        </p:spPr>
      </p:cxnSp>
      <p:cxnSp>
        <p:nvCxnSpPr>
          <p:cNvPr id="230" name="Connector 229"/>
          <p:cNvCxnSpPr/>
          <p:nvPr/>
        </p:nvCxnSpPr>
        <p:spPr>
          <a:xfrm flipH="1">
            <a:off x="760640" y="2230000"/>
            <a:ext cx="7346806" cy="0"/>
          </a:xfrm>
          <a:prstGeom prst="line">
            <a:avLst/>
          </a:prstGeom>
          <a:ln w="15875">
            <a:solidFill>
              <a:srgbClr val="1A1A1A"/>
            </a:solidFill>
          </a:ln>
        </p:spPr>
      </p:cxnSp>
      <p:cxnSp>
        <p:nvCxnSpPr>
          <p:cNvPr id="231" name="Connector 230"/>
          <p:cNvCxnSpPr/>
          <p:nvPr/>
        </p:nvCxnSpPr>
        <p:spPr>
          <a:xfrm>
            <a:off x="760640" y="2230000"/>
            <a:ext cx="4572" cy="41000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232" name="Connector 231"/>
          <p:cNvCxnSpPr/>
          <p:nvPr/>
        </p:nvCxnSpPr>
        <p:spPr>
          <a:xfrm flipV="1">
            <a:off x="6771465" y="975000"/>
            <a:ext cx="4572" cy="205000"/>
          </a:xfrm>
          <a:prstGeom prst="line">
            <a:avLst/>
          </a:prstGeom>
          <a:ln w="12700">
            <a:solidFill>
              <a:srgbClr val="E00000"/>
            </a:solidFill>
            <a:prstDash val="dash"/>
          </a:ln>
        </p:spPr>
      </p:cxnSp>
      <p:cxnSp>
        <p:nvCxnSpPr>
          <p:cNvPr id="233" name="Connector 232"/>
          <p:cNvCxnSpPr/>
          <p:nvPr/>
        </p:nvCxnSpPr>
        <p:spPr>
          <a:xfrm flipH="1">
            <a:off x="5090940" y="975000"/>
            <a:ext cx="1680524" cy="0"/>
          </a:xfrm>
          <a:prstGeom prst="line">
            <a:avLst/>
          </a:prstGeom>
          <a:ln w="12700">
            <a:solidFill>
              <a:srgbClr val="E00000"/>
            </a:solidFill>
            <a:prstDash val="dash"/>
          </a:ln>
        </p:spPr>
      </p:cxnSp>
      <p:cxnSp>
        <p:nvCxnSpPr>
          <p:cNvPr id="234" name="Connector 233"/>
          <p:cNvCxnSpPr/>
          <p:nvPr/>
        </p:nvCxnSpPr>
        <p:spPr>
          <a:xfrm>
            <a:off x="5090940" y="975000"/>
            <a:ext cx="4572" cy="85000"/>
          </a:xfrm>
          <a:prstGeom prst="line">
            <a:avLst/>
          </a:prstGeom>
          <a:ln w="12700">
            <a:solidFill>
              <a:srgbClr val="E00000"/>
            </a:solidFill>
            <a:prstDash val="dash"/>
            <a:tailEnd type="triangle" w="med" len="med"/>
          </a:ln>
        </p:spPr>
      </p:cxnSp>
      <p:sp>
        <p:nvSpPr>
          <p:cNvPr id="235" name="TextBox 234"/>
          <p:cNvSpPr txBox="1"/>
          <p:nvPr/>
        </p:nvSpPr>
        <p:spPr>
          <a:xfrm>
            <a:off x="6813654" y="955000"/>
            <a:ext cx="1546926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30" b="1" i="0">
                <a:solidFill>
                  <a:srgbClr val="E00000"/>
                </a:solidFill>
                <a:latin typeface="Noto Sans KR"/>
                <a:ea typeface="Noto Sans KR"/>
                <a:cs typeface="Noto Sans KR"/>
              </a:rPr>
              <a:t>PQC NG → 정제 복귀</a:t>
            </a:r>
          </a:p>
        </p:txBody>
      </p:sp>
      <p:cxnSp>
        <p:nvCxnSpPr>
          <p:cNvPr id="236" name="Connector 235"/>
          <p:cNvCxnSpPr/>
          <p:nvPr/>
        </p:nvCxnSpPr>
        <p:spPr>
          <a:xfrm flipV="1">
            <a:off x="940640" y="2300000"/>
            <a:ext cx="4572" cy="340000"/>
          </a:xfrm>
          <a:prstGeom prst="line">
            <a:avLst/>
          </a:prstGeom>
          <a:ln w="12700">
            <a:solidFill>
              <a:srgbClr val="E00000"/>
            </a:solidFill>
            <a:prstDash val="dash"/>
          </a:ln>
        </p:spPr>
      </p:cxnSp>
      <p:cxnSp>
        <p:nvCxnSpPr>
          <p:cNvPr id="237" name="Connector 236"/>
          <p:cNvCxnSpPr/>
          <p:nvPr/>
        </p:nvCxnSpPr>
        <p:spPr>
          <a:xfrm>
            <a:off x="940640" y="2300000"/>
            <a:ext cx="4501874" cy="0"/>
          </a:xfrm>
          <a:prstGeom prst="line">
            <a:avLst/>
          </a:prstGeom>
          <a:ln w="12700">
            <a:solidFill>
              <a:srgbClr val="E00000"/>
            </a:solidFill>
            <a:prstDash val="dash"/>
          </a:ln>
        </p:spPr>
      </p:cxnSp>
      <p:cxnSp>
        <p:nvCxnSpPr>
          <p:cNvPr id="238" name="Connector 237"/>
          <p:cNvCxnSpPr/>
          <p:nvPr/>
        </p:nvCxnSpPr>
        <p:spPr>
          <a:xfrm flipV="1">
            <a:off x="5442514" y="1910000"/>
            <a:ext cx="4572" cy="390000"/>
          </a:xfrm>
          <a:prstGeom prst="line">
            <a:avLst/>
          </a:prstGeom>
          <a:ln w="12700">
            <a:solidFill>
              <a:srgbClr val="E00000"/>
            </a:solidFill>
            <a:prstDash val="dash"/>
            <a:tailEnd type="triangle" w="med" len="med"/>
          </a:ln>
        </p:spPr>
      </p:cxnSp>
      <p:sp>
        <p:nvSpPr>
          <p:cNvPr id="239" name="TextBox 238"/>
          <p:cNvSpPr txBox="1"/>
          <p:nvPr/>
        </p:nvSpPr>
        <p:spPr>
          <a:xfrm>
            <a:off x="5512829" y="2150000"/>
            <a:ext cx="1968815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30" b="1" i="0">
                <a:solidFill>
                  <a:srgbClr val="E00000"/>
                </a:solidFill>
                <a:latin typeface="Noto Sans KR"/>
                <a:ea typeface="Noto Sans KR"/>
                <a:cs typeface="Noto Sans KR"/>
              </a:rPr>
              <a:t>FQC NG → 정제 복귀 (조건 확인)</a:t>
            </a:r>
          </a:p>
        </p:txBody>
      </p:sp>
      <p:sp>
        <p:nvSpPr>
          <p:cNvPr id="259" name="Rectangle 257"/>
          <p:cNvSpPr/>
          <p:nvPr/>
        </p:nvSpPr>
        <p:spPr>
          <a:xfrm>
            <a:off x="283464" y="3465575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0" name="TextBox 258"/>
          <p:cNvSpPr txBox="1"/>
          <p:nvPr/>
        </p:nvSpPr>
        <p:spPr>
          <a:xfrm>
            <a:off x="393192" y="3438144"/>
            <a:ext cx="8129015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① Batch 마일스톤 — 순수 작업시간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>   단계별 시간 · 누적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283464" y="3785616"/>
            <a:ext cx="102412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5 Gal 9병</a:t>
            </a:r>
          </a:p>
          <a:p>
            <a:pPr algn="l"/>
            <a:r>
              <a:rPr sz="680" b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하이닉스 · CXMT</a:t>
            </a:r>
          </a:p>
          <a:p>
            <a:pPr algn="l"/>
            <a:r>
              <a:rPr sz="1000" b="1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>합계 77 h</a:t>
            </a:r>
          </a:p>
        </p:txBody>
      </p:sp>
      <p:sp>
        <p:nvSpPr>
          <p:cNvPr id="262" name="Pentagon 261"/>
          <p:cNvSpPr/>
          <p:nvPr/>
        </p:nvSpPr>
        <p:spPr>
          <a:xfrm>
            <a:off x="1344168" y="3703320"/>
            <a:ext cx="1116874" cy="658368"/>
          </a:xfrm>
          <a:prstGeom prst="homePlate">
            <a:avLst>
              <a:gd name="adj" fmla="val 22000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45720" tIns="9144" bIns="9144"/>
          <a:lstStyle/>
          <a:p>
            <a:pPr algn="ctr"/>
            <a:r>
              <a:rPr sz="72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IQC</a:t>
            </a:r>
          </a:p>
          <a:p>
            <a:pPr algn="ctr"/>
            <a:r>
              <a:rPr sz="1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 h</a:t>
            </a:r>
          </a:p>
          <a:p>
            <a:pPr algn="ctr"/>
            <a:r>
              <a:rPr sz="630" b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→2 h · 0.1일</a:t>
            </a:r>
          </a:p>
        </p:txBody>
      </p:sp>
      <p:sp>
        <p:nvSpPr>
          <p:cNvPr id="263" name="Chevron 262"/>
          <p:cNvSpPr/>
          <p:nvPr/>
        </p:nvSpPr>
        <p:spPr>
          <a:xfrm>
            <a:off x="2415322" y="3703320"/>
            <a:ext cx="1116874" cy="658368"/>
          </a:xfrm>
          <a:prstGeom prst="chevron">
            <a:avLst>
              <a:gd name="adj" fmla="val 22000"/>
            </a:avLst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준비·투입</a:t>
            </a:r>
          </a:p>
          <a:p>
            <a:pPr algn="ctr"/>
            <a:r>
              <a:rPr sz="1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 h</a:t>
            </a:r>
          </a:p>
          <a:p>
            <a:pPr algn="ctr"/>
            <a:r>
              <a:rPr sz="630" b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→4 h · 0.2일</a:t>
            </a:r>
          </a:p>
        </p:txBody>
      </p:sp>
      <p:sp>
        <p:nvSpPr>
          <p:cNvPr id="264" name="Chevron 263"/>
          <p:cNvSpPr/>
          <p:nvPr/>
        </p:nvSpPr>
        <p:spPr>
          <a:xfrm>
            <a:off x="3486476" y="3703320"/>
            <a:ext cx="1116874" cy="658368"/>
          </a:xfrm>
          <a:prstGeom prst="chevron">
            <a:avLst>
              <a:gd name="adj" fmla="val 22000"/>
            </a:avLst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순수 정제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45 h</a:t>
            </a:r>
          </a:p>
          <a:p>
            <a:pPr algn="ctr"/>
            <a:r>
              <a:rPr sz="63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→49 h · 2.0일</a:t>
            </a:r>
          </a:p>
        </p:txBody>
      </p:sp>
      <p:sp>
        <p:nvSpPr>
          <p:cNvPr id="265" name="Chevron 264"/>
          <p:cNvSpPr/>
          <p:nvPr/>
        </p:nvSpPr>
        <p:spPr>
          <a:xfrm>
            <a:off x="4557630" y="3703320"/>
            <a:ext cx="1116874" cy="658368"/>
          </a:xfrm>
          <a:prstGeom prst="chevron">
            <a:avLst>
              <a:gd name="adj" fmla="val 22000"/>
            </a:avLst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PQC~이송</a:t>
            </a:r>
          </a:p>
          <a:p>
            <a:pPr algn="ctr"/>
            <a:r>
              <a:rPr sz="1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6 h</a:t>
            </a:r>
          </a:p>
          <a:p>
            <a:pPr algn="ctr"/>
            <a:r>
              <a:rPr sz="630" b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→55 h · 2.3일</a:t>
            </a:r>
          </a:p>
        </p:txBody>
      </p:sp>
      <p:sp>
        <p:nvSpPr>
          <p:cNvPr id="266" name="Chevron 265"/>
          <p:cNvSpPr/>
          <p:nvPr/>
        </p:nvSpPr>
        <p:spPr>
          <a:xfrm>
            <a:off x="5628785" y="3703320"/>
            <a:ext cx="1116874" cy="658368"/>
          </a:xfrm>
          <a:prstGeom prst="chevron">
            <a:avLst>
              <a:gd name="adj" fmla="val 2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FQC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 h</a:t>
            </a:r>
          </a:p>
          <a:p>
            <a:pPr algn="ctr"/>
            <a:r>
              <a:rPr sz="63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→57 h · 2.4일</a:t>
            </a:r>
          </a:p>
        </p:txBody>
      </p:sp>
      <p:sp>
        <p:nvSpPr>
          <p:cNvPr id="267" name="Chevron 266"/>
          <p:cNvSpPr/>
          <p:nvPr/>
        </p:nvSpPr>
        <p:spPr>
          <a:xfrm>
            <a:off x="6699939" y="3703320"/>
            <a:ext cx="1116874" cy="658368"/>
          </a:xfrm>
          <a:prstGeom prst="chevron">
            <a:avLst>
              <a:gd name="adj" fmla="val 22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충진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18 h</a:t>
            </a:r>
          </a:p>
          <a:p>
            <a:pPr algn="ctr"/>
            <a:r>
              <a:rPr sz="63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→75 h · 3.1일</a:t>
            </a:r>
          </a:p>
        </p:txBody>
      </p:sp>
      <p:sp>
        <p:nvSpPr>
          <p:cNvPr id="268" name="Chevron 267"/>
          <p:cNvSpPr/>
          <p:nvPr/>
        </p:nvSpPr>
        <p:spPr>
          <a:xfrm>
            <a:off x="7771093" y="3703320"/>
            <a:ext cx="1116874" cy="658368"/>
          </a:xfrm>
          <a:prstGeom prst="chevron">
            <a:avLst>
              <a:gd name="adj" fmla="val 22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OQC·출하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 h</a:t>
            </a:r>
          </a:p>
          <a:p>
            <a:pPr algn="ctr"/>
            <a:r>
              <a:rPr sz="63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→77 h · 3.2일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283464" y="4553712"/>
            <a:ext cx="102412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200 L 1용기</a:t>
            </a:r>
          </a:p>
          <a:p>
            <a:pPr algn="l"/>
            <a:r>
              <a:rPr sz="680" b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이지켐 · 한솔</a:t>
            </a:r>
          </a:p>
          <a:p>
            <a:pPr algn="l"/>
            <a:r>
              <a:rPr sz="1000" b="1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>합계 67 h</a:t>
            </a:r>
          </a:p>
        </p:txBody>
      </p:sp>
      <p:sp>
        <p:nvSpPr>
          <p:cNvPr id="270" name="Pentagon 269"/>
          <p:cNvSpPr/>
          <p:nvPr/>
        </p:nvSpPr>
        <p:spPr>
          <a:xfrm>
            <a:off x="1344168" y="4471416"/>
            <a:ext cx="1116874" cy="658368"/>
          </a:xfrm>
          <a:prstGeom prst="homePlate">
            <a:avLst>
              <a:gd name="adj" fmla="val 22000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45720" tIns="9144" bIns="9144"/>
          <a:lstStyle/>
          <a:p>
            <a:pPr algn="ctr"/>
            <a:r>
              <a:rPr sz="72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IQC</a:t>
            </a:r>
          </a:p>
          <a:p>
            <a:pPr algn="ctr"/>
            <a:r>
              <a:rPr sz="1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 h</a:t>
            </a:r>
          </a:p>
          <a:p>
            <a:pPr algn="ctr"/>
            <a:r>
              <a:rPr sz="630" b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→2 h · 0.1일</a:t>
            </a:r>
          </a:p>
        </p:txBody>
      </p:sp>
      <p:sp>
        <p:nvSpPr>
          <p:cNvPr id="271" name="Chevron 270"/>
          <p:cNvSpPr/>
          <p:nvPr/>
        </p:nvSpPr>
        <p:spPr>
          <a:xfrm>
            <a:off x="2415322" y="4471416"/>
            <a:ext cx="1116874" cy="658368"/>
          </a:xfrm>
          <a:prstGeom prst="chevron">
            <a:avLst>
              <a:gd name="adj" fmla="val 22000"/>
            </a:avLst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준비·투입</a:t>
            </a:r>
          </a:p>
          <a:p>
            <a:pPr algn="ctr"/>
            <a:r>
              <a:rPr sz="1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 h</a:t>
            </a:r>
          </a:p>
          <a:p>
            <a:pPr algn="ctr"/>
            <a:r>
              <a:rPr sz="630" b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→4 h · 0.2일</a:t>
            </a:r>
          </a:p>
        </p:txBody>
      </p:sp>
      <p:sp>
        <p:nvSpPr>
          <p:cNvPr id="272" name="Chevron 271"/>
          <p:cNvSpPr/>
          <p:nvPr/>
        </p:nvSpPr>
        <p:spPr>
          <a:xfrm>
            <a:off x="3486476" y="4471416"/>
            <a:ext cx="1116874" cy="658368"/>
          </a:xfrm>
          <a:prstGeom prst="chevron">
            <a:avLst>
              <a:gd name="adj" fmla="val 22000"/>
            </a:avLst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순수 정제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45 h</a:t>
            </a:r>
          </a:p>
          <a:p>
            <a:pPr algn="ctr"/>
            <a:r>
              <a:rPr sz="63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→49 h · 2.0일</a:t>
            </a:r>
          </a:p>
        </p:txBody>
      </p:sp>
      <p:sp>
        <p:nvSpPr>
          <p:cNvPr id="273" name="Chevron 272"/>
          <p:cNvSpPr/>
          <p:nvPr/>
        </p:nvSpPr>
        <p:spPr>
          <a:xfrm>
            <a:off x="4557630" y="4471416"/>
            <a:ext cx="1116874" cy="658368"/>
          </a:xfrm>
          <a:prstGeom prst="chevron">
            <a:avLst>
              <a:gd name="adj" fmla="val 22000"/>
            </a:avLst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PQC~이송</a:t>
            </a:r>
          </a:p>
          <a:p>
            <a:pPr algn="ctr"/>
            <a:r>
              <a:rPr sz="1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6 h</a:t>
            </a:r>
          </a:p>
          <a:p>
            <a:pPr algn="ctr"/>
            <a:r>
              <a:rPr sz="630" b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→55 h · 2.3일</a:t>
            </a:r>
          </a:p>
        </p:txBody>
      </p:sp>
      <p:sp>
        <p:nvSpPr>
          <p:cNvPr id="274" name="Chevron 273"/>
          <p:cNvSpPr/>
          <p:nvPr/>
        </p:nvSpPr>
        <p:spPr>
          <a:xfrm>
            <a:off x="5628785" y="4471416"/>
            <a:ext cx="1116874" cy="658368"/>
          </a:xfrm>
          <a:prstGeom prst="chevron">
            <a:avLst>
              <a:gd name="adj" fmla="val 2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FQC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 h</a:t>
            </a:r>
          </a:p>
          <a:p>
            <a:pPr algn="ctr"/>
            <a:r>
              <a:rPr sz="63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→57 h · 2.4일</a:t>
            </a:r>
          </a:p>
        </p:txBody>
      </p:sp>
      <p:sp>
        <p:nvSpPr>
          <p:cNvPr id="275" name="Chevron 274"/>
          <p:cNvSpPr/>
          <p:nvPr/>
        </p:nvSpPr>
        <p:spPr>
          <a:xfrm>
            <a:off x="6699939" y="4471416"/>
            <a:ext cx="1116874" cy="658368"/>
          </a:xfrm>
          <a:prstGeom prst="chevron">
            <a:avLst>
              <a:gd name="adj" fmla="val 22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충진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 h</a:t>
            </a:r>
          </a:p>
          <a:p>
            <a:pPr algn="ctr"/>
            <a:r>
              <a:rPr sz="63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→65 h · 2.7일</a:t>
            </a:r>
          </a:p>
        </p:txBody>
      </p:sp>
      <p:sp>
        <p:nvSpPr>
          <p:cNvPr id="276" name="Chevron 275"/>
          <p:cNvSpPr/>
          <p:nvPr/>
        </p:nvSpPr>
        <p:spPr>
          <a:xfrm>
            <a:off x="7771093" y="4471416"/>
            <a:ext cx="1116874" cy="658368"/>
          </a:xfrm>
          <a:prstGeom prst="chevron">
            <a:avLst>
              <a:gd name="adj" fmla="val 22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OQC·출하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 h</a:t>
            </a:r>
          </a:p>
          <a:p>
            <a:pPr algn="ctr"/>
            <a:r>
              <a:rPr sz="63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→67 h · 2.8일</a:t>
            </a:r>
          </a:p>
        </p:txBody>
      </p:sp>
      <p:sp>
        <p:nvSpPr>
          <p:cNvPr id="277" name="Rectangle 257"/>
          <p:cNvSpPr/>
          <p:nvPr/>
        </p:nvSpPr>
        <p:spPr>
          <a:xfrm>
            <a:off x="283464" y="5294376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78" name="TextBox 258"/>
          <p:cNvSpPr txBox="1"/>
          <p:nvPr/>
        </p:nvSpPr>
        <p:spPr>
          <a:xfrm>
            <a:off x="393192" y="5266944"/>
            <a:ext cx="8129015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② 시간 구분 — 정제기는 47 h만 묶이고, 검사·충진은 다음 Batch 정제와 병행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graphicFrame>
        <p:nvGraphicFramePr>
          <p:cNvPr id="279" name="Table 278"/>
          <p:cNvGraphicFramePr>
            <a:graphicFrameLocks noGrp="1"/>
          </p:cNvGraphicFramePr>
          <p:nvPr/>
        </p:nvGraphicFramePr>
        <p:xfrm>
          <a:off x="283464" y="5513832"/>
          <a:ext cx="8567928" cy="749808"/>
        </p:xfrm>
        <a:graphic>
          <a:graphicData uri="http://schemas.openxmlformats.org/drawingml/2006/table">
            <a:tbl>
              <a:tblPr firstRow="0" bandRow="0"/>
              <a:tblGrid>
                <a:gridCol w="2514600"/>
                <a:gridCol w="822960"/>
                <a:gridCol w="822960"/>
                <a:gridCol w="4407408"/>
              </a:tblGrid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 Gal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200 L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내용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정제기 점유 (준비·투입 + 순수 정제)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47 h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47 h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정제기 1대가 묶이는 시간 → Batch 주기를 결정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검사 · 이송 (IQC · PQC~이송 · FQC)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 h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 h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IQC는 원료 Lot 단위 · PQC~이송은 합계 6 h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충진 · OQC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 h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 h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 Gal 2 h/병 × 9병 + 2 h · 200 L 8 h/용기 + 2 h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8990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E96E-E472-E164-23F2-95F3E9DCB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E2DD2F-BCF5-ECAE-E5D5-3CF0B6E970A6}"/>
              </a:ext>
            </a:extLst>
          </p:cNvPr>
          <p:cNvSpPr txBox="1"/>
          <p:nvPr/>
        </p:nvSpPr>
        <p:spPr>
          <a:xfrm>
            <a:off x="419241" y="188640"/>
            <a:ext cx="7400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800" dirty="0" b="1">
                <a:gradFill>
                  <a:gsLst>
                    <a:gs pos="0">
                      <a:srgbClr val="FF7900"/>
                    </a:gs>
                    <a:gs pos="67000">
                      <a:srgbClr val="EB002C"/>
                    </a:gs>
                  </a:gsLst>
                  <a:lin ang="5400000" scaled="1"/>
                </a:gradFill>
              </a:rPr>
              <a:t>To-be | 정제기 2대 운영과 투자 일정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334A9-F66D-C6A4-7BE9-6D50F9536A48}"/>
              </a:ext>
            </a:extLst>
          </p:cNvPr>
          <p:cNvSpPr/>
          <p:nvPr/>
        </p:nvSpPr>
        <p:spPr>
          <a:xfrm>
            <a:off x="243076" y="0"/>
            <a:ext cx="45719" cy="900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E35880-4093-876B-A5F4-41C1E861B78E}"/>
              </a:ext>
            </a:extLst>
          </p:cNvPr>
          <p:cNvSpPr txBox="1"/>
          <p:nvPr/>
        </p:nvSpPr>
        <p:spPr>
          <a:xfrm>
            <a:off x="683568" y="649029"/>
            <a:ext cx="821735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600" dirty="0"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정제기 2대의 투입 시점을 엇갈리게 운영하여 생산을 병행하고, 후공정 부하를 분산하는 계획</a:t>
            </a:r>
            <a:endParaRPr lang="en-US" altLang="ko-KR" sz="1600" dirty="0">
              <a:solidFill>
                <a:srgbClr val="FB630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FCEA6BD-DE04-59B4-A8D4-190141D5218B}"/>
              </a:ext>
            </a:extLst>
          </p:cNvPr>
          <p:cNvSpPr>
            <a:spLocks noChangeAspect="1"/>
          </p:cNvSpPr>
          <p:nvPr/>
        </p:nvSpPr>
        <p:spPr>
          <a:xfrm>
            <a:off x="419241" y="682139"/>
            <a:ext cx="180000" cy="180000"/>
          </a:xfrm>
          <a:prstGeom prst="ellipse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latin typeface="Noto Sans KR" pitchFamily="2" charset="-127"/>
                <a:ea typeface="Noto Sans KR" pitchFamily="2" charset="-127"/>
              </a:rPr>
              <a:t>4</a:t>
            </a:r>
            <a:endParaRPr kumimoji="1" lang="ko-KR" altLang="en-US" sz="1000" b="1" dirty="0">
              <a:latin typeface="Noto Sans KR" pitchFamily="2" charset="-127"/>
              <a:ea typeface="Noto Sans KR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8A963E8-7BFA-8421-BB5D-9C25023F1E9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165102"/>
            <a:ext cx="872541" cy="372545"/>
          </a:xfrm>
          <a:prstGeom prst="rect">
            <a:avLst/>
          </a:prstGeom>
        </p:spPr>
      </p:pic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93943A90-8311-883B-A173-01407C63CEE4}"/>
              </a:ext>
            </a:extLst>
          </p:cNvPr>
          <p:cNvSpPr/>
          <p:nvPr/>
        </p:nvSpPr>
        <p:spPr>
          <a:xfrm>
            <a:off x="234424" y="6411907"/>
            <a:ext cx="1027462" cy="2525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100" dirty="0">
                <a:solidFill>
                  <a:schemeClr val="bg1">
                    <a:lumMod val="50000"/>
                  </a:schemeClr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Confidential</a:t>
            </a:r>
            <a:endParaRPr kumimoji="1" lang="ko-KR" altLang="en-US" sz="1100" dirty="0">
              <a:solidFill>
                <a:schemeClr val="bg1">
                  <a:lumMod val="50000"/>
                </a:schemeClr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163" name="직선 연결선[R] 162">
            <a:extLst>
              <a:ext uri="{FF2B5EF4-FFF2-40B4-BE49-F238E27FC236}">
                <a16:creationId xmlns:a16="http://schemas.microsoft.com/office/drawing/2014/main" id="{8DEBABA2-333E-086B-36F6-137958AA3974}"/>
              </a:ext>
            </a:extLst>
          </p:cNvPr>
          <p:cNvCxnSpPr>
            <a:cxnSpLocks/>
          </p:cNvCxnSpPr>
          <p:nvPr/>
        </p:nvCxnSpPr>
        <p:spPr>
          <a:xfrm>
            <a:off x="1442533" y="6538184"/>
            <a:ext cx="72008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53F489-CBFB-4C6F-878D-02975AD51256}"/>
              </a:ext>
            </a:extLst>
          </p:cNvPr>
          <p:cNvSpPr txBox="1"/>
          <p:nvPr/>
        </p:nvSpPr>
        <p:spPr>
          <a:xfrm>
            <a:off x="3972000" y="6461240"/>
            <a:ext cx="120000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ko-KR" sz="1000" dirty="0" b="0" i="0">
                <a:solidFill>
                  <a:srgbClr val="7F7F7F"/>
                </a:solidFill>
                <a:latin typeface="Noto Sans KR" panose="02000403000000020004" pitchFamily="2" charset="-127"/>
                <a:ea typeface="Noto Sans KR" panose="02000403000000020004" pitchFamily="2" charset="-127"/>
                <a:cs typeface="Noto Sans KR" panose="02000403000000020004" pitchFamily="2" charset="-127"/>
              </a:rPr>
              <a:t>- 4 -</a:t>
            </a:r>
            <a:endParaRPr kumimoji="1" lang="ko-KR" altLang="en-US" sz="1000" dirty="0">
              <a:solidFill>
                <a:schemeClr val="bg1">
                  <a:lumMod val="50000"/>
                </a:schemeClr>
              </a:solidFill>
              <a:latin typeface="Noto Sans KR" panose="02000403000000020004" pitchFamily="2" charset="-127"/>
              <a:ea typeface="Noto Sans KR" panose="02000403000000020004" pitchFamily="2" charset="-127"/>
              <a:cs typeface="Noto Sans KR" panose="02000403000000020004" pitchFamily="2" charset="-127"/>
            </a:endParaRPr>
          </a:p>
        </p:txBody>
      </p:sp>
      <p:sp>
        <p:nvSpPr>
          <p:cNvPr id="165" name="Can 164"/>
          <p:cNvSpPr/>
          <p:nvPr/>
        </p:nvSpPr>
        <p:spPr>
          <a:xfrm>
            <a:off x="600640" y="1100000"/>
            <a:ext cx="360000" cy="420000"/>
          </a:xfrm>
          <a:prstGeom prst="can">
            <a:avLst/>
          </a:prstGeom>
          <a:solidFill>
            <a:srgbClr val="EDEDED"/>
          </a:solidFill>
          <a:ln w="15875">
            <a:solidFill>
              <a:srgbClr val="7F7F7F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7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Crude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288436" y="1570000"/>
            <a:ext cx="984407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288436" y="1570000"/>
            <a:ext cx="984407" cy="34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09531" y="1615000"/>
            <a:ext cx="942218" cy="26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원재료 입고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Lake Materials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722859" y="1180000"/>
            <a:ext cx="703148" cy="2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IQC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624418" y="1570000"/>
            <a:ext cx="900029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624418" y="1570000"/>
            <a:ext cx="900029" cy="34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645513" y="1615000"/>
            <a:ext cx="857841" cy="26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수입검사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NMR·ICP·IC</a:t>
            </a:r>
          </a:p>
        </p:txBody>
      </p:sp>
      <p:sp>
        <p:nvSpPr>
          <p:cNvPr id="173" name="Can 172"/>
          <p:cNvSpPr/>
          <p:nvPr/>
        </p:nvSpPr>
        <p:spPr>
          <a:xfrm>
            <a:off x="3233226" y="1140000"/>
            <a:ext cx="270000" cy="340000"/>
          </a:xfrm>
          <a:prstGeom prst="can">
            <a:avLst/>
          </a:prstGeom>
          <a:solidFill>
            <a:srgbClr val="EDEDED"/>
          </a:solidFill>
          <a:ln w="15875">
            <a:solidFill>
              <a:srgbClr val="7F7F7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2876022" y="1570000"/>
            <a:ext cx="984407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2876022" y="1570000"/>
            <a:ext cx="984407" cy="34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897117" y="1615000"/>
            <a:ext cx="942218" cy="26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준비 · 투입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Canister → 정제기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155753" y="1030000"/>
            <a:ext cx="1870374" cy="890000"/>
          </a:xfrm>
          <a:prstGeom prst="rect">
            <a:avLst/>
          </a:prstGeom>
          <a:solidFill>
            <a:srgbClr val="FDEDF0"/>
          </a:solidFill>
          <a:ln w="25400">
            <a:solidFill>
              <a:srgbClr val="EB002C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4578009" y="1065000"/>
            <a:ext cx="100000" cy="140000"/>
          </a:xfrm>
          <a:prstGeom prst="rect">
            <a:avLst/>
          </a:prstGeom>
          <a:solidFill>
            <a:srgbClr val="BFBFBF"/>
          </a:solidFill>
          <a:ln w="12700">
            <a:solidFill>
              <a:srgbClr val="7F7F7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79" name="Round Same Side Corner Rectangle 178"/>
          <p:cNvSpPr/>
          <p:nvPr/>
        </p:nvSpPr>
        <p:spPr>
          <a:xfrm rot="10800000">
            <a:off x="4438009" y="1195000"/>
            <a:ext cx="380000" cy="355000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A6A6A6"/>
          </a:solidFill>
          <a:ln w="15875">
            <a:solidFill>
              <a:srgbClr val="595959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438009" y="1260000"/>
            <a:ext cx="380000" cy="2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정제기1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4212004" y="1570000"/>
            <a:ext cx="1757871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4212004" y="1570000"/>
            <a:ext cx="1757871" cy="34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4233099" y="1615000"/>
            <a:ext cx="1715682" cy="26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정제기 1·2 · 투입 시점 엇갈림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4개 고객 공용 배정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6419890" y="1180000"/>
            <a:ext cx="703148" cy="2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PQC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6321450" y="1570000"/>
            <a:ext cx="900029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6321450" y="1570000"/>
            <a:ext cx="900029" cy="34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6342544" y="1615000"/>
            <a:ext cx="857841" cy="26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공정검사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NMR</a:t>
            </a:r>
          </a:p>
        </p:txBody>
      </p:sp>
      <p:sp>
        <p:nvSpPr>
          <p:cNvPr id="188" name="Can 187"/>
          <p:cNvSpPr/>
          <p:nvPr/>
        </p:nvSpPr>
        <p:spPr>
          <a:xfrm>
            <a:off x="7907447" y="1100000"/>
            <a:ext cx="400000" cy="420000"/>
          </a:xfrm>
          <a:prstGeom prst="can">
            <a:avLst/>
          </a:prstGeom>
          <a:solidFill>
            <a:srgbClr val="FFE3CC"/>
          </a:solidFill>
          <a:ln w="15875">
            <a:solidFill>
              <a:srgbClr val="FF7900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Product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7573054" y="1570000"/>
            <a:ext cx="1068785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573054" y="1570000"/>
            <a:ext cx="1068785" cy="34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7594148" y="1615000"/>
            <a:ext cx="1026596" cy="26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Product Tank</a:t>
            </a:r>
          </a:p>
          <a:p>
            <a:pPr algn="ctr">
              <a:spcAft>
                <a:spcPts val="0"/>
              </a:spcAft>
            </a:pPr>
            <a:r>
              <a:rPr sz="63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PQC 합격 후 이송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960640" y="1310000"/>
            <a:ext cx="762218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193" name="Connector 192"/>
          <p:cNvCxnSpPr/>
          <p:nvPr/>
        </p:nvCxnSpPr>
        <p:spPr>
          <a:xfrm>
            <a:off x="2426007" y="1310000"/>
            <a:ext cx="807218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194" name="Connector 193"/>
          <p:cNvCxnSpPr/>
          <p:nvPr/>
        </p:nvCxnSpPr>
        <p:spPr>
          <a:xfrm>
            <a:off x="3503226" y="1310000"/>
            <a:ext cx="930895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195" name="Connector 194"/>
          <p:cNvCxnSpPr/>
          <p:nvPr/>
        </p:nvCxnSpPr>
        <p:spPr>
          <a:xfrm>
            <a:off x="5721496" y="1310000"/>
            <a:ext cx="698394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196" name="Connector 195"/>
          <p:cNvCxnSpPr/>
          <p:nvPr/>
        </p:nvCxnSpPr>
        <p:spPr>
          <a:xfrm>
            <a:off x="7123039" y="1310000"/>
            <a:ext cx="784407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sp>
        <p:nvSpPr>
          <p:cNvPr id="197" name="Rounded Rectangle 196"/>
          <p:cNvSpPr/>
          <p:nvPr/>
        </p:nvSpPr>
        <p:spPr>
          <a:xfrm>
            <a:off x="429066" y="1915000"/>
            <a:ext cx="703148" cy="150000"/>
          </a:xfrm>
          <a:prstGeom prst="roundRect">
            <a:avLst>
              <a:gd name="adj" fmla="val 30000"/>
            </a:avLst>
          </a:prstGeom>
          <a:solidFill>
            <a:srgbClr val="E2EFD9"/>
          </a:solidFill>
          <a:ln w="952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5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–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1722859" y="1915000"/>
            <a:ext cx="703148" cy="150000"/>
          </a:xfrm>
          <a:prstGeom prst="roundRect">
            <a:avLst>
              <a:gd name="adj" fmla="val 30000"/>
            </a:avLst>
          </a:prstGeom>
          <a:solidFill>
            <a:srgbClr val="E2EFD9"/>
          </a:solidFill>
          <a:ln w="952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5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2 h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2974463" y="1915000"/>
            <a:ext cx="787526" cy="150000"/>
          </a:xfrm>
          <a:prstGeom prst="roundRect">
            <a:avLst>
              <a:gd name="adj" fmla="val 30000"/>
            </a:avLst>
          </a:prstGeom>
          <a:solidFill>
            <a:srgbClr val="E2EFD9"/>
          </a:solidFill>
          <a:ln w="952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5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2 h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4231231" y="1915000"/>
            <a:ext cx="1723129" cy="150000"/>
          </a:xfrm>
          <a:prstGeom prst="roundRect">
            <a:avLst>
              <a:gd name="adj" fmla="val 30000"/>
            </a:avLst>
          </a:prstGeom>
          <a:solidFill>
            <a:srgbClr val="E2EFD9"/>
          </a:solidFill>
          <a:ln w="952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5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순수 정제 45 h (설비별)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6391573" y="1915000"/>
            <a:ext cx="2186060" cy="150000"/>
          </a:xfrm>
          <a:prstGeom prst="roundRect">
            <a:avLst>
              <a:gd name="adj" fmla="val 30000"/>
            </a:avLst>
          </a:prstGeom>
          <a:solidFill>
            <a:srgbClr val="E2EFD9"/>
          </a:solidFill>
          <a:ln w="952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5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PQC~제품 이송 합계 6 h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386877" y="2640000"/>
            <a:ext cx="731274" cy="2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FQC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88436" y="2920000"/>
            <a:ext cx="928155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제품검사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429066" y="3100000"/>
            <a:ext cx="646896" cy="150000"/>
          </a:xfrm>
          <a:prstGeom prst="roundRect">
            <a:avLst>
              <a:gd name="adj" fmla="val 30000"/>
            </a:avLst>
          </a:prstGeom>
          <a:solidFill>
            <a:srgbClr val="E2EFD9"/>
          </a:solidFill>
          <a:ln w="952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  <a:r>
              <a:rPr sz="65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2 h</a:t>
            </a:r>
          </a:p>
        </p:txBody>
      </p:sp>
      <p:cxnSp>
        <p:nvCxnSpPr>
          <p:cNvPr id="206" name="Connector 205"/>
          <p:cNvCxnSpPr/>
          <p:nvPr/>
        </p:nvCxnSpPr>
        <p:spPr>
          <a:xfrm>
            <a:off x="1118151" y="2770000"/>
            <a:ext cx="337511" cy="0"/>
          </a:xfrm>
          <a:prstGeom prst="line">
            <a:avLst/>
          </a:prstGeom>
          <a:ln w="15875">
            <a:solidFill>
              <a:srgbClr val="1A1A1A"/>
            </a:solidFill>
          </a:ln>
        </p:spPr>
      </p:cxnSp>
      <p:cxnSp>
        <p:nvCxnSpPr>
          <p:cNvPr id="207" name="Connector 206"/>
          <p:cNvCxnSpPr/>
          <p:nvPr/>
        </p:nvCxnSpPr>
        <p:spPr>
          <a:xfrm>
            <a:off x="1455663" y="2510000"/>
            <a:ext cx="4572" cy="520000"/>
          </a:xfrm>
          <a:prstGeom prst="line">
            <a:avLst/>
          </a:prstGeom>
          <a:ln w="15875">
            <a:solidFill>
              <a:srgbClr val="1A1A1A"/>
            </a:solidFill>
          </a:ln>
        </p:spPr>
      </p:cxnSp>
      <p:cxnSp>
        <p:nvCxnSpPr>
          <p:cNvPr id="208" name="Connector 207"/>
          <p:cNvCxnSpPr/>
          <p:nvPr/>
        </p:nvCxnSpPr>
        <p:spPr>
          <a:xfrm>
            <a:off x="1455663" y="2510000"/>
            <a:ext cx="23907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209" name="Connector 208"/>
          <p:cNvCxnSpPr/>
          <p:nvPr/>
        </p:nvCxnSpPr>
        <p:spPr>
          <a:xfrm>
            <a:off x="1455663" y="3030000"/>
            <a:ext cx="23907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sp>
        <p:nvSpPr>
          <p:cNvPr id="210" name="Rectangle 209"/>
          <p:cNvSpPr/>
          <p:nvPr/>
        </p:nvSpPr>
        <p:spPr>
          <a:xfrm>
            <a:off x="1694733" y="2300000"/>
            <a:ext cx="3164167" cy="420000"/>
          </a:xfrm>
          <a:prstGeom prst="rect">
            <a:avLst/>
          </a:prstGeom>
          <a:solidFill>
            <a:srgbClr val="E2EFD9"/>
          </a:solidFill>
          <a:ln w="15875">
            <a:solidFill>
              <a:srgbClr val="548235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1694733" y="2300000"/>
            <a:ext cx="63283" cy="42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1835363" y="2400000"/>
            <a:ext cx="590644" cy="220000"/>
          </a:xfrm>
          <a:prstGeom prst="roundRect">
            <a:avLst>
              <a:gd name="adj" fmla="val 15000"/>
            </a:avLst>
          </a:prstGeom>
          <a:solidFill>
            <a:srgbClr val="548235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7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G/B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510385" y="2310000"/>
            <a:ext cx="2292263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5 Gal 글로브 박스 충진 (유지)</a:t>
            </a:r>
          </a:p>
          <a:p>
            <a:pPr algn="l">
              <a:spcAft>
                <a:spcPts val="0"/>
              </a:spcAft>
            </a:pPr>
            <a:r>
              <a:rPr sz="62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20 kg/병 · 필터 포함 · 하이닉스·CXMT</a:t>
            </a:r>
          </a:p>
          <a:p>
            <a:pPr algn="l">
              <a:spcAft>
                <a:spcPts val="0"/>
              </a:spcAft>
            </a:pPr>
            <a:r>
              <a:rPr sz="63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2 h/병 · 9병 18 h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1694733" y="2820000"/>
            <a:ext cx="3164167" cy="420000"/>
          </a:xfrm>
          <a:prstGeom prst="rect">
            <a:avLst/>
          </a:prstGeom>
          <a:solidFill>
            <a:srgbClr val="EFE6F7"/>
          </a:solidFill>
          <a:ln w="15875">
            <a:solidFill>
              <a:srgbClr val="7030A0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694733" y="2820000"/>
            <a:ext cx="63283" cy="42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16" name="Rounded Rectangle 215"/>
          <p:cNvSpPr/>
          <p:nvPr/>
        </p:nvSpPr>
        <p:spPr>
          <a:xfrm>
            <a:off x="1835363" y="2920000"/>
            <a:ext cx="590644" cy="220000"/>
          </a:xfrm>
          <a:prstGeom prst="roundRect">
            <a:avLst>
              <a:gd name="adj" fmla="val 15000"/>
            </a:avLst>
          </a:prstGeom>
          <a:solidFill>
            <a:srgbClr val="7030A0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7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ARS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510385" y="2830000"/>
            <a:ext cx="2292263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200 L 수동 → ARS ('27.7~)</a:t>
            </a:r>
          </a:p>
          <a:p>
            <a:pPr algn="l">
              <a:spcAft>
                <a:spcPts val="0"/>
              </a:spcAft>
            </a:pPr>
            <a:r>
              <a:rPr sz="620" b="0" i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이지켐 140 · 한솔 150 kg/용기 · 필터 포함</a:t>
            </a:r>
          </a:p>
          <a:p>
            <a:pPr algn="l">
              <a:spcAft>
                <a:spcPts val="0"/>
              </a:spcAft>
            </a:pPr>
            <a:r>
              <a:rPr sz="63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수동 8 h/용기 · ARS 단계별 시간 실측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4999531" y="2380000"/>
            <a:ext cx="646896" cy="2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OQC</a:t>
            </a:r>
          </a:p>
        </p:txBody>
      </p:sp>
      <p:cxnSp>
        <p:nvCxnSpPr>
          <p:cNvPr id="219" name="Connector 218"/>
          <p:cNvCxnSpPr/>
          <p:nvPr/>
        </p:nvCxnSpPr>
        <p:spPr>
          <a:xfrm>
            <a:off x="4792193" y="2510000"/>
            <a:ext cx="245428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220" name="Connector 219"/>
          <p:cNvCxnSpPr/>
          <p:nvPr/>
        </p:nvCxnSpPr>
        <p:spPr>
          <a:xfrm>
            <a:off x="5612256" y="2510000"/>
            <a:ext cx="427934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sp>
        <p:nvSpPr>
          <p:cNvPr id="221" name="Rectangle 220"/>
          <p:cNvSpPr/>
          <p:nvPr/>
        </p:nvSpPr>
        <p:spPr>
          <a:xfrm>
            <a:off x="6040190" y="2300000"/>
            <a:ext cx="2816812" cy="4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404040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6124568" y="2300000"/>
            <a:ext cx="2704308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출하 </a:t>
            </a:r>
            <a:r>
              <a:rPr sz="700" b="0" i="0">
                <a:solidFill>
                  <a:srgbClr val="EB002C"/>
                </a:solidFill>
                <a:latin typeface="Noto Sans KR"/>
                <a:ea typeface="Noto Sans KR"/>
                <a:cs typeface="Noto Sans KR"/>
              </a:rPr>
              <a:t>■</a:t>
            </a: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 SK하이닉스  </a:t>
            </a:r>
            <a:r>
              <a:rPr sz="700" b="0" i="0">
                <a:solidFill>
                  <a:srgbClr val="1B8A95"/>
                </a:solidFill>
                <a:latin typeface="Noto Sans KR"/>
                <a:ea typeface="Noto Sans KR"/>
                <a:cs typeface="Noto Sans KR"/>
              </a:rPr>
              <a:t>■</a:t>
            </a: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 CXMT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4999531" y="2900000"/>
            <a:ext cx="646896" cy="2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OQC</a:t>
            </a:r>
          </a:p>
        </p:txBody>
      </p:sp>
      <p:cxnSp>
        <p:nvCxnSpPr>
          <p:cNvPr id="224" name="Connector 223"/>
          <p:cNvCxnSpPr/>
          <p:nvPr/>
        </p:nvCxnSpPr>
        <p:spPr>
          <a:xfrm>
            <a:off x="4792193" y="3030000"/>
            <a:ext cx="245428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225" name="Connector 224"/>
          <p:cNvCxnSpPr/>
          <p:nvPr/>
        </p:nvCxnSpPr>
        <p:spPr>
          <a:xfrm>
            <a:off x="5612256" y="3030000"/>
            <a:ext cx="427934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sp>
        <p:nvSpPr>
          <p:cNvPr id="226" name="Rectangle 225"/>
          <p:cNvSpPr/>
          <p:nvPr/>
        </p:nvSpPr>
        <p:spPr>
          <a:xfrm>
            <a:off x="6040190" y="2820000"/>
            <a:ext cx="2816812" cy="42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404040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6124568" y="2820000"/>
            <a:ext cx="2704308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출하 </a:t>
            </a:r>
            <a:r>
              <a:rPr sz="700" b="0" i="0">
                <a:solidFill>
                  <a:srgbClr val="FF7900"/>
                </a:solidFill>
                <a:latin typeface="Noto Sans KR"/>
                <a:ea typeface="Noto Sans KR"/>
                <a:cs typeface="Noto Sans KR"/>
              </a:rPr>
              <a:t>■</a:t>
            </a: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 이지켐  </a:t>
            </a:r>
            <a:r>
              <a:rPr sz="750" b="1" i="0">
                <a:solidFill>
                  <a:srgbClr val="7030A0"/>
                </a:solidFill>
                <a:latin typeface="Noto Sans KR"/>
                <a:ea typeface="Noto Sans KR"/>
                <a:cs typeface="Noto Sans KR"/>
              </a:rPr>
              <a:t>■</a:t>
            </a:r>
            <a:r>
              <a:rPr sz="7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 한솔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899909" y="3250000"/>
            <a:ext cx="3986345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630" b="1" i="0">
                <a:solidFill>
                  <a:srgbClr val="385723"/>
                </a:solidFill>
                <a:latin typeface="Noto Sans KR"/>
                <a:ea typeface="Noto Sans KR"/>
                <a:cs typeface="Noto Sans KR"/>
              </a:rPr>
              <a:t>OQC·출하 : 5 Gal 9병 2 h · 200 L 1용기 2 h</a:t>
            </a:r>
          </a:p>
        </p:txBody>
      </p:sp>
      <p:cxnSp>
        <p:nvCxnSpPr>
          <p:cNvPr id="229" name="Connector 228"/>
          <p:cNvCxnSpPr/>
          <p:nvPr/>
        </p:nvCxnSpPr>
        <p:spPr>
          <a:xfrm>
            <a:off x="8107447" y="2065000"/>
            <a:ext cx="4572" cy="165000"/>
          </a:xfrm>
          <a:prstGeom prst="line">
            <a:avLst/>
          </a:prstGeom>
          <a:ln w="15875">
            <a:solidFill>
              <a:srgbClr val="1A1A1A"/>
            </a:solidFill>
          </a:ln>
        </p:spPr>
      </p:cxnSp>
      <p:cxnSp>
        <p:nvCxnSpPr>
          <p:cNvPr id="230" name="Connector 229"/>
          <p:cNvCxnSpPr/>
          <p:nvPr/>
        </p:nvCxnSpPr>
        <p:spPr>
          <a:xfrm flipH="1">
            <a:off x="760640" y="2230000"/>
            <a:ext cx="7346806" cy="0"/>
          </a:xfrm>
          <a:prstGeom prst="line">
            <a:avLst/>
          </a:prstGeom>
          <a:ln w="15875">
            <a:solidFill>
              <a:srgbClr val="1A1A1A"/>
            </a:solidFill>
          </a:ln>
        </p:spPr>
      </p:cxnSp>
      <p:cxnSp>
        <p:nvCxnSpPr>
          <p:cNvPr id="231" name="Connector 230"/>
          <p:cNvCxnSpPr/>
          <p:nvPr/>
        </p:nvCxnSpPr>
        <p:spPr>
          <a:xfrm>
            <a:off x="760640" y="2230000"/>
            <a:ext cx="4572" cy="41000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</p:cxnSp>
      <p:cxnSp>
        <p:nvCxnSpPr>
          <p:cNvPr id="232" name="Connector 231"/>
          <p:cNvCxnSpPr/>
          <p:nvPr/>
        </p:nvCxnSpPr>
        <p:spPr>
          <a:xfrm flipV="1">
            <a:off x="6771465" y="975000"/>
            <a:ext cx="4572" cy="205000"/>
          </a:xfrm>
          <a:prstGeom prst="line">
            <a:avLst/>
          </a:prstGeom>
          <a:ln w="12700">
            <a:solidFill>
              <a:srgbClr val="E00000"/>
            </a:solidFill>
            <a:prstDash val="dash"/>
          </a:ln>
        </p:spPr>
      </p:cxnSp>
      <p:cxnSp>
        <p:nvCxnSpPr>
          <p:cNvPr id="233" name="Connector 232"/>
          <p:cNvCxnSpPr/>
          <p:nvPr/>
        </p:nvCxnSpPr>
        <p:spPr>
          <a:xfrm flipH="1">
            <a:off x="5102622" y="975000"/>
            <a:ext cx="1668842" cy="0"/>
          </a:xfrm>
          <a:prstGeom prst="line">
            <a:avLst/>
          </a:prstGeom>
          <a:ln w="12700">
            <a:solidFill>
              <a:srgbClr val="E00000"/>
            </a:solidFill>
            <a:prstDash val="dash"/>
          </a:ln>
        </p:spPr>
      </p:cxnSp>
      <p:cxnSp>
        <p:nvCxnSpPr>
          <p:cNvPr id="234" name="Connector 233"/>
          <p:cNvCxnSpPr/>
          <p:nvPr/>
        </p:nvCxnSpPr>
        <p:spPr>
          <a:xfrm>
            <a:off x="5102622" y="975000"/>
            <a:ext cx="4572" cy="85000"/>
          </a:xfrm>
          <a:prstGeom prst="line">
            <a:avLst/>
          </a:prstGeom>
          <a:ln w="12700">
            <a:solidFill>
              <a:srgbClr val="E00000"/>
            </a:solidFill>
            <a:prstDash val="dash"/>
            <a:tailEnd type="triangle" w="med" len="med"/>
          </a:ln>
        </p:spPr>
      </p:cxnSp>
      <p:sp>
        <p:nvSpPr>
          <p:cNvPr id="235" name="TextBox 234"/>
          <p:cNvSpPr txBox="1"/>
          <p:nvPr/>
        </p:nvSpPr>
        <p:spPr>
          <a:xfrm>
            <a:off x="6813654" y="955000"/>
            <a:ext cx="1546926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30" b="1" i="0">
                <a:solidFill>
                  <a:srgbClr val="E00000"/>
                </a:solidFill>
                <a:latin typeface="Noto Sans KR"/>
                <a:ea typeface="Noto Sans KR"/>
                <a:cs typeface="Noto Sans KR"/>
              </a:rPr>
              <a:t>PQC NG → 정제 복귀</a:t>
            </a:r>
          </a:p>
        </p:txBody>
      </p:sp>
      <p:cxnSp>
        <p:nvCxnSpPr>
          <p:cNvPr id="236" name="Connector 235"/>
          <p:cNvCxnSpPr/>
          <p:nvPr/>
        </p:nvCxnSpPr>
        <p:spPr>
          <a:xfrm flipV="1">
            <a:off x="940640" y="2300000"/>
            <a:ext cx="4572" cy="340000"/>
          </a:xfrm>
          <a:prstGeom prst="line">
            <a:avLst/>
          </a:prstGeom>
          <a:ln w="12700">
            <a:solidFill>
              <a:srgbClr val="E00000"/>
            </a:solidFill>
            <a:prstDash val="dash"/>
          </a:ln>
        </p:spPr>
      </p:cxnSp>
      <p:cxnSp>
        <p:nvCxnSpPr>
          <p:cNvPr id="237" name="Connector 236"/>
          <p:cNvCxnSpPr/>
          <p:nvPr/>
        </p:nvCxnSpPr>
        <p:spPr>
          <a:xfrm>
            <a:off x="940640" y="2300000"/>
            <a:ext cx="4526615" cy="0"/>
          </a:xfrm>
          <a:prstGeom prst="line">
            <a:avLst/>
          </a:prstGeom>
          <a:ln w="12700">
            <a:solidFill>
              <a:srgbClr val="E00000"/>
            </a:solidFill>
            <a:prstDash val="dash"/>
          </a:ln>
        </p:spPr>
      </p:cxnSp>
      <p:cxnSp>
        <p:nvCxnSpPr>
          <p:cNvPr id="238" name="Connector 237"/>
          <p:cNvCxnSpPr/>
          <p:nvPr/>
        </p:nvCxnSpPr>
        <p:spPr>
          <a:xfrm flipV="1">
            <a:off x="5467256" y="1910000"/>
            <a:ext cx="4572" cy="390000"/>
          </a:xfrm>
          <a:prstGeom prst="line">
            <a:avLst/>
          </a:prstGeom>
          <a:ln w="12700">
            <a:solidFill>
              <a:srgbClr val="E00000"/>
            </a:solidFill>
            <a:prstDash val="dash"/>
            <a:tailEnd type="triangle" w="med" len="med"/>
          </a:ln>
        </p:spPr>
      </p:cxnSp>
      <p:sp>
        <p:nvSpPr>
          <p:cNvPr id="239" name="TextBox 238"/>
          <p:cNvSpPr txBox="1"/>
          <p:nvPr/>
        </p:nvSpPr>
        <p:spPr>
          <a:xfrm>
            <a:off x="5512829" y="2150000"/>
            <a:ext cx="1968815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30" b="1" i="0">
                <a:solidFill>
                  <a:srgbClr val="E00000"/>
                </a:solidFill>
                <a:latin typeface="Noto Sans KR"/>
                <a:ea typeface="Noto Sans KR"/>
                <a:cs typeface="Noto Sans KR"/>
              </a:rPr>
              <a:t>FQC NG → 정제 복귀 (조건 확인)</a:t>
            </a:r>
          </a:p>
        </p:txBody>
      </p:sp>
      <p:sp>
        <p:nvSpPr>
          <p:cNvPr id="462" name="Round Same Side Corner Rectangle 178"/>
          <p:cNvSpPr/>
          <p:nvPr/>
        </p:nvSpPr>
        <p:spPr>
          <a:xfrm rot="10800000">
            <a:off x="5338152" y="1195000"/>
            <a:ext cx="380000" cy="355000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A6A6A6"/>
          </a:solidFill>
          <a:ln w="15875">
            <a:solidFill>
              <a:srgbClr val="595959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63" name="Rectangle 177"/>
          <p:cNvSpPr/>
          <p:nvPr/>
        </p:nvSpPr>
        <p:spPr>
          <a:xfrm>
            <a:off x="5478152" y="1065000"/>
            <a:ext cx="100000" cy="140000"/>
          </a:xfrm>
          <a:prstGeom prst="rect">
            <a:avLst/>
          </a:prstGeom>
          <a:solidFill>
            <a:srgbClr val="BFBFBF"/>
          </a:solidFill>
          <a:ln w="12700">
            <a:solidFill>
              <a:srgbClr val="7F7F7F"/>
            </a:solidFill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64" name="TextBox 179"/>
          <p:cNvSpPr txBox="1"/>
          <p:nvPr/>
        </p:nvSpPr>
        <p:spPr>
          <a:xfrm>
            <a:off x="5338152" y="1260000"/>
            <a:ext cx="380000" cy="2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정제기2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4994214" y="1280160"/>
            <a:ext cx="2743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50" b="1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>시차</a:t>
            </a:r>
          </a:p>
        </p:txBody>
      </p:sp>
      <p:sp>
        <p:nvSpPr>
          <p:cNvPr id="466" name="Rectangle 257"/>
          <p:cNvSpPr/>
          <p:nvPr/>
        </p:nvSpPr>
        <p:spPr>
          <a:xfrm>
            <a:off x="283464" y="3465575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67" name="TextBox 258"/>
          <p:cNvSpPr txBox="1"/>
          <p:nvPr/>
        </p:nvSpPr>
        <p:spPr>
          <a:xfrm>
            <a:off x="393192" y="3438144"/>
            <a:ext cx="8129015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① Case별 리플럭스 도입 · 월 Batch 계획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>   1대 월 12 Batch · 2대 월 20 Batch · 198 kg/Batch</a:t>
            </a:r>
          </a:p>
        </p:txBody>
      </p:sp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83464" y="3675887"/>
          <a:ext cx="8567928" cy="1234440"/>
        </p:xfrm>
        <a:graphic>
          <a:graphicData uri="http://schemas.openxmlformats.org/drawingml/2006/table">
            <a:tbl>
              <a:tblPr firstRow="0" bandRow="0"/>
              <a:tblGrid>
                <a:gridCol w="1325880"/>
                <a:gridCol w="452628"/>
                <a:gridCol w="452628"/>
                <a:gridCol w="452628"/>
                <a:gridCol w="452628"/>
                <a:gridCol w="452628"/>
                <a:gridCol w="452628"/>
                <a:gridCol w="452628"/>
                <a:gridCol w="452628"/>
                <a:gridCol w="452628"/>
                <a:gridCol w="452628"/>
                <a:gridCol w="452628"/>
                <a:gridCol w="452628"/>
                <a:gridCol w="452628"/>
                <a:gridCol w="452628"/>
                <a:gridCol w="452628"/>
                <a:gridCol w="452628"/>
              </a:tblGrid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 gridSpan="4"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2026년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 gridSpan="12"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2027년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9월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10월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11월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12월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1월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2월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3월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4월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5월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6월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7월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8월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9월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10월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11월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12월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Case I · II  Batch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 도입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 운전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Case III  Batch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 도입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 운전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200 L 충진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 gridSpan="10">
                  <a:txBody>
                    <a:bodyPr wrap="none"/>
                    <a:lstStyle/>
                    <a:p>
                      <a:pPr algn="ctr"/>
                      <a:r>
                        <a:rPr sz="750" b="0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수동 8 h/용기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 gridSpan="6">
                  <a:txBody>
                    <a:bodyPr wrap="none"/>
                    <a:lstStyle/>
                    <a:p>
                      <a:pPr algn="ctr"/>
                      <a:r>
                        <a:rPr sz="750" b="0">
                          <a:solidFill>
                            <a:srgbClr val="7030A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ARS '27.7~ (이지켐 · 추가)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E4DFEC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9" name="Rectangle 257"/>
          <p:cNvSpPr/>
          <p:nvPr/>
        </p:nvSpPr>
        <p:spPr>
          <a:xfrm>
            <a:off x="283464" y="5056632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470" name="TextBox 258"/>
          <p:cNvSpPr txBox="1"/>
          <p:nvPr/>
        </p:nvSpPr>
        <p:spPr>
          <a:xfrm>
            <a:off x="393192" y="5029200"/>
            <a:ext cx="8129015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② 생산능력 기준 (월 Batch × 198 kg)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graphicFrame>
        <p:nvGraphicFramePr>
          <p:cNvPr id="471" name="Table 470"/>
          <p:cNvGraphicFramePr>
            <a:graphicFrameLocks noGrp="1"/>
          </p:cNvGraphicFramePr>
          <p:nvPr/>
        </p:nvGraphicFramePr>
        <p:xfrm>
          <a:off x="283464" y="5285232"/>
          <a:ext cx="8567928" cy="987552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914400"/>
                <a:gridCol w="1097280"/>
                <a:gridCol w="1188720"/>
                <a:gridCol w="2990088"/>
              </a:tblGrid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Batch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kg/월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연간 환산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비고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정제기 1대 (현재)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2,376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28.5톤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Capa. 26.2톤 수준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83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정제기 2대 (리플럭스 후)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47.5톤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리플럭스 47.2톤 계획 수준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대정비 월 ('27.4)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1,188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Case I·II · III 공통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8990699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75E2DD2F-BCF5-ECAE-E5D5-3CF0B6E970A6}"/>
              </a:ext>
            </a:extLst>
          </p:cNvPr>
          <p:cNvSpPr txBox="1"/>
          <p:nvPr/>
        </p:nvSpPr>
        <p:spPr>
          <a:xfrm>
            <a:off x="419241" y="188640"/>
            <a:ext cx="7400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800" dirty="0" b="1">
                <a:gradFill>
                  <a:gsLst>
                    <a:gs pos="0">
                      <a:srgbClr val="FF7900"/>
                    </a:gs>
                    <a:gs pos="67000">
                      <a:srgbClr val="EB002C"/>
                    </a:gs>
                  </a:gsLst>
                  <a:lin ang="5400000" scaled="1"/>
                </a:gradFill>
              </a:rPr>
              <a:t>As-is | 10월 생산계획 — Batch 완료 주기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334A9-F66D-C6A4-7BE9-6D50F9536A48}"/>
              </a:ext>
            </a:extLst>
          </p:cNvPr>
          <p:cNvSpPr/>
          <p:nvPr/>
        </p:nvSpPr>
        <p:spPr>
          <a:xfrm>
            <a:off x="243076" y="0"/>
            <a:ext cx="45719" cy="900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E35880-4093-876B-A5F4-41C1E861B78E}"/>
              </a:ext>
            </a:extLst>
          </p:cNvPr>
          <p:cNvSpPr txBox="1"/>
          <p:nvPr/>
        </p:nvSpPr>
        <p:spPr>
          <a:xfrm>
            <a:off x="683568" y="649029"/>
            <a:ext cx="821735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600" dirty="0"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10월 11 Batch (#82~#92) = 2,178 kg · 평균 완료 간격 2.8일 = 67.6 h</a:t>
            </a:r>
            <a:endParaRPr lang="en-US" altLang="ko-KR" sz="1600" dirty="0">
              <a:solidFill>
                <a:srgbClr val="FB630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FCEA6BD-DE04-59B4-A8D4-190141D5218B}"/>
              </a:ext>
            </a:extLst>
          </p:cNvPr>
          <p:cNvSpPr>
            <a:spLocks noChangeAspect="1"/>
          </p:cNvSpPr>
          <p:nvPr/>
        </p:nvSpPr>
        <p:spPr>
          <a:xfrm>
            <a:off x="419241" y="682139"/>
            <a:ext cx="180000" cy="180000"/>
          </a:xfrm>
          <a:prstGeom prst="ellipse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latin typeface="Noto Sans KR" pitchFamily="2" charset="-127"/>
                <a:ea typeface="Noto Sans KR" pitchFamily="2" charset="-127"/>
              </a:rPr>
              <a:t>2</a:t>
            </a:r>
            <a:endParaRPr kumimoji="1" lang="ko-KR" altLang="en-US" sz="1000" b="1" dirty="0">
              <a:latin typeface="Noto Sans KR" pitchFamily="2" charset="-127"/>
              <a:ea typeface="Noto Sans KR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8A963E8-7BFA-8421-BB5D-9C25023F1E9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165102"/>
            <a:ext cx="872541" cy="372545"/>
          </a:xfrm>
          <a:prstGeom prst="rect">
            <a:avLst/>
          </a:prstGeom>
        </p:spPr>
      </p:pic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93943A90-8311-883B-A173-01407C63CEE4}"/>
              </a:ext>
            </a:extLst>
          </p:cNvPr>
          <p:cNvSpPr/>
          <p:nvPr/>
        </p:nvSpPr>
        <p:spPr>
          <a:xfrm>
            <a:off x="234424" y="6411907"/>
            <a:ext cx="1027462" cy="2525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100" dirty="0">
                <a:solidFill>
                  <a:schemeClr val="bg1">
                    <a:lumMod val="50000"/>
                  </a:schemeClr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Confidential</a:t>
            </a:r>
            <a:endParaRPr kumimoji="1" lang="ko-KR" altLang="en-US" sz="1100" dirty="0">
              <a:solidFill>
                <a:schemeClr val="bg1">
                  <a:lumMod val="50000"/>
                </a:schemeClr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163" name="직선 연결선[R] 162">
            <a:extLst>
              <a:ext uri="{FF2B5EF4-FFF2-40B4-BE49-F238E27FC236}">
                <a16:creationId xmlns:a16="http://schemas.microsoft.com/office/drawing/2014/main" id="{8DEBABA2-333E-086B-36F6-137958AA3974}"/>
              </a:ext>
            </a:extLst>
          </p:cNvPr>
          <p:cNvCxnSpPr>
            <a:cxnSpLocks/>
          </p:cNvCxnSpPr>
          <p:nvPr/>
        </p:nvCxnSpPr>
        <p:spPr>
          <a:xfrm>
            <a:off x="1442533" y="6538184"/>
            <a:ext cx="72008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53F489-CBFB-4C6F-878D-02975AD51256}"/>
              </a:ext>
            </a:extLst>
          </p:cNvPr>
          <p:cNvSpPr txBox="1"/>
          <p:nvPr/>
        </p:nvSpPr>
        <p:spPr>
          <a:xfrm>
            <a:off x="3972000" y="6461240"/>
            <a:ext cx="120000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ko-KR" sz="1000" dirty="0" b="0" i="0">
                <a:solidFill>
                  <a:srgbClr val="7F7F7F"/>
                </a:solidFill>
                <a:latin typeface="Noto Sans KR" panose="02000403000000020004" pitchFamily="2" charset="-127"/>
                <a:ea typeface="Noto Sans KR" panose="02000403000000020004" pitchFamily="2" charset="-127"/>
                <a:cs typeface="Noto Sans KR" panose="02000403000000020004" pitchFamily="2" charset="-127"/>
              </a:rPr>
              <a:t>- 2 -</a:t>
            </a:r>
            <a:endParaRPr kumimoji="1" lang="ko-KR" altLang="en-US" sz="1000" dirty="0">
              <a:solidFill>
                <a:schemeClr val="bg1">
                  <a:lumMod val="50000"/>
                </a:schemeClr>
              </a:solidFill>
              <a:latin typeface="Noto Sans KR" panose="02000403000000020004" pitchFamily="2" charset="-127"/>
              <a:ea typeface="Noto Sans KR" panose="02000403000000020004" pitchFamily="2" charset="-127"/>
              <a:cs typeface="Noto Sans KR" panose="02000403000000020004" pitchFamily="2" charset="-127"/>
            </a:endParaRPr>
          </a:p>
        </p:txBody>
      </p:sp>
      <p:sp>
        <p:nvSpPr>
          <p:cNvPr id="259" name="Rectangle 257"/>
          <p:cNvSpPr/>
          <p:nvPr/>
        </p:nvSpPr>
        <p:spPr>
          <a:xfrm>
            <a:off x="283464" y="987552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0" name="TextBox 258"/>
          <p:cNvSpPr txBox="1"/>
          <p:nvPr/>
        </p:nvSpPr>
        <p:spPr>
          <a:xfrm>
            <a:off x="393192" y="960120"/>
            <a:ext cx="5394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① 2026년 10월 생산계획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>   완료일 = 생산 및 충진 완료</a:t>
            </a:r>
          </a:p>
        </p:txBody>
      </p:sp>
      <p:graphicFrame>
        <p:nvGraphicFramePr>
          <p:cNvPr id="261" name="Table 260"/>
          <p:cNvGraphicFramePr>
            <a:graphicFrameLocks noGrp="1"/>
          </p:cNvGraphicFramePr>
          <p:nvPr/>
        </p:nvGraphicFramePr>
        <p:xfrm>
          <a:off x="283464" y="1216152"/>
          <a:ext cx="5376672" cy="2980944"/>
        </p:xfrm>
        <a:graphic>
          <a:graphicData uri="http://schemas.openxmlformats.org/drawingml/2006/table">
            <a:tbl>
              <a:tblPr firstRow="0" bandRow="0"/>
              <a:tblGrid>
                <a:gridCol w="768096"/>
                <a:gridCol w="768096"/>
                <a:gridCol w="768096"/>
                <a:gridCol w="768096"/>
                <a:gridCol w="768096"/>
                <a:gridCol w="768096"/>
                <a:gridCol w="768096"/>
              </a:tblGrid>
              <a:tr h="237744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토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BFBFB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9/28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7F7F7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#81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9월 완료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BFBFB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9/29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BFBFB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9/30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FF79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#82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198 kg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FF79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#83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396 kg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FF79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#84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594 kg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FF79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#85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792 kg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FF79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#86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990 kg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FF79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#87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1,188 kg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FF79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#88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1,386 kg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FF79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#89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1,584 kg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FF79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#90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1,782 kg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FF79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#91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1,980 kg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27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FF79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#92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2,178 kg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BFBFB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11/1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262" name="Rectangle 257"/>
          <p:cNvSpPr/>
          <p:nvPr/>
        </p:nvSpPr>
        <p:spPr>
          <a:xfrm>
            <a:off x="5870448" y="987552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3" name="TextBox 258"/>
          <p:cNvSpPr txBox="1"/>
          <p:nvPr/>
        </p:nvSpPr>
        <p:spPr>
          <a:xfrm>
            <a:off x="5980176" y="960120"/>
            <a:ext cx="292608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② 완료 간격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graphicFrame>
        <p:nvGraphicFramePr>
          <p:cNvPr id="264" name="Table 263"/>
          <p:cNvGraphicFramePr>
            <a:graphicFrameLocks noGrp="1"/>
          </p:cNvGraphicFramePr>
          <p:nvPr/>
        </p:nvGraphicFramePr>
        <p:xfrm>
          <a:off x="5870448" y="1216152"/>
          <a:ext cx="2990088" cy="1508760"/>
        </p:xfrm>
        <a:graphic>
          <a:graphicData uri="http://schemas.openxmlformats.org/drawingml/2006/table">
            <a:tbl>
              <a:tblPr firstRow="0" bandRow="0"/>
              <a:tblGrid>
                <a:gridCol w="1280160"/>
                <a:gridCol w="822960"/>
                <a:gridCol w="886968"/>
              </a:tblGrid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횟수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시간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3일 간격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9회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 h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2일 간격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2회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48 h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819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평균 (#81→#92)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31일 ÷ 11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67.6 h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10월 완료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 Batch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2,178 kg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5" name="Rectangle 257"/>
          <p:cNvSpPr/>
          <p:nvPr/>
        </p:nvSpPr>
        <p:spPr>
          <a:xfrm>
            <a:off x="5870448" y="2907791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6" name="TextBox 258"/>
          <p:cNvSpPr txBox="1"/>
          <p:nvPr/>
        </p:nvSpPr>
        <p:spPr>
          <a:xfrm>
            <a:off x="5980176" y="2880360"/>
            <a:ext cx="292608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③ 정제기 주기 구성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graphicFrame>
        <p:nvGraphicFramePr>
          <p:cNvPr id="267" name="Table 266"/>
          <p:cNvGraphicFramePr>
            <a:graphicFrameLocks noGrp="1"/>
          </p:cNvGraphicFramePr>
          <p:nvPr/>
        </p:nvGraphicFramePr>
        <p:xfrm>
          <a:off x="5870448" y="3136392"/>
          <a:ext cx="2990088" cy="1152144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777240"/>
                <a:gridCol w="749808"/>
              </a:tblGrid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시간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비율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순수 (준비·투입 + 정제)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47 h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69%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819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대기 · 전환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20.6 h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31%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819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완료 간격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67.6 h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100%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8" name="Rectangle 257"/>
          <p:cNvSpPr/>
          <p:nvPr/>
        </p:nvSpPr>
        <p:spPr>
          <a:xfrm>
            <a:off x="283464" y="4462272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9" name="TextBox 258"/>
          <p:cNvSpPr txBox="1"/>
          <p:nvPr/>
        </p:nvSpPr>
        <p:spPr>
          <a:xfrm>
            <a:off x="393192" y="4434840"/>
            <a:ext cx="8129015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④ 월 생산량 비교 — 정제기 1대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graphicFrame>
        <p:nvGraphicFramePr>
          <p:cNvPr id="270" name="Table 269"/>
          <p:cNvGraphicFramePr>
            <a:graphicFrameLocks noGrp="1"/>
          </p:cNvGraphicFramePr>
          <p:nvPr/>
        </p:nvGraphicFramePr>
        <p:xfrm>
          <a:off x="283464" y="4690872"/>
          <a:ext cx="8567928" cy="1508760"/>
        </p:xfrm>
        <a:graphic>
          <a:graphicData uri="http://schemas.openxmlformats.org/drawingml/2006/table">
            <a:tbl>
              <a:tblPr firstRow="0" bandRow="0"/>
              <a:tblGrid>
                <a:gridCol w="2331720"/>
                <a:gridCol w="822960"/>
                <a:gridCol w="914400"/>
                <a:gridCol w="868680"/>
                <a:gridCol w="1097280"/>
                <a:gridCol w="2532888"/>
              </a:tblGrid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기준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Batch/월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kg/월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연간 (t)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완료 간격 (h)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산출 근거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이론 (순수 정제만)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3,168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38.0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45.0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720 h ÷ 45 h (점유·전환·대기 제외)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83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10월 생산계획 (#82~#92)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2,178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26.1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67.6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31일 × 24 h ÷ 11 Batch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83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정제기 1대 계획 (월 12 Batch)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2,376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28.5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60.8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협의 계획 12 Batch × 198 kg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EAF1FB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Capa. 26.2톤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11.0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2,183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26.2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3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66.2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26,200 kg ÷ 12</a:t>
                      </a:r>
                      <a:endParaRPr sz="83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75E2DD2F-BCF5-ECAE-E5D5-3CF0B6E970A6}"/>
              </a:ext>
            </a:extLst>
          </p:cNvPr>
          <p:cNvSpPr txBox="1"/>
          <p:nvPr/>
        </p:nvSpPr>
        <p:spPr>
          <a:xfrm>
            <a:off x="419241" y="188640"/>
            <a:ext cx="7400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800" dirty="0" b="1">
                <a:gradFill>
                  <a:gsLst>
                    <a:gs pos="0">
                      <a:srgbClr val="FF7900"/>
                    </a:gs>
                    <a:gs pos="67000">
                      <a:srgbClr val="EB002C"/>
                    </a:gs>
                  </a:gsLst>
                  <a:lin ang="5400000" scaled="1"/>
                </a:gradFill>
              </a:rPr>
              <a:t>As-is | Batch 소요시간 — 순수 작업 vs 대기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334A9-F66D-C6A4-7BE9-6D50F9536A48}"/>
              </a:ext>
            </a:extLst>
          </p:cNvPr>
          <p:cNvSpPr/>
          <p:nvPr/>
        </p:nvSpPr>
        <p:spPr>
          <a:xfrm>
            <a:off x="243076" y="0"/>
            <a:ext cx="45719" cy="900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E35880-4093-876B-A5F4-41C1E861B78E}"/>
              </a:ext>
            </a:extLst>
          </p:cNvPr>
          <p:cNvSpPr txBox="1"/>
          <p:nvPr/>
        </p:nvSpPr>
        <p:spPr>
          <a:xfrm>
            <a:off x="683568" y="649029"/>
            <a:ext cx="821735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600" dirty="0"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정제기 주기 67.6 h = 순수 47 h + 대기 20.6 h · 5 Gal 1 Batch 실제 약 98 h (4.1일)</a:t>
            </a:r>
            <a:endParaRPr lang="en-US" altLang="ko-KR" sz="1600" dirty="0">
              <a:solidFill>
                <a:srgbClr val="FB630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FCEA6BD-DE04-59B4-A8D4-190141D5218B}"/>
              </a:ext>
            </a:extLst>
          </p:cNvPr>
          <p:cNvSpPr>
            <a:spLocks noChangeAspect="1"/>
          </p:cNvSpPr>
          <p:nvPr/>
        </p:nvSpPr>
        <p:spPr>
          <a:xfrm>
            <a:off x="419241" y="682139"/>
            <a:ext cx="180000" cy="180000"/>
          </a:xfrm>
          <a:prstGeom prst="ellipse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latin typeface="Noto Sans KR" pitchFamily="2" charset="-127"/>
                <a:ea typeface="Noto Sans KR" pitchFamily="2" charset="-127"/>
              </a:rPr>
              <a:t>3</a:t>
            </a:r>
            <a:endParaRPr kumimoji="1" lang="ko-KR" altLang="en-US" sz="1000" b="1" dirty="0">
              <a:latin typeface="Noto Sans KR" pitchFamily="2" charset="-127"/>
              <a:ea typeface="Noto Sans KR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8A963E8-7BFA-8421-BB5D-9C25023F1E9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165102"/>
            <a:ext cx="872541" cy="372545"/>
          </a:xfrm>
          <a:prstGeom prst="rect">
            <a:avLst/>
          </a:prstGeom>
        </p:spPr>
      </p:pic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93943A90-8311-883B-A173-01407C63CEE4}"/>
              </a:ext>
            </a:extLst>
          </p:cNvPr>
          <p:cNvSpPr/>
          <p:nvPr/>
        </p:nvSpPr>
        <p:spPr>
          <a:xfrm>
            <a:off x="234424" y="6411907"/>
            <a:ext cx="1027462" cy="2525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100" dirty="0">
                <a:solidFill>
                  <a:schemeClr val="bg1">
                    <a:lumMod val="50000"/>
                  </a:schemeClr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Confidential</a:t>
            </a:r>
            <a:endParaRPr kumimoji="1" lang="ko-KR" altLang="en-US" sz="1100" dirty="0">
              <a:solidFill>
                <a:schemeClr val="bg1">
                  <a:lumMod val="50000"/>
                </a:schemeClr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163" name="직선 연결선[R] 162">
            <a:extLst>
              <a:ext uri="{FF2B5EF4-FFF2-40B4-BE49-F238E27FC236}">
                <a16:creationId xmlns:a16="http://schemas.microsoft.com/office/drawing/2014/main" id="{8DEBABA2-333E-086B-36F6-137958AA3974}"/>
              </a:ext>
            </a:extLst>
          </p:cNvPr>
          <p:cNvCxnSpPr>
            <a:cxnSpLocks/>
          </p:cNvCxnSpPr>
          <p:nvPr/>
        </p:nvCxnSpPr>
        <p:spPr>
          <a:xfrm>
            <a:off x="1442533" y="6538184"/>
            <a:ext cx="72008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53F489-CBFB-4C6F-878D-02975AD51256}"/>
              </a:ext>
            </a:extLst>
          </p:cNvPr>
          <p:cNvSpPr txBox="1"/>
          <p:nvPr/>
        </p:nvSpPr>
        <p:spPr>
          <a:xfrm>
            <a:off x="3972000" y="6461240"/>
            <a:ext cx="120000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ko-KR" sz="1000" dirty="0" b="0" i="0">
                <a:solidFill>
                  <a:srgbClr val="7F7F7F"/>
                </a:solidFill>
                <a:latin typeface="Noto Sans KR" panose="02000403000000020004" pitchFamily="2" charset="-127"/>
                <a:ea typeface="Noto Sans KR" panose="02000403000000020004" pitchFamily="2" charset="-127"/>
                <a:cs typeface="Noto Sans KR" panose="02000403000000020004" pitchFamily="2" charset="-127"/>
              </a:rPr>
              <a:t>- 3 -</a:t>
            </a:r>
            <a:endParaRPr kumimoji="1" lang="ko-KR" altLang="en-US" sz="1000" dirty="0">
              <a:solidFill>
                <a:schemeClr val="bg1">
                  <a:lumMod val="50000"/>
                </a:schemeClr>
              </a:solidFill>
              <a:latin typeface="Noto Sans KR" panose="02000403000000020004" pitchFamily="2" charset="-127"/>
              <a:ea typeface="Noto Sans KR" panose="02000403000000020004" pitchFamily="2" charset="-127"/>
              <a:cs typeface="Noto Sans KR" panose="02000403000000020004" pitchFamily="2" charset="-127"/>
            </a:endParaRPr>
          </a:p>
        </p:txBody>
      </p:sp>
      <p:sp>
        <p:nvSpPr>
          <p:cNvPr id="259" name="Rectangle 257"/>
          <p:cNvSpPr/>
          <p:nvPr/>
        </p:nvSpPr>
        <p:spPr>
          <a:xfrm>
            <a:off x="283464" y="987552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0" name="TextBox 258"/>
          <p:cNvSpPr txBox="1"/>
          <p:nvPr/>
        </p:nvSpPr>
        <p:spPr>
          <a:xfrm>
            <a:off x="393192" y="960120"/>
            <a:ext cx="8129015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① 순수 작업 vs 대기 (평균)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>   10월 생산계획 완료 간격 기준</a:t>
            </a:r>
          </a:p>
        </p:txBody>
      </p:sp>
      <p:graphicFrame>
        <p:nvGraphicFramePr>
          <p:cNvPr id="261" name="Table 260"/>
          <p:cNvGraphicFramePr>
            <a:graphicFrameLocks noGrp="1"/>
          </p:cNvGraphicFramePr>
          <p:nvPr/>
        </p:nvGraphicFramePr>
        <p:xfrm>
          <a:off x="283464" y="1216152"/>
          <a:ext cx="8567928" cy="1463040"/>
        </p:xfrm>
        <a:graphic>
          <a:graphicData uri="http://schemas.openxmlformats.org/drawingml/2006/table">
            <a:tbl>
              <a:tblPr firstRow="0" bandRow="0"/>
              <a:tblGrid>
                <a:gridCol w="2148840"/>
                <a:gridCol w="822960"/>
                <a:gridCol w="777240"/>
                <a:gridCol w="914400"/>
                <a:gridCol w="731520"/>
                <a:gridCol w="777240"/>
                <a:gridCol w="2395728"/>
              </a:tblGrid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순수 작업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대기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소요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 환산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순수 비율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산출 근거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정제기 Batch 주기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47 h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20.6 h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67.6 h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2.8일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69%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완료 간격 − (준비·투입 + 순수 정제)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 Gal 1 Batch (IQC~OQC)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77 h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20.6 h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97.6 h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4.1일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79%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순수 77 h + 평균 대기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200 L 1 Batch (IQC~OQC)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67 h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20.6 h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87.6 h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3.7일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76%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순수 67 h + 평균 대기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 Gal 9병 충진 (근무시간)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 h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 h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48 h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2.0일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38%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1교대 · 현장 설명 약 2일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2" name="Rectangle 257"/>
          <p:cNvSpPr/>
          <p:nvPr/>
        </p:nvSpPr>
        <p:spPr>
          <a:xfrm>
            <a:off x="283464" y="2880360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3" name="TextBox 258"/>
          <p:cNvSpPr txBox="1"/>
          <p:nvPr/>
        </p:nvSpPr>
        <p:spPr>
          <a:xfrm>
            <a:off x="393192" y="2852928"/>
            <a:ext cx="8129015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② 평균 Batch 마일스톤 — 대기 포함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>   단계 시간 · 누적 시간 (일)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283464" y="3218688"/>
            <a:ext cx="102412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5 Gal 9병</a:t>
            </a:r>
          </a:p>
          <a:p>
            <a:pPr algn="l"/>
            <a:r>
              <a:rPr sz="680" b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하이닉스 · CXMT</a:t>
            </a:r>
          </a:p>
          <a:p>
            <a:pPr algn="l"/>
            <a:r>
              <a:rPr sz="1000" b="1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>97.6 h</a:t>
            </a:r>
          </a:p>
        </p:txBody>
      </p:sp>
      <p:sp>
        <p:nvSpPr>
          <p:cNvPr id="265" name="Pentagon 264"/>
          <p:cNvSpPr/>
          <p:nvPr/>
        </p:nvSpPr>
        <p:spPr>
          <a:xfrm>
            <a:off x="1344168" y="3127248"/>
            <a:ext cx="982980" cy="676656"/>
          </a:xfrm>
          <a:prstGeom prst="homePlate">
            <a:avLst>
              <a:gd name="adj" fmla="val 22000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45720" tIns="9144" bIns="9144"/>
          <a:lstStyle/>
          <a:p>
            <a:pPr algn="ctr"/>
            <a:r>
              <a:rPr sz="72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IQC</a:t>
            </a:r>
          </a:p>
          <a:p>
            <a:pPr algn="ctr"/>
            <a:r>
              <a:rPr sz="1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 h</a:t>
            </a:r>
          </a:p>
          <a:p>
            <a:pPr algn="ctr"/>
            <a:r>
              <a:rPr sz="580" b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누적 2 h</a:t>
            </a:r>
          </a:p>
        </p:txBody>
      </p:sp>
      <p:sp>
        <p:nvSpPr>
          <p:cNvPr id="266" name="Chevron 265"/>
          <p:cNvSpPr/>
          <p:nvPr/>
        </p:nvSpPr>
        <p:spPr>
          <a:xfrm>
            <a:off x="2281428" y="3127248"/>
            <a:ext cx="982980" cy="676656"/>
          </a:xfrm>
          <a:prstGeom prst="chevron">
            <a:avLst>
              <a:gd name="adj" fmla="val 22000"/>
            </a:avLst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준비·투입</a:t>
            </a:r>
          </a:p>
          <a:p>
            <a:pPr algn="ctr"/>
            <a:r>
              <a:rPr sz="1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 h</a:t>
            </a:r>
          </a:p>
          <a:p>
            <a:pPr algn="ctr"/>
            <a:r>
              <a:rPr sz="580" b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누적 4 h</a:t>
            </a:r>
          </a:p>
        </p:txBody>
      </p:sp>
      <p:sp>
        <p:nvSpPr>
          <p:cNvPr id="267" name="Chevron 266"/>
          <p:cNvSpPr/>
          <p:nvPr/>
        </p:nvSpPr>
        <p:spPr>
          <a:xfrm>
            <a:off x="3218687" y="3127248"/>
            <a:ext cx="982980" cy="676656"/>
          </a:xfrm>
          <a:prstGeom prst="chevron">
            <a:avLst>
              <a:gd name="adj" fmla="val 22000"/>
            </a:avLst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순수 정제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45 h</a:t>
            </a:r>
          </a:p>
          <a:p>
            <a:pPr algn="ctr"/>
            <a:r>
              <a:rPr sz="58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누적 49 h</a:t>
            </a:r>
          </a:p>
        </p:txBody>
      </p:sp>
      <p:sp>
        <p:nvSpPr>
          <p:cNvPr id="268" name="Chevron 267"/>
          <p:cNvSpPr/>
          <p:nvPr/>
        </p:nvSpPr>
        <p:spPr>
          <a:xfrm>
            <a:off x="4155948" y="3127248"/>
            <a:ext cx="982980" cy="676656"/>
          </a:xfrm>
          <a:prstGeom prst="chevron">
            <a:avLst>
              <a:gd name="adj" fmla="val 22000"/>
            </a:avLst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PQC~이송</a:t>
            </a:r>
          </a:p>
          <a:p>
            <a:pPr algn="ctr"/>
            <a:r>
              <a:rPr sz="1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6 h</a:t>
            </a:r>
          </a:p>
          <a:p>
            <a:pPr algn="ctr"/>
            <a:r>
              <a:rPr sz="580" b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누적 55 h</a:t>
            </a:r>
          </a:p>
        </p:txBody>
      </p:sp>
      <p:sp>
        <p:nvSpPr>
          <p:cNvPr id="269" name="Chevron 268"/>
          <p:cNvSpPr/>
          <p:nvPr/>
        </p:nvSpPr>
        <p:spPr>
          <a:xfrm>
            <a:off x="5093207" y="3127248"/>
            <a:ext cx="982980" cy="676656"/>
          </a:xfrm>
          <a:prstGeom prst="chevron">
            <a:avLst>
              <a:gd name="adj" fmla="val 2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FQC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 h</a:t>
            </a:r>
          </a:p>
          <a:p>
            <a:pPr algn="ctr"/>
            <a:r>
              <a:rPr sz="58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누적 57 h</a:t>
            </a:r>
          </a:p>
        </p:txBody>
      </p:sp>
      <p:sp>
        <p:nvSpPr>
          <p:cNvPr id="270" name="Chevron 269"/>
          <p:cNvSpPr/>
          <p:nvPr/>
        </p:nvSpPr>
        <p:spPr>
          <a:xfrm>
            <a:off x="6030468" y="3127248"/>
            <a:ext cx="982980" cy="676656"/>
          </a:xfrm>
          <a:prstGeom prst="chevron">
            <a:avLst>
              <a:gd name="adj" fmla="val 22000"/>
            </a:avLst>
          </a:prstGeom>
          <a:solidFill>
            <a:srgbClr val="F2F2F2"/>
          </a:solidFill>
          <a:ln w="1270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>평균 대기</a:t>
            </a:r>
          </a:p>
          <a:p>
            <a:pPr algn="ctr"/>
            <a:r>
              <a:rPr sz="1100" b="1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>20.6 h</a:t>
            </a:r>
          </a:p>
          <a:p>
            <a:pPr algn="ctr"/>
            <a:r>
              <a:rPr sz="580" b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>누적 77.6 h</a:t>
            </a:r>
          </a:p>
        </p:txBody>
      </p:sp>
      <p:sp>
        <p:nvSpPr>
          <p:cNvPr id="271" name="Chevron 270"/>
          <p:cNvSpPr/>
          <p:nvPr/>
        </p:nvSpPr>
        <p:spPr>
          <a:xfrm>
            <a:off x="6967727" y="3127248"/>
            <a:ext cx="982980" cy="676656"/>
          </a:xfrm>
          <a:prstGeom prst="chevron">
            <a:avLst>
              <a:gd name="adj" fmla="val 22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충진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18 h</a:t>
            </a:r>
          </a:p>
          <a:p>
            <a:pPr algn="ctr"/>
            <a:r>
              <a:rPr sz="58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누적 95.6 h</a:t>
            </a:r>
          </a:p>
        </p:txBody>
      </p:sp>
      <p:sp>
        <p:nvSpPr>
          <p:cNvPr id="272" name="Chevron 271"/>
          <p:cNvSpPr/>
          <p:nvPr/>
        </p:nvSpPr>
        <p:spPr>
          <a:xfrm>
            <a:off x="7904988" y="3127248"/>
            <a:ext cx="982980" cy="676656"/>
          </a:xfrm>
          <a:prstGeom prst="chevron">
            <a:avLst>
              <a:gd name="adj" fmla="val 22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OQC·출하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 h</a:t>
            </a:r>
          </a:p>
          <a:p>
            <a:pPr algn="ctr"/>
            <a:r>
              <a:rPr sz="58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누적 97.6 h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283464" y="4005072"/>
            <a:ext cx="102412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200 L 1용기</a:t>
            </a:r>
          </a:p>
          <a:p>
            <a:pPr algn="l"/>
            <a:r>
              <a:rPr sz="680" b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이지켐 · 한솔</a:t>
            </a:r>
          </a:p>
          <a:p>
            <a:pPr algn="l"/>
            <a:r>
              <a:rPr sz="1000" b="1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>87.6 h</a:t>
            </a:r>
          </a:p>
        </p:txBody>
      </p:sp>
      <p:sp>
        <p:nvSpPr>
          <p:cNvPr id="274" name="Pentagon 273"/>
          <p:cNvSpPr/>
          <p:nvPr/>
        </p:nvSpPr>
        <p:spPr>
          <a:xfrm>
            <a:off x="1344168" y="3913632"/>
            <a:ext cx="982980" cy="676656"/>
          </a:xfrm>
          <a:prstGeom prst="homePlate">
            <a:avLst>
              <a:gd name="adj" fmla="val 22000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45720" tIns="9144" bIns="9144"/>
          <a:lstStyle/>
          <a:p>
            <a:pPr algn="ctr"/>
            <a:r>
              <a:rPr sz="72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IQC</a:t>
            </a:r>
          </a:p>
          <a:p>
            <a:pPr algn="ctr"/>
            <a:r>
              <a:rPr sz="1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 h</a:t>
            </a:r>
          </a:p>
          <a:p>
            <a:pPr algn="ctr"/>
            <a:r>
              <a:rPr sz="580" b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누적 2 h</a:t>
            </a:r>
          </a:p>
        </p:txBody>
      </p:sp>
      <p:sp>
        <p:nvSpPr>
          <p:cNvPr id="275" name="Chevron 274"/>
          <p:cNvSpPr/>
          <p:nvPr/>
        </p:nvSpPr>
        <p:spPr>
          <a:xfrm>
            <a:off x="2281428" y="3913632"/>
            <a:ext cx="982980" cy="676656"/>
          </a:xfrm>
          <a:prstGeom prst="chevron">
            <a:avLst>
              <a:gd name="adj" fmla="val 22000"/>
            </a:avLst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준비·투입</a:t>
            </a:r>
          </a:p>
          <a:p>
            <a:pPr algn="ctr"/>
            <a:r>
              <a:rPr sz="1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2 h</a:t>
            </a:r>
          </a:p>
          <a:p>
            <a:pPr algn="ctr"/>
            <a:r>
              <a:rPr sz="580" b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누적 4 h</a:t>
            </a:r>
          </a:p>
        </p:txBody>
      </p:sp>
      <p:sp>
        <p:nvSpPr>
          <p:cNvPr id="276" name="Chevron 275"/>
          <p:cNvSpPr/>
          <p:nvPr/>
        </p:nvSpPr>
        <p:spPr>
          <a:xfrm>
            <a:off x="3218687" y="3913632"/>
            <a:ext cx="982980" cy="676656"/>
          </a:xfrm>
          <a:prstGeom prst="chevron">
            <a:avLst>
              <a:gd name="adj" fmla="val 22000"/>
            </a:avLst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순수 정제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45 h</a:t>
            </a:r>
          </a:p>
          <a:p>
            <a:pPr algn="ctr"/>
            <a:r>
              <a:rPr sz="58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누적 49 h</a:t>
            </a:r>
          </a:p>
        </p:txBody>
      </p:sp>
      <p:sp>
        <p:nvSpPr>
          <p:cNvPr id="277" name="Chevron 276"/>
          <p:cNvSpPr/>
          <p:nvPr/>
        </p:nvSpPr>
        <p:spPr>
          <a:xfrm>
            <a:off x="4155948" y="3913632"/>
            <a:ext cx="982980" cy="676656"/>
          </a:xfrm>
          <a:prstGeom prst="chevron">
            <a:avLst>
              <a:gd name="adj" fmla="val 22000"/>
            </a:avLst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PQC~이송</a:t>
            </a:r>
          </a:p>
          <a:p>
            <a:pPr algn="ctr"/>
            <a:r>
              <a:rPr sz="1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6 h</a:t>
            </a:r>
          </a:p>
          <a:p>
            <a:pPr algn="ctr"/>
            <a:r>
              <a:rPr sz="580" b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누적 55 h</a:t>
            </a:r>
          </a:p>
        </p:txBody>
      </p:sp>
      <p:sp>
        <p:nvSpPr>
          <p:cNvPr id="278" name="Chevron 277"/>
          <p:cNvSpPr/>
          <p:nvPr/>
        </p:nvSpPr>
        <p:spPr>
          <a:xfrm>
            <a:off x="5093207" y="3913632"/>
            <a:ext cx="982980" cy="676656"/>
          </a:xfrm>
          <a:prstGeom prst="chevron">
            <a:avLst>
              <a:gd name="adj" fmla="val 2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FQC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 h</a:t>
            </a:r>
          </a:p>
          <a:p>
            <a:pPr algn="ctr"/>
            <a:r>
              <a:rPr sz="58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누적 57 h</a:t>
            </a:r>
          </a:p>
        </p:txBody>
      </p:sp>
      <p:sp>
        <p:nvSpPr>
          <p:cNvPr id="279" name="Chevron 278"/>
          <p:cNvSpPr/>
          <p:nvPr/>
        </p:nvSpPr>
        <p:spPr>
          <a:xfrm>
            <a:off x="6030468" y="3913632"/>
            <a:ext cx="982980" cy="676656"/>
          </a:xfrm>
          <a:prstGeom prst="chevron">
            <a:avLst>
              <a:gd name="adj" fmla="val 22000"/>
            </a:avLst>
          </a:prstGeom>
          <a:solidFill>
            <a:srgbClr val="F2F2F2"/>
          </a:solidFill>
          <a:ln w="1270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>평균 대기</a:t>
            </a:r>
          </a:p>
          <a:p>
            <a:pPr algn="ctr"/>
            <a:r>
              <a:rPr sz="1100" b="1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>20.6 h</a:t>
            </a:r>
          </a:p>
          <a:p>
            <a:pPr algn="ctr"/>
            <a:r>
              <a:rPr sz="580" b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>누적 77.6 h</a:t>
            </a:r>
          </a:p>
        </p:txBody>
      </p:sp>
      <p:sp>
        <p:nvSpPr>
          <p:cNvPr id="280" name="Chevron 279"/>
          <p:cNvSpPr/>
          <p:nvPr/>
        </p:nvSpPr>
        <p:spPr>
          <a:xfrm>
            <a:off x="6967727" y="3913632"/>
            <a:ext cx="982980" cy="676656"/>
          </a:xfrm>
          <a:prstGeom prst="chevron">
            <a:avLst>
              <a:gd name="adj" fmla="val 22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충진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 h</a:t>
            </a:r>
          </a:p>
          <a:p>
            <a:pPr algn="ctr"/>
            <a:r>
              <a:rPr sz="58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누적 85.6 h</a:t>
            </a:r>
          </a:p>
        </p:txBody>
      </p:sp>
      <p:sp>
        <p:nvSpPr>
          <p:cNvPr id="281" name="Chevron 280"/>
          <p:cNvSpPr/>
          <p:nvPr/>
        </p:nvSpPr>
        <p:spPr>
          <a:xfrm>
            <a:off x="7904988" y="3913632"/>
            <a:ext cx="982980" cy="676656"/>
          </a:xfrm>
          <a:prstGeom prst="chevron">
            <a:avLst>
              <a:gd name="adj" fmla="val 22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OQC·출하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 h</a:t>
            </a:r>
          </a:p>
          <a:p>
            <a:pPr algn="ctr"/>
            <a:r>
              <a:rPr sz="58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누적 87.6 h</a:t>
            </a:r>
          </a:p>
        </p:txBody>
      </p:sp>
      <p:sp>
        <p:nvSpPr>
          <p:cNvPr id="282" name="Rectangle 257"/>
          <p:cNvSpPr/>
          <p:nvPr/>
        </p:nvSpPr>
        <p:spPr>
          <a:xfrm>
            <a:off x="283464" y="4828032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83" name="TextBox 258"/>
          <p:cNvSpPr txBox="1"/>
          <p:nvPr/>
        </p:nvSpPr>
        <p:spPr>
          <a:xfrm>
            <a:off x="393192" y="4800600"/>
            <a:ext cx="8129015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③ 대기 구성 — 실측으로 확인할 항목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graphicFrame>
        <p:nvGraphicFramePr>
          <p:cNvPr id="284" name="Table 283"/>
          <p:cNvGraphicFramePr>
            <a:graphicFrameLocks noGrp="1"/>
          </p:cNvGraphicFramePr>
          <p:nvPr/>
        </p:nvGraphicFramePr>
        <p:xfrm>
          <a:off x="283464" y="5047488"/>
          <a:ext cx="8567928" cy="1188720"/>
        </p:xfrm>
        <a:graphic>
          <a:graphicData uri="http://schemas.openxmlformats.org/drawingml/2006/table">
            <a:tbl>
              <a:tblPr firstRow="0" bandRow="0"/>
              <a:tblGrid>
                <a:gridCol w="2148840"/>
                <a:gridCol w="4754880"/>
                <a:gridCol w="1664208"/>
              </a:tblGrid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내용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제품 이송 중 정제기 점유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PQC~이송 6 h 중 정제기가 묶이는 시간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실측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세척 · 전환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Batch 사이 정제기 세척 · 전환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실측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투입 대기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원료 IQC 승인 · Mix·Premix 준비 · 작업 인원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실측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충진 대기 (근무시간)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 Gal 18 h 작업 → 약 2일 경과 (대기 약 30 h)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교대 조건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75E2DD2F-BCF5-ECAE-E5D5-3CF0B6E970A6}"/>
              </a:ext>
            </a:extLst>
          </p:cNvPr>
          <p:cNvSpPr txBox="1"/>
          <p:nvPr/>
        </p:nvSpPr>
        <p:spPr>
          <a:xfrm>
            <a:off x="419241" y="188640"/>
            <a:ext cx="7400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800" dirty="0" b="1">
                <a:gradFill>
                  <a:gsLst>
                    <a:gs pos="0">
                      <a:srgbClr val="FF7900"/>
                    </a:gs>
                    <a:gs pos="67000">
                      <a:srgbClr val="EB002C"/>
                    </a:gs>
                  </a:gsLst>
                  <a:lin ang="5400000" scaled="1"/>
                </a:gradFill>
              </a:rPr>
              <a:t>To-be | 정제기 2대 시차 운전 — 운영 마일스톤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334A9-F66D-C6A4-7BE9-6D50F9536A48}"/>
              </a:ext>
            </a:extLst>
          </p:cNvPr>
          <p:cNvSpPr/>
          <p:nvPr/>
        </p:nvSpPr>
        <p:spPr>
          <a:xfrm>
            <a:off x="243076" y="0"/>
            <a:ext cx="45719" cy="900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E35880-4093-876B-A5F4-41C1E861B78E}"/>
              </a:ext>
            </a:extLst>
          </p:cNvPr>
          <p:cNvSpPr txBox="1"/>
          <p:nvPr/>
        </p:nvSpPr>
        <p:spPr>
          <a:xfrm>
            <a:off x="683568" y="649029"/>
            <a:ext cx="821735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600" dirty="0"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정제기 2대 월 20 Batch = 3,960 kg · 설비별 주기 73 h = 순수 47 h + 대기 26 h</a:t>
            </a:r>
            <a:endParaRPr lang="en-US" altLang="ko-KR" sz="1600" dirty="0">
              <a:solidFill>
                <a:srgbClr val="FB630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FCEA6BD-DE04-59B4-A8D4-190141D5218B}"/>
              </a:ext>
            </a:extLst>
          </p:cNvPr>
          <p:cNvSpPr>
            <a:spLocks noChangeAspect="1"/>
          </p:cNvSpPr>
          <p:nvPr/>
        </p:nvSpPr>
        <p:spPr>
          <a:xfrm>
            <a:off x="419241" y="682139"/>
            <a:ext cx="180000" cy="180000"/>
          </a:xfrm>
          <a:prstGeom prst="ellipse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latin typeface="Noto Sans KR" pitchFamily="2" charset="-127"/>
                <a:ea typeface="Noto Sans KR" pitchFamily="2" charset="-127"/>
              </a:rPr>
              <a:t>5</a:t>
            </a:r>
            <a:endParaRPr kumimoji="1" lang="ko-KR" altLang="en-US" sz="1000" b="1" dirty="0">
              <a:latin typeface="Noto Sans KR" pitchFamily="2" charset="-127"/>
              <a:ea typeface="Noto Sans KR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8A963E8-7BFA-8421-BB5D-9C25023F1E9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165102"/>
            <a:ext cx="872541" cy="372545"/>
          </a:xfrm>
          <a:prstGeom prst="rect">
            <a:avLst/>
          </a:prstGeom>
        </p:spPr>
      </p:pic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93943A90-8311-883B-A173-01407C63CEE4}"/>
              </a:ext>
            </a:extLst>
          </p:cNvPr>
          <p:cNvSpPr/>
          <p:nvPr/>
        </p:nvSpPr>
        <p:spPr>
          <a:xfrm>
            <a:off x="234424" y="6411907"/>
            <a:ext cx="1027462" cy="2525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100" dirty="0">
                <a:solidFill>
                  <a:schemeClr val="bg1">
                    <a:lumMod val="50000"/>
                  </a:schemeClr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Confidential</a:t>
            </a:r>
            <a:endParaRPr kumimoji="1" lang="ko-KR" altLang="en-US" sz="1100" dirty="0">
              <a:solidFill>
                <a:schemeClr val="bg1">
                  <a:lumMod val="50000"/>
                </a:schemeClr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163" name="직선 연결선[R] 162">
            <a:extLst>
              <a:ext uri="{FF2B5EF4-FFF2-40B4-BE49-F238E27FC236}">
                <a16:creationId xmlns:a16="http://schemas.microsoft.com/office/drawing/2014/main" id="{8DEBABA2-333E-086B-36F6-137958AA3974}"/>
              </a:ext>
            </a:extLst>
          </p:cNvPr>
          <p:cNvCxnSpPr>
            <a:cxnSpLocks/>
          </p:cNvCxnSpPr>
          <p:nvPr/>
        </p:nvCxnSpPr>
        <p:spPr>
          <a:xfrm>
            <a:off x="1442533" y="6538184"/>
            <a:ext cx="72008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53F489-CBFB-4C6F-878D-02975AD51256}"/>
              </a:ext>
            </a:extLst>
          </p:cNvPr>
          <p:cNvSpPr txBox="1"/>
          <p:nvPr/>
        </p:nvSpPr>
        <p:spPr>
          <a:xfrm>
            <a:off x="3972000" y="6461240"/>
            <a:ext cx="120000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ko-KR" sz="1000" dirty="0" b="0" i="0">
                <a:solidFill>
                  <a:srgbClr val="7F7F7F"/>
                </a:solidFill>
                <a:latin typeface="Noto Sans KR" panose="02000403000000020004" pitchFamily="2" charset="-127"/>
                <a:ea typeface="Noto Sans KR" panose="02000403000000020004" pitchFamily="2" charset="-127"/>
                <a:cs typeface="Noto Sans KR" panose="02000403000000020004" pitchFamily="2" charset="-127"/>
              </a:rPr>
              <a:t>- 5 -</a:t>
            </a:r>
            <a:endParaRPr kumimoji="1" lang="ko-KR" altLang="en-US" sz="1000" dirty="0">
              <a:solidFill>
                <a:schemeClr val="bg1">
                  <a:lumMod val="50000"/>
                </a:schemeClr>
              </a:solidFill>
              <a:latin typeface="Noto Sans KR" panose="02000403000000020004" pitchFamily="2" charset="-127"/>
              <a:ea typeface="Noto Sans KR" panose="02000403000000020004" pitchFamily="2" charset="-127"/>
              <a:cs typeface="Noto Sans KR" panose="02000403000000020004" pitchFamily="2" charset="-127"/>
            </a:endParaRPr>
          </a:p>
        </p:txBody>
      </p:sp>
      <p:sp>
        <p:nvSpPr>
          <p:cNvPr id="259" name="Rectangle 257"/>
          <p:cNvSpPr/>
          <p:nvPr/>
        </p:nvSpPr>
        <p:spPr>
          <a:xfrm>
            <a:off x="283464" y="987552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0" name="TextBox 258"/>
          <p:cNvSpPr txBox="1"/>
          <p:nvPr/>
        </p:nvSpPr>
        <p:spPr>
          <a:xfrm>
            <a:off x="393192" y="960120"/>
            <a:ext cx="5394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① 2027년 7월 운영 예시 — Batch 완료일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>   ① 정제기 1 · ② 정제기 2 (시차 30 h 가정)</a:t>
            </a:r>
          </a:p>
        </p:txBody>
      </p:sp>
      <p:graphicFrame>
        <p:nvGraphicFramePr>
          <p:cNvPr id="261" name="Table 260"/>
          <p:cNvGraphicFramePr>
            <a:graphicFrameLocks noGrp="1"/>
          </p:cNvGraphicFramePr>
          <p:nvPr/>
        </p:nvGraphicFramePr>
        <p:xfrm>
          <a:off x="283464" y="1216152"/>
          <a:ext cx="5376672" cy="2980944"/>
        </p:xfrm>
        <a:graphic>
          <a:graphicData uri="http://schemas.openxmlformats.org/drawingml/2006/table">
            <a:tbl>
              <a:tblPr firstRow="0" bandRow="0"/>
              <a:tblGrid>
                <a:gridCol w="768096"/>
                <a:gridCol w="768096"/>
                <a:gridCol w="768096"/>
                <a:gridCol w="768096"/>
                <a:gridCol w="768096"/>
                <a:gridCol w="768096"/>
                <a:gridCol w="768096"/>
              </a:tblGrid>
              <a:tr h="237744"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토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BFBFB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6/28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BFBFB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6/29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BFBFB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6/30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FF79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① 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1 Batch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② 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2 Batch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FF79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① 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3 Batch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② 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4 Batch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FF79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① 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5 Batch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② 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6 Batch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FF79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① 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7 Batch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② 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8 Batch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FF79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① 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9 Batch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② 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10 Batch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FF79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① 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11 Batch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② 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12 Batch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FF79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① 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13 Batch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② 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14 Batch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FF79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① 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15 Batch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② 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16 Batch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FF79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① 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17 Batch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27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② 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18 Batch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FF79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① 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19 Batch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</a:t>
                      </a:r>
                      <a:endParaRPr sz="700"/>
                    </a:p>
                    <a:p>
                      <a:pPr algn="ctr"/>
                      <a:r>
                        <a:rPr sz="1000" b="1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② </a:t>
                      </a:r>
                      <a:endParaRPr sz="1000"/>
                    </a:p>
                    <a:p>
                      <a:pPr algn="ctr"/>
                      <a:r>
                        <a:rPr sz="68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20 Batch</a:t>
                      </a:r>
                      <a:endParaRPr sz="68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2E75B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BFBFB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8/1</a:t>
                      </a:r>
                      <a:endParaRPr sz="700"/>
                    </a:p>
                  </a:txBody>
                  <a:tcPr marL="36000" marR="36000" marT="9000" marB="90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262" name="Rectangle 257"/>
          <p:cNvSpPr/>
          <p:nvPr/>
        </p:nvSpPr>
        <p:spPr>
          <a:xfrm>
            <a:off x="5870448" y="987552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3" name="TextBox 258"/>
          <p:cNvSpPr txBox="1"/>
          <p:nvPr/>
        </p:nvSpPr>
        <p:spPr>
          <a:xfrm>
            <a:off x="5980176" y="960120"/>
            <a:ext cx="292608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② 운영 결과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graphicFrame>
        <p:nvGraphicFramePr>
          <p:cNvPr id="264" name="Table 263"/>
          <p:cNvGraphicFramePr>
            <a:graphicFrameLocks noGrp="1"/>
          </p:cNvGraphicFramePr>
          <p:nvPr/>
        </p:nvGraphicFramePr>
        <p:xfrm>
          <a:off x="5870448" y="1216152"/>
          <a:ext cx="2990088" cy="2272284"/>
        </p:xfrm>
        <a:graphic>
          <a:graphicData uri="http://schemas.openxmlformats.org/drawingml/2006/table">
            <a:tbl>
              <a:tblPr firstRow="0" bandRow="0"/>
              <a:tblGrid>
                <a:gridCol w="1600200"/>
                <a:gridCol w="1389888"/>
              </a:tblGrid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7월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정제기 ① 완료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 Batch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정제기 ② 완료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 Batch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819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7월 합계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 Batch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</a:tr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819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생산량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 kg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</a:tr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협의 계획 (월)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 Batch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none"/>
                    <a:lstStyle/>
                    <a:p>
                      <a:pPr algn="l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협의 계획 kg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19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 kg</a:t>
                      </a:r>
                      <a:endParaRPr sz="819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5" name="Rectangle 257"/>
          <p:cNvSpPr/>
          <p:nvPr/>
        </p:nvSpPr>
        <p:spPr>
          <a:xfrm>
            <a:off x="283464" y="4462272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6" name="TextBox 258"/>
          <p:cNvSpPr txBox="1"/>
          <p:nvPr/>
        </p:nvSpPr>
        <p:spPr>
          <a:xfrm>
            <a:off x="393192" y="4434840"/>
            <a:ext cx="8129015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③ 월 생산량 비교 — 설비별 주기 = 순수 47 h + 대기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graphicFrame>
        <p:nvGraphicFramePr>
          <p:cNvPr id="267" name="Table 266"/>
          <p:cNvGraphicFramePr>
            <a:graphicFrameLocks noGrp="1"/>
          </p:cNvGraphicFramePr>
          <p:nvPr/>
        </p:nvGraphicFramePr>
        <p:xfrm>
          <a:off x="283464" y="4690872"/>
          <a:ext cx="8567928" cy="1316736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731520"/>
                <a:gridCol w="868680"/>
                <a:gridCol w="960120"/>
                <a:gridCol w="1234440"/>
                <a:gridCol w="868680"/>
                <a:gridCol w="1527048"/>
              </a:tblGrid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기준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정제기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Batch/월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kg/월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설비별 주기 (h)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순수 (h)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대기 (h)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10월 생산계획 (#82~#92)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1대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2,178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67.6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47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20.6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정제기 1대 계획 (월 12 Batch)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1대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2,376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60.8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47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13.8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정제기 2대 계획 (월 20 Batch)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2대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73.0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47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3857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26.0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2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75E2DD2F-BCF5-ECAE-E5D5-3CF0B6E970A6}"/>
              </a:ext>
            </a:extLst>
          </p:cNvPr>
          <p:cNvSpPr txBox="1"/>
          <p:nvPr/>
        </p:nvSpPr>
        <p:spPr>
          <a:xfrm>
            <a:off x="419241" y="188640"/>
            <a:ext cx="7400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800" dirty="0" b="1">
                <a:gradFill>
                  <a:gsLst>
                    <a:gs pos="0">
                      <a:srgbClr val="FF7900"/>
                    </a:gs>
                    <a:gs pos="67000">
                      <a:srgbClr val="EB002C"/>
                    </a:gs>
                  </a:gsLst>
                  <a:lin ang="5400000" scaled="1"/>
                </a:gradFill>
              </a:rPr>
              <a:t>Case 비교 — 2027년 생산 · 판매 · 재고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334A9-F66D-C6A4-7BE9-6D50F9536A48}"/>
              </a:ext>
            </a:extLst>
          </p:cNvPr>
          <p:cNvSpPr/>
          <p:nvPr/>
        </p:nvSpPr>
        <p:spPr>
          <a:xfrm>
            <a:off x="243076" y="0"/>
            <a:ext cx="45719" cy="900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E35880-4093-876B-A5F4-41C1E861B78E}"/>
              </a:ext>
            </a:extLst>
          </p:cNvPr>
          <p:cNvSpPr txBox="1"/>
          <p:nvPr/>
        </p:nvSpPr>
        <p:spPr>
          <a:xfrm>
            <a:off x="683568" y="649029"/>
            <a:ext cx="821735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600" dirty="0"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'27 말 재고  Case I 7,680 · Case II 4,080 · Case III 1,704 kg (4월 44 kg)</a:t>
            </a:r>
            <a:endParaRPr lang="en-US" altLang="ko-KR" sz="1600" dirty="0">
              <a:solidFill>
                <a:srgbClr val="FB630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FCEA6BD-DE04-59B4-A8D4-190141D5218B}"/>
              </a:ext>
            </a:extLst>
          </p:cNvPr>
          <p:cNvSpPr>
            <a:spLocks noChangeAspect="1"/>
          </p:cNvSpPr>
          <p:nvPr/>
        </p:nvSpPr>
        <p:spPr>
          <a:xfrm>
            <a:off x="419241" y="682139"/>
            <a:ext cx="180000" cy="180000"/>
          </a:xfrm>
          <a:prstGeom prst="ellipse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latin typeface="Noto Sans KR" pitchFamily="2" charset="-127"/>
                <a:ea typeface="Noto Sans KR" pitchFamily="2" charset="-127"/>
              </a:rPr>
              <a:t>6</a:t>
            </a:r>
            <a:endParaRPr kumimoji="1" lang="ko-KR" altLang="en-US" sz="1000" b="1" dirty="0">
              <a:latin typeface="Noto Sans KR" pitchFamily="2" charset="-127"/>
              <a:ea typeface="Noto Sans KR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8A963E8-7BFA-8421-BB5D-9C25023F1E9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165102"/>
            <a:ext cx="872541" cy="372545"/>
          </a:xfrm>
          <a:prstGeom prst="rect">
            <a:avLst/>
          </a:prstGeom>
        </p:spPr>
      </p:pic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93943A90-8311-883B-A173-01407C63CEE4}"/>
              </a:ext>
            </a:extLst>
          </p:cNvPr>
          <p:cNvSpPr/>
          <p:nvPr/>
        </p:nvSpPr>
        <p:spPr>
          <a:xfrm>
            <a:off x="234424" y="6411907"/>
            <a:ext cx="1027462" cy="2525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100" dirty="0">
                <a:solidFill>
                  <a:schemeClr val="bg1">
                    <a:lumMod val="50000"/>
                  </a:schemeClr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Confidential</a:t>
            </a:r>
            <a:endParaRPr kumimoji="1" lang="ko-KR" altLang="en-US" sz="1100" dirty="0">
              <a:solidFill>
                <a:schemeClr val="bg1">
                  <a:lumMod val="50000"/>
                </a:schemeClr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163" name="직선 연결선[R] 162">
            <a:extLst>
              <a:ext uri="{FF2B5EF4-FFF2-40B4-BE49-F238E27FC236}">
                <a16:creationId xmlns:a16="http://schemas.microsoft.com/office/drawing/2014/main" id="{8DEBABA2-333E-086B-36F6-137958AA3974}"/>
              </a:ext>
            </a:extLst>
          </p:cNvPr>
          <p:cNvCxnSpPr>
            <a:cxnSpLocks/>
          </p:cNvCxnSpPr>
          <p:nvPr/>
        </p:nvCxnSpPr>
        <p:spPr>
          <a:xfrm>
            <a:off x="1442533" y="6538184"/>
            <a:ext cx="72008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53F489-CBFB-4C6F-878D-02975AD51256}"/>
              </a:ext>
            </a:extLst>
          </p:cNvPr>
          <p:cNvSpPr txBox="1"/>
          <p:nvPr/>
        </p:nvSpPr>
        <p:spPr>
          <a:xfrm>
            <a:off x="3972000" y="6461240"/>
            <a:ext cx="120000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ko-KR" sz="1000" dirty="0" b="0" i="0">
                <a:solidFill>
                  <a:srgbClr val="7F7F7F"/>
                </a:solidFill>
                <a:latin typeface="Noto Sans KR" panose="02000403000000020004" pitchFamily="2" charset="-127"/>
                <a:ea typeface="Noto Sans KR" panose="02000403000000020004" pitchFamily="2" charset="-127"/>
                <a:cs typeface="Noto Sans KR" panose="02000403000000020004" pitchFamily="2" charset="-127"/>
              </a:rPr>
              <a:t>- 6 -</a:t>
            </a:r>
            <a:endParaRPr kumimoji="1" lang="ko-KR" altLang="en-US" sz="1000" dirty="0">
              <a:solidFill>
                <a:schemeClr val="bg1">
                  <a:lumMod val="50000"/>
                </a:schemeClr>
              </a:solidFill>
              <a:latin typeface="Noto Sans KR" panose="02000403000000020004" pitchFamily="2" charset="-127"/>
              <a:ea typeface="Noto Sans KR" panose="02000403000000020004" pitchFamily="2" charset="-127"/>
              <a:cs typeface="Noto Sans KR" panose="02000403000000020004" pitchFamily="2" charset="-127"/>
            </a:endParaRPr>
          </a:p>
        </p:txBody>
      </p:sp>
      <p:sp>
        <p:nvSpPr>
          <p:cNvPr id="259" name="Rectangle 257"/>
          <p:cNvSpPr/>
          <p:nvPr/>
        </p:nvSpPr>
        <p:spPr>
          <a:xfrm>
            <a:off x="283464" y="987552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0" name="TextBox 258"/>
          <p:cNvSpPr txBox="1"/>
          <p:nvPr/>
        </p:nvSpPr>
        <p:spPr>
          <a:xfrm>
            <a:off x="393192" y="960120"/>
            <a:ext cx="8129015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① 2027년 연간 비교 (kg)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>   재고 = 전월 재고 + 생산 − 판매 · 26.9말 2,300 kg 시작</a:t>
            </a:r>
          </a:p>
        </p:txBody>
      </p:sp>
      <p:graphicFrame>
        <p:nvGraphicFramePr>
          <p:cNvPr id="261" name="Table 260"/>
          <p:cNvGraphicFramePr>
            <a:graphicFrameLocks noGrp="1"/>
          </p:cNvGraphicFramePr>
          <p:nvPr/>
        </p:nvGraphicFramePr>
        <p:xfrm>
          <a:off x="283464" y="1216152"/>
          <a:ext cx="8567928" cy="1316736"/>
        </p:xfrm>
        <a:graphic>
          <a:graphicData uri="http://schemas.openxmlformats.org/drawingml/2006/table">
            <a:tbl>
              <a:tblPr firstRow="0" bandRow="0"/>
              <a:tblGrid>
                <a:gridCol w="685800"/>
                <a:gridCol w="1737360"/>
                <a:gridCol w="1417320"/>
                <a:gridCol w="731520"/>
                <a:gridCol w="731520"/>
                <a:gridCol w="777240"/>
                <a:gridCol w="777240"/>
                <a:gridCol w="978408"/>
                <a:gridCol w="731520"/>
              </a:tblGrid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Case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리플럭스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생산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생산 − 판매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'27 말 재고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최저 재고 (시점)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최저 재고일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Case I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계획 比 CXMT·이지켐 조정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'27.1 도입 · '27.2 운전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42,372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37,820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857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+4,552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7,680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3,044 ('27.1)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1.4개월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Case II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물량 (월 300 kg)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'27.1 도입 · '27.2 운전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42,372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41,420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857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+952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4,080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2,420 ('27.4)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0.9개월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Case III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물량 (월 300 kg)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'27.4 도입 · '27.5 운전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39,996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41,420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−1,424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1,704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44 ('27.4)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0.0개월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2F2"/>
                    </a:solidFill>
                  </a:tcPr>
                </a:tc>
              </a:tr>
            </a:tbl>
          </a:graphicData>
        </a:graphic>
      </p:graphicFrame>
      <p:sp>
        <p:nvSpPr>
          <p:cNvPr id="262" name="Rectangle 257"/>
          <p:cNvSpPr/>
          <p:nvPr/>
        </p:nvSpPr>
        <p:spPr>
          <a:xfrm>
            <a:off x="283464" y="2724912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3" name="TextBox 258"/>
          <p:cNvSpPr txBox="1"/>
          <p:nvPr/>
        </p:nvSpPr>
        <p:spPr>
          <a:xfrm>
            <a:off x="393192" y="2697480"/>
            <a:ext cx="8129015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② 월별 재고 (kg) · 재고일 (총판매량 기준, 개월)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graphicFrame>
        <p:nvGraphicFramePr>
          <p:cNvPr id="264" name="Table 263"/>
          <p:cNvGraphicFramePr>
            <a:graphicFrameLocks noGrp="1"/>
          </p:cNvGraphicFramePr>
          <p:nvPr/>
        </p:nvGraphicFramePr>
        <p:xfrm>
          <a:off x="283464" y="2953512"/>
          <a:ext cx="8549640" cy="2112264"/>
        </p:xfrm>
        <a:graphic>
          <a:graphicData uri="http://schemas.openxmlformats.org/drawingml/2006/table">
            <a:tbl>
              <a:tblPr firstRow="0" bandRow="0"/>
              <a:tblGrid>
                <a:gridCol w="123444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Case I 재고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2,556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2,852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3,128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3,044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3,952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5,452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4,580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5,260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5,700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6,140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6,540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6,940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7,340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7,680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Case I 재고일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2.1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Case II 재고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2,556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2,852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3,128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2,744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3,352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4,552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3,460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3,740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3,840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4,040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4,080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Case II 재고일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Case III 재고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2,556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2,852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3,128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2,744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2,176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704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1,084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1,224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1,364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1,464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1,564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1,664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1,704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Case III 재고일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5" name="Rectangle 257"/>
          <p:cNvSpPr/>
          <p:nvPr/>
        </p:nvSpPr>
        <p:spPr>
          <a:xfrm>
            <a:off x="283464" y="5239512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6" name="TextBox 258"/>
          <p:cNvSpPr txBox="1"/>
          <p:nvPr/>
        </p:nvSpPr>
        <p:spPr>
          <a:xfrm>
            <a:off x="393192" y="5212080"/>
            <a:ext cx="8129015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③ 판단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graphicFrame>
        <p:nvGraphicFramePr>
          <p:cNvPr id="267" name="Table 266"/>
          <p:cNvGraphicFramePr>
            <a:graphicFrameLocks noGrp="1"/>
          </p:cNvGraphicFramePr>
          <p:nvPr/>
        </p:nvGraphicFramePr>
        <p:xfrm>
          <a:off x="283464" y="5468112"/>
          <a:ext cx="8567927" cy="786384"/>
        </p:xfrm>
        <a:graphic>
          <a:graphicData uri="http://schemas.openxmlformats.org/drawingml/2006/table">
            <a:tbl>
              <a:tblPr firstRow="0" bandRow="0"/>
              <a:tblGrid>
                <a:gridCol w="914400"/>
                <a:gridCol w="7653527"/>
              </a:tblGrid>
              <a:tr h="196596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Case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요약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196596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Case I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 조정 · 1월 도입 → 재고 꾸준히 증가 ('27 말 2.2개월) — 재고 과다 관리 필요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Case II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물량 · 1월 도입 → 4월 대정비 때 2,420 kg (0.9개월)까지 감소 후 1개월 수준 유지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Case III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물량 · 4월 도입 → 4월 재고 44 kg (0.0개월) — 외부 상품 도입 없이는 공급 부족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75E2DD2F-BCF5-ECAE-E5D5-3CF0B6E970A6}"/>
              </a:ext>
            </a:extLst>
          </p:cNvPr>
          <p:cNvSpPr txBox="1"/>
          <p:nvPr/>
        </p:nvSpPr>
        <p:spPr>
          <a:xfrm>
            <a:off x="419241" y="188640"/>
            <a:ext cx="7400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800" dirty="0" b="1">
                <a:gradFill>
                  <a:gsLst>
                    <a:gs pos="0">
                      <a:srgbClr val="FF7900"/>
                    </a:gs>
                    <a:gs pos="67000">
                      <a:srgbClr val="EB002C"/>
                    </a:gs>
                  </a:gsLst>
                  <a:lin ang="5400000" scaled="1"/>
                </a:gradFill>
              </a:rPr>
              <a:t>Case I | 2026.9 ~ 2027.12 생산 · 판매 · 재고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334A9-F66D-C6A4-7BE9-6D50F9536A48}"/>
              </a:ext>
            </a:extLst>
          </p:cNvPr>
          <p:cNvSpPr/>
          <p:nvPr/>
        </p:nvSpPr>
        <p:spPr>
          <a:xfrm>
            <a:off x="243076" y="0"/>
            <a:ext cx="45719" cy="900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E35880-4093-876B-A5F4-41C1E861B78E}"/>
              </a:ext>
            </a:extLst>
          </p:cNvPr>
          <p:cNvSpPr txBox="1"/>
          <p:nvPr/>
        </p:nvSpPr>
        <p:spPr>
          <a:xfrm>
            <a:off x="683568" y="649029"/>
            <a:ext cx="821735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600" dirty="0"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계획 比 CXMT, 이지켐 물량 조정 · 1월 Reflux 도입 운영 (2월 운전)</a:t>
            </a:r>
            <a:endParaRPr lang="en-US" altLang="ko-KR" sz="1600" dirty="0">
              <a:solidFill>
                <a:srgbClr val="FB630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FCEA6BD-DE04-59B4-A8D4-190141D5218B}"/>
              </a:ext>
            </a:extLst>
          </p:cNvPr>
          <p:cNvSpPr>
            <a:spLocks noChangeAspect="1"/>
          </p:cNvSpPr>
          <p:nvPr/>
        </p:nvSpPr>
        <p:spPr>
          <a:xfrm>
            <a:off x="419241" y="682139"/>
            <a:ext cx="180000" cy="180000"/>
          </a:xfrm>
          <a:prstGeom prst="ellipse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latin typeface="Noto Sans KR" pitchFamily="2" charset="-127"/>
                <a:ea typeface="Noto Sans KR" pitchFamily="2" charset="-127"/>
              </a:rPr>
              <a:t>7</a:t>
            </a:r>
            <a:endParaRPr kumimoji="1" lang="ko-KR" altLang="en-US" sz="1000" b="1" dirty="0">
              <a:latin typeface="Noto Sans KR" pitchFamily="2" charset="-127"/>
              <a:ea typeface="Noto Sans KR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8A963E8-7BFA-8421-BB5D-9C25023F1E9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165102"/>
            <a:ext cx="872541" cy="372545"/>
          </a:xfrm>
          <a:prstGeom prst="rect">
            <a:avLst/>
          </a:prstGeom>
        </p:spPr>
      </p:pic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93943A90-8311-883B-A173-01407C63CEE4}"/>
              </a:ext>
            </a:extLst>
          </p:cNvPr>
          <p:cNvSpPr/>
          <p:nvPr/>
        </p:nvSpPr>
        <p:spPr>
          <a:xfrm>
            <a:off x="234424" y="6411907"/>
            <a:ext cx="1027462" cy="2525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100" dirty="0">
                <a:solidFill>
                  <a:schemeClr val="bg1">
                    <a:lumMod val="50000"/>
                  </a:schemeClr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Confidential</a:t>
            </a:r>
            <a:endParaRPr kumimoji="1" lang="ko-KR" altLang="en-US" sz="1100" dirty="0">
              <a:solidFill>
                <a:schemeClr val="bg1">
                  <a:lumMod val="50000"/>
                </a:schemeClr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163" name="직선 연결선[R] 162">
            <a:extLst>
              <a:ext uri="{FF2B5EF4-FFF2-40B4-BE49-F238E27FC236}">
                <a16:creationId xmlns:a16="http://schemas.microsoft.com/office/drawing/2014/main" id="{8DEBABA2-333E-086B-36F6-137958AA3974}"/>
              </a:ext>
            </a:extLst>
          </p:cNvPr>
          <p:cNvCxnSpPr>
            <a:cxnSpLocks/>
          </p:cNvCxnSpPr>
          <p:nvPr/>
        </p:nvCxnSpPr>
        <p:spPr>
          <a:xfrm>
            <a:off x="1442533" y="6538184"/>
            <a:ext cx="72008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53F489-CBFB-4C6F-878D-02975AD51256}"/>
              </a:ext>
            </a:extLst>
          </p:cNvPr>
          <p:cNvSpPr txBox="1"/>
          <p:nvPr/>
        </p:nvSpPr>
        <p:spPr>
          <a:xfrm>
            <a:off x="3972000" y="6461240"/>
            <a:ext cx="120000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ko-KR" sz="1000" dirty="0" b="0" i="0">
                <a:solidFill>
                  <a:srgbClr val="7F7F7F"/>
                </a:solidFill>
                <a:latin typeface="Noto Sans KR" panose="02000403000000020004" pitchFamily="2" charset="-127"/>
                <a:ea typeface="Noto Sans KR" panose="02000403000000020004" pitchFamily="2" charset="-127"/>
                <a:cs typeface="Noto Sans KR" panose="02000403000000020004" pitchFamily="2" charset="-127"/>
              </a:rPr>
              <a:t>- 7 -</a:t>
            </a:r>
            <a:endParaRPr kumimoji="1" lang="ko-KR" altLang="en-US" sz="1000" dirty="0">
              <a:solidFill>
                <a:schemeClr val="bg1">
                  <a:lumMod val="50000"/>
                </a:schemeClr>
              </a:solidFill>
              <a:latin typeface="Noto Sans KR" panose="02000403000000020004" pitchFamily="2" charset="-127"/>
              <a:ea typeface="Noto Sans KR" panose="02000403000000020004" pitchFamily="2" charset="-127"/>
              <a:cs typeface="Noto Sans KR" panose="02000403000000020004" pitchFamily="2" charset="-127"/>
            </a:endParaRPr>
          </a:p>
        </p:txBody>
      </p:sp>
      <p:sp>
        <p:nvSpPr>
          <p:cNvPr id="259" name="Rectangle 257"/>
          <p:cNvSpPr/>
          <p:nvPr/>
        </p:nvSpPr>
        <p:spPr>
          <a:xfrm>
            <a:off x="283464" y="987552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0" name="TextBox 258"/>
          <p:cNvSpPr txBox="1"/>
          <p:nvPr/>
        </p:nvSpPr>
        <p:spPr>
          <a:xfrm>
            <a:off x="393192" y="960120"/>
            <a:ext cx="8129015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① 월별 생산 · 판매 · 재고 (kg)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>   Batch × 198 kg · 재고 = 전월 재고 + 생산 − 판매</a:t>
            </a:r>
          </a:p>
        </p:txBody>
      </p:sp>
      <p:graphicFrame>
        <p:nvGraphicFramePr>
          <p:cNvPr id="261" name="Table 260"/>
          <p:cNvGraphicFramePr>
            <a:graphicFrameLocks noGrp="1"/>
          </p:cNvGraphicFramePr>
          <p:nvPr/>
        </p:nvGraphicFramePr>
        <p:xfrm>
          <a:off x="283464" y="1216152"/>
          <a:ext cx="8567928" cy="3744468"/>
        </p:xfrm>
        <a:graphic>
          <a:graphicData uri="http://schemas.openxmlformats.org/drawingml/2006/table">
            <a:tbl>
              <a:tblPr firstRow="0" bandRow="0"/>
              <a:tblGrid>
                <a:gridCol w="1188720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502920"/>
              </a:tblGrid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gridSpan="4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2026년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gridSpan="12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2027년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27년 합계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Batch (월)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생산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1,770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2,376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2,376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2,376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2,376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3,168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1,188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42,372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2,090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2,260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3,280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37,820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SKH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1,640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1,520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22,720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CXMT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6,420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이지켐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8,680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재고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2,556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2,852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3,128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3,044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3,952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5,452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4,580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5,260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5,700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6,140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6,540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6,940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7,340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7,680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7,680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재고일 (총판매량)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2.1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재고일 (SKHY 기준)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2.1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3.3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3.1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3.3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3.5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4.0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재고일 (SKHY·CXMT)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2.3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2.3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2.3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2.7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2" name="Rectangle 257"/>
          <p:cNvSpPr/>
          <p:nvPr/>
        </p:nvSpPr>
        <p:spPr>
          <a:xfrm>
            <a:off x="283464" y="5102352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3" name="TextBox 258"/>
          <p:cNvSpPr txBox="1"/>
          <p:nvPr/>
        </p:nvSpPr>
        <p:spPr>
          <a:xfrm>
            <a:off x="393192" y="5074920"/>
            <a:ext cx="8129015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② 2027년 요약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graphicFrame>
        <p:nvGraphicFramePr>
          <p:cNvPr id="264" name="Table 263"/>
          <p:cNvGraphicFramePr>
            <a:graphicFrameLocks noGrp="1"/>
          </p:cNvGraphicFramePr>
          <p:nvPr/>
        </p:nvGraphicFramePr>
        <p:xfrm>
          <a:off x="283464" y="5330952"/>
          <a:ext cx="8567928" cy="658368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1188720"/>
                <a:gridCol w="1188720"/>
                <a:gridCol w="1188720"/>
                <a:gridCol w="1188720"/>
                <a:gridCol w="1527048"/>
                <a:gridCol w="1188720"/>
              </a:tblGrid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2027 Batch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2027 생산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2027 판매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생산 − 판매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'27 말 재고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최저 재고 (시점)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최저 재고일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214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42,372 kg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37,820 kg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3857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+4,552 kg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7,680 kg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3,044 kg ('27.1)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1.4개월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75E2DD2F-BCF5-ECAE-E5D5-3CF0B6E970A6}"/>
              </a:ext>
            </a:extLst>
          </p:cNvPr>
          <p:cNvSpPr txBox="1"/>
          <p:nvPr/>
        </p:nvSpPr>
        <p:spPr>
          <a:xfrm>
            <a:off x="419241" y="188640"/>
            <a:ext cx="7400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800" dirty="0" b="1">
                <a:gradFill>
                  <a:gsLst>
                    <a:gs pos="0">
                      <a:srgbClr val="FF7900"/>
                    </a:gs>
                    <a:gs pos="67000">
                      <a:srgbClr val="EB002C"/>
                    </a:gs>
                  </a:gsLst>
                  <a:lin ang="5400000" scaled="1"/>
                </a:gradFill>
              </a:rPr>
              <a:t>Case II | 2026.9 ~ 2027.12 생산 · 판매 · 재고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334A9-F66D-C6A4-7BE9-6D50F9536A48}"/>
              </a:ext>
            </a:extLst>
          </p:cNvPr>
          <p:cNvSpPr/>
          <p:nvPr/>
        </p:nvSpPr>
        <p:spPr>
          <a:xfrm>
            <a:off x="243076" y="0"/>
            <a:ext cx="45719" cy="900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E35880-4093-876B-A5F4-41C1E861B78E}"/>
              </a:ext>
            </a:extLst>
          </p:cNvPr>
          <p:cNvSpPr txBox="1"/>
          <p:nvPr/>
        </p:nvSpPr>
        <p:spPr>
          <a:xfrm>
            <a:off x="683568" y="649029"/>
            <a:ext cx="821735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600" dirty="0"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추가 물량 · 1월 Reflux 도입 운영 (2월 운전)</a:t>
            </a:r>
            <a:endParaRPr lang="en-US" altLang="ko-KR" sz="1600" dirty="0">
              <a:solidFill>
                <a:srgbClr val="FB630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FCEA6BD-DE04-59B4-A8D4-190141D5218B}"/>
              </a:ext>
            </a:extLst>
          </p:cNvPr>
          <p:cNvSpPr>
            <a:spLocks noChangeAspect="1"/>
          </p:cNvSpPr>
          <p:nvPr/>
        </p:nvSpPr>
        <p:spPr>
          <a:xfrm>
            <a:off x="419241" y="682139"/>
            <a:ext cx="180000" cy="180000"/>
          </a:xfrm>
          <a:prstGeom prst="ellipse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latin typeface="Noto Sans KR" pitchFamily="2" charset="-127"/>
                <a:ea typeface="Noto Sans KR" pitchFamily="2" charset="-127"/>
              </a:rPr>
              <a:t>8</a:t>
            </a:r>
            <a:endParaRPr kumimoji="1" lang="ko-KR" altLang="en-US" sz="1000" b="1" dirty="0">
              <a:latin typeface="Noto Sans KR" pitchFamily="2" charset="-127"/>
              <a:ea typeface="Noto Sans KR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8A963E8-7BFA-8421-BB5D-9C25023F1E9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165102"/>
            <a:ext cx="872541" cy="372545"/>
          </a:xfrm>
          <a:prstGeom prst="rect">
            <a:avLst/>
          </a:prstGeom>
        </p:spPr>
      </p:pic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93943A90-8311-883B-A173-01407C63CEE4}"/>
              </a:ext>
            </a:extLst>
          </p:cNvPr>
          <p:cNvSpPr/>
          <p:nvPr/>
        </p:nvSpPr>
        <p:spPr>
          <a:xfrm>
            <a:off x="234424" y="6411907"/>
            <a:ext cx="1027462" cy="2525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100" dirty="0">
                <a:solidFill>
                  <a:schemeClr val="bg1">
                    <a:lumMod val="50000"/>
                  </a:schemeClr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Confidential</a:t>
            </a:r>
            <a:endParaRPr kumimoji="1" lang="ko-KR" altLang="en-US" sz="1100" dirty="0">
              <a:solidFill>
                <a:schemeClr val="bg1">
                  <a:lumMod val="50000"/>
                </a:schemeClr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163" name="직선 연결선[R] 162">
            <a:extLst>
              <a:ext uri="{FF2B5EF4-FFF2-40B4-BE49-F238E27FC236}">
                <a16:creationId xmlns:a16="http://schemas.microsoft.com/office/drawing/2014/main" id="{8DEBABA2-333E-086B-36F6-137958AA3974}"/>
              </a:ext>
            </a:extLst>
          </p:cNvPr>
          <p:cNvCxnSpPr>
            <a:cxnSpLocks/>
          </p:cNvCxnSpPr>
          <p:nvPr/>
        </p:nvCxnSpPr>
        <p:spPr>
          <a:xfrm>
            <a:off x="1442533" y="6538184"/>
            <a:ext cx="72008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53F489-CBFB-4C6F-878D-02975AD51256}"/>
              </a:ext>
            </a:extLst>
          </p:cNvPr>
          <p:cNvSpPr txBox="1"/>
          <p:nvPr/>
        </p:nvSpPr>
        <p:spPr>
          <a:xfrm>
            <a:off x="3972000" y="6461240"/>
            <a:ext cx="120000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ko-KR" sz="1000" dirty="0" b="0" i="0">
                <a:solidFill>
                  <a:srgbClr val="7F7F7F"/>
                </a:solidFill>
                <a:latin typeface="Noto Sans KR" panose="02000403000000020004" pitchFamily="2" charset="-127"/>
                <a:ea typeface="Noto Sans KR" panose="02000403000000020004" pitchFamily="2" charset="-127"/>
                <a:cs typeface="Noto Sans KR" panose="02000403000000020004" pitchFamily="2" charset="-127"/>
              </a:rPr>
              <a:t>- 8 -</a:t>
            </a:r>
            <a:endParaRPr kumimoji="1" lang="ko-KR" altLang="en-US" sz="1000" dirty="0">
              <a:solidFill>
                <a:schemeClr val="bg1">
                  <a:lumMod val="50000"/>
                </a:schemeClr>
              </a:solidFill>
              <a:latin typeface="Noto Sans KR" panose="02000403000000020004" pitchFamily="2" charset="-127"/>
              <a:ea typeface="Noto Sans KR" panose="02000403000000020004" pitchFamily="2" charset="-127"/>
              <a:cs typeface="Noto Sans KR" panose="02000403000000020004" pitchFamily="2" charset="-127"/>
            </a:endParaRPr>
          </a:p>
        </p:txBody>
      </p:sp>
      <p:sp>
        <p:nvSpPr>
          <p:cNvPr id="259" name="Rectangle 257"/>
          <p:cNvSpPr/>
          <p:nvPr/>
        </p:nvSpPr>
        <p:spPr>
          <a:xfrm>
            <a:off x="283464" y="987552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0" name="TextBox 258"/>
          <p:cNvSpPr txBox="1"/>
          <p:nvPr/>
        </p:nvSpPr>
        <p:spPr>
          <a:xfrm>
            <a:off x="393192" y="960120"/>
            <a:ext cx="8129015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① 월별 생산 · 판매 · 재고 (kg)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>   Batch × 198 kg · 재고 = 전월 재고 + 생산 − 판매</a:t>
            </a:r>
          </a:p>
        </p:txBody>
      </p:sp>
      <p:graphicFrame>
        <p:nvGraphicFramePr>
          <p:cNvPr id="261" name="Table 260"/>
          <p:cNvGraphicFramePr>
            <a:graphicFrameLocks noGrp="1"/>
          </p:cNvGraphicFramePr>
          <p:nvPr/>
        </p:nvGraphicFramePr>
        <p:xfrm>
          <a:off x="283464" y="1216152"/>
          <a:ext cx="8567928" cy="3744468"/>
        </p:xfrm>
        <a:graphic>
          <a:graphicData uri="http://schemas.openxmlformats.org/drawingml/2006/table">
            <a:tbl>
              <a:tblPr firstRow="0" bandRow="0"/>
              <a:tblGrid>
                <a:gridCol w="1188720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502920"/>
              </a:tblGrid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gridSpan="4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2026년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gridSpan="12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2027년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27년 합계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Batch (월)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생산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1,770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2,376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2,376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2,376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2,376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3,168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1,188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42,372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2,090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3,320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3,820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3,820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3,860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3,860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3,860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41,420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SKH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1,640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1,520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22,720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CXMT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6,420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이지켐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8,680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재고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2,556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2,852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3,128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2,744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3,352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4,552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3,080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3,460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3,740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3,840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4,040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4,080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4,080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재고일 (총판매량)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재고일 (SKHY 기준)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2.1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2.7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2.1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2.1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2.1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재고일 (SKHY·CXMT)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2" name="Rectangle 257"/>
          <p:cNvSpPr/>
          <p:nvPr/>
        </p:nvSpPr>
        <p:spPr>
          <a:xfrm>
            <a:off x="283464" y="5102352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3" name="TextBox 258"/>
          <p:cNvSpPr txBox="1"/>
          <p:nvPr/>
        </p:nvSpPr>
        <p:spPr>
          <a:xfrm>
            <a:off x="393192" y="5074920"/>
            <a:ext cx="8129015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② 2027년 요약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graphicFrame>
        <p:nvGraphicFramePr>
          <p:cNvPr id="264" name="Table 263"/>
          <p:cNvGraphicFramePr>
            <a:graphicFrameLocks noGrp="1"/>
          </p:cNvGraphicFramePr>
          <p:nvPr/>
        </p:nvGraphicFramePr>
        <p:xfrm>
          <a:off x="283464" y="5330952"/>
          <a:ext cx="8567928" cy="658368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1188720"/>
                <a:gridCol w="1188720"/>
                <a:gridCol w="1188720"/>
                <a:gridCol w="1188720"/>
                <a:gridCol w="1527048"/>
                <a:gridCol w="1188720"/>
              </a:tblGrid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2027 Batch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2027 생산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2027 판매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생산 − 판매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'27 말 재고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최저 재고 (시점)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최저 재고일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214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42,372 kg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41,420 kg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3857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+952 kg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4,080 kg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2,420 kg ('27.4)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0.9개월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75E2DD2F-BCF5-ECAE-E5D5-3CF0B6E970A6}"/>
              </a:ext>
            </a:extLst>
          </p:cNvPr>
          <p:cNvSpPr txBox="1"/>
          <p:nvPr/>
        </p:nvSpPr>
        <p:spPr>
          <a:xfrm>
            <a:off x="419241" y="188640"/>
            <a:ext cx="7400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800" dirty="0" b="1">
                <a:gradFill>
                  <a:gsLst>
                    <a:gs pos="0">
                      <a:srgbClr val="FF7900"/>
                    </a:gs>
                    <a:gs pos="67000">
                      <a:srgbClr val="EB002C"/>
                    </a:gs>
                  </a:gsLst>
                  <a:lin ang="5400000" scaled="1"/>
                </a:gradFill>
              </a:rPr>
              <a:t>Case III | 2026.9 ~ 2027.12 생산 · 판매 · 재고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334A9-F66D-C6A4-7BE9-6D50F9536A48}"/>
              </a:ext>
            </a:extLst>
          </p:cNvPr>
          <p:cNvSpPr/>
          <p:nvPr/>
        </p:nvSpPr>
        <p:spPr>
          <a:xfrm>
            <a:off x="243076" y="0"/>
            <a:ext cx="45719" cy="900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E35880-4093-876B-A5F4-41C1E861B78E}"/>
              </a:ext>
            </a:extLst>
          </p:cNvPr>
          <p:cNvSpPr txBox="1"/>
          <p:nvPr/>
        </p:nvSpPr>
        <p:spPr>
          <a:xfrm>
            <a:off x="683568" y="649029"/>
            <a:ext cx="821735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600" dirty="0"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추가 물량 · 4월 Reflux 도입 운영 (5월 운전) → 외부 상품 도입 반영 필요</a:t>
            </a:r>
            <a:endParaRPr lang="en-US" altLang="ko-KR" sz="1600" dirty="0">
              <a:solidFill>
                <a:srgbClr val="FB630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FCEA6BD-DE04-59B4-A8D4-190141D5218B}"/>
              </a:ext>
            </a:extLst>
          </p:cNvPr>
          <p:cNvSpPr>
            <a:spLocks noChangeAspect="1"/>
          </p:cNvSpPr>
          <p:nvPr/>
        </p:nvSpPr>
        <p:spPr>
          <a:xfrm>
            <a:off x="419241" y="682139"/>
            <a:ext cx="180000" cy="180000"/>
          </a:xfrm>
          <a:prstGeom prst="ellipse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b="1" dirty="0">
                <a:latin typeface="Noto Sans KR" pitchFamily="2" charset="-127"/>
                <a:ea typeface="Noto Sans KR" pitchFamily="2" charset="-127"/>
              </a:rPr>
              <a:t>9</a:t>
            </a:r>
            <a:endParaRPr kumimoji="1" lang="ko-KR" altLang="en-US" sz="1000" b="1" dirty="0">
              <a:latin typeface="Noto Sans KR" pitchFamily="2" charset="-127"/>
              <a:ea typeface="Noto Sans KR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8A963E8-7BFA-8421-BB5D-9C25023F1E9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165102"/>
            <a:ext cx="872541" cy="372545"/>
          </a:xfrm>
          <a:prstGeom prst="rect">
            <a:avLst/>
          </a:prstGeom>
        </p:spPr>
      </p:pic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93943A90-8311-883B-A173-01407C63CEE4}"/>
              </a:ext>
            </a:extLst>
          </p:cNvPr>
          <p:cNvSpPr/>
          <p:nvPr/>
        </p:nvSpPr>
        <p:spPr>
          <a:xfrm>
            <a:off x="234424" y="6411907"/>
            <a:ext cx="1027462" cy="2525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100" dirty="0">
                <a:solidFill>
                  <a:schemeClr val="bg1">
                    <a:lumMod val="50000"/>
                  </a:schemeClr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Confidential</a:t>
            </a:r>
            <a:endParaRPr kumimoji="1" lang="ko-KR" altLang="en-US" sz="1100" dirty="0">
              <a:solidFill>
                <a:schemeClr val="bg1">
                  <a:lumMod val="50000"/>
                </a:schemeClr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163" name="직선 연결선[R] 162">
            <a:extLst>
              <a:ext uri="{FF2B5EF4-FFF2-40B4-BE49-F238E27FC236}">
                <a16:creationId xmlns:a16="http://schemas.microsoft.com/office/drawing/2014/main" id="{8DEBABA2-333E-086B-36F6-137958AA3974}"/>
              </a:ext>
            </a:extLst>
          </p:cNvPr>
          <p:cNvCxnSpPr>
            <a:cxnSpLocks/>
          </p:cNvCxnSpPr>
          <p:nvPr/>
        </p:nvCxnSpPr>
        <p:spPr>
          <a:xfrm>
            <a:off x="1442533" y="6538184"/>
            <a:ext cx="72008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53F489-CBFB-4C6F-878D-02975AD51256}"/>
              </a:ext>
            </a:extLst>
          </p:cNvPr>
          <p:cNvSpPr txBox="1"/>
          <p:nvPr/>
        </p:nvSpPr>
        <p:spPr>
          <a:xfrm>
            <a:off x="3972000" y="6461240"/>
            <a:ext cx="120000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ko-KR" sz="1000" dirty="0" b="0" i="0">
                <a:solidFill>
                  <a:srgbClr val="7F7F7F"/>
                </a:solidFill>
                <a:latin typeface="Noto Sans KR" panose="02000403000000020004" pitchFamily="2" charset="-127"/>
                <a:ea typeface="Noto Sans KR" panose="02000403000000020004" pitchFamily="2" charset="-127"/>
                <a:cs typeface="Noto Sans KR" panose="02000403000000020004" pitchFamily="2" charset="-127"/>
              </a:rPr>
              <a:t>- 9 -</a:t>
            </a:r>
            <a:endParaRPr kumimoji="1" lang="ko-KR" altLang="en-US" sz="1000" dirty="0">
              <a:solidFill>
                <a:schemeClr val="bg1">
                  <a:lumMod val="50000"/>
                </a:schemeClr>
              </a:solidFill>
              <a:latin typeface="Noto Sans KR" panose="02000403000000020004" pitchFamily="2" charset="-127"/>
              <a:ea typeface="Noto Sans KR" panose="02000403000000020004" pitchFamily="2" charset="-127"/>
              <a:cs typeface="Noto Sans KR" panose="02000403000000020004" pitchFamily="2" charset="-127"/>
            </a:endParaRPr>
          </a:p>
        </p:txBody>
      </p:sp>
      <p:sp>
        <p:nvSpPr>
          <p:cNvPr id="259" name="Rectangle 257"/>
          <p:cNvSpPr/>
          <p:nvPr/>
        </p:nvSpPr>
        <p:spPr>
          <a:xfrm>
            <a:off x="283464" y="987552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0" name="TextBox 258"/>
          <p:cNvSpPr txBox="1"/>
          <p:nvPr/>
        </p:nvSpPr>
        <p:spPr>
          <a:xfrm>
            <a:off x="393192" y="960120"/>
            <a:ext cx="8129015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① 월별 생산 · 판매 · 재고 (kg)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>   Batch × 198 kg · 재고 = 전월 재고 + 생산 − 판매</a:t>
            </a:r>
          </a:p>
        </p:txBody>
      </p:sp>
      <p:graphicFrame>
        <p:nvGraphicFramePr>
          <p:cNvPr id="261" name="Table 260"/>
          <p:cNvGraphicFramePr>
            <a:graphicFrameLocks noGrp="1"/>
          </p:cNvGraphicFramePr>
          <p:nvPr/>
        </p:nvGraphicFramePr>
        <p:xfrm>
          <a:off x="283464" y="1216152"/>
          <a:ext cx="8567928" cy="3744468"/>
        </p:xfrm>
        <a:graphic>
          <a:graphicData uri="http://schemas.openxmlformats.org/drawingml/2006/table">
            <a:tbl>
              <a:tblPr firstRow="0" bandRow="0"/>
              <a:tblGrid>
                <a:gridCol w="1188720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502920"/>
              </a:tblGrid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gridSpan="4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2026년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gridSpan="12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2027년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 hMerge="1"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27년 합계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Batch (월)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생산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1,770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2,376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2,376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2,376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2,376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2,376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2,376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1,188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39,996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2,090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3,320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3,580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3,820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3,820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3,860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3,860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3,860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41,420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SKH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1,640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1,520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22,720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CXMT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6,420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이지켐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8,680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재고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2,300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2,556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2,852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3,128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2,744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2,560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2,176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704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1,084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1,224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1,364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1,464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1,564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1,664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1,704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1,704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E6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재고일 (총판매량)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0.2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재고일 (SKHY 기준)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non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재고일 (SKHY·CXMT)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2" name="Rectangle 257"/>
          <p:cNvSpPr/>
          <p:nvPr/>
        </p:nvSpPr>
        <p:spPr>
          <a:xfrm>
            <a:off x="283464" y="5102352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3" name="TextBox 258"/>
          <p:cNvSpPr txBox="1"/>
          <p:nvPr/>
        </p:nvSpPr>
        <p:spPr>
          <a:xfrm>
            <a:off x="393192" y="5074920"/>
            <a:ext cx="8129015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② 2027년 요약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graphicFrame>
        <p:nvGraphicFramePr>
          <p:cNvPr id="264" name="Table 263"/>
          <p:cNvGraphicFramePr>
            <a:graphicFrameLocks noGrp="1"/>
          </p:cNvGraphicFramePr>
          <p:nvPr/>
        </p:nvGraphicFramePr>
        <p:xfrm>
          <a:off x="283464" y="5330952"/>
          <a:ext cx="8567928" cy="658368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1188720"/>
                <a:gridCol w="1188720"/>
                <a:gridCol w="1188720"/>
                <a:gridCol w="1188720"/>
                <a:gridCol w="1527048"/>
                <a:gridCol w="1188720"/>
              </a:tblGrid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2027 Batch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2027 생산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2027 판매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생산 − 판매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'27 말 재고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최저 재고 (시점)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최저 재고일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39,996 kg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41,420 kg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−1,424 kg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1,704 kg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44 kg ('27.4)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0.0개월</a:t>
                      </a:r>
                      <a:endParaRPr sz="9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75E2DD2F-BCF5-ECAE-E5D5-3CF0B6E970A6}"/>
              </a:ext>
            </a:extLst>
          </p:cNvPr>
          <p:cNvSpPr txBox="1"/>
          <p:nvPr/>
        </p:nvSpPr>
        <p:spPr>
          <a:xfrm>
            <a:off x="419241" y="188640"/>
            <a:ext cx="7400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800" dirty="0" b="1">
                <a:gradFill>
                  <a:gsLst>
                    <a:gs pos="0">
                      <a:srgbClr val="FF7900"/>
                    </a:gs>
                    <a:gs pos="67000">
                      <a:srgbClr val="EB002C"/>
                    </a:gs>
                  </a:gsLst>
                  <a:lin ang="5400000" scaled="1"/>
                </a:gradFill>
              </a:rPr>
              <a:t>후공정 부하 검토 — 충진 · 검사 · OQC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334A9-F66D-C6A4-7BE9-6D50F9536A48}"/>
              </a:ext>
            </a:extLst>
          </p:cNvPr>
          <p:cNvSpPr/>
          <p:nvPr/>
        </p:nvSpPr>
        <p:spPr>
          <a:xfrm>
            <a:off x="243076" y="0"/>
            <a:ext cx="45719" cy="900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E35880-4093-876B-A5F4-41C1E861B78E}"/>
              </a:ext>
            </a:extLst>
          </p:cNvPr>
          <p:cNvSpPr txBox="1"/>
          <p:nvPr/>
        </p:nvSpPr>
        <p:spPr>
          <a:xfrm>
            <a:off x="683568" y="649029"/>
            <a:ext cx="821735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600" dirty="0"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정제능력과 출하능력은 별개 · 5 Gal 충진 최대 월 278 h = 1교대 176 h의 158%</a:t>
            </a:r>
            <a:endParaRPr lang="en-US" altLang="ko-KR" sz="1600" dirty="0">
              <a:solidFill>
                <a:srgbClr val="FB630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FCEA6BD-DE04-59B4-A8D4-190141D5218B}"/>
              </a:ext>
            </a:extLst>
          </p:cNvPr>
          <p:cNvSpPr>
            <a:spLocks noChangeAspect="1"/>
          </p:cNvSpPr>
          <p:nvPr/>
        </p:nvSpPr>
        <p:spPr>
          <a:xfrm>
            <a:off x="419241" y="682139"/>
            <a:ext cx="180000" cy="180000"/>
          </a:xfrm>
          <a:prstGeom prst="ellipse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kumimoji="1" lang="en-US" altLang="ko-KR" sz="750" b="1" dirty="0">
                <a:latin typeface="Noto Sans KR" pitchFamily="2" charset="-127"/>
                <a:ea typeface="Noto Sans KR" pitchFamily="2" charset="-127"/>
              </a:rPr>
              <a:t>10</a:t>
            </a:r>
            <a:endParaRPr kumimoji="1" lang="ko-KR" altLang="en-US" sz="1000" b="1" dirty="0">
              <a:latin typeface="Noto Sans KR" pitchFamily="2" charset="-127"/>
              <a:ea typeface="Noto Sans KR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8A963E8-7BFA-8421-BB5D-9C25023F1E9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165102"/>
            <a:ext cx="872541" cy="372545"/>
          </a:xfrm>
          <a:prstGeom prst="rect">
            <a:avLst/>
          </a:prstGeom>
        </p:spPr>
      </p:pic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93943A90-8311-883B-A173-01407C63CEE4}"/>
              </a:ext>
            </a:extLst>
          </p:cNvPr>
          <p:cNvSpPr/>
          <p:nvPr/>
        </p:nvSpPr>
        <p:spPr>
          <a:xfrm>
            <a:off x="234424" y="6411907"/>
            <a:ext cx="1027462" cy="2525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100" dirty="0">
                <a:solidFill>
                  <a:schemeClr val="bg1">
                    <a:lumMod val="50000"/>
                  </a:schemeClr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Confidential</a:t>
            </a:r>
            <a:endParaRPr kumimoji="1" lang="ko-KR" altLang="en-US" sz="1100" dirty="0">
              <a:solidFill>
                <a:schemeClr val="bg1">
                  <a:lumMod val="50000"/>
                </a:schemeClr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163" name="직선 연결선[R] 162">
            <a:extLst>
              <a:ext uri="{FF2B5EF4-FFF2-40B4-BE49-F238E27FC236}">
                <a16:creationId xmlns:a16="http://schemas.microsoft.com/office/drawing/2014/main" id="{8DEBABA2-333E-086B-36F6-137958AA3974}"/>
              </a:ext>
            </a:extLst>
          </p:cNvPr>
          <p:cNvCxnSpPr>
            <a:cxnSpLocks/>
          </p:cNvCxnSpPr>
          <p:nvPr/>
        </p:nvCxnSpPr>
        <p:spPr>
          <a:xfrm>
            <a:off x="1442533" y="6538184"/>
            <a:ext cx="72008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53F489-CBFB-4C6F-878D-02975AD51256}"/>
              </a:ext>
            </a:extLst>
          </p:cNvPr>
          <p:cNvSpPr txBox="1"/>
          <p:nvPr/>
        </p:nvSpPr>
        <p:spPr>
          <a:xfrm>
            <a:off x="3972000" y="6461240"/>
            <a:ext cx="120000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ko-KR" sz="1000" dirty="0" b="0" i="0">
                <a:solidFill>
                  <a:srgbClr val="7F7F7F"/>
                </a:solidFill>
                <a:latin typeface="Noto Sans KR" panose="02000403000000020004" pitchFamily="2" charset="-127"/>
                <a:ea typeface="Noto Sans KR" panose="02000403000000020004" pitchFamily="2" charset="-127"/>
                <a:cs typeface="Noto Sans KR" panose="02000403000000020004" pitchFamily="2" charset="-127"/>
              </a:rPr>
              <a:t>- 10 -</a:t>
            </a:r>
            <a:endParaRPr kumimoji="1" lang="ko-KR" altLang="en-US" sz="1000" dirty="0">
              <a:solidFill>
                <a:schemeClr val="bg1">
                  <a:lumMod val="50000"/>
                </a:schemeClr>
              </a:solidFill>
              <a:latin typeface="Noto Sans KR" panose="02000403000000020004" pitchFamily="2" charset="-127"/>
              <a:ea typeface="Noto Sans KR" panose="02000403000000020004" pitchFamily="2" charset="-127"/>
              <a:cs typeface="Noto Sans KR" panose="02000403000000020004" pitchFamily="2" charset="-127"/>
            </a:endParaRPr>
          </a:p>
        </p:txBody>
      </p:sp>
      <p:sp>
        <p:nvSpPr>
          <p:cNvPr id="259" name="Rectangle 257"/>
          <p:cNvSpPr/>
          <p:nvPr/>
        </p:nvSpPr>
        <p:spPr>
          <a:xfrm>
            <a:off x="283464" y="987552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0" name="TextBox 258"/>
          <p:cNvSpPr txBox="1"/>
          <p:nvPr/>
        </p:nvSpPr>
        <p:spPr>
          <a:xfrm>
            <a:off x="393192" y="960120"/>
            <a:ext cx="8129015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① 월 작업량 (Case II 판매 기준)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>   추가 물량 포함 — 판매 최대 Case</a:t>
            </a:r>
          </a:p>
        </p:txBody>
      </p:sp>
      <p:graphicFrame>
        <p:nvGraphicFramePr>
          <p:cNvPr id="261" name="Table 260"/>
          <p:cNvGraphicFramePr>
            <a:graphicFrameLocks noGrp="1"/>
          </p:cNvGraphicFramePr>
          <p:nvPr/>
        </p:nvGraphicFramePr>
        <p:xfrm>
          <a:off x="283464" y="1216152"/>
          <a:ext cx="8567928" cy="2560320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960120"/>
                <a:gridCol w="960120"/>
                <a:gridCol w="960120"/>
                <a:gridCol w="960120"/>
                <a:gridCol w="26243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'27.1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'27.4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'27.7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'27.12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기준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 Gal 병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123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134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139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하이닉스 + CXMT ÷ 20 kg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 Gal 충진 h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190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246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268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278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 h/병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글로브 박스 가용 h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176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176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176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176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1교대 8 h × 22일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글로브 박스 부하율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108%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140%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152%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158%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1교대 기준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200 L 용기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이지켐 140 · 추가 150 kg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200 L 충진 h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48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48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64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64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 h/용기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OQC·출하 h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47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9병 2 h · 1용기 2 h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검사 h (PQC~FQC)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112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134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154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158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 h × 필요 Batch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필요 Batch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13.9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16.8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19.3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19.8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 ÷ 198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2" name="Rectangle 257"/>
          <p:cNvSpPr/>
          <p:nvPr/>
        </p:nvSpPr>
        <p:spPr>
          <a:xfrm>
            <a:off x="283464" y="3959352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3" name="TextBox 258"/>
          <p:cNvSpPr txBox="1"/>
          <p:nvPr/>
        </p:nvSpPr>
        <p:spPr>
          <a:xfrm>
            <a:off x="393192" y="3931920"/>
            <a:ext cx="8129015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② 병목 검토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graphicFrame>
        <p:nvGraphicFramePr>
          <p:cNvPr id="264" name="Table 263"/>
          <p:cNvGraphicFramePr>
            <a:graphicFrameLocks noGrp="1"/>
          </p:cNvGraphicFramePr>
          <p:nvPr/>
        </p:nvGraphicFramePr>
        <p:xfrm>
          <a:off x="283464" y="4187952"/>
          <a:ext cx="8567928" cy="1920240"/>
        </p:xfrm>
        <a:graphic>
          <a:graphicData uri="http://schemas.openxmlformats.org/drawingml/2006/table">
            <a:tbl>
              <a:tblPr firstRow="0" bandRow="0"/>
              <a:tblGrid>
                <a:gridCol w="1737360"/>
                <a:gridCol w="1828800"/>
                <a:gridCol w="2468880"/>
                <a:gridCol w="2532888"/>
              </a:tblGrid>
              <a:tr h="320040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자원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리플럭스 이후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 필요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32004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 Gal 글로브 박스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9병 18 h (약 2일)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278 h &gt; 1교대 176 h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교대 · 인원 · 글로브 박스 수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200 L 충진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수동 8 h/용기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ARS '27.7~ (시간 비슷할 수 있음)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ARS 단계별 시간 실측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검사 (PQC · FQC)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 h/Batch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Batch 증가 · 회수 시점 겹침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검사 인력 · 승인 대기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Product Tank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PQC 합격 후 이송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정제기 2대 제품 보관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Tank 수 · 용량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충진 · 포장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 Batch 약 2일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 1~1.5일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개선 방안 · 일정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75E2DD2F-BCF5-ECAE-E5D5-3CF0B6E970A6}"/>
              </a:ext>
            </a:extLst>
          </p:cNvPr>
          <p:cNvSpPr txBox="1"/>
          <p:nvPr/>
        </p:nvSpPr>
        <p:spPr>
          <a:xfrm>
            <a:off x="419241" y="188640"/>
            <a:ext cx="7400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800" dirty="0" b="1">
                <a:gradFill>
                  <a:gsLst>
                    <a:gs pos="0">
                      <a:srgbClr val="FF7900"/>
                    </a:gs>
                    <a:gs pos="67000">
                      <a:srgbClr val="EB002C"/>
                    </a:gs>
                  </a:gsLst>
                  <a:lin ang="5400000" scaled="1"/>
                </a:gradFill>
              </a:rPr>
              <a:t>생산팀 협의 사항 — Batch 기준 · Case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334A9-F66D-C6A4-7BE9-6D50F9536A48}"/>
              </a:ext>
            </a:extLst>
          </p:cNvPr>
          <p:cNvSpPr/>
          <p:nvPr/>
        </p:nvSpPr>
        <p:spPr>
          <a:xfrm>
            <a:off x="243076" y="0"/>
            <a:ext cx="45719" cy="900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E35880-4093-876B-A5F4-41C1E861B78E}"/>
              </a:ext>
            </a:extLst>
          </p:cNvPr>
          <p:cNvSpPr txBox="1"/>
          <p:nvPr/>
        </p:nvSpPr>
        <p:spPr>
          <a:xfrm>
            <a:off x="683568" y="649029"/>
            <a:ext cx="821735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600" dirty="0"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198 kg/Batch · 1대 월 12 / 2대 월 20 Batch · Case I·II·III</a:t>
            </a:r>
            <a:endParaRPr lang="en-US" altLang="ko-KR" sz="1600" dirty="0">
              <a:solidFill>
                <a:srgbClr val="FB630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FCEA6BD-DE04-59B4-A8D4-190141D5218B}"/>
              </a:ext>
            </a:extLst>
          </p:cNvPr>
          <p:cNvSpPr>
            <a:spLocks noChangeAspect="1"/>
          </p:cNvSpPr>
          <p:nvPr/>
        </p:nvSpPr>
        <p:spPr>
          <a:xfrm>
            <a:off x="419241" y="682139"/>
            <a:ext cx="180000" cy="180000"/>
          </a:xfrm>
          <a:prstGeom prst="ellipse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kumimoji="1" lang="en-US" altLang="ko-KR" sz="750" b="1" dirty="0">
                <a:latin typeface="Noto Sans KR" pitchFamily="2" charset="-127"/>
                <a:ea typeface="Noto Sans KR" pitchFamily="2" charset="-127"/>
              </a:rPr>
              <a:t>11</a:t>
            </a:r>
            <a:endParaRPr kumimoji="1" lang="ko-KR" altLang="en-US" sz="1000" b="1" dirty="0">
              <a:latin typeface="Noto Sans KR" pitchFamily="2" charset="-127"/>
              <a:ea typeface="Noto Sans KR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8A963E8-7BFA-8421-BB5D-9C25023F1E9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165102"/>
            <a:ext cx="872541" cy="372545"/>
          </a:xfrm>
          <a:prstGeom prst="rect">
            <a:avLst/>
          </a:prstGeom>
        </p:spPr>
      </p:pic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93943A90-8311-883B-A173-01407C63CEE4}"/>
              </a:ext>
            </a:extLst>
          </p:cNvPr>
          <p:cNvSpPr/>
          <p:nvPr/>
        </p:nvSpPr>
        <p:spPr>
          <a:xfrm>
            <a:off x="234424" y="6411907"/>
            <a:ext cx="1027462" cy="2525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100" dirty="0">
                <a:solidFill>
                  <a:schemeClr val="bg1">
                    <a:lumMod val="50000"/>
                  </a:schemeClr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Confidential</a:t>
            </a:r>
            <a:endParaRPr kumimoji="1" lang="ko-KR" altLang="en-US" sz="1100" dirty="0">
              <a:solidFill>
                <a:schemeClr val="bg1">
                  <a:lumMod val="50000"/>
                </a:schemeClr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163" name="직선 연결선[R] 162">
            <a:extLst>
              <a:ext uri="{FF2B5EF4-FFF2-40B4-BE49-F238E27FC236}">
                <a16:creationId xmlns:a16="http://schemas.microsoft.com/office/drawing/2014/main" id="{8DEBABA2-333E-086B-36F6-137958AA3974}"/>
              </a:ext>
            </a:extLst>
          </p:cNvPr>
          <p:cNvCxnSpPr>
            <a:cxnSpLocks/>
          </p:cNvCxnSpPr>
          <p:nvPr/>
        </p:nvCxnSpPr>
        <p:spPr>
          <a:xfrm>
            <a:off x="1442533" y="6538184"/>
            <a:ext cx="72008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53F489-CBFB-4C6F-878D-02975AD51256}"/>
              </a:ext>
            </a:extLst>
          </p:cNvPr>
          <p:cNvSpPr txBox="1"/>
          <p:nvPr/>
        </p:nvSpPr>
        <p:spPr>
          <a:xfrm>
            <a:off x="3972000" y="6461240"/>
            <a:ext cx="120000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ko-KR" sz="1000" dirty="0" b="0" i="0">
                <a:solidFill>
                  <a:srgbClr val="7F7F7F"/>
                </a:solidFill>
                <a:latin typeface="Noto Sans KR" panose="02000403000000020004" pitchFamily="2" charset="-127"/>
                <a:ea typeface="Noto Sans KR" panose="02000403000000020004" pitchFamily="2" charset="-127"/>
                <a:cs typeface="Noto Sans KR" panose="02000403000000020004" pitchFamily="2" charset="-127"/>
              </a:rPr>
              <a:t>- 11 -</a:t>
            </a:r>
            <a:endParaRPr kumimoji="1" lang="ko-KR" altLang="en-US" sz="1000" dirty="0">
              <a:solidFill>
                <a:schemeClr val="bg1">
                  <a:lumMod val="50000"/>
                </a:schemeClr>
              </a:solidFill>
              <a:latin typeface="Noto Sans KR" panose="02000403000000020004" pitchFamily="2" charset="-127"/>
              <a:ea typeface="Noto Sans KR" panose="02000403000000020004" pitchFamily="2" charset="-127"/>
              <a:cs typeface="Noto Sans KR" panose="02000403000000020004" pitchFamily="2" charset="-127"/>
            </a:endParaRPr>
          </a:p>
        </p:txBody>
      </p:sp>
      <p:sp>
        <p:nvSpPr>
          <p:cNvPr id="259" name="Rectangle 257"/>
          <p:cNvSpPr/>
          <p:nvPr/>
        </p:nvSpPr>
        <p:spPr>
          <a:xfrm>
            <a:off x="283464" y="987552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0" name="TextBox 258"/>
          <p:cNvSpPr txBox="1"/>
          <p:nvPr/>
        </p:nvSpPr>
        <p:spPr>
          <a:xfrm>
            <a:off x="393192" y="960120"/>
            <a:ext cx="8129015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① 협의 내용과 자료 반영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graphicFrame>
        <p:nvGraphicFramePr>
          <p:cNvPr id="261" name="Table 260"/>
          <p:cNvGraphicFramePr>
            <a:graphicFrameLocks noGrp="1"/>
          </p:cNvGraphicFramePr>
          <p:nvPr/>
        </p:nvGraphicFramePr>
        <p:xfrm>
          <a:off x="283464" y="1216152"/>
          <a:ext cx="8567928" cy="2542032"/>
        </p:xfrm>
        <a:graphic>
          <a:graphicData uri="http://schemas.openxmlformats.org/drawingml/2006/table">
            <a:tbl>
              <a:tblPr firstRow="0" bandRow="0"/>
              <a:tblGrid>
                <a:gridCol w="1188720"/>
                <a:gridCol w="3017520"/>
                <a:gridCol w="2194560"/>
                <a:gridCol w="216712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협의 내용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 반영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 필요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Batch 기준 (협의)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Batch size 200 kg · Yield 99% → 198 kg/Batch · Batch time 55 h · 원단위 1.010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생산 = 월 Batch × 198 kg (1대 12 · 2대 20 Batch)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Batch time 55 h의 구성 (IQC 제외 57 h와 일치 여부)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Case (협의)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Case I 계획 比 CXMT·이지켐 조정 / Case II 추가 물량 / Case III 추가 물량 + 4월 도입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2026.9~2027.12 Case별 생산·판매·재고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Case III 외부 상품 도입 물량 · 시점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재고일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총판매량 · SKHY · SKHY+CXMT 기준 개월 수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협의 자료 값 그대로 반영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재고일 산식 (재고 ÷ 판매로는 재현 안 됨)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 판매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10·12월 판매 합계가 고객별 합보다 140 kg 큼 · 26년 SKH 합계 9,960 / 17,210 (Case별 표기 다름)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 합계 값 그대로 사용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고객별 물량 · 연간 합계</a:t>
                      </a:r>
                      <a:endParaRPr sz="80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2" name="Rectangle 257"/>
          <p:cNvSpPr/>
          <p:nvPr/>
        </p:nvSpPr>
        <p:spPr>
          <a:xfrm>
            <a:off x="283464" y="3959352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3" name="TextBox 258"/>
          <p:cNvSpPr txBox="1"/>
          <p:nvPr/>
        </p:nvSpPr>
        <p:spPr>
          <a:xfrm>
            <a:off x="393192" y="3931920"/>
            <a:ext cx="8129015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② 협의 기준값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graphicFrame>
        <p:nvGraphicFramePr>
          <p:cNvPr id="264" name="Table 263"/>
          <p:cNvGraphicFramePr>
            <a:graphicFrameLocks noGrp="1"/>
          </p:cNvGraphicFramePr>
          <p:nvPr/>
        </p:nvGraphicFramePr>
        <p:xfrm>
          <a:off x="283464" y="4187952"/>
          <a:ext cx="8567928" cy="731520"/>
        </p:xfrm>
        <a:graphic>
          <a:graphicData uri="http://schemas.openxmlformats.org/drawingml/2006/table">
            <a:tbl>
              <a:tblPr firstRow="0" bandRow="0"/>
              <a:tblGrid>
                <a:gridCol w="914400"/>
                <a:gridCol w="731520"/>
                <a:gridCol w="914400"/>
                <a:gridCol w="914400"/>
                <a:gridCol w="777240"/>
                <a:gridCol w="1463040"/>
                <a:gridCol w="1463040"/>
                <a:gridCol w="1389888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Batch size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Yield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kg/Batch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Batch time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원단위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1대 월 Batch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2대 월 Batch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대정비 월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200 kg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99%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198 kg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55 h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1.010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 (2,376 kg)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 (3,960 kg)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 (1,188 kg)</a:t>
                      </a:r>
                      <a:endParaRPr sz="85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75E2DD2F-BCF5-ECAE-E5D5-3CF0B6E970A6}"/>
              </a:ext>
            </a:extLst>
          </p:cNvPr>
          <p:cNvSpPr txBox="1"/>
          <p:nvPr/>
        </p:nvSpPr>
        <p:spPr>
          <a:xfrm>
            <a:off x="419241" y="188640"/>
            <a:ext cx="7400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800" dirty="0" b="1">
                <a:gradFill>
                  <a:gsLst>
                    <a:gs pos="0">
                      <a:srgbClr val="FF7900"/>
                    </a:gs>
                    <a:gs pos="67000">
                      <a:srgbClr val="EB002C"/>
                    </a:gs>
                  </a:gsLst>
                  <a:lin ang="5400000" scaled="1"/>
                </a:gradFill>
              </a:rPr>
              <a:t>생산팀 확인 사항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334A9-F66D-C6A4-7BE9-6D50F9536A48}"/>
              </a:ext>
            </a:extLst>
          </p:cNvPr>
          <p:cNvSpPr/>
          <p:nvPr/>
        </p:nvSpPr>
        <p:spPr>
          <a:xfrm>
            <a:off x="243076" y="0"/>
            <a:ext cx="45719" cy="900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E35880-4093-876B-A5F4-41C1E861B78E}"/>
              </a:ext>
            </a:extLst>
          </p:cNvPr>
          <p:cNvSpPr txBox="1"/>
          <p:nvPr/>
        </p:nvSpPr>
        <p:spPr>
          <a:xfrm>
            <a:off x="683568" y="649029"/>
            <a:ext cx="821735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kumimoji="1" sz="28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 pitchFamily="2" charset="-127"/>
                <a:ea typeface="Noto Sans KR" pitchFamily="2" charset="-127"/>
              </a:defRPr>
            </a:lvl1pPr>
          </a:lstStyle>
          <a:p>
            <a:pPr algn="l"/>
            <a:r>
              <a:rPr lang="en-US" altLang="ko-KR" sz="1600" dirty="0"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생산팀 대화 내용과 추가 확인 항목</a:t>
            </a:r>
            <a:endParaRPr lang="en-US" altLang="ko-KR" sz="1600" dirty="0">
              <a:solidFill>
                <a:srgbClr val="FB6306"/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FCEA6BD-DE04-59B4-A8D4-190141D5218B}"/>
              </a:ext>
            </a:extLst>
          </p:cNvPr>
          <p:cNvSpPr>
            <a:spLocks noChangeAspect="1"/>
          </p:cNvSpPr>
          <p:nvPr/>
        </p:nvSpPr>
        <p:spPr>
          <a:xfrm>
            <a:off x="419241" y="682139"/>
            <a:ext cx="180000" cy="180000"/>
          </a:xfrm>
          <a:prstGeom prst="ellipse">
            <a:avLst/>
          </a:prstGeom>
          <a:solidFill>
            <a:srgbClr val="EB0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kumimoji="1" lang="en-US" altLang="ko-KR" sz="750" b="1" dirty="0">
                <a:latin typeface="Noto Sans KR" pitchFamily="2" charset="-127"/>
                <a:ea typeface="Noto Sans KR" pitchFamily="2" charset="-127"/>
              </a:rPr>
              <a:t>12</a:t>
            </a:r>
            <a:endParaRPr kumimoji="1" lang="ko-KR" altLang="en-US" sz="1000" b="1" dirty="0">
              <a:latin typeface="Noto Sans KR" pitchFamily="2" charset="-127"/>
              <a:ea typeface="Noto Sans KR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8A963E8-7BFA-8421-BB5D-9C25023F1E9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165102"/>
            <a:ext cx="872541" cy="372545"/>
          </a:xfrm>
          <a:prstGeom prst="rect">
            <a:avLst/>
          </a:prstGeom>
        </p:spPr>
      </p:pic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93943A90-8311-883B-A173-01407C63CEE4}"/>
              </a:ext>
            </a:extLst>
          </p:cNvPr>
          <p:cNvSpPr/>
          <p:nvPr/>
        </p:nvSpPr>
        <p:spPr>
          <a:xfrm>
            <a:off x="234424" y="6411907"/>
            <a:ext cx="1027462" cy="2525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100" dirty="0">
                <a:solidFill>
                  <a:schemeClr val="bg1">
                    <a:lumMod val="50000"/>
                  </a:schemeClr>
                </a:solidFill>
                <a:latin typeface="Noto Sans KR" panose="02000503000000020004" pitchFamily="2" charset="-127"/>
                <a:ea typeface="Noto Sans KR" panose="02000503000000020004" pitchFamily="2" charset="-127"/>
                <a:cs typeface="Noto Sans KR" panose="02000503000000020004" pitchFamily="2" charset="-127"/>
              </a:rPr>
              <a:t>Confidential</a:t>
            </a:r>
            <a:endParaRPr kumimoji="1" lang="ko-KR" altLang="en-US" sz="1100" dirty="0">
              <a:solidFill>
                <a:schemeClr val="bg1">
                  <a:lumMod val="50000"/>
                </a:schemeClr>
              </a:solidFill>
              <a:latin typeface="Noto Sans KR" panose="02000503000000020004" pitchFamily="2" charset="-127"/>
              <a:ea typeface="Noto Sans KR" panose="02000503000000020004" pitchFamily="2" charset="-127"/>
              <a:cs typeface="Noto Sans KR" panose="02000503000000020004" pitchFamily="2" charset="-127"/>
            </a:endParaRPr>
          </a:p>
        </p:txBody>
      </p:sp>
      <p:cxnSp>
        <p:nvCxnSpPr>
          <p:cNvPr id="163" name="직선 연결선[R] 162">
            <a:extLst>
              <a:ext uri="{FF2B5EF4-FFF2-40B4-BE49-F238E27FC236}">
                <a16:creationId xmlns:a16="http://schemas.microsoft.com/office/drawing/2014/main" id="{8DEBABA2-333E-086B-36F6-137958AA3974}"/>
              </a:ext>
            </a:extLst>
          </p:cNvPr>
          <p:cNvCxnSpPr>
            <a:cxnSpLocks/>
          </p:cNvCxnSpPr>
          <p:nvPr/>
        </p:nvCxnSpPr>
        <p:spPr>
          <a:xfrm>
            <a:off x="1442533" y="6538184"/>
            <a:ext cx="72008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53F489-CBFB-4C6F-878D-02975AD51256}"/>
              </a:ext>
            </a:extLst>
          </p:cNvPr>
          <p:cNvSpPr txBox="1"/>
          <p:nvPr/>
        </p:nvSpPr>
        <p:spPr>
          <a:xfrm>
            <a:off x="3972000" y="6461240"/>
            <a:ext cx="120000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ko-KR" sz="1000" dirty="0" b="0" i="0">
                <a:solidFill>
                  <a:srgbClr val="7F7F7F"/>
                </a:solidFill>
                <a:latin typeface="Noto Sans KR" panose="02000403000000020004" pitchFamily="2" charset="-127"/>
                <a:ea typeface="Noto Sans KR" panose="02000403000000020004" pitchFamily="2" charset="-127"/>
                <a:cs typeface="Noto Sans KR" panose="02000403000000020004" pitchFamily="2" charset="-127"/>
              </a:rPr>
              <a:t>- 12 -</a:t>
            </a:r>
            <a:endParaRPr kumimoji="1" lang="ko-KR" altLang="en-US" sz="1000" dirty="0">
              <a:solidFill>
                <a:schemeClr val="bg1">
                  <a:lumMod val="50000"/>
                </a:schemeClr>
              </a:solidFill>
              <a:latin typeface="Noto Sans KR" panose="02000403000000020004" pitchFamily="2" charset="-127"/>
              <a:ea typeface="Noto Sans KR" panose="02000403000000020004" pitchFamily="2" charset="-127"/>
              <a:cs typeface="Noto Sans KR" panose="02000403000000020004" pitchFamily="2" charset="-127"/>
            </a:endParaRPr>
          </a:p>
        </p:txBody>
      </p:sp>
      <p:sp>
        <p:nvSpPr>
          <p:cNvPr id="259" name="Rectangle 257"/>
          <p:cNvSpPr/>
          <p:nvPr/>
        </p:nvSpPr>
        <p:spPr>
          <a:xfrm>
            <a:off x="283464" y="987552"/>
            <a:ext cx="50000" cy="165000"/>
          </a:xfrm>
          <a:prstGeom prst="rect">
            <a:avLst/>
          </a:prstGeom>
          <a:solidFill>
            <a:srgbClr val="EB002C"/>
          </a:solidFill>
          <a:ln>
            <a:noFill/>
          </a:ln>
        </p:spPr>
        <p:txBody>
          <a:bodyPr rtlCol="0" anchor="ctr" lIns="30000" rIns="30000" tIns="0" bIns="0" wrap="square"/>
          <a:lstStyle/>
          <a:p>
            <a:pPr algn="ctr"/>
          </a:p>
        </p:txBody>
      </p:sp>
      <p:sp>
        <p:nvSpPr>
          <p:cNvPr id="260" name="TextBox 258"/>
          <p:cNvSpPr txBox="1"/>
          <p:nvPr/>
        </p:nvSpPr>
        <p:spPr>
          <a:xfrm>
            <a:off x="393192" y="960120"/>
            <a:ext cx="8129015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① 생산·설비·품질·충진 관련 확인 내용</a:t>
            </a:r>
            <a:r>
              <a:rPr sz="850" b="1" i="0">
                <a:solidFill>
                  <a:srgbClr val="C00000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graphicFrame>
        <p:nvGraphicFramePr>
          <p:cNvPr id="261" name="Table 260"/>
          <p:cNvGraphicFramePr>
            <a:graphicFrameLocks noGrp="1"/>
          </p:cNvGraphicFramePr>
          <p:nvPr/>
        </p:nvGraphicFramePr>
        <p:xfrm>
          <a:off x="283464" y="1216152"/>
          <a:ext cx="8567928" cy="4951475"/>
        </p:xfrm>
        <a:graphic>
          <a:graphicData uri="http://schemas.openxmlformats.org/drawingml/2006/table">
            <a:tbl>
              <a:tblPr firstRow="0" bandRow="0"/>
              <a:tblGrid>
                <a:gridCol w="1234440"/>
                <a:gridCol w="4343400"/>
                <a:gridCol w="2990088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생산팀 설명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 필요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공정시간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57 h에서 IQC·준비·PQC~이송·FQC를 빼면 순수 정제 45 h · 대화 중 57 − 2 − 6 = 49 h 계산도 있음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원자료 시간 측정의 시작점·종료점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과거 시간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과거 약 72 h, 최근 약 53 h 언급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두 값의 측정 범위가 같은지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정제기 2대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정제기 1 투입 후 초류 진행에 맞춰 정제기 2 투입 (다음 날 / 초류 중간 / 초류 종료 무렵 언급)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정제기 2 투입 시점 · 설비 번호(2070·2060) 도면 대조 · 개조/신규 여부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생산물 도착 간격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57 ÷ 2 = 28.5 h는 이상적인 경우의 도착 간격 설명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Capa. 2배 아님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투입용 Mix·Premix 준비 등에 설비 시간이 필요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Mix·Premix 준비시간 · 사용 설비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리플럭스 목적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하이닉스 요구 품질 대응을 위한 정제 기능 개선 · 환류 운전은 회수 속도와 Batch 시간에 영향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환류 운전 시 Batch 시간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회수량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조건별 약 160~170 kg / 추가 투입 시 약 220 kg / 전체 약 195~200 kg (197 kg) / Crude 200 kg × 75~80% ≈ 150~160 kg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조건별 투입·회수·양품·잔량 실측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수율 표현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"65%에서 5% 올렸다"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수치 정의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135 · 120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Mix 유무에 따라 언급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단위 · 색도 등 품질 지표인지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이지켐 색도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색도 조건 때문에 추가 투입 제한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고객별 품질·색도 규격 · 합격률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 Gal 충진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9병 18 h 작업, 근무시간 반영 시 약 2일 · 개선 방향 1~1.5일 · 18 h → 9 h 방안 검토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교대·연장근무 · 충진 인원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ARS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ARS 자체 충진은 더 길 수 있으나 용기 투입·반출·퍼지 포함 시 전체 시간은 비슷할 수 있음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ARS 작업 단계별 시간 (용기 준비~설비 전환)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한솔 충진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200 L 수동 충진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ARS 전환 후 시간</a:t>
                      </a:r>
                      <a:endParaRPr sz="760"/>
                    </a:p>
                  </a:txBody>
                  <a:tcPr marL="36000" marR="36000" marT="9000" marB="9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95502</TotalTime>
  <Words>9459</Words>
  <Application>Microsoft Office PowerPoint</Application>
  <PresentationFormat>화면 슬라이드 쇼(4:3)</PresentationFormat>
  <Paragraphs>2567</Paragraphs>
  <Slides>54</Slides>
  <Notes>54</Notes>
  <HiddenSlides>0</HiddenSlides>
  <MMClips>0</MMClips>
  <ScaleCrop>false</ScaleCrop>
  <HeadingPairs>
    <vt:vector size="6" baseType="variant">
      <vt:variant>
        <vt:lpstr>사용한 글꼴</vt:lpstr>
      </vt:variant>
      <vt:variant>
        <vt:i4>18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73" baseType="lpstr">
      <vt:lpstr>Meiryo UI</vt:lpstr>
      <vt:lpstr>ＭＳ Ｐゴシック</vt:lpstr>
      <vt:lpstr>Paperlogy 4 Regular</vt:lpstr>
      <vt:lpstr>Paperlogy 5 Medium</vt:lpstr>
      <vt:lpstr>Paperlogy 6 SemiBold</vt:lpstr>
      <vt:lpstr>Paperlogy 7 Bold</vt:lpstr>
      <vt:lpstr>Paperlogy 8 ExtraBold</vt:lpstr>
      <vt:lpstr>Pretendard</vt:lpstr>
      <vt:lpstr>Pretendard Light</vt:lpstr>
      <vt:lpstr>Pretendard Medium</vt:lpstr>
      <vt:lpstr>Pretendard SemiBold</vt:lpstr>
      <vt:lpstr>맑은 고딕</vt:lpstr>
      <vt:lpstr>맑은 고딕</vt:lpstr>
      <vt:lpstr>Arial</vt:lpstr>
      <vt:lpstr>Arial Narrow</vt:lpstr>
      <vt:lpstr>Tahoma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XP R2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김지현(JIHYUN KIM)/SK트리켐 마케팅팀/SKMR</cp:lastModifiedBy>
  <cp:revision>2121</cp:revision>
  <cp:lastPrinted>2024-01-02T22:30:24Z</cp:lastPrinted>
  <dcterms:created xsi:type="dcterms:W3CDTF">2016-08-27T13:10:56Z</dcterms:created>
  <dcterms:modified xsi:type="dcterms:W3CDTF">2026-09-10T02:13:59Z</dcterms:modified>
</cp:coreProperties>
</file>