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69" r:id="rId62"/>
    <p:sldId id="270" r:id="rId63"/>
    <p:sldId id="271" r:id="rId64"/>
    <p:sldId id="272" r:id="rId65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Relationship Id="rId63" Type="http://schemas.openxmlformats.org/officeDocument/2006/relationships/slide" Target="slides/slide3.xml"/><Relationship Id="rId64" Type="http://schemas.openxmlformats.org/officeDocument/2006/relationships/slide" Target="slides/slide4.xml"/><Relationship Id="rId65" Type="http://schemas.openxmlformats.org/officeDocument/2006/relationships/slide" Target="slides/slide5.xml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건수</c:v>
                </c:pt>
              </c:strCache>
            </c:strRef>
          </c:tx>
          <c:spPr>
            <a:solidFill>
              <a:srgbClr val="FF7900"/>
            </a:solidFill>
          </c:spPr>
          <c:cat>
            <c:strRef>
              <c:f>Sheet1!$A$2:$A$6</c:f>
              <c:strCache>
                <c:ptCount val="5"/>
                <c:pt idx="0">
                  <c:v>1일</c:v>
                </c:pt>
                <c:pt idx="1">
                  <c:v>2일</c:v>
                </c:pt>
                <c:pt idx="2">
                  <c:v>3일</c:v>
                </c:pt>
                <c:pt idx="3">
                  <c:v>4일</c:v>
                </c:pt>
                <c:pt idx="4">
                  <c:v>5일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11</c:v>
                </c:pt>
                <c:pt idx="2">
                  <c:v>39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Noto Sans K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출하 합계 (제시분)</c:v>
                </c:pt>
              </c:strCache>
            </c:strRef>
          </c:tx>
          <c:spPr>
            <a:solidFill>
              <a:srgbClr val="EB002C"/>
            </a:solidFill>
          </c:spPr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1600</c:v>
                </c:pt>
                <c:pt idx="1">
                  <c:v>1420</c:v>
                </c:pt>
                <c:pt idx="2">
                  <c:v>1440</c:v>
                </c:pt>
                <c:pt idx="3">
                  <c:v>1580</c:v>
                </c:pt>
                <c:pt idx="4">
                  <c:v>1200</c:v>
                </c:pt>
                <c:pt idx="5">
                  <c:v>1200</c:v>
                </c:pt>
                <c:pt idx="6">
                  <c:v>1360</c:v>
                </c:pt>
                <c:pt idx="7">
                  <c:v>1420</c:v>
                </c:pt>
                <c:pt idx="8">
                  <c:v>1940</c:v>
                </c:pt>
                <c:pt idx="9">
                  <c:v>2040</c:v>
                </c:pt>
                <c:pt idx="10">
                  <c:v>2040</c:v>
                </c:pt>
                <c:pt idx="11">
                  <c:v>1980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생산 가능량 (추정)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2090</c:v>
                </c:pt>
                <c:pt idx="1">
                  <c:v>1710</c:v>
                </c:pt>
                <c:pt idx="2">
                  <c:v>2280</c:v>
                </c:pt>
                <c:pt idx="3">
                  <c:v>1900</c:v>
                </c:pt>
                <c:pt idx="4">
                  <c:v>2090</c:v>
                </c:pt>
                <c:pt idx="5">
                  <c:v>2090</c:v>
                </c:pt>
                <c:pt idx="6">
                  <c:v>2090</c:v>
                </c:pt>
                <c:pt idx="7">
                  <c:v>2090</c:v>
                </c:pt>
                <c:pt idx="8">
                  <c:v>2090</c:v>
                </c:pt>
                <c:pt idx="9">
                  <c:v>2090</c:v>
                </c:pt>
                <c:pt idx="10">
                  <c:v>1900</c:v>
                </c:pt>
                <c:pt idx="11">
                  <c:v>2090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과거계획 Total×190</c:v>
                </c:pt>
              </c:strCache>
            </c:strRef>
          </c:tx>
          <c:spPr>
            <a:solidFill>
              <a:srgbClr val="FF7900"/>
            </a:solidFill>
          </c:spPr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5">
                  <c:v>1520</c:v>
                </c:pt>
                <c:pt idx="6">
                  <c:v>2090</c:v>
                </c:pt>
                <c:pt idx="7">
                  <c:v>1520</c:v>
                </c:pt>
                <c:pt idx="8">
                  <c:v>1520</c:v>
                </c:pt>
                <c:pt idx="9">
                  <c:v>2090</c:v>
                </c:pt>
              </c:numCache>
            </c:numRef>
          </c:val>
        </c:ser>
        <c:gapWidth val="5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6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.0"/>
        </c:scaling>
        <c:delete val="0"/>
        <c:axPos val="l"/>
        <c:majorGridlines>
          <c:spPr>
            <a:ln>
              <a:solidFill>
                <a:srgbClr val="E7E6E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5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650"/>
          </a:pPr>
        </a:p>
      </c:txPr>
    </c:legend>
    <c:dispBlanksAs val="gap"/>
  </c:chart>
  <c:txPr>
    <a:bodyPr/>
    <a:lstStyle/>
    <a:p>
      <a:pPr>
        <a:defRPr sz="700">
          <a:latin typeface="Noto Sans K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SK하이닉스</c:v>
                </c:pt>
              </c:strCache>
            </c:strRef>
          </c:tx>
          <c:spPr>
            <a:solidFill>
              <a:srgbClr val="EB002C"/>
            </a:solidFill>
          </c:spPr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1893.3333333333333</c:v>
                </c:pt>
                <c:pt idx="1">
                  <c:v>1893.3333333333333</c:v>
                </c:pt>
                <c:pt idx="2">
                  <c:v>1893.3333333333333</c:v>
                </c:pt>
                <c:pt idx="3">
                  <c:v>1893.3333333333333</c:v>
                </c:pt>
                <c:pt idx="4">
                  <c:v>1893.3333333333333</c:v>
                </c:pt>
                <c:pt idx="5">
                  <c:v>1893.3333333333333</c:v>
                </c:pt>
                <c:pt idx="6">
                  <c:v>1893.3333333333333</c:v>
                </c:pt>
                <c:pt idx="7">
                  <c:v>1893.3333333333333</c:v>
                </c:pt>
                <c:pt idx="8">
                  <c:v>1893.3333333333333</c:v>
                </c:pt>
                <c:pt idx="9">
                  <c:v>1893.3333333333333</c:v>
                </c:pt>
                <c:pt idx="10">
                  <c:v>1893.3333333333333</c:v>
                </c:pt>
                <c:pt idx="11">
                  <c:v>1893.3333333333333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CXMT</c:v>
                </c:pt>
              </c:strCache>
            </c:strRef>
          </c:tx>
          <c:spPr>
            <a:solidFill>
              <a:srgbClr val="1B8A95"/>
            </a:solidFill>
          </c:spPr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580</c:v>
                </c:pt>
                <c:pt idx="4">
                  <c:v>580</c:v>
                </c:pt>
                <c:pt idx="5">
                  <c:v>580</c:v>
                </c:pt>
                <c:pt idx="6">
                  <c:v>580</c:v>
                </c:pt>
                <c:pt idx="7">
                  <c:v>580</c:v>
                </c:pt>
                <c:pt idx="8">
                  <c:v>580</c:v>
                </c:pt>
                <c:pt idx="9">
                  <c:v>580</c:v>
                </c:pt>
                <c:pt idx="10">
                  <c:v>580</c:v>
                </c:pt>
                <c:pt idx="11">
                  <c:v>580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이지켐</c:v>
                </c:pt>
              </c:strCache>
            </c:strRef>
          </c:tx>
          <c:spPr>
            <a:solidFill>
              <a:srgbClr val="FF7900"/>
            </a:solidFill>
          </c:spPr>
          <c:cat>
            <c:strRef>
              <c:f>Sheet1!$A$2:$A$13</c:f>
              <c:strCache>
                <c:ptCount val="12"/>
                <c:pt idx="0">
                  <c:v>1월</c:v>
                </c:pt>
                <c:pt idx="1">
                  <c:v>2월</c:v>
                </c:pt>
                <c:pt idx="2">
                  <c:v>3월</c:v>
                </c:pt>
                <c:pt idx="3">
                  <c:v>4월</c:v>
                </c:pt>
                <c:pt idx="4">
                  <c:v>5월</c:v>
                </c:pt>
                <c:pt idx="5">
                  <c:v>6월</c:v>
                </c:pt>
                <c:pt idx="6">
                  <c:v>7월</c:v>
                </c:pt>
                <c:pt idx="7">
                  <c:v>8월</c:v>
                </c:pt>
                <c:pt idx="8">
                  <c:v>9월</c:v>
                </c:pt>
                <c:pt idx="9">
                  <c:v>10월</c:v>
                </c:pt>
                <c:pt idx="10">
                  <c:v>11월</c:v>
                </c:pt>
                <c:pt idx="11">
                  <c:v>12월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840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5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700"/>
          </a:pPr>
        </a:p>
      </c:txPr>
    </c:legend>
    <c:dispBlanksAs val="gap"/>
  </c:chart>
  <c:txPr>
    <a:bodyPr/>
    <a:lstStyle/>
    <a:p>
      <a:pPr>
        <a:defRPr sz="700">
          <a:latin typeface="Noto Sans K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[1장 As-is — 공정시간과 현재 생산능력]</a:t>
            </a:r>
          </a:p>
          <a:p>
            <a:r>
              <a:t>■ 운영 전제: CpZr 정제기 1대를 하이닉스·CXMT·이지켐이 공동 사용. 앞 Batch를 검사·충진하는 동안 정제기는 다음 Batch를 정제(병렬). 초류·By-product·Residue·Waste 분기와 별도 Filtering 단계는 삭제(필터는 충진에 포함, 별도 시간 가산 없음).</a:t>
            </a:r>
          </a:p>
          <a:p>
            <a:r>
              <a:t>■ 공정시간 (제공): IQC 2 h(원료 Lot당), 정제 57 h/Batch, FQC 2 h, 5 Gal 충진 2 h/병(약 8병 16 h), 200 L 충진 8 h(용기당/Batch당 확인), OQC·출하 2 h(운송 제외). 준비·투입, PQC, Tank 이송, FQC 대기, 세척·전환은 미확인(공란).</a:t>
            </a:r>
          </a:p>
          <a:p>
            <a:r>
              <a:t>■ ① 제조 Lead Time(확인분): 5 Gal 경로 79 h, 200 L 경로 71 h — 미확인 4개 항목 제외 하한값. 이 값은 다음 Batch 정제 시작 간격이 아님.</a:t>
            </a:r>
          </a:p>
          <a:p>
            <a:r>
              <a:t>■ ② 정제 생산 간격: 이론 57 h(정제만), 과거 일정 추정 67.47 h (범위 67.02~67.92 h, 3장).</a:t>
            </a:r>
          </a:p>
          <a:p>
            <a:r>
              <a:t>■ ③ 후공정: 5 Gal 16 h/Batch(약 8병), 200 L 8 h — 글로브 박스·인력 근무시간은 정제기 720 h와 별도로 입력(Excel 01_Inputs F).</a:t>
            </a:r>
          </a:p>
          <a:p>
            <a:r>
              <a:t>■ 기존 '정제·충진 순차 진행 → 월 9~10 Batch' 계산은 폐기 (Lead Time을 월 가용시간으로 나누는 방식).</a:t>
            </a:r>
          </a:p>
          <a:p>
            <a:r>
              <a:t>■ 26.2톤 환산: 26,200 ÷ 190 = 137.895 Batch 상당/년 → 반올림 138 × 190 = 26,220 kg(26.22톤, 표시 26.2톤) / 내림 137 × 190 = 26,030 kg. 월 평균 11.49 Batch 상당. 8,760 h 연속 가정 역산 간격 63.53 h/Batch.</a:t>
            </a:r>
          </a:p>
          <a:p>
            <a:r>
              <a:t>■ 시간 기반 추정과 비교(3장): 이론 29.07톤, 과거 최대 11 Batch 25.27톤, 과거 일정 관측 24.51톤. 26.2톤은 기준값으로 유지하고 산출 조건(가동일·Batch량·집계 기준) 차이를 확인.</a:t>
            </a:r>
          </a:p>
          <a:p>
            <a:r>
              <a:t>■ 상세: Excel 01_Inputs, 03_Capacity_Model 1·5절.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[2장 To-be — 리플럭스 공정과 계획]</a:t>
            </a:r>
          </a:p>
          <a:p>
            <a:r>
              <a:t>■ 공정: 동일 공용 정제기 1대에 리플럭스 적용(증설 아님). 5 Gal(하이닉스·CXMT)은 글로브 박스 충진 유지, 200 L(이지켐)은 ARS 자동 충진(2026년 내 설치, 2027년 운영 계획). 초류·Waste 분기와 별도 Filtering 삭제 — 필터는 충진에 포함.</a:t>
            </a:r>
          </a:p>
          <a:p>
            <a:r>
              <a:t>■ 일정: 2027년 2~5월 공사, 6월 시운전, 7월 리플럭스 적용 생산 시작, 최초 12개월 2027.7~2028.6.</a:t>
            </a:r>
          </a:p>
          <a:p>
            <a:r>
              <a:t>■ Capa.: 현재 26.2 + 리플럭스 21 = 47.2톤/년 (12개월 동일 조건 연간 환산). 평균 월 3.93톤 = 190 kg 유지 시 20.70 Batch 상당/월. 190 kg·8,760 h 가정 역산 등가 간격 35.26 h/Batch (리플럭스 후 실제 정제시간 미확인 — 현재 57 h로 47.2톤을 계산하지 않음).</a:t>
            </a:r>
          </a:p>
          <a:p>
            <a:r>
              <a:t>■ 2028 검토안: 103→105℃, 예상 +3톤 → 50.2톤/년(산술값), 목표 2028년 이후 50톤 수준. 미확정·검증 및 승인 필요·적용 시점 미정. 검증: 열 안정성, Dimer 형성, Unknown impurity 증가, 수율.</a:t>
            </a:r>
          </a:p>
          <a:p>
            <a:r>
              <a:t>■ 구분 원칙: ARS 충진 개선 효과는 47.2톤·50.2톤에 가산하지 않음. 47.2톤은 연간 환산값으로 2027년 실제 생산량이 아님(5장).</a:t>
            </a:r>
          </a:p>
          <a:p>
            <a:r>
              <a:t>■ 미확인: 리플럭스 후 정제시간·Batch량·안정화 기간, 공사 중 정제기 가동 여부, 시운전 양품, ARS 운영 개시일·충진시간 (Excel 01_Inputs D·E).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[3장 과거 Batch 일정과 병렬 운영 생산능력 추정]</a:t>
            </a:r>
          </a:p>
          <a:p>
            <a:r>
              <a:t>■ 원자료(첨부 PPT 3장 발표자 노트 '원자료 5개 이미지 연결, 중복 제거' 전사 + 3장 분포도 좌표 판독 + 사용자 지시 목록 3중 대조 → 차이 0건). 원본 이미지는 첨부되지 않아 이미지 대조는 추가 확인사항. 연도 미표기 → 2026년 가정.</a:t>
            </a:r>
          </a:p>
          <a:p>
            <a:r>
              <a:t>- 5월(일부): 5/23 #37, 5/26 #38</a:t>
            </a:r>
          </a:p>
          <a:p>
            <a:r>
              <a:t>- 6월: 6/2 #39, 6/5 #40, 6/8 #41, 6/11 #42, 6/14 #43, 6/17 #44, 6/20 #45, 6/23 #46, 6/25 #47, 6/27 #48, 6/28 #49</a:t>
            </a:r>
          </a:p>
          <a:p>
            <a:r>
              <a:t>- 7월: 7/1 #50, 7/3 #51, 7/6 #52, 7/8 #53, 7/11 #54, 7/14 #55, 7/17 #56, 7/20 #57, 7/23 #58, 7/26 #59, 7/29 #60</a:t>
            </a:r>
          </a:p>
          <a:p>
            <a:r>
              <a:t>- 8월: 8/1 #61 ~ 8/31 #71 (3일 간격 11개)</a:t>
            </a:r>
          </a:p>
          <a:p>
            <a:r>
              <a:t>- 9월: 9/3 #72, 9/5 #73, 9/7 #74, 9/9 #75, 9/11 #76, 9/14 #77, 9/19 #78, 9/23 #79, 9/26 #80, 9/28 #81</a:t>
            </a:r>
          </a:p>
          <a:p>
            <a:r>
              <a:t>- 10월: 10/1 #82, 10/4 #83, 10/7 #84, 10/10 #85, 10/12 #86, 10/15 #87, 10/18 #88, 10/20 #89, 10/23 #90, 10/26 #91, 10/29 #92</a:t>
            </a:r>
          </a:p>
          <a:p>
            <a:r>
              <a:t>■ 집계: 번호 개수 6월 11 / 7월 11 / 8월 11 / 9월 10 / 10월 11 = 54, 원자료 Total 8 / 11 / 8 / 8 / 11 = 46 (6·8·9월 불일치). 번호 개수를 양품 완료 Batch 수로 확정하지 않음.</a:t>
            </a:r>
          </a:p>
          <a:p>
            <a:r>
              <a:t>■ 간격(#39~#92, 53개): 1일 1, 2일 11, 3일 39, 4일 1, 5일 1 (#37 포함 전체 55개: 3일 40, 2일 11, 1·4·5·7일 각 1). 월별 평균 6월 2.60 / 7월 2.82 / 8월 3.00 / 9월 2.80 / 10월 2.82일, 중앙값 3일(9월 2.5일).</a:t>
            </a:r>
          </a:p>
          <a:p>
            <a:r>
              <a:t>■ 추정 방법: 6/2(#39)→10/29(#92) 149일, 53간격 → 149×24÷53 = 67.47 h/Batch. 시각 미상이므로 (149±1)×24÷53 = 67.02~67.92 h. 정제 57 h와의 차이 10.47 h/Batch는 준비·투입, 세척·전환, 검사·Tank 대기, 계획 여유 등의 가능성 — 구성 미확인, 전부 손실·충진시간으로 단정하지 않음.</a:t>
            </a:r>
          </a:p>
          <a:p>
            <a:r>
              <a:t>■ 57 h 정합 확인: 개별 2일 간격은 24~72 h로 57 h와 양립 가능. 다만 연속 4간격(#46~#50/#51, #72~#76)은 8일(최대 216 h ÷ 4 = 54 h &lt; 57 h) → 표시일자가 동일 이벤트라면 57 h 연속 정제와 맞지 않음 → 표시일자 의미·계획 변경·실적 여부 확인 (결론 보류).</a:t>
            </a:r>
          </a:p>
          <a:p>
            <a:r>
              <a:t>■ 이론: 720 ÷ 57 = 12.63 → 월내 완료 12 Batch(2,280 kg), 월말 36 h 진행분 이월. 연간 달력 연속 INT(8,760÷57) = 153 Batch = 29,070 kg (단순 12×12 = 144 Batch = 27,360 kg 참고).</a:t>
            </a:r>
          </a:p>
          <a:p>
            <a:r>
              <a:t>■ 과거 최대 11 Batch: 정제 627 h, 720 h와 차이 93 h, 배분 실효 65.45 h (차이 8.45 h/Batch; 31일 월이면 67.64 h). 월 2,090 kg, 단순 12배 25,080 kg, 달력 연속 133 Batch = 25,270 kg. 차이는 여유·전환·대기·보수·월 경계 가능성.</a:t>
            </a:r>
          </a:p>
          <a:p>
            <a:r>
              <a:t>■ 관측 추정: 30일 월 10.67, 31일 월 11.03 Batch → 11 Batch 월(7·8·10월)이 모두 31일 월인 점과 정합. 연 129 Batch = 24,510 kg. 원자료 Total을 완료 Batch로 해석하면 79.8 h/Batch(참고).</a:t>
            </a:r>
          </a:p>
          <a:p>
            <a:r>
              <a:t>■ Gantt: 앞 Batch의 FQC 2 h → 5 Gal 충진 16 h → OQC 2 h가 다음 Batch 정제 57 h와 겹침 → 충진시간을 정제시간에 더해 능력을 줄이지 않음. Product Tank 1기이면 충진이 다음 Batch 정제 종료 전 끝나야 함(1교대 충진 경과 48 h → 57 h 대비 여유 7 h).</a:t>
            </a:r>
          </a:p>
          <a:p>
            <a:r>
              <a:t>■ 상세: Excel 02_Batch_Raw, 03_Capacity_Model 2~9절.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[4장 2026년 월별 생산계획 · 출하 비교]</a:t>
            </a:r>
          </a:p>
          <a:p>
            <a:r>
              <a:t>■ 출하(단위 kg, 원자료 실적/계획 구분 미확인): 하이닉스 1,600/1,420/1,440/1,580/1,200/1,200/1,360/1,420/1,380/1,480/1,480/1,420 = 16,980. 이지켐 9~12월 560(4용기/월) = 2,240. 제시 합계 19,220 kg(19.22톤). CXMT 2026 물량은 미제시 → 합계 미포함.</a:t>
            </a:r>
          </a:p>
          <a:p>
            <a:r>
              <a:t>■ 현재 Capa. 26.2톤 대비 19.22톤 = 73.4%, 산술 차이 6.98톤 (가동률·추가 판매 가능량 아님).</a:t>
            </a:r>
          </a:p>
          <a:p>
            <a:r>
              <a:t>■ 과거 생산계획(6~10월): 번호×190 = 2,090/2,090/2,090/1,900/2,090 (10,260 kg), Total×190 = 1,520/2,090/1,520/1,520/2,090 (8,740 kg). 어느 쪽도 확정 생산량 아님. 1~4·11~12월 계획 자료 없음, 5월은 일부.</a:t>
            </a:r>
          </a:p>
          <a:p>
            <a:r>
              <a:t>■ 생산 가능량(추정): 03 시트 선택 기준(기본 = 과거 일정 관측 67.47 h/Batch), 월 가용시간 = 달력일×24 h(정지·보수 미입력 → 미반영), 월말 진행 Batch 이월 반영, 190 kg/Batch, 양품률 미입력 → 100% 상한. 2026년 129 Batch = 24,510 kg.</a:t>
            </a:r>
          </a:p>
          <a:p>
            <a:r>
              <a:t>■ 월별 생산 가능 − 출하(kg): +490, +290, +840, +320, +890, +890, +730, +670, +150, +50, -140, +110 → 누적 +5,290 kg(기초재고 제외).</a:t>
            </a:r>
          </a:p>
          <a:p>
            <a:r>
              <a:t>■ 5 Gal 충진: 2026 월 최대 80병 = 160 h/월 (1교대 176 h 참고 시 91%). 200 L: 9~12월 4용기 × 8 h = 32 h/월.</a:t>
            </a:r>
          </a:p>
          <a:p>
            <a:r>
              <a:t>■ 재고: 기말재고 = 기초재고 + 출하 가능 양품 생산량 − 출하량. 기초재고·목표재고·합격률 미입력 → Excel 04 시트에서 재고 계산 보류 (입력 시 자동 계산, 하이닉스 우선 배정).</a:t>
            </a:r>
          </a:p>
          <a:p>
            <a:r>
              <a:t>■ 확인: 하이닉스 월별 실적/계획 구분, CXMT 2026 물량, Total 집계 기준, 현재고.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[5장 2027년 월별 출하계획과 공급 대응]</a:t>
            </a:r>
          </a:p>
          <a:p>
            <a:r>
              <a:t>■ 출하계획(kg): 하이닉스 22,720 ÷ 12 = 1,893.33/월(표시 1,893.3, 연간 22,720 유지), CXMT 4~12월 580/월 = 5,220, 이지켐 1~12월 840/월 = 10,080 → 합계 38,020 kg = 38.02톤. (기존 '이지켐 1월 한정', '부분합계 28.78톤', 'CXMT 연 7톤'은 폐기) 상반기 18,140 kg, 하반기 19,880 kg.</a:t>
            </a:r>
          </a:p>
          <a:p>
            <a:r>
              <a:t>■ 필요 Batch(출하 ÷ 190 kg): 1~3월 14.4, 4~12월 17.4 Batch/월, 연 200.1 Batch.</a:t>
            </a:r>
          </a:p>
          <a:p>
            <a:r>
              <a:t>■ 2027년 실제 생산 가능량: 1월 현재 조건 11 Batch = 2,090 kg. 2~5월 공사 중 정제기 가용시간, 6월 시운전 양품, 7월 이후 리플럭스 정제시간·Batch량이 미확인 → 연간 실제 생산량은 확정하지 않음(부분합계). 47.2톤 연간 환산값을 2027년 생산량으로 사용하지 않음.</a:t>
            </a:r>
          </a:p>
          <a:p>
            <a:r>
              <a:t>■ 시나리오(참고, Excel 05): S1 공사 중 중단 → 생산 25.70톤, 연 -12.32톤, 필요 선행재고 16.04톤(6월 최저). S2 공사 중 현재 조건 유지 → 33.81톤, -4.21톤, 선행재고 7.93톤. S3 공사 중 50%·안정화 3개월 → 24.17톤, -13.85톤, 선행재고 15.71톤. 리플럭스 안정 후 3,933 kg/월은 47.2톤 균등 환산 상한 참고.</a:t>
            </a:r>
          </a:p>
          <a:p>
            <a:r>
              <a:t>■ 7~12월 출하 19,880 kg = 104.6 Batch → 184일(4,416 h) 기준 필요 실효 간격 42.21 h/Batch 이하 (현재 관측 67.47 h).</a:t>
            </a:r>
          </a:p>
          <a:p>
            <a:r>
              <a:t>■ 자원: 5 Gal 4월~ 월 124병(하이닉스 95 + CXMT 29) × 2 h = 248 h/월 → 1교대(8 h×22일=176 h, 참고 가정) 141%, 2교대 70%. 200 L 6용기 × 8 h = 48 h/월(ARS 시간 미확인 시 수동 기준). Product Tank 1기 가정 시 리플럭스 후 간격이 35.3 h 수준으로 단축되면 1교대 충진(16 h 작업 = 경과 48 h)으로는 Tank 회전 부족.</a:t>
            </a:r>
          </a:p>
          <a:p>
            <a:r>
              <a:t>■ 재고: 기말재고 = 기초재고 + 출하 가능 양품 생산량 − 출하량 / 필요 생산량 = 출하량 + 목표 기말재고 − 기초재고. 하이닉스 출하·목표재고를 먼저 배정한 뒤 CXMT·이지켐 배정(Excel 04). 기초재고·목표재고·합격률 미입력 → 보류.</a:t>
            </a:r>
          </a:p>
          <a:p>
            <a:r>
              <a:t>■ 확인: 공사 중 가동 여부, 시운전·안정화, 리플럭스 정제시간·Batch량, 현재고, 글로브 박스 교대·Tank 수, ARS 운영 개시·충진시간, 고객별 합격률(이지켐 색도).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Relationship Id="rId3" Type="http://schemas.openxmlformats.org/officeDocument/2006/relationships/image" Target="../media/image3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공정시간과 현재 생산능력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공용 정제기 1대 · 103℃ · 57 h/Batch · 190 kg/Batch · 26.2톤/년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노란 공란 : 미확인 — 담당부서 확인 후 입력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11480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레이크 CpZr Crude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1554480" y="1335024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1810512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수입검사 · NMR·ICP·IC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2953512" y="1335024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ounded Rectangle 168"/>
          <p:cNvSpPr/>
          <p:nvPr/>
        </p:nvSpPr>
        <p:spPr>
          <a:xfrm>
            <a:off x="3209544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4352544" y="1335024"/>
            <a:ext cx="19202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ounded Rectangle 170"/>
          <p:cNvSpPr/>
          <p:nvPr/>
        </p:nvSpPr>
        <p:spPr>
          <a:xfrm>
            <a:off x="4562856" y="996695"/>
            <a:ext cx="1216152" cy="676656"/>
          </a:xfrm>
          <a:prstGeom prst="roundRect">
            <a:avLst>
              <a:gd name="adj" fmla="val 12000"/>
            </a:avLst>
          </a:prstGeom>
          <a:solidFill>
            <a:srgbClr val="FFE9D6"/>
          </a:solidFill>
          <a:ln w="12700">
            <a:solidFill>
              <a:srgbClr val="FF7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공용 정제기 1대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103℃ · 57 h/Batch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하이닉스·CXMT·이지켐 공동 사용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5797295" y="1335024"/>
            <a:ext cx="192025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6007608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PQC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공정검사 · NMR</a:t>
            </a:r>
          </a:p>
        </p:txBody>
      </p:sp>
      <p:cxnSp>
        <p:nvCxnSpPr>
          <p:cNvPr id="174" name="Connector 173"/>
          <p:cNvCxnSpPr/>
          <p:nvPr/>
        </p:nvCxnSpPr>
        <p:spPr>
          <a:xfrm>
            <a:off x="7150608" y="1335024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ounded Rectangle 174"/>
          <p:cNvSpPr/>
          <p:nvPr/>
        </p:nvSpPr>
        <p:spPr>
          <a:xfrm>
            <a:off x="7406640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본류 저장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7968996" y="1618488"/>
            <a:ext cx="0" cy="210312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969264" y="1828800"/>
            <a:ext cx="6999732" cy="0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969264" y="1828800"/>
            <a:ext cx="0" cy="109728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unded Rectangle 178"/>
          <p:cNvSpPr/>
          <p:nvPr/>
        </p:nvSpPr>
        <p:spPr>
          <a:xfrm>
            <a:off x="411480" y="1938528"/>
            <a:ext cx="1124712" cy="768096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NMR·ICP-MS·IC·점도</a:t>
            </a:r>
          </a:p>
        </p:txBody>
      </p:sp>
      <p:cxnSp>
        <p:nvCxnSpPr>
          <p:cNvPr id="180" name="Connector 179"/>
          <p:cNvCxnSpPr/>
          <p:nvPr/>
        </p:nvCxnSpPr>
        <p:spPr>
          <a:xfrm flipV="1">
            <a:off x="1536192" y="2121408"/>
            <a:ext cx="274320" cy="201168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ounded Rectangle 180"/>
          <p:cNvSpPr/>
          <p:nvPr/>
        </p:nvSpPr>
        <p:spPr>
          <a:xfrm>
            <a:off x="1828800" y="1938528"/>
            <a:ext cx="2331720" cy="36576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ctr"/>
            <a:r>
              <a:rPr sz="60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 Gal(약 19 L) · 20 kg/병 · 필터 포함</a:t>
            </a:r>
          </a:p>
        </p:txBody>
      </p:sp>
      <p:cxnSp>
        <p:nvCxnSpPr>
          <p:cNvPr id="182" name="Connector 181"/>
          <p:cNvCxnSpPr/>
          <p:nvPr/>
        </p:nvCxnSpPr>
        <p:spPr>
          <a:xfrm>
            <a:off x="4178808" y="2121408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ounded Rectangle 182"/>
          <p:cNvSpPr/>
          <p:nvPr/>
        </p:nvSpPr>
        <p:spPr>
          <a:xfrm>
            <a:off x="4434840" y="1938528"/>
            <a:ext cx="868680" cy="36576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OQC · 출하</a:t>
            </a:r>
          </a:p>
        </p:txBody>
      </p:sp>
      <p:cxnSp>
        <p:nvCxnSpPr>
          <p:cNvPr id="184" name="Connector 183"/>
          <p:cNvCxnSpPr/>
          <p:nvPr/>
        </p:nvCxnSpPr>
        <p:spPr>
          <a:xfrm>
            <a:off x="5321808" y="2121408"/>
            <a:ext cx="210312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5550408" y="2011680"/>
            <a:ext cx="1325880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800" b="0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 CXMT  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1536192" y="2322576"/>
            <a:ext cx="274320" cy="201168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Rounded Rectangle 186"/>
          <p:cNvSpPr/>
          <p:nvPr/>
        </p:nvSpPr>
        <p:spPr>
          <a:xfrm>
            <a:off x="1828800" y="2340864"/>
            <a:ext cx="2331720" cy="36576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ctr"/>
            <a:r>
              <a:rPr sz="60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140 kg/용기 · 글로브 박스 미사용 · 필터 포함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4178808" y="2523744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ounded Rectangle 188"/>
          <p:cNvSpPr/>
          <p:nvPr/>
        </p:nvSpPr>
        <p:spPr>
          <a:xfrm>
            <a:off x="4434840" y="2340864"/>
            <a:ext cx="868680" cy="36576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OQC · 출하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321808" y="2523744"/>
            <a:ext cx="210312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/>
          <p:cNvSpPr txBox="1"/>
          <p:nvPr/>
        </p:nvSpPr>
        <p:spPr>
          <a:xfrm>
            <a:off x="5550408" y="2414016"/>
            <a:ext cx="1325880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 이지켐  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6967728" y="1938528"/>
            <a:ext cx="1764792" cy="768096"/>
          </a:xfrm>
          <a:prstGeom prst="roundRect">
            <a:avLst>
              <a:gd name="adj" fmla="val 12000"/>
            </a:avLst>
          </a:prstGeom>
          <a:solidFill>
            <a:srgbClr val="FDE9E7"/>
          </a:solidFill>
          <a:ln w="9525">
            <a:solidFill>
              <a:srgbClr val="EB0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l"/>
            <a:r>
              <a:rPr sz="8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병렬 운영</a:t>
            </a:r>
          </a:p>
          <a:p>
            <a:pPr algn="l"/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앞 Batch 검사·충진 중 공용 정제기는 다음 Batch 정제</a:t>
            </a:r>
          </a:p>
          <a:p>
            <a:pPr algn="l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→ 충진시간을 정제시간에 더하지 않음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11480" y="2866644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21208" y="2834640"/>
            <a:ext cx="45720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공정시간 (제공값)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미확인 항목은 노란 공란 — Excel 01_Inputs에서 입력</a:t>
            </a:r>
          </a:p>
        </p:txBody>
      </p:sp>
      <p:graphicFrame>
        <p:nvGraphicFramePr>
          <p:cNvPr id="195" name="Table 194"/>
          <p:cNvGraphicFramePr>
            <a:graphicFrameLocks noGrp="1"/>
          </p:cNvGraphicFramePr>
          <p:nvPr/>
        </p:nvGraphicFramePr>
        <p:xfrm>
          <a:off x="411480" y="3063240"/>
          <a:ext cx="8321040" cy="7680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868680"/>
                <a:gridCol w="731520"/>
                <a:gridCol w="731520"/>
                <a:gridCol w="914400"/>
                <a:gridCol w="658368"/>
                <a:gridCol w="731520"/>
                <a:gridCol w="868680"/>
                <a:gridCol w="1005840"/>
                <a:gridCol w="987552"/>
                <a:gridCol w="822960"/>
              </a:tblGrid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공정 / 항목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입고·IQC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준비·투입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 이송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(수동)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68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작업시간 (h)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(+대기 미확인)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2/병 · 약 8병 16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68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단위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원료 Lot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병 / 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용기 or Batch 확인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Lot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68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점유 자원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공용 정제기 1대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수동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QC·물류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6" name="TextBox 195"/>
          <p:cNvSpPr txBox="1"/>
          <p:nvPr/>
        </p:nvSpPr>
        <p:spPr>
          <a:xfrm>
            <a:off x="411480" y="3913632"/>
            <a:ext cx="8321040" cy="155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정제 57 h에 포함된 준비·냉각·배출 시간은 재가산하지 않음 · IQC는 원료 Lot 단위(여러 Batch 공통 시 중복 배정 안 함) · 필터는 충진에 포함 — 별도 시간 가산 없음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11480" y="4256532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21208" y="4224528"/>
            <a:ext cx="45720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한 Batch Lead Time ≠ 정제 생산 간격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411480" y="4453128"/>
            <a:ext cx="13716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9144" bIns="9144"/>
          <a:lstStyle/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① 제조 Lead Time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5 Gal </a:t>
            </a:r>
            <a:r>
              <a:rPr sz="15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79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+미확인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200 L </a:t>
            </a:r>
            <a:r>
              <a:rPr sz="15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71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+미확인</a:t>
            </a:r>
          </a:p>
          <a:p>
            <a:pPr algn="l">
              <a:spcAft>
                <a:spcPts val="10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IQC 2+정제 57+FQC 2+충진+OQC 2 · 미확인 4항목 제외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1847088" y="4453128"/>
            <a:ext cx="13716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9144" bIns="9144"/>
          <a:lstStyle/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② 다음 Batch 간격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이론 </a:t>
            </a:r>
            <a:r>
              <a:rPr sz="1500" b="1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57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정제만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추정 </a:t>
            </a:r>
            <a:r>
              <a:rPr sz="15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67.5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과거 일정</a:t>
            </a:r>
          </a:p>
          <a:p>
            <a:pPr algn="l">
              <a:spcAft>
                <a:spcPts val="10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범위 67.0~67.9 h (3장)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3282696" y="4453128"/>
            <a:ext cx="13716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9144" bIns="9144"/>
          <a:lstStyle/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③ 후공정 (별도)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5 Gal </a:t>
            </a:r>
            <a:r>
              <a:rPr sz="1500" b="1" i="0">
                <a:solidFill>
                  <a:srgbClr val="548235"/>
                </a:solidFill>
                <a:latin typeface="Noto Sans KR"/>
                <a:ea typeface="Noto Sans KR"/>
                <a:cs typeface="Noto Sans KR"/>
              </a:rPr>
              <a:t>16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/Batch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200 L </a:t>
            </a:r>
            <a:r>
              <a:rPr sz="1500" b="1" i="0">
                <a:solidFill>
                  <a:srgbClr val="548235"/>
                </a:solidFill>
                <a:latin typeface="Noto Sans KR"/>
                <a:ea typeface="Noto Sans KR"/>
                <a:cs typeface="Noto Sans KR"/>
              </a:rPr>
              <a:t>8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/용기·Batch 확인</a:t>
            </a:r>
          </a:p>
          <a:p>
            <a:pPr algn="l">
              <a:spcAft>
                <a:spcPts val="10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글로브 박스·인력 근무시간은 별도 입력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11480" y="5733288"/>
            <a:ext cx="4242816" cy="411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l"/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수정: </a:t>
            </a:r>
            <a:r>
              <a:rPr sz="7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기존 '정제·충진 순차 → 월 9~10 Batch'는 Lead Time을 월 시간으로 나눈 방식 → 폐기. </a:t>
            </a:r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정제기 능력은 ②로, 충진 가능 여부는 ③으로 따로 확인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4846320" y="4256532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4956048" y="4224528"/>
            <a:ext cx="45720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현재 Capa. 26.2톤/년 — 환산 관계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4846320" y="4453128"/>
            <a:ext cx="1417320" cy="1691640"/>
          </a:xfrm>
          <a:prstGeom prst="rect">
            <a:avLst/>
          </a:prstGeom>
          <a:solidFill>
            <a:srgbClr val="FDE9E7"/>
          </a:solidFill>
          <a:ln w="9525">
            <a:solidFill>
              <a:srgbClr val="EB0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현재 연간 Capa.</a:t>
            </a:r>
          </a:p>
          <a:p>
            <a:pPr algn="ctr"/>
            <a:r>
              <a:rPr sz="30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</a:t>
            </a: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톤/년</a:t>
            </a:r>
          </a:p>
          <a:p>
            <a:pPr algn="ctr"/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제공 기준값 · 103℃</a:t>
            </a:r>
          </a:p>
          <a:p>
            <a:pPr algn="ctr"/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시간·가동률을 조정해 맞추지 않음</a:t>
            </a:r>
          </a:p>
        </p:txBody>
      </p:sp>
      <p:graphicFrame>
        <p:nvGraphicFramePr>
          <p:cNvPr id="206" name="Table 205"/>
          <p:cNvGraphicFramePr>
            <a:graphicFrameLocks noGrp="1"/>
          </p:cNvGraphicFramePr>
          <p:nvPr/>
        </p:nvGraphicFramePr>
        <p:xfrm>
          <a:off x="6355080" y="4453128"/>
          <a:ext cx="2377440" cy="167335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731520"/>
                <a:gridCol w="1051560"/>
                <a:gridCol w="594360"/>
              </a:tblGrid>
              <a:tr h="278892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환산 항목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산식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상당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137.9 Batch/년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÷ 190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정수 Batch (반올림)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138 × 190 = 26,220 kg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26.22톤 → 표시 26.2톤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평균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11.49 Batch 상당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월 계획 아님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역산 평균 간격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 h/Batch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8,760 h 연속 가정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 기반 추정 (3장)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29.07 · 11 Batch 25.27 · 관측 24.51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190 kg/Batch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리플럭스 적용 공정과 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동일 정제기 1대 개선 · '27.7 적용 생산 · 47.2톤/년 (연간 환산)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노란 공란 : 미확인 — 담당부서 확인 후 입력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11480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레이크 CpZr Crude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입고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1554480" y="1335024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1810512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수입검사 · NMR·ICP·IC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2953512" y="1335024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ounded Rectangle 168"/>
          <p:cNvSpPr/>
          <p:nvPr/>
        </p:nvSpPr>
        <p:spPr>
          <a:xfrm>
            <a:off x="3209544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4352544" y="1335024"/>
            <a:ext cx="19202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ounded Rectangle 170"/>
          <p:cNvSpPr/>
          <p:nvPr/>
        </p:nvSpPr>
        <p:spPr>
          <a:xfrm>
            <a:off x="4562856" y="996695"/>
            <a:ext cx="1216152" cy="676656"/>
          </a:xfrm>
          <a:prstGeom prst="roundRect">
            <a:avLst>
              <a:gd name="adj" fmla="val 12000"/>
            </a:avLst>
          </a:prstGeom>
          <a:solidFill>
            <a:srgbClr val="FFE9D6"/>
          </a:solidFill>
          <a:ln w="12700">
            <a:solidFill>
              <a:srgbClr val="FF7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공용 정제기 1대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리플럭스 적용 ('27.7~)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개선 영향 구간 · 증설 아님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5797295" y="1335024"/>
            <a:ext cx="192025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6007608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PQC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공정검사 · NMR</a:t>
            </a:r>
          </a:p>
        </p:txBody>
      </p:sp>
      <p:cxnSp>
        <p:nvCxnSpPr>
          <p:cNvPr id="174" name="Connector 173"/>
          <p:cNvCxnSpPr/>
          <p:nvPr/>
        </p:nvCxnSpPr>
        <p:spPr>
          <a:xfrm>
            <a:off x="7150608" y="1335024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ounded Rectangle 174"/>
          <p:cNvSpPr/>
          <p:nvPr/>
        </p:nvSpPr>
        <p:spPr>
          <a:xfrm>
            <a:off x="7406640" y="1051560"/>
            <a:ext cx="11247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본류 저장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7968996" y="1618488"/>
            <a:ext cx="0" cy="210312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969264" y="1828800"/>
            <a:ext cx="6999732" cy="0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969264" y="1828800"/>
            <a:ext cx="0" cy="109728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unded Rectangle 178"/>
          <p:cNvSpPr/>
          <p:nvPr/>
        </p:nvSpPr>
        <p:spPr>
          <a:xfrm>
            <a:off x="411480" y="1938528"/>
            <a:ext cx="1124712" cy="768096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  <a:p>
            <a:pPr algn="ctr"/>
            <a:r>
              <a:rPr sz="65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NMR·ICP-MS·IC·점도</a:t>
            </a:r>
          </a:p>
        </p:txBody>
      </p:sp>
      <p:cxnSp>
        <p:nvCxnSpPr>
          <p:cNvPr id="180" name="Connector 179"/>
          <p:cNvCxnSpPr/>
          <p:nvPr/>
        </p:nvCxnSpPr>
        <p:spPr>
          <a:xfrm flipV="1">
            <a:off x="1536192" y="2121408"/>
            <a:ext cx="274320" cy="201168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ounded Rectangle 180"/>
          <p:cNvSpPr/>
          <p:nvPr/>
        </p:nvSpPr>
        <p:spPr>
          <a:xfrm>
            <a:off x="1828800" y="1938528"/>
            <a:ext cx="2331720" cy="36576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ctr"/>
            <a:r>
              <a:rPr sz="60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 Gal(약 19 L) · 20 kg/병 · 필터 포함 · 유지</a:t>
            </a:r>
          </a:p>
        </p:txBody>
      </p:sp>
      <p:cxnSp>
        <p:nvCxnSpPr>
          <p:cNvPr id="182" name="Connector 181"/>
          <p:cNvCxnSpPr/>
          <p:nvPr/>
        </p:nvCxnSpPr>
        <p:spPr>
          <a:xfrm>
            <a:off x="4178808" y="2121408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ounded Rectangle 182"/>
          <p:cNvSpPr/>
          <p:nvPr/>
        </p:nvSpPr>
        <p:spPr>
          <a:xfrm>
            <a:off x="4434840" y="1938528"/>
            <a:ext cx="868680" cy="36576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OQC · 출하</a:t>
            </a:r>
          </a:p>
        </p:txBody>
      </p:sp>
      <p:cxnSp>
        <p:nvCxnSpPr>
          <p:cNvPr id="184" name="Connector 183"/>
          <p:cNvCxnSpPr/>
          <p:nvPr/>
        </p:nvCxnSpPr>
        <p:spPr>
          <a:xfrm>
            <a:off x="5321808" y="2121408"/>
            <a:ext cx="210312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5550408" y="2011680"/>
            <a:ext cx="1325880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800" b="0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 CXMT  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1536192" y="2322576"/>
            <a:ext cx="274320" cy="201168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Rounded Rectangle 186"/>
          <p:cNvSpPr/>
          <p:nvPr/>
        </p:nvSpPr>
        <p:spPr>
          <a:xfrm>
            <a:off x="1828800" y="2340864"/>
            <a:ext cx="2331720" cy="36576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200 L ARS 자동 충진</a:t>
            </a:r>
          </a:p>
          <a:p>
            <a:pPr algn="ctr"/>
            <a:r>
              <a:rPr sz="600" b="0" i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140 kg/용기 · '26 설치 · '27 운영 · 필터 포함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4178808" y="2523744"/>
            <a:ext cx="237744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ounded Rectangle 188"/>
          <p:cNvSpPr/>
          <p:nvPr/>
        </p:nvSpPr>
        <p:spPr>
          <a:xfrm>
            <a:off x="4434840" y="2340864"/>
            <a:ext cx="868680" cy="36576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OQC · 출하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321808" y="2523744"/>
            <a:ext cx="210312" cy="0"/>
          </a:xfrm>
          <a:prstGeom prst="line">
            <a:avLst/>
          </a:prstGeom>
          <a:ln w="12700">
            <a:solidFill>
              <a:srgbClr val="7F7F7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TextBox 190"/>
          <p:cNvSpPr txBox="1"/>
          <p:nvPr/>
        </p:nvSpPr>
        <p:spPr>
          <a:xfrm>
            <a:off x="5550408" y="2414016"/>
            <a:ext cx="1325880" cy="22860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 이지켐  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6967728" y="1938528"/>
            <a:ext cx="1764792" cy="768096"/>
          </a:xfrm>
          <a:prstGeom prst="roundRect">
            <a:avLst>
              <a:gd name="adj" fmla="val 12000"/>
            </a:avLst>
          </a:prstGeom>
          <a:solidFill>
            <a:srgbClr val="FDE9E7"/>
          </a:solidFill>
          <a:ln w="9525">
            <a:solidFill>
              <a:srgbClr val="EB0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l"/>
            <a:r>
              <a:rPr sz="8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To-be 구분 원칙</a:t>
            </a:r>
          </a:p>
          <a:p>
            <a:pPr algn="l"/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정제기 1대 공정·운전 개선 (증설 아님)</a:t>
            </a:r>
          </a:p>
          <a:p>
            <a:pPr algn="l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ARS 충진 개선 효과는 Capa.에 미가산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11480" y="2866644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21208" y="2834640"/>
            <a:ext cx="45720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공정시간 (To-be)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리플럭스 정제시간·ARS 충진시간 미확인</a:t>
            </a:r>
          </a:p>
        </p:txBody>
      </p:sp>
      <p:graphicFrame>
        <p:nvGraphicFramePr>
          <p:cNvPr id="195" name="Table 194"/>
          <p:cNvGraphicFramePr>
            <a:graphicFrameLocks noGrp="1"/>
          </p:cNvGraphicFramePr>
          <p:nvPr/>
        </p:nvGraphicFramePr>
        <p:xfrm>
          <a:off x="411480" y="3063240"/>
          <a:ext cx="8321040" cy="7680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868680"/>
                <a:gridCol w="731520"/>
                <a:gridCol w="731520"/>
                <a:gridCol w="914400"/>
                <a:gridCol w="658368"/>
                <a:gridCol w="731520"/>
                <a:gridCol w="868680"/>
                <a:gridCol w="1005840"/>
                <a:gridCol w="987552"/>
                <a:gridCol w="822960"/>
              </a:tblGrid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공정 / 항목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입고·IQC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준비·투입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 (리플럭스)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 이송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7F7F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(ARS)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5482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2E75B6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68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작업시간 (h)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(+대기 미확인)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2/병 · 약 8병 16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68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단위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원료 Lot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병 / 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용기 or Batch 확인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Lot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 wrap="square"/>
                    <a:lstStyle/>
                    <a:p>
                      <a:pPr algn="l"/>
                      <a:r>
                        <a:rPr sz="68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점유 자원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공용 정제기 1대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QC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8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QC·물류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6" name="TextBox 195"/>
          <p:cNvSpPr txBox="1"/>
          <p:nvPr/>
        </p:nvSpPr>
        <p:spPr>
          <a:xfrm>
            <a:off x="411480" y="3913632"/>
            <a:ext cx="8321040" cy="1554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리플럭스 후 정제시간·Batch량과 ARS 충진시간은 미확인 — 현재 57 h로 47.2톤을 계산하지 않음 · 5 Gal 충진·검사 조건은 현재와 동일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11480" y="4256532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21208" y="4224528"/>
            <a:ext cx="45720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리플럭스 · ARS 일정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1709928" y="4453128"/>
            <a:ext cx="2084832" cy="146304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2027년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3794760" y="4453128"/>
            <a:ext cx="1042416" cy="146304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2028년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709928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1883664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2057400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2231136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404872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578608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752344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2926080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099815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3273552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3447287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3621024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3794760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3968496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4142232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315968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4489704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4663440" y="4599432"/>
            <a:ext cx="173736" cy="137160"/>
          </a:xfrm>
          <a:prstGeom prst="rect">
            <a:avLst/>
          </a:prstGeom>
          <a:solidFill>
            <a:srgbClr val="F2F2F2"/>
          </a:solidFill>
          <a:ln w="31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11480" y="4764024"/>
            <a:ext cx="1261872" cy="182880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리플럭스 공사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709928" y="4946904"/>
            <a:ext cx="3127248" cy="45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1883664" y="4782312"/>
            <a:ext cx="694944" cy="155448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공사 2~5월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411480" y="4946904"/>
            <a:ext cx="1261872" cy="182880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시운전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709928" y="5129784"/>
            <a:ext cx="3127248" cy="45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2578608" y="4965192"/>
            <a:ext cx="173736" cy="155448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6월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11480" y="5129784"/>
            <a:ext cx="1261872" cy="182880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적용 생산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709928" y="5312664"/>
            <a:ext cx="3127248" cy="45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2752344" y="5148072"/>
            <a:ext cx="2084832" cy="155448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생산 시작 '27.7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11480" y="5312664"/>
            <a:ext cx="1261872" cy="182880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최초 12개월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1709928" y="5495544"/>
            <a:ext cx="3127248" cy="45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752344" y="5330952"/>
            <a:ext cx="2084832" cy="155448"/>
          </a:xfrm>
          <a:prstGeom prst="rect">
            <a:avLst/>
          </a:prstGeom>
          <a:solidFill>
            <a:srgbClr val="F4B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'27.7~'28.6 · 47.2톤 환산 기준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411480" y="5495544"/>
            <a:ext cx="1261872" cy="182880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ARS 200 L 운영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709928" y="5678424"/>
            <a:ext cx="3127248" cy="45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709928" y="5513831"/>
            <a:ext cx="3127248" cy="155448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'26 설치 → '27 운영 (Capa. 미가산)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411480" y="5678424"/>
            <a:ext cx="1261872" cy="182880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105℃ 검토안</a:t>
            </a:r>
          </a:p>
        </p:txBody>
      </p:sp>
      <p:sp>
        <p:nvSpPr>
          <p:cNvPr id="235" name="Rectangle 234"/>
          <p:cNvSpPr/>
          <p:nvPr/>
        </p:nvSpPr>
        <p:spPr>
          <a:xfrm>
            <a:off x="1709928" y="5861304"/>
            <a:ext cx="3127248" cy="457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794760" y="5696712"/>
            <a:ext cx="1042416" cy="155448"/>
          </a:xfrm>
          <a:prstGeom prst="rect">
            <a:avLst/>
          </a:prstGeom>
          <a:noFill/>
          <a:ln w="9525">
            <a:solidFill>
              <a:srgbClr val="7030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60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2028 · 적용 시점 미정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411480" y="5897880"/>
            <a:ext cx="438912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2027년 달력연도 생산량은 공사·시운전·안정화·실제 가동조건으로 별도 산정 (5장) — 공사 중 생산량은 0 또는 정상값으로 임의 입력하지 않음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4983480" y="4256532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5093208" y="4224528"/>
            <a:ext cx="45720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Capa. 로드맵 (연간 환산 기준)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5074920" y="5283483"/>
            <a:ext cx="822960" cy="477236"/>
          </a:xfrm>
          <a:prstGeom prst="rect">
            <a:avLst/>
          </a:prstGeom>
          <a:solidFill>
            <a:srgbClr val="F4B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4983480" y="5045739"/>
            <a:ext cx="100584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톤/년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4937759" y="5779007"/>
            <a:ext cx="109728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현재 (103℃)</a:t>
            </a:r>
          </a:p>
          <a:p>
            <a:pPr algn="ctr"/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제공 기준값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916168" y="5257800"/>
            <a:ext cx="329184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+21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6263640" y="4900965"/>
            <a:ext cx="822960" cy="859754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6172200" y="4663221"/>
            <a:ext cx="100584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47.2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톤/년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6126479" y="5779007"/>
            <a:ext cx="109728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리플럭스 후</a:t>
            </a:r>
          </a:p>
          <a:p>
            <a:pPr algn="ctr"/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'27.7~'28.6 12개월 환산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7104888" y="5166360"/>
            <a:ext cx="329184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+3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7452360" y="4846320"/>
            <a:ext cx="822960" cy="914400"/>
          </a:xfrm>
          <a:prstGeom prst="rect">
            <a:avLst/>
          </a:prstGeom>
          <a:solidFill>
            <a:srgbClr val="F2E6F7"/>
          </a:solidFill>
          <a:ln w="9525">
            <a:solidFill>
              <a:srgbClr val="7030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7360920" y="4608576"/>
            <a:ext cx="100584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50.2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톤/년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7315200" y="5779007"/>
            <a:ext cx="109728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105℃ 적용 시</a:t>
            </a:r>
          </a:p>
          <a:p>
            <a:pPr algn="ctr"/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검토안 · 검증·승인 필요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4983480" y="6089904"/>
            <a:ext cx="3749039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ARS 효과 미가산 · 47.2톤 ≠ 2027 실제 생산량 · 등가 간격 </a:t>
            </a:r>
            <a:r>
              <a:rPr sz="63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35.3 h/Batch</a:t>
            </a: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(190 kg 유지 시 역산)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5029200" y="4443984"/>
            <a:ext cx="1097280" cy="566928"/>
          </a:xfrm>
          <a:prstGeom prst="rect">
            <a:avLst/>
          </a:prstGeom>
          <a:solidFill>
            <a:srgbClr val="F2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9144" bIns="9144"/>
          <a:lstStyle/>
          <a:p>
            <a:pPr algn="l"/>
            <a:r>
              <a:rPr sz="70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105℃ 검증 필요</a:t>
            </a:r>
          </a:p>
          <a:p>
            <a:pPr algn="l"/>
            <a:r>
              <a:rPr sz="63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열 안정성 · Dimer</a:t>
            </a:r>
          </a:p>
          <a:p>
            <a:pPr algn="l"/>
            <a:r>
              <a:rPr sz="63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Unknown impurity · 수율</a:t>
            </a:r>
          </a:p>
          <a:p>
            <a:pPr algn="l"/>
            <a:r>
              <a:rPr sz="63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미확정·승인·시점 미정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과거 Batch 일정과 병렬 운영 생산능력 추정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2026.6~10 생산계획 #39~#92 · 추정 실효 간격 약 67.5 h/Batch · 월 10.7~11.0 Batch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노란 공란 : 미확인 —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11480" y="1019556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21208" y="987552"/>
            <a:ext cx="484632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과거 Batch 일정 분포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표시일자 = 원자료 기재일 (투입·완료 미확정)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96112" y="1216152"/>
            <a:ext cx="182880" cy="1280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361846" y="1216152"/>
            <a:ext cx="182880" cy="1280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944014" y="1216152"/>
            <a:ext cx="182880" cy="1280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526182" y="1216152"/>
            <a:ext cx="182880" cy="1280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108350" y="1216152"/>
            <a:ext cx="182880" cy="1280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690518" y="1216152"/>
            <a:ext cx="182880" cy="1280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389120" y="1216152"/>
            <a:ext cx="182880" cy="1280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53712" y="1188720"/>
            <a:ext cx="384048" cy="1645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6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번호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919472" y="1188720"/>
            <a:ext cx="384048" cy="16459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6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Total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11480" y="1371600"/>
            <a:ext cx="548640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5월 (일부)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941832" y="1444752"/>
            <a:ext cx="3584448" cy="45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88740" y="1385316"/>
            <a:ext cx="120700" cy="12070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37</a:t>
            </a:r>
          </a:p>
        </p:txBody>
      </p:sp>
      <p:sp>
        <p:nvSpPr>
          <p:cNvPr id="179" name="Oval 178"/>
          <p:cNvSpPr/>
          <p:nvPr/>
        </p:nvSpPr>
        <p:spPr>
          <a:xfrm>
            <a:off x="3838041" y="1385316"/>
            <a:ext cx="120700" cy="120700"/>
          </a:xfrm>
          <a:prstGeom prst="ellips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53712" y="137160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2*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919472" y="137160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11480" y="1554480"/>
            <a:ext cx="548640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6월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41832" y="1627632"/>
            <a:ext cx="3584448" cy="45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43635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185" name="Oval 184"/>
          <p:cNvSpPr/>
          <p:nvPr/>
        </p:nvSpPr>
        <p:spPr>
          <a:xfrm>
            <a:off x="1392936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40</a:t>
            </a:r>
          </a:p>
        </p:txBody>
      </p:sp>
      <p:sp>
        <p:nvSpPr>
          <p:cNvPr id="186" name="Oval 185"/>
          <p:cNvSpPr/>
          <p:nvPr/>
        </p:nvSpPr>
        <p:spPr>
          <a:xfrm>
            <a:off x="1742236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41</a:t>
            </a:r>
          </a:p>
        </p:txBody>
      </p:sp>
      <p:sp>
        <p:nvSpPr>
          <p:cNvPr id="187" name="Oval 186"/>
          <p:cNvSpPr/>
          <p:nvPr/>
        </p:nvSpPr>
        <p:spPr>
          <a:xfrm>
            <a:off x="2091537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42</a:t>
            </a:r>
          </a:p>
        </p:txBody>
      </p:sp>
      <p:sp>
        <p:nvSpPr>
          <p:cNvPr id="188" name="Oval 187"/>
          <p:cNvSpPr/>
          <p:nvPr/>
        </p:nvSpPr>
        <p:spPr>
          <a:xfrm>
            <a:off x="2440838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43</a:t>
            </a:r>
          </a:p>
        </p:txBody>
      </p:sp>
      <p:sp>
        <p:nvSpPr>
          <p:cNvPr id="189" name="Oval 188"/>
          <p:cNvSpPr/>
          <p:nvPr/>
        </p:nvSpPr>
        <p:spPr>
          <a:xfrm>
            <a:off x="2790139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44</a:t>
            </a:r>
          </a:p>
        </p:txBody>
      </p:sp>
      <p:sp>
        <p:nvSpPr>
          <p:cNvPr id="190" name="Oval 189"/>
          <p:cNvSpPr/>
          <p:nvPr/>
        </p:nvSpPr>
        <p:spPr>
          <a:xfrm>
            <a:off x="3139440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</a:t>
            </a:r>
          </a:p>
        </p:txBody>
      </p:sp>
      <p:sp>
        <p:nvSpPr>
          <p:cNvPr id="191" name="Oval 190"/>
          <p:cNvSpPr/>
          <p:nvPr/>
        </p:nvSpPr>
        <p:spPr>
          <a:xfrm>
            <a:off x="3488740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46</a:t>
            </a:r>
          </a:p>
        </p:txBody>
      </p:sp>
      <p:sp>
        <p:nvSpPr>
          <p:cNvPr id="192" name="Oval 191"/>
          <p:cNvSpPr/>
          <p:nvPr/>
        </p:nvSpPr>
        <p:spPr>
          <a:xfrm>
            <a:off x="3721608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47</a:t>
            </a:r>
          </a:p>
        </p:txBody>
      </p:sp>
      <p:sp>
        <p:nvSpPr>
          <p:cNvPr id="193" name="Oval 192"/>
          <p:cNvSpPr/>
          <p:nvPr/>
        </p:nvSpPr>
        <p:spPr>
          <a:xfrm>
            <a:off x="3954475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48</a:t>
            </a:r>
          </a:p>
        </p:txBody>
      </p:sp>
      <p:sp>
        <p:nvSpPr>
          <p:cNvPr id="194" name="Oval 193"/>
          <p:cNvSpPr/>
          <p:nvPr/>
        </p:nvSpPr>
        <p:spPr>
          <a:xfrm>
            <a:off x="4070908" y="156819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53712" y="155448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919472" y="155448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11480" y="1737360"/>
            <a:ext cx="548640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7월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941832" y="1810512"/>
            <a:ext cx="3584448" cy="45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927201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50</a:t>
            </a:r>
          </a:p>
        </p:txBody>
      </p:sp>
      <p:sp>
        <p:nvSpPr>
          <p:cNvPr id="200" name="Oval 199"/>
          <p:cNvSpPr/>
          <p:nvPr/>
        </p:nvSpPr>
        <p:spPr>
          <a:xfrm>
            <a:off x="1160068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51</a:t>
            </a:r>
          </a:p>
        </p:txBody>
      </p:sp>
      <p:sp>
        <p:nvSpPr>
          <p:cNvPr id="201" name="Oval 200"/>
          <p:cNvSpPr/>
          <p:nvPr/>
        </p:nvSpPr>
        <p:spPr>
          <a:xfrm>
            <a:off x="1509369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52</a:t>
            </a:r>
          </a:p>
        </p:txBody>
      </p:sp>
      <p:sp>
        <p:nvSpPr>
          <p:cNvPr id="202" name="Oval 201"/>
          <p:cNvSpPr/>
          <p:nvPr/>
        </p:nvSpPr>
        <p:spPr>
          <a:xfrm>
            <a:off x="1742236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53</a:t>
            </a:r>
          </a:p>
        </p:txBody>
      </p:sp>
      <p:sp>
        <p:nvSpPr>
          <p:cNvPr id="203" name="Oval 202"/>
          <p:cNvSpPr/>
          <p:nvPr/>
        </p:nvSpPr>
        <p:spPr>
          <a:xfrm>
            <a:off x="2091537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54</a:t>
            </a:r>
          </a:p>
        </p:txBody>
      </p:sp>
      <p:sp>
        <p:nvSpPr>
          <p:cNvPr id="204" name="Oval 203"/>
          <p:cNvSpPr/>
          <p:nvPr/>
        </p:nvSpPr>
        <p:spPr>
          <a:xfrm>
            <a:off x="2440838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55</a:t>
            </a:r>
          </a:p>
        </p:txBody>
      </p:sp>
      <p:sp>
        <p:nvSpPr>
          <p:cNvPr id="205" name="Oval 204"/>
          <p:cNvSpPr/>
          <p:nvPr/>
        </p:nvSpPr>
        <p:spPr>
          <a:xfrm>
            <a:off x="2790139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56</a:t>
            </a:r>
          </a:p>
        </p:txBody>
      </p:sp>
      <p:sp>
        <p:nvSpPr>
          <p:cNvPr id="206" name="Oval 205"/>
          <p:cNvSpPr/>
          <p:nvPr/>
        </p:nvSpPr>
        <p:spPr>
          <a:xfrm>
            <a:off x="3139440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57</a:t>
            </a:r>
          </a:p>
        </p:txBody>
      </p:sp>
      <p:sp>
        <p:nvSpPr>
          <p:cNvPr id="207" name="Oval 206"/>
          <p:cNvSpPr/>
          <p:nvPr/>
        </p:nvSpPr>
        <p:spPr>
          <a:xfrm>
            <a:off x="3488740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58</a:t>
            </a:r>
          </a:p>
        </p:txBody>
      </p:sp>
      <p:sp>
        <p:nvSpPr>
          <p:cNvPr id="208" name="Oval 207"/>
          <p:cNvSpPr/>
          <p:nvPr/>
        </p:nvSpPr>
        <p:spPr>
          <a:xfrm>
            <a:off x="3838041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59</a:t>
            </a:r>
          </a:p>
        </p:txBody>
      </p:sp>
      <p:sp>
        <p:nvSpPr>
          <p:cNvPr id="209" name="Oval 208"/>
          <p:cNvSpPr/>
          <p:nvPr/>
        </p:nvSpPr>
        <p:spPr>
          <a:xfrm>
            <a:off x="4187342" y="1751075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60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553712" y="173736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919472" y="173736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11480" y="1920240"/>
            <a:ext cx="548640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8월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941832" y="1993392"/>
            <a:ext cx="3584448" cy="45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927201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61</a:t>
            </a:r>
          </a:p>
        </p:txBody>
      </p:sp>
      <p:sp>
        <p:nvSpPr>
          <p:cNvPr id="215" name="Oval 214"/>
          <p:cNvSpPr/>
          <p:nvPr/>
        </p:nvSpPr>
        <p:spPr>
          <a:xfrm>
            <a:off x="1276502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62</a:t>
            </a:r>
          </a:p>
        </p:txBody>
      </p:sp>
      <p:sp>
        <p:nvSpPr>
          <p:cNvPr id="216" name="Oval 215"/>
          <p:cNvSpPr/>
          <p:nvPr/>
        </p:nvSpPr>
        <p:spPr>
          <a:xfrm>
            <a:off x="1625803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63</a:t>
            </a:r>
          </a:p>
        </p:txBody>
      </p:sp>
      <p:sp>
        <p:nvSpPr>
          <p:cNvPr id="217" name="Oval 216"/>
          <p:cNvSpPr/>
          <p:nvPr/>
        </p:nvSpPr>
        <p:spPr>
          <a:xfrm>
            <a:off x="1975104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64</a:t>
            </a:r>
          </a:p>
        </p:txBody>
      </p:sp>
      <p:sp>
        <p:nvSpPr>
          <p:cNvPr id="218" name="Oval 217"/>
          <p:cNvSpPr/>
          <p:nvPr/>
        </p:nvSpPr>
        <p:spPr>
          <a:xfrm>
            <a:off x="2324404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65</a:t>
            </a:r>
          </a:p>
        </p:txBody>
      </p:sp>
      <p:sp>
        <p:nvSpPr>
          <p:cNvPr id="219" name="Oval 218"/>
          <p:cNvSpPr/>
          <p:nvPr/>
        </p:nvSpPr>
        <p:spPr>
          <a:xfrm>
            <a:off x="2673705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66</a:t>
            </a:r>
          </a:p>
        </p:txBody>
      </p:sp>
      <p:sp>
        <p:nvSpPr>
          <p:cNvPr id="220" name="Oval 219"/>
          <p:cNvSpPr/>
          <p:nvPr/>
        </p:nvSpPr>
        <p:spPr>
          <a:xfrm>
            <a:off x="3023006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67</a:t>
            </a:r>
          </a:p>
        </p:txBody>
      </p:sp>
      <p:sp>
        <p:nvSpPr>
          <p:cNvPr id="221" name="Oval 220"/>
          <p:cNvSpPr/>
          <p:nvPr/>
        </p:nvSpPr>
        <p:spPr>
          <a:xfrm>
            <a:off x="3372307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68</a:t>
            </a:r>
          </a:p>
        </p:txBody>
      </p:sp>
      <p:sp>
        <p:nvSpPr>
          <p:cNvPr id="222" name="Oval 221"/>
          <p:cNvSpPr/>
          <p:nvPr/>
        </p:nvSpPr>
        <p:spPr>
          <a:xfrm>
            <a:off x="3721608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69</a:t>
            </a:r>
          </a:p>
        </p:txBody>
      </p:sp>
      <p:sp>
        <p:nvSpPr>
          <p:cNvPr id="223" name="Oval 222"/>
          <p:cNvSpPr/>
          <p:nvPr/>
        </p:nvSpPr>
        <p:spPr>
          <a:xfrm>
            <a:off x="4070908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70</a:t>
            </a:r>
          </a:p>
        </p:txBody>
      </p:sp>
      <p:sp>
        <p:nvSpPr>
          <p:cNvPr id="224" name="Oval 223"/>
          <p:cNvSpPr/>
          <p:nvPr/>
        </p:nvSpPr>
        <p:spPr>
          <a:xfrm>
            <a:off x="4420209" y="193395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4553712" y="192024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919472" y="192024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11480" y="2103120"/>
            <a:ext cx="548640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9월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941832" y="2176272"/>
            <a:ext cx="3584448" cy="45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160068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72</a:t>
            </a:r>
          </a:p>
        </p:txBody>
      </p:sp>
      <p:sp>
        <p:nvSpPr>
          <p:cNvPr id="230" name="Oval 229"/>
          <p:cNvSpPr/>
          <p:nvPr/>
        </p:nvSpPr>
        <p:spPr>
          <a:xfrm>
            <a:off x="1392936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73</a:t>
            </a:r>
          </a:p>
        </p:txBody>
      </p:sp>
      <p:sp>
        <p:nvSpPr>
          <p:cNvPr id="231" name="Oval 230"/>
          <p:cNvSpPr/>
          <p:nvPr/>
        </p:nvSpPr>
        <p:spPr>
          <a:xfrm>
            <a:off x="1625803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74</a:t>
            </a:r>
          </a:p>
        </p:txBody>
      </p:sp>
      <p:sp>
        <p:nvSpPr>
          <p:cNvPr id="232" name="Oval 231"/>
          <p:cNvSpPr/>
          <p:nvPr/>
        </p:nvSpPr>
        <p:spPr>
          <a:xfrm>
            <a:off x="1858670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75</a:t>
            </a:r>
          </a:p>
        </p:txBody>
      </p:sp>
      <p:sp>
        <p:nvSpPr>
          <p:cNvPr id="233" name="Oval 232"/>
          <p:cNvSpPr/>
          <p:nvPr/>
        </p:nvSpPr>
        <p:spPr>
          <a:xfrm>
            <a:off x="2091537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76</a:t>
            </a:r>
          </a:p>
        </p:txBody>
      </p:sp>
      <p:sp>
        <p:nvSpPr>
          <p:cNvPr id="234" name="Oval 233"/>
          <p:cNvSpPr/>
          <p:nvPr/>
        </p:nvSpPr>
        <p:spPr>
          <a:xfrm>
            <a:off x="2440838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77</a:t>
            </a:r>
          </a:p>
        </p:txBody>
      </p:sp>
      <p:sp>
        <p:nvSpPr>
          <p:cNvPr id="235" name="Oval 234"/>
          <p:cNvSpPr/>
          <p:nvPr/>
        </p:nvSpPr>
        <p:spPr>
          <a:xfrm>
            <a:off x="3023006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78</a:t>
            </a:r>
          </a:p>
        </p:txBody>
      </p:sp>
      <p:sp>
        <p:nvSpPr>
          <p:cNvPr id="236" name="Oval 235"/>
          <p:cNvSpPr/>
          <p:nvPr/>
        </p:nvSpPr>
        <p:spPr>
          <a:xfrm>
            <a:off x="3488740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79</a:t>
            </a:r>
          </a:p>
        </p:txBody>
      </p:sp>
      <p:sp>
        <p:nvSpPr>
          <p:cNvPr id="237" name="Oval 236"/>
          <p:cNvSpPr/>
          <p:nvPr/>
        </p:nvSpPr>
        <p:spPr>
          <a:xfrm>
            <a:off x="3838041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80</a:t>
            </a:r>
          </a:p>
        </p:txBody>
      </p:sp>
      <p:sp>
        <p:nvSpPr>
          <p:cNvPr id="238" name="Oval 237"/>
          <p:cNvSpPr/>
          <p:nvPr/>
        </p:nvSpPr>
        <p:spPr>
          <a:xfrm>
            <a:off x="4070908" y="211683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81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53712" y="210312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919472" y="210312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411480" y="2286000"/>
            <a:ext cx="548640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10월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941832" y="2359152"/>
            <a:ext cx="3584448" cy="4572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927201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82</a:t>
            </a:r>
          </a:p>
        </p:txBody>
      </p:sp>
      <p:sp>
        <p:nvSpPr>
          <p:cNvPr id="244" name="Oval 243"/>
          <p:cNvSpPr/>
          <p:nvPr/>
        </p:nvSpPr>
        <p:spPr>
          <a:xfrm>
            <a:off x="1276502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83</a:t>
            </a:r>
          </a:p>
        </p:txBody>
      </p:sp>
      <p:sp>
        <p:nvSpPr>
          <p:cNvPr id="245" name="Oval 244"/>
          <p:cNvSpPr/>
          <p:nvPr/>
        </p:nvSpPr>
        <p:spPr>
          <a:xfrm>
            <a:off x="1625803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84</a:t>
            </a:r>
          </a:p>
        </p:txBody>
      </p:sp>
      <p:sp>
        <p:nvSpPr>
          <p:cNvPr id="246" name="Oval 245"/>
          <p:cNvSpPr/>
          <p:nvPr/>
        </p:nvSpPr>
        <p:spPr>
          <a:xfrm>
            <a:off x="1975104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85</a:t>
            </a:r>
          </a:p>
        </p:txBody>
      </p:sp>
      <p:sp>
        <p:nvSpPr>
          <p:cNvPr id="247" name="Oval 246"/>
          <p:cNvSpPr/>
          <p:nvPr/>
        </p:nvSpPr>
        <p:spPr>
          <a:xfrm>
            <a:off x="2207971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86</a:t>
            </a:r>
          </a:p>
        </p:txBody>
      </p:sp>
      <p:sp>
        <p:nvSpPr>
          <p:cNvPr id="248" name="Oval 247"/>
          <p:cNvSpPr/>
          <p:nvPr/>
        </p:nvSpPr>
        <p:spPr>
          <a:xfrm>
            <a:off x="2557272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87</a:t>
            </a:r>
          </a:p>
        </p:txBody>
      </p:sp>
      <p:sp>
        <p:nvSpPr>
          <p:cNvPr id="249" name="Oval 248"/>
          <p:cNvSpPr/>
          <p:nvPr/>
        </p:nvSpPr>
        <p:spPr>
          <a:xfrm>
            <a:off x="2906572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88</a:t>
            </a:r>
          </a:p>
        </p:txBody>
      </p:sp>
      <p:sp>
        <p:nvSpPr>
          <p:cNvPr id="250" name="Oval 249"/>
          <p:cNvSpPr/>
          <p:nvPr/>
        </p:nvSpPr>
        <p:spPr>
          <a:xfrm>
            <a:off x="3139440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89</a:t>
            </a:r>
          </a:p>
        </p:txBody>
      </p:sp>
      <p:sp>
        <p:nvSpPr>
          <p:cNvPr id="251" name="Oval 250"/>
          <p:cNvSpPr/>
          <p:nvPr/>
        </p:nvSpPr>
        <p:spPr>
          <a:xfrm>
            <a:off x="3488740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90</a:t>
            </a:r>
          </a:p>
        </p:txBody>
      </p:sp>
      <p:sp>
        <p:nvSpPr>
          <p:cNvPr id="252" name="Oval 251"/>
          <p:cNvSpPr/>
          <p:nvPr/>
        </p:nvSpPr>
        <p:spPr>
          <a:xfrm>
            <a:off x="3838041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91</a:t>
            </a:r>
          </a:p>
        </p:txBody>
      </p:sp>
      <p:sp>
        <p:nvSpPr>
          <p:cNvPr id="253" name="Oval 252"/>
          <p:cNvSpPr/>
          <p:nvPr/>
        </p:nvSpPr>
        <p:spPr>
          <a:xfrm>
            <a:off x="4187342" y="2299716"/>
            <a:ext cx="120700" cy="120700"/>
          </a:xfrm>
          <a:prstGeom prst="ellipse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4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553712" y="228600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4919472" y="2286000"/>
            <a:ext cx="384048" cy="146304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ctr"/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11480" y="2487168"/>
            <a:ext cx="493776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6~10월 번호 54개 vs Total 46 (빨강 = 불일치, 번호≠양품 완료) · * 5월 일부 · 월 경계 간격 모두 3일 → 월말 진행 Batch 다음 월 이월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5486400" y="1019556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5596128" y="987552"/>
            <a:ext cx="3200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표시일자 간격 분포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#39~#92 · 53개</a:t>
            </a:r>
          </a:p>
        </p:txBody>
      </p:sp>
      <p:graphicFrame>
        <p:nvGraphicFramePr>
          <p:cNvPr id="259" name="Chart 258"/>
          <p:cNvGraphicFramePr>
            <a:graphicFrameLocks noGrp="1"/>
          </p:cNvGraphicFramePr>
          <p:nvPr/>
        </p:nvGraphicFramePr>
        <p:xfrm>
          <a:off x="5486400" y="1188720"/>
          <a:ext cx="3246120" cy="1170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60" name="TextBox 259"/>
          <p:cNvSpPr txBox="1"/>
          <p:nvPr/>
        </p:nvSpPr>
        <p:spPr>
          <a:xfrm>
            <a:off x="5486400" y="2359152"/>
            <a:ext cx="324612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D일 간격의 실제 경과 = (D−1)×24 ~ (D+1)×24 h → </a:t>
            </a:r>
            <a:r>
              <a:rPr sz="6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2일 = 24~72 h</a:t>
            </a: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· 2일을 48 h로 단정해 57 h 불가로 결론 내리지 않음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411480" y="2756916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521208" y="2724912"/>
            <a:ext cx="54864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병렬 운영 Gantt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실효 간격 67.5 h 기준 · 검사·충진이 다음 Batch 정제와 겹침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316736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1481328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117344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2281936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2917952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48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3082544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3718560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72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3883152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4519168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96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4683760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5319776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120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5484368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6120384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144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6284976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6920992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168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7085584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721600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192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7886192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8522208" y="2926080"/>
            <a:ext cx="329184" cy="10972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216 h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8686800" y="3044952"/>
            <a:ext cx="3657" cy="758952"/>
          </a:xfrm>
          <a:prstGeom prst="rect">
            <a:avLst/>
          </a:prstGeom>
          <a:solidFill>
            <a:srgbClr val="E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411480" y="3063240"/>
            <a:ext cx="1051560" cy="201168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공용 정제기 1대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411480" y="3310128"/>
            <a:ext cx="1051560" cy="201168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검사 (FQC·OQC)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411480" y="3557016"/>
            <a:ext cx="1051560" cy="201168"/>
          </a:xfrm>
          <a:prstGeom prst="rect">
            <a:avLst/>
          </a:prstGeom>
          <a:noFill/>
        </p:spPr>
        <p:txBody>
          <a:bodyPr wrap="square" lIns="0" rIns="0" tIns="9144" bIns="9144" anchor="ctr">
            <a:spAutoFit/>
          </a:bodyPr>
          <a:lstStyle/>
          <a:p>
            <a:pPr algn="l"/>
            <a:r>
              <a:rPr sz="6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5 Gal 충진 (글로브 박스)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1481328" y="3081528"/>
            <a:ext cx="1901444" cy="173736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Batch 1 정제 57 h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3382772" y="3081528"/>
            <a:ext cx="350266" cy="17373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88" name="Rectangle 287"/>
          <p:cNvSpPr/>
          <p:nvPr/>
        </p:nvSpPr>
        <p:spPr>
          <a:xfrm>
            <a:off x="3382772" y="3328416"/>
            <a:ext cx="66717" cy="17373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89" name="Rectangle 288"/>
          <p:cNvSpPr/>
          <p:nvPr/>
        </p:nvSpPr>
        <p:spPr>
          <a:xfrm>
            <a:off x="3449489" y="3575304"/>
            <a:ext cx="533738" cy="17373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 충진 16 h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3983228" y="3328416"/>
            <a:ext cx="66717" cy="17373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91" name="Rectangle 290"/>
          <p:cNvSpPr/>
          <p:nvPr/>
        </p:nvSpPr>
        <p:spPr>
          <a:xfrm>
            <a:off x="3733037" y="3081528"/>
            <a:ext cx="1901444" cy="173736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Batch 2 정제 57 h</a:t>
            </a:r>
          </a:p>
        </p:txBody>
      </p:sp>
      <p:sp>
        <p:nvSpPr>
          <p:cNvPr id="292" name="Rectangle 291"/>
          <p:cNvSpPr/>
          <p:nvPr/>
        </p:nvSpPr>
        <p:spPr>
          <a:xfrm>
            <a:off x="5634482" y="3081528"/>
            <a:ext cx="350266" cy="17373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93" name="Rectangle 292"/>
          <p:cNvSpPr/>
          <p:nvPr/>
        </p:nvSpPr>
        <p:spPr>
          <a:xfrm>
            <a:off x="5634482" y="3328416"/>
            <a:ext cx="66717" cy="17373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94" name="Rectangle 293"/>
          <p:cNvSpPr/>
          <p:nvPr/>
        </p:nvSpPr>
        <p:spPr>
          <a:xfrm>
            <a:off x="5701199" y="3575304"/>
            <a:ext cx="533738" cy="17373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B2 충진 16 h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6234938" y="3328416"/>
            <a:ext cx="66717" cy="17373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96" name="Rectangle 295"/>
          <p:cNvSpPr/>
          <p:nvPr/>
        </p:nvSpPr>
        <p:spPr>
          <a:xfrm>
            <a:off x="5984748" y="3081528"/>
            <a:ext cx="1901444" cy="173736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Batch 3 정제 57 h</a:t>
            </a:r>
          </a:p>
        </p:txBody>
      </p:sp>
      <p:sp>
        <p:nvSpPr>
          <p:cNvPr id="297" name="Rectangle 296"/>
          <p:cNvSpPr/>
          <p:nvPr/>
        </p:nvSpPr>
        <p:spPr>
          <a:xfrm>
            <a:off x="7886192" y="3081528"/>
            <a:ext cx="350266" cy="17373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98" name="Rectangle 297"/>
          <p:cNvSpPr/>
          <p:nvPr/>
        </p:nvSpPr>
        <p:spPr>
          <a:xfrm>
            <a:off x="7886192" y="3328416"/>
            <a:ext cx="66717" cy="17373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299" name="Rectangle 298"/>
          <p:cNvSpPr/>
          <p:nvPr/>
        </p:nvSpPr>
        <p:spPr>
          <a:xfrm>
            <a:off x="7952909" y="3575304"/>
            <a:ext cx="533738" cy="173736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B3 충진 16 h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8486648" y="3328416"/>
            <a:ext cx="66717" cy="17373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9144" bIns="9144"/>
          <a:lstStyle/>
          <a:p>
            <a:pPr algn="ctr"/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3794760"/>
            <a:ext cx="8321040" cy="12801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회색 = 비정제 추정 약 </a:t>
            </a:r>
            <a:r>
              <a:rPr sz="5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10.5 h</a:t>
            </a: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(준비·세척·대기 등, 구성 미확인) · 파랑 = FQC 2 h / OQC 2 h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411480" y="3963924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521208" y="3931920"/>
            <a:ext cx="50292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생산능력 비교 (정제기 기준 · 190 kg/Batch)</a:t>
            </a:r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411480" y="4160520"/>
          <a:ext cx="5175504" cy="12893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25880"/>
                <a:gridCol w="987552"/>
                <a:gridCol w="1344168"/>
                <a:gridCol w="457200"/>
                <a:gridCol w="603504"/>
                <a:gridCol w="457200"/>
              </a:tblGrid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간격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Batch (30일)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생산량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 대비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이론 (정제 57 h만)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57.0 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12.6 (정수 12·36 h 이월)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29.07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+2.87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 역산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 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137.9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26.20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과거 월 최대 11 Batch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 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(정제 627 h·차이 93 h)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25.27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-0.93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③ 과거 일정 관측 추정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67.5 h (67.0~67.9)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10.7 (31일 11.0)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129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24.51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-1.69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참고: 원자료 Total 기준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79.8 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9.0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109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20.71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-5.49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05" name="Rectangle 304"/>
          <p:cNvSpPr/>
          <p:nvPr/>
        </p:nvSpPr>
        <p:spPr>
          <a:xfrm>
            <a:off x="411480" y="5477256"/>
            <a:ext cx="5175504" cy="6583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l"/>
            <a:r>
              <a:rPr sz="6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판단: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현재 운영에서 정제기 실효 생산 간격은 약 67.5 h/Batch(정제 57 h + 비정제 약 10.5 h)로 추정. 31일 월 약 11 Batch = 과거 최대 11 Batch와 정합. 연 129 Batch·24.51톤은 26.2톤보다 1.69톤 낮음 → 26.2톤 산출 조건 확인 필요.</a:t>
            </a:r>
          </a:p>
          <a:p>
            <a:pPr algn="l"/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연 Batch는 8,760 h 달력 연속(월간 이월 반영) 정수값, 정지·보수 미반영 · 단순 12배 참고: 이론 144, 11 Batch 132 Batch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5760720" y="3963924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5870448" y="3931920"/>
            <a:ext cx="301752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추정 근거 · 가정 · 확인사항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760720" y="4160520"/>
            <a:ext cx="2971800" cy="197510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l">
              <a:spcAft>
                <a:spcPts val="350"/>
              </a:spcAft>
            </a:pPr>
            <a:r>
              <a:rPr sz="8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추정 실효 간격  </a:t>
            </a: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67.5 h/Batch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(67.0~67.9 h)</a:t>
            </a:r>
          </a:p>
          <a:p>
            <a:pPr algn="l">
              <a:spcAft>
                <a:spcPts val="350"/>
              </a:spcAft>
            </a:pPr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데이터 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2026.6.2~10.29 표시일자, #39~#92 (간격 53개, 149일)</a:t>
            </a:r>
          </a:p>
          <a:p>
            <a:pPr algn="l">
              <a:spcAft>
                <a:spcPts val="350"/>
              </a:spcAft>
            </a:pPr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방법 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경과일×24 ÷ 간격 수 → 장기 누적으로 날짜 오차 ±0.45 h</a:t>
            </a:r>
          </a:p>
          <a:p>
            <a:pPr algn="l">
              <a:spcAft>
                <a:spcPts val="350"/>
              </a:spcAft>
            </a:pPr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분포 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3일 간격 74% · 중앙값 72 h · #37 포함 시 69.4 h</a:t>
            </a:r>
          </a:p>
          <a:p>
            <a:pPr algn="l">
              <a:spcAft>
                <a:spcPts val="350"/>
              </a:spcAft>
            </a:pPr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가정 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표시일자 = 매 Batch 동일 이벤트 · 번호 Batch 모두 수행</a:t>
            </a:r>
          </a:p>
          <a:p>
            <a:pPr algn="l">
              <a:spcAft>
                <a:spcPts val="350"/>
              </a:spcAft>
            </a:pPr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적용 범위 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현재 103℃ 조건 한정 — 리플럭스 후 적용 불가</a:t>
            </a:r>
          </a:p>
          <a:p>
            <a:pPr algn="l">
              <a:spcAft>
                <a:spcPts val="350"/>
              </a:spcAft>
            </a:pPr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확인 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표시일자 의미(투입/완료) · 실제 시각 · 계획 대비 실적 · Total 46 vs 번호 54 · 색상 의미</a:t>
            </a:r>
          </a:p>
          <a:p>
            <a:pPr algn="l">
              <a:spcAft>
                <a:spcPts val="350"/>
              </a:spcAft>
            </a:pPr>
            <a:r>
              <a:rPr sz="6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정합 확인 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6/23~7/3 · 9/3~9/11: 4간격 평균 최대 54 h &lt; 57 h → 계획 변경·표시 기준 확인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2026년 월별 생산계획 · 출하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제시 출하 19.22톤 (CXMT 미제시) · 현재 Capa. 26.2톤 대비 73.4%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노란 공란 : 미확인 —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11480" y="1019556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21208" y="987552"/>
            <a:ext cx="73152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2026년 월별 출하 · 과거 생산계획 · 생산 가능량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단위 kg · 생산 가능량 = 실효 간격 67.5 h 기준 추정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411480" y="1207008"/>
          <a:ext cx="7918704" cy="176936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97280"/>
                <a:gridCol w="507492"/>
                <a:gridCol w="507492"/>
                <a:gridCol w="507492"/>
                <a:gridCol w="507492"/>
                <a:gridCol w="507492"/>
                <a:gridCol w="507492"/>
                <a:gridCol w="507492"/>
                <a:gridCol w="507492"/>
                <a:gridCol w="507492"/>
                <a:gridCol w="507492"/>
                <a:gridCol w="507492"/>
                <a:gridCol w="507492"/>
                <a:gridCol w="731520"/>
              </a:tblGrid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 출하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16,980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 출하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 출하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미제시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 (제시분)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19,220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과거계획 번호×190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380*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10,260*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과거계획 Total×190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8,740*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가능량 (추정)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1,710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24,510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가능 − 출하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+730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+670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+150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548235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+110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+5,290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411480" y="3163824"/>
            <a:ext cx="8321040" cy="1463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합계는 6~10월 · 5월은 #37·#38 일부만 제공 · 과거계획은 생산계획(검증 실적 아님) · 빨간 Total = 번호 개수와 불일치 · 생산 가능량은 정제기 능력 추정(실제 계획·실적 아님) · 하이닉스 실적/계획 구분 미확인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11480" y="3378708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21208" y="3346704"/>
            <a:ext cx="493776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월별 출하 vs 생산 가능량 · 과거계획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kg</a:t>
            </a:r>
          </a:p>
        </p:txBody>
      </p:sp>
      <p:graphicFrame>
        <p:nvGraphicFramePr>
          <p:cNvPr id="171" name="Chart 170"/>
          <p:cNvGraphicFramePr>
            <a:graphicFrameLocks noGrp="1"/>
          </p:cNvGraphicFramePr>
          <p:nvPr/>
        </p:nvGraphicFramePr>
        <p:xfrm>
          <a:off x="411480" y="3529584"/>
          <a:ext cx="498348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2" name="Rectangle 171"/>
          <p:cNvSpPr/>
          <p:nvPr/>
        </p:nvSpPr>
        <p:spPr>
          <a:xfrm>
            <a:off x="5577840" y="3378708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687568" y="3346704"/>
            <a:ext cx="310896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현재 Capa. 대비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577840" y="3566160"/>
            <a:ext cx="1508760" cy="594360"/>
          </a:xfrm>
          <a:prstGeom prst="rect">
            <a:avLst/>
          </a:prstGeom>
          <a:solidFill>
            <a:srgbClr val="FDE9E7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현재 연간 Capa.</a:t>
            </a:r>
          </a:p>
          <a:p>
            <a:pPr algn="ctr"/>
            <a:r>
              <a:rPr sz="15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  <a:p>
            <a:pPr algn="ctr"/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제공 기준값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159752" y="3566160"/>
            <a:ext cx="1508760" cy="59436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2026 제시 출하</a:t>
            </a:r>
          </a:p>
          <a:p>
            <a:pPr algn="ctr"/>
            <a:r>
              <a:rPr sz="15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19.22</a:t>
            </a:r>
            <a:r>
              <a:rPr sz="7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 톤</a:t>
            </a:r>
          </a:p>
          <a:p>
            <a:pPr algn="ctr"/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하이닉스+이지켐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577840" y="4224528"/>
            <a:ext cx="15087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출하 / Capa.</a:t>
            </a:r>
          </a:p>
          <a:p>
            <a:pPr algn="ctr"/>
            <a:r>
              <a:rPr sz="15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73.4</a:t>
            </a:r>
            <a:r>
              <a:rPr sz="7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 %</a:t>
            </a:r>
          </a:p>
          <a:p>
            <a:pPr algn="ctr"/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설비 가동률 아님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7159752" y="4224528"/>
            <a:ext cx="15087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68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생산 가능량 (추정)</a:t>
            </a:r>
          </a:p>
          <a:p>
            <a:pPr algn="ctr"/>
            <a:r>
              <a:rPr sz="15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24.51</a:t>
            </a:r>
            <a:r>
              <a:rPr sz="7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 톤</a:t>
            </a:r>
          </a:p>
          <a:p>
            <a:pPr algn="ctr"/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129 Batch · 달력 연속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411480" y="5559552"/>
            <a:ext cx="8321040" cy="57607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l">
              <a:spcAft>
                <a:spcPts val="100"/>
              </a:spcAft>
            </a:pPr>
            <a:r>
              <a:rPr sz="6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①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9~12월 월 출하 1.94~2.04톤 = 10.2~10.7 Batch 상당 ≈ 월 생산 가능량(10~11 Batch) → 월 여유 −0.14~+0.15톤, 재고 활용 필요</a:t>
            </a:r>
          </a:p>
          <a:p>
            <a:pPr algn="l">
              <a:spcAft>
                <a:spcPts val="100"/>
              </a:spcAft>
            </a:pPr>
            <a:r>
              <a:rPr sz="6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②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원자료 Total 8 Batch(1,520 kg) 기준이면 9월 출하 1,940 kg 대비 부족 → Total 집계 대상(완료/양품/출하) 확인 · 번호 개수와 구분</a:t>
            </a:r>
          </a:p>
          <a:p>
            <a:pPr algn="l">
              <a:spcAft>
                <a:spcPts val="100"/>
              </a:spcAft>
            </a:pPr>
            <a:r>
              <a:rPr sz="6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③ </a:t>
            </a:r>
            <a:r>
              <a:rPr sz="68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10~12월 생산 가능 − 출하 합계 +20 kg → 2027년 공사 대비 선행 재고는 현재고·기초재고에 의존 (재고 미확인) · 연 생산 가능 − 출하 +5.29톤은 CXMT 미포함·확정 판매 가능량 아님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월별 출하계획과 공급 대응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출하계획 38.02톤 vs 2027년 실제 생산 가능량 · 공급 대응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노란 공란 : 미확인 —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11480" y="1019556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21208" y="987552"/>
            <a:ext cx="73152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2027년 월별 출하 · 생산 가능량 · 필요 Batch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단위 kg · 하이닉스 = 22,720 ÷ 12 (표시 반올림)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411480" y="1207008"/>
          <a:ext cx="7955268" cy="18745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05840"/>
                <a:gridCol w="516635"/>
                <a:gridCol w="516635"/>
                <a:gridCol w="516635"/>
                <a:gridCol w="516635"/>
                <a:gridCol w="516635"/>
                <a:gridCol w="516635"/>
                <a:gridCol w="516635"/>
                <a:gridCol w="516635"/>
                <a:gridCol w="516635"/>
                <a:gridCol w="516635"/>
                <a:gridCol w="516635"/>
                <a:gridCol w="516635"/>
                <a:gridCol w="749808"/>
              </a:tblGrid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합계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공사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E9D6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적용 · 초기 안정화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5,220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2,733.3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2,733.3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2,733.3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3,313.3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3,313.3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3,313.3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3,313.3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3,313.3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3,313.3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3,313.3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3,313.3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3,313.3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38,020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(÷190)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17.4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200.1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가능량 (추정)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C55A1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중 가용시간 미확인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C55A1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양품 미확인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C55A1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정제시간·Batch량 미확인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부분 2,090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병 / 충진 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95/190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95/190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95/190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124/248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124/248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124/248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124/248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124/248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124/248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124/248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124/248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124/248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1401/2802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용기 / 충진 h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6/48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72/576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411480" y="3291840"/>
            <a:ext cx="8321040" cy="14630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병수·용기 수는 고객별 20 kg·140 kg 단위 올림 · 200 L 충진 h는 ARS 시간 미확인으로 수동 8 h/용기 참고 · 재고는 기초재고 미입력으로 보류 (1월 생산 가능 − 출하 −643 kg) · 동일 Batch 다고객 배분 시 정제시간 중복 계산 안 함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411480" y="3506724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21208" y="3474720"/>
            <a:ext cx="475488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공급 대응 시나리오 (참고 · 확정 아님)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필요 선행재고 = 누적 (생산 − 출하) 최저점</a:t>
            </a:r>
          </a:p>
        </p:txBody>
      </p:sp>
      <p:graphicFrame>
        <p:nvGraphicFramePr>
          <p:cNvPr id="171" name="Table 170"/>
          <p:cNvGraphicFramePr>
            <a:graphicFrameLocks noGrp="1"/>
          </p:cNvGraphicFramePr>
          <p:nvPr/>
        </p:nvGraphicFramePr>
        <p:xfrm>
          <a:off x="411480" y="3685032"/>
          <a:ext cx="4773168" cy="8595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1680"/>
                <a:gridCol w="658368"/>
                <a:gridCol w="868680"/>
                <a:gridCol w="777240"/>
                <a:gridCol w="457200"/>
              </a:tblGrid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시나리오 가정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생산 − 출하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선행재고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S1 공사 중 중단 · 7월 즉시 47.2 환산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25.70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-12.32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16.04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S2 공사 중 현재 조건 유지 · 7월 즉시 47.2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33.81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-4.21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7.93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S3 공사 중 50% · 안정화 3개월(현재 수준)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24.17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-13.85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15.71 톤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30" b="0" i="0">
                          <a:solidFill>
                            <a:srgbClr val="26262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</a:p>
                  </a:txBody>
                  <a:tcPr marL="27432" marR="27432" marT="0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2" name="TextBox 171"/>
          <p:cNvSpPr txBox="1"/>
          <p:nvPr/>
        </p:nvSpPr>
        <p:spPr>
          <a:xfrm>
            <a:off x="411480" y="4572000"/>
            <a:ext cx="4773168" cy="4114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공통: 1월 현재 조건 생산 가능량, 시운전 양품 0, 리플럭스 안정 후 47.2톤 ÷ 12 = 3,933 kg/월(상한 참고), 양품률 100% · </a:t>
            </a:r>
            <a:r>
              <a:rPr sz="6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최선(S2)에도 연 4.2톤 부족 → 선행재고 7.9톤 이상 필요</a:t>
            </a:r>
          </a:p>
          <a:p>
            <a:pPr algn="l"/>
            <a:r>
              <a:rPr sz="6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7~12월 출하 대응에 필요한 실효 간격 ≤ 42.2 h/Batch (월 17.4 Batch, 190 kg) — 현재 67.5 h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349240" y="3506724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458968" y="3474720"/>
            <a:ext cx="329184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정제 · 충진 자원 제약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349240" y="3685032"/>
            <a:ext cx="33832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9144" bIns="9144"/>
          <a:lstStyle/>
          <a:p>
            <a:pPr algn="l">
              <a:spcAft>
                <a:spcPts val="250"/>
              </a:spcAft>
            </a:pPr>
            <a:r>
              <a:rPr sz="66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 </a:t>
            </a:r>
            <a:r>
              <a:rPr sz="66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7~12월 필요 17.4 Batch/월 ↔ 47.2톤 환산 20.7 Batch/월 · 리플럭스 정제시간 미확인</a:t>
            </a:r>
          </a:p>
          <a:p>
            <a:pPr algn="l">
              <a:spcAft>
                <a:spcPts val="250"/>
              </a:spcAft>
            </a:pPr>
            <a:r>
              <a:rPr sz="66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글로브 박스  </a:t>
            </a:r>
            <a:r>
              <a:rPr sz="66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4월~ 5 Gal 124병 = 248 h/월 → 1교대 176 h의 141% · 2교대 70%</a:t>
            </a:r>
          </a:p>
          <a:p>
            <a:pPr algn="l">
              <a:spcAft>
                <a:spcPts val="250"/>
              </a:spcAft>
            </a:pPr>
            <a:r>
              <a:rPr sz="66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200 L ARS  </a:t>
            </a:r>
            <a:r>
              <a:rPr sz="66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이지켐 6용기/월 = 48 h/월 (수동 8 h 참고) · ARS 시간 미확인, Capa. 미가산</a:t>
            </a:r>
          </a:p>
          <a:p>
            <a:pPr algn="l">
              <a:spcAft>
                <a:spcPts val="250"/>
              </a:spcAft>
            </a:pPr>
            <a:r>
              <a:rPr sz="66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Product Tank  </a:t>
            </a:r>
            <a:r>
              <a:rPr sz="66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47.2톤 등가 간격 35.3 h 시 1교대 충진(경과 48 h)은 Tank 회전 -14.7 h → 2교대(+9.3 h) 또는 Tank 추가 검토</a:t>
            </a:r>
          </a:p>
          <a:p>
            <a:pPr algn="l">
              <a:spcAft>
                <a:spcPts val="250"/>
              </a:spcAft>
            </a:pPr>
            <a:r>
              <a:rPr sz="66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검사  </a:t>
            </a:r>
            <a:r>
              <a:rPr sz="66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FQC·OQC 2 h/Batch — 부하 작음 · 검사 대기·장비 공유 확인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411480" y="5061204"/>
            <a:ext cx="64008" cy="118872"/>
          </a:xfrm>
          <a:prstGeom prst="rect">
            <a:avLst/>
          </a:prstGeom>
          <a:solidFill>
            <a:srgbClr val="EB0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21208" y="5029200"/>
            <a:ext cx="7315200" cy="18288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대응 방향 · 추가 확인사항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411480" y="5239512"/>
            <a:ext cx="8321040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9144" bIns="9144"/>
          <a:lstStyle/>
          <a:p>
            <a:pPr algn="l">
              <a:spcAft>
                <a:spcPts val="100"/>
              </a:spcAft>
            </a:pPr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1. 선행 생산·재고  </a:t>
            </a:r>
            <a:r>
              <a:rPr sz="7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2026년 말 현재고 확인 → 필요 선행재고(7.9~16.0톤) 대비 부족분 산정 · 하이닉스 출하·목표재고 우선 배정 후 CXMT·이지켐</a:t>
            </a:r>
          </a:p>
          <a:p>
            <a:pPr algn="l">
              <a:spcAft>
                <a:spcPts val="100"/>
              </a:spcAft>
            </a:pPr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2. 공사 중 가동  </a:t>
            </a:r>
            <a:r>
              <a:rPr sz="7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2~5월 정제기 가동 가능 여부 확정 (S1↔S2 부족 차이 약 8톤) · 시운전 양품 출하 가능 여부</a:t>
            </a:r>
          </a:p>
          <a:p>
            <a:pPr algn="l">
              <a:spcAft>
                <a:spcPts val="100"/>
              </a:spcAft>
            </a:pPr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3. 리플럭스 조건  </a:t>
            </a:r>
            <a:r>
              <a:rPr sz="7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실제 정제시간·Batch량·안정화 기간 → 7~12월 필요 간격 42.2 h 이하 달성 여부 확인</a:t>
            </a:r>
          </a:p>
          <a:p>
            <a:pPr algn="l">
              <a:spcAft>
                <a:spcPts val="100"/>
              </a:spcAft>
            </a:pPr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4. 충진 자원  </a:t>
            </a:r>
            <a:r>
              <a:rPr sz="7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글로브 박스 교대(2교대 이상)·Product Tank 수·ARS 운영 개시일·충진시간 확정</a:t>
            </a:r>
          </a:p>
          <a:p>
            <a:pPr algn="l">
              <a:spcAft>
                <a:spcPts val="100"/>
              </a:spcAft>
            </a:pPr>
            <a:r>
              <a:rPr sz="700" b="1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5. 우선순위  </a:t>
            </a:r>
            <a:r>
              <a:rPr sz="700" b="0" i="0">
                <a:solidFill>
                  <a:srgbClr val="262626"/>
                </a:solidFill>
                <a:latin typeface="Noto Sans KR"/>
                <a:ea typeface="Noto Sans KR"/>
                <a:cs typeface="Noto Sans KR"/>
              </a:rPr>
              <a:t>공급 부족 시 CXMT·이지켐 물량 배정 우선순위 및 출하 조정 협의 (영업·생산관리)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