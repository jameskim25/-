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5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56"/>
  </p:notesMasterIdLst>
  <p:sldIdLst>
    <p:sldId id="268" r:id="rId61"/>
    <p:sldId id="269" r:id="rId62"/>
    <p:sldId id="270" r:id="rId63"/>
    <p:sldId id="272" r:id="rId65"/>
    <p:sldId id="273" r:id="rId66"/>
  </p:sldIdLst>
  <p:sldSz cx="9144000" cy="6858000" type="screen4x3"/>
  <p:notesSz cx="6807200" cy="99393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251E"/>
    <a:srgbClr val="FB6306"/>
    <a:srgbClr val="FAFAFA"/>
    <a:srgbClr val="FFFFFF"/>
    <a:srgbClr val="0061DA"/>
    <a:srgbClr val="F74912"/>
    <a:srgbClr val="E9BB9F"/>
    <a:srgbClr val="EB002C"/>
    <a:srgbClr val="FFDD71"/>
    <a:srgbClr val="F951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68D230F3-CF80-4859-8CE7-A43EE81993B5}" styleName="밝은 스타일 1 - 강조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315" autoAdjust="0"/>
    <p:restoredTop sz="84988" autoAdjust="0"/>
  </p:normalViewPr>
  <p:slideViewPr>
    <p:cSldViewPr>
      <p:cViewPr>
        <p:scale>
          <a:sx n="98" d="100"/>
          <a:sy n="98" d="100"/>
        </p:scale>
        <p:origin x="245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1" d="100"/>
          <a:sy n="91" d="100"/>
        </p:scale>
        <p:origin x="-2034" y="-108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openxmlformats.org/officeDocument/2006/relationships/slide" Target="slides/slide1.xml"/><Relationship Id="rId62" Type="http://schemas.openxmlformats.org/officeDocument/2006/relationships/slide" Target="slides/slide2.xml"/><Relationship Id="rId63" Type="http://schemas.openxmlformats.org/officeDocument/2006/relationships/slide" Target="slides/slide3.xml"/><Relationship Id="rId65" Type="http://schemas.openxmlformats.org/officeDocument/2006/relationships/slide" Target="slides/slide4.xml"/><Relationship Id="rId66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5839" y="1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/>
          <a:lstStyle>
            <a:lvl1pPr algn="r">
              <a:defRPr sz="1200"/>
            </a:lvl1pPr>
          </a:lstStyle>
          <a:p>
            <a:fld id="{AA418431-0B53-4AF1-8AD8-9A9A7D49F4A5}" type="datetimeFigureOut">
              <a:rPr lang="ko-KR" altLang="en-US" smtClean="0"/>
              <a:pPr/>
              <a:t>2026-09-10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72050" cy="3729037"/>
          </a:xfrm>
          <a:prstGeom prst="rect">
            <a:avLst/>
          </a:prstGeom>
          <a:gradFill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0"/>
          </a:gradFill>
          <a:ln w="12700">
            <a:solidFill>
              <a:prstClr val="black"/>
            </a:solidFill>
          </a:ln>
        </p:spPr>
        <p:txBody>
          <a:bodyPr vert="horz" lIns="94531" tIns="47265" rIns="94531" bIns="4726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0722" y="4721186"/>
            <a:ext cx="5445759" cy="4472702"/>
          </a:xfrm>
          <a:prstGeom prst="rect">
            <a:avLst/>
          </a:prstGeom>
        </p:spPr>
        <p:txBody>
          <a:bodyPr vert="horz" lIns="94531" tIns="47265" rIns="94531" bIns="4726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5839" y="9440648"/>
            <a:ext cx="2949787" cy="496965"/>
          </a:xfrm>
          <a:prstGeom prst="rect">
            <a:avLst/>
          </a:prstGeom>
        </p:spPr>
        <p:txBody>
          <a:bodyPr vert="horz" lIns="94531" tIns="47265" rIns="94531" bIns="47265" rtlCol="0" anchor="b"/>
          <a:lstStyle>
            <a:lvl1pPr algn="r">
              <a:defRPr sz="1200"/>
            </a:lvl1pPr>
          </a:lstStyle>
          <a:p>
            <a:fld id="{72D75F77-8026-4911-8E6D-EBCB86E5E0BC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5657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[5장 2028년 월별 출하 가정과 Capa. 대응 (Excel 01_Inputs K, 04_Monthly_2026_2028, 05_Reflux_Scenarios 3·5절)]</a:t>
            </a:r>
          </a:p>
          <a:p>
            <a:r>
              <a:t>■ 출하 가정(확정 고객 수요 아님): 하이닉스 22,720÷12 · CXMT 780 · 한솔 300 kg/월은 2027년 하반기 수준 유지, 이지켐은 월 840 kg (사용자 수정, 2027 하반기 1,120 kg 아님) → 3,813.33 kg/월 × 12 = 45,760 kg = 45.76톤 (CXMT 9,360 · 이지켐 10,080 · 한솔 3,600). 01_Inputs K에서 독립 변경 가능.</a:t>
            </a:r>
          </a:p>
          <a:p>
            <a:r>
              <a:t>■ 연간 환산 비교(확정 부족량·판매 가능량 아님): 기본 47.2톤 기준 47.2 − 45.76 = +1.44톤(여유 방향) · 105℃ 검토안 12개월 적용 시 50.2 − 45.76 = +4.44톤(여유 방향). 105℃는 미확정·적용 시점 미정·검증 및 승인 필요 → 기본 시나리오는 47.2톤, 적용 시점 확정 시 01_Inputs '105℃ 적용 시작 월' 입력 → 04 시트 월별 반영.</a:t>
            </a:r>
          </a:p>
          <a:p>
            <a:r>
              <a:t>■ 필요 Batch: 20.1 Batch/월, 연 240.8 Batch(190 kg). 47.2톤 환산 20.7 Batch/월. 설비별 등가 간격 70.5 h·Batch량·양품률이 대응 조건.</a:t>
            </a:r>
          </a:p>
          <a:p>
            <a:r>
              <a:t>■ 충진: 5 Gal 267.3 h/월, 연 3,208 h (OQC 별도 연 356 h) · 200 L 이지켐 6 + 한솔 2 = 8용기/월, 연 96용기, 전월 ARS — ARS 충진시간 미확인(공통 8 h 적용 가정 시 연 768 h). 정제기 720 h를 인력 근무시간으로 적용하지 않음.</a:t>
            </a:r>
          </a:p>
          <a:p>
            <a:r>
              <a:t>■ 재고: 2027.12 기말재고 → 2028.1 기초재고 연결(미확인 시 0 초기화 안 함). 시나리오 기준 2027.1.1 필요 선행재고(누적 최저 시점) S1 17.7톤('27.12) / S2 9.6톤('27.12) / S3 19.2톤('27.12). 하이닉스 공급·목표재고 우선, 다른 고객 우선순위는 확인값.</a:t>
            </a:r>
          </a:p>
          <a:p>
            <a:r>
              <a:t>■ 확인: 105℃ 열 안정성·Dimer·Unknown impurity·Yield 영향·고객 승인·적용 시점 / 이지켐 색도 합격률 / 글로브 박스 교대 / 2028 수요 확정.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[1장 As-is — 공정시간과 현재 생산능력 (Excel 01_Inputs B·C, 03_Capacity_Model 1~7절)]</a:t>
            </a:r>
          </a:p>
          <a:p>
            <a:r>
              <a:t>■ 운영 전제: 정제기 1대를 하이닉스·CXMT·이지켐(·한솔 '27~)이 공동 사용 — 고객 전용 설비 없음. 앞 Batch 검사·충진 중 다음 Batch 정제 가능(병렬).</a:t>
            </a:r>
          </a:p>
          <a:p>
            <a:r>
              <a:t>■ 공정시간 (사용자가 정한 자료 작성 기준 / 57시간에서 기타 공정시간 차감): IQC 2 + 준비·투입 2 + 정제 45 + PQC·제품 이송 합계 6 + FQC 2 = 충진 전까지 57 h. PQC와 이송은 그림에서 구분하되 시간은 합계 6 h(각 6 h 아님). 생산팀 대화 중 49 h 언급은 참고로만 보존.</a:t>
            </a:r>
          </a:p>
          <a:p>
            <a:r>
              <a:t>■ 충진·OQC: 5 Gal 2 h/병, 약 9병 18 h(18 ÷ 8 h = 2.25 근무일, 현장 '약 2일' 설명) · 5 Gal OQC 9병 합계 2 h · 이지켐 200 L 수동 8 h/용기 · 200 L OQC 1용기 2 h · 한솔 수동·ARS 시간은 미확인(이지켐 8 h 복제 안 함). 충진·포장 1~1.5일은 개선 과제(달성 실적 아님).</a:t>
            </a:r>
          </a:p>
          <a:p>
            <a:r>
              <a:t>■ 확인시간 단순 합계: 5 Gal 약 9병 57+18+2 = 77 h · 이지켐 1용기 57+8+2 = 67 h — 실제 달력 납기 아님, 다음 Batch 투입 간격 아님.</a:t>
            </a:r>
          </a:p>
          <a:p>
            <a:r>
              <a:t>■ 정제기 점유 확인분 = 준비 2 + 정제 45 = 47 h (이송 중 점유분 미확인 → 47~53 h). 과거 일정 관측 평균 간격 67.47 h → 비점유 약 20.5 h(구성 미확인).</a:t>
            </a:r>
          </a:p>
          <a:p>
            <a:r>
              <a:t>■ 이론(정제만): 720 ÷ 45 = 16 Batch/월 × 190 = 3,040 kg/월 — 준비·전환·이송·세척·대기·보수 제외 비교값, 실제 Capa. 아님.</a:t>
            </a:r>
          </a:p>
          <a:p>
            <a:r>
              <a:t>■ 과거 최대 11 Batch: 11×45 = 495 h, 720 − 495 = 225 h(전부 손실·충진으로 분류 안 함), 11×190 = 2,090 kg/월, 매월 11회 반복 참고 25.08톤/년. 11월 예시 막대는 65.5 h 균등 배분(준비·정제 47 h + PQC·이송 6 h + FQC·충진·OQC 22 h는 다음 Batch와 병렬).</a:t>
            </a:r>
          </a:p>
          <a:p>
            <a:r>
              <a:t>■ 26.2톤: 26,200 ÷ 190 = 137.895 Batch 상당 → 138 × 190 = 26,220 kg = 26.22톤 → 26.2톤. 시간·가동률·수율을 조정해 맞추지 않음.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[2장 To-be — 정제기 2대 운영과 투자 계획 (Excel 03_Capacity_Model 8절, 05_Reflux_Scenarios)]</a:t>
            </a:r>
          </a:p>
          <a:p>
            <a:r>
              <a:t>■ 정제기: As-is 1대 단일 설비 순차 생산 → To-be 정제기 1·2를 시간차를 두고 병행 운전. 정제기 1을 먼저 투입·가동한 뒤 투입·초류 진행 상황과 충진 처리능력을 고려해 정제기 2를 기동하고, 두 설비 운전 구간을 겹치되 제품이 한꺼번에 충진으로 몰리지 않도록 배치. 고객별 전용 정제기 없음 — 전체 설비 자원 안에서 고객 물량 배정.</a:t>
            </a:r>
          </a:p>
          <a:p>
            <a:r>
              <a:t>■ 시차·설비별 간격: 미확정. Gantt의 시차 30 h·설비별 간격 70.5 h는 운영 개념 설명용 가정(동시 기동·24 h 고정 아님). 설비별 간격 70.5 h = 47.2톤 ÷ 190 kg = 248.4 Batch/년을 2대로 나눈 역산 참고값(현재 1대 26.2톤 등가 63.5 h 대비 +7.0 h — Mix·리사이클 준비 등 가능성, 구성 미확인). 정제 45 h를 22.5 h로 단축하는 계산이 아님.</a:t>
            </a:r>
          </a:p>
          <a:p>
            <a:r>
              <a:t>■ Capa.: 26.2 + 21 = 47.2톤/년(최초 12개월 '27.7~'28.6 연간 환산). 현재 단순 2배 52.4톤과의 차이 5.2톤은 보조 작업·공유 자원 등 가능성 — 확정 손실로 표시하지 않음. 2027 실제 생산량은 공사 중 가동·시운전 양품·출하 승인·초기 안정화를 반영해 별도 산정(4장).</a:t>
            </a:r>
          </a:p>
          <a:p>
            <a:r>
              <a:t>■ 충진: 5 Gal은 글로브 박스 유지(ARS 미적용). 200 L ARS는 '26 설치 → '27.7 운영 시작 — 이지켐·한솔 모두 '27.1~6 수동, '27.7~ ARS, 2028 전월 ARS. ARS 충진시간은 미확인 입력값. ARS 효과는 정제 Capa.에 가산하지 않음.</a:t>
            </a:r>
          </a:p>
          <a:p>
            <a:r>
              <a:t>■ 공용 후공정: 2대 합산 평균 투입 간격 35.3 h — 1교대(8 h/일) 충진 시 18 h 작업 = 경과 54 h로 Tank·충진 회전 부족(-20.7 h), 2교대 시 여유 6.3 h (Product Tank 1기 가정, 03 시트 10절).</a:t>
            </a:r>
          </a:p>
          <a:p>
            <a:r>
              <a:t>■ 2028 검토안: 103→105℃, +3톤 → 50.2톤(산술) · 목표 2028년 이후 50톤 수준 · 미확정·적용 시점 미정·검증 및 승인 필요(열 안정성, Dimer, Unknown impurity, Yield).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[3장 과거 Batch 분석 및 2026년 기준 검토 (Excel 02_Batch_Raw, 03_Capacity_Model 3~7절, 04_Monthly_2026_2028)]</a:t>
            </a:r>
          </a:p>
          <a:p>
            <a:r>
              <a:t>■ 원자료(첨부 PPT 원본·수정본 3장 발표자 노트, 원본 분포도 좌표, 사용자 지시 목록 3중 대조 → 차이 0건). 원본 이미지 5개는 미첨부. 연도 미표기 → 2026 가정.</a:t>
            </a:r>
          </a:p>
          <a:p>
            <a:r>
              <a:t>- 5월(일부): 5/23 #37, 5/26 #38</a:t>
            </a:r>
          </a:p>
          <a:p>
            <a:r>
              <a:t>- 6월: 6/2 #39, 6/5 #40, 6/8 #41, 6/11 #42, 6/14 #43, 6/17 #44, 6/20 #45, 6/23 #46, 6/25 #47, 6/27 #48, 6/28 #49</a:t>
            </a:r>
          </a:p>
          <a:p>
            <a:r>
              <a:t>- 7월: 7/1 #50, 7/3 #51, 7/6 #52, 7/8 #53, 7/11 #54, 7/14 #55, 7/17 #56, 7/20 #57, 7/23 #58, 7/26 #59, 7/29 #60</a:t>
            </a:r>
          </a:p>
          <a:p>
            <a:r>
              <a:t>- 8월: 8/1 #61, 8/4 #62, 8/7 #63, 8/10 #64, 8/13 #65, 8/16 #66, 8/19 #67, 8/22 #68, 8/25 #69, 8/28 #70, 8/31 #71</a:t>
            </a:r>
          </a:p>
          <a:p>
            <a:r>
              <a:t>- 9월: 9/3 #72, 9/5 #73, 9/7 #74, 9/9 #75, 9/11 #76, 9/14 #77, 9/19 #78, 9/23 #79, 9/26 #80, 9/28 #81</a:t>
            </a:r>
          </a:p>
          <a:p>
            <a:r>
              <a:t>- 10월: 10/1 #82, 10/4 #83, 10/7 #84, 10/10 #85, 10/12 #86, 10/15 #87, 10/18 #88, 10/20 #89, 10/23 #90, 10/26 #91, 10/29 #92</a:t>
            </a:r>
          </a:p>
          <a:p>
            <a:r>
              <a:t>■ 집계: 원자료 Total 6월 8 / 7월 11 / 8월 8 / 9월 8 / 10월 11 = 46, 번호 개수 11/11/11/10/11 = 54 — 번호 개수를 양품 완료 Batch로 확정하지 않음. 색상·표시일자 의미 확인.</a:t>
            </a:r>
          </a:p>
          <a:p>
            <a:r>
              <a:t>■ 관측 간격: 주 범위 6/2 #39~10/29 #92, 54개 일자·53개 간격, 149일 × 24 ÷ 53 = 67.47 h(범위 67.02~67.92), 중앙값 72 h, 3일 간격 74%. 월 경계 간격 포함, 5월 일부 제외.</a:t>
            </a:r>
          </a:p>
          <a:p>
            <a:r>
              <a:t>- 한계: 날짜만 있는 계획 — 실제 정제시간과 구분. 정제 45 h 대비 +22.5 h, 점유 47 h 대비 +20.5 h는 PQC·이송·세척·대기·계획 여유 등 가능성(구성 미확인).</a:t>
            </a:r>
          </a:p>
          <a:p>
            <a:r>
              <a:t>- 57 h 연속 가정에서 확인 필요였던 고밀도 구간(6/23~7/3, 9/3~9/11, 4간격 평균 최대 54 h)은 점유 하한 47 h 기준으로는 양립 가능 — 이송 중 점유·세척 반영 시 재확인.</a:t>
            </a:r>
          </a:p>
          <a:p>
            <a:r>
              <a:t>■ 비교: 이론 720÷45 = 16 Batch·3,040 kg/월(실제 Capa. 아님) · 과거 최대 11 Batch 495 h + 225 h · 관측 10.7 Batch/30일(31일 11.0) · 26.2톤 = 월 11.49 Batch 상당(역산 63.5 h).</a:t>
            </a:r>
          </a:p>
          <a:p>
            <a:r>
              <a:t>■ 2026: 제시 출하 19,220 kg(하이닉스 16,980 + 이지켐 2,240) — CXMT·한솔 미제시(0으로 확정 안 함). 현재 26.2톤 대비 73.4%, 산술 차이 6.98톤. 관측 기준 추정 생산 가능 24,510 kg(129 Batch, 정지·보수 미반영 상한) — 9~12월 월 출하 1,940~2,040 kg은 월 생산 가능량(10~11 Batch)에 근접, 재고 활용 필요. 상세 월별은 Excel 04 시트.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[4장 2027년 월별 출하와 공급 대응 (Excel 01_Inputs K, 04_Monthly_2026_2028, 05_Reflux_Scenarios)]</a:t>
            </a:r>
          </a:p>
          <a:p>
            <a:r>
              <a:t>■ 출하계획(kg): 하이닉스 22,720÷12 = 1,893.33/월(표시 반올림, 연간 22,720 유지) · CXMT 1~2월 0 / 3~6월 580 / 7~12월 780 = 7,000 · 이지켐 1~6월 560 / 7~12월 1,120 = 10,080 · 한솔 1~12월 300 = 3,600 → 합계 43,400 kg = 43.4톤. 월 합계 1~2월 2,753.3 / 3~6월 3,333.3 / 7~12월 4,093.3.</a:t>
            </a:r>
          </a:p>
          <a:p>
            <a:r>
              <a:t>■ 연간 환산 비교: 현재 26.2톤 대비 17.2톤 초과 · 개선 후 47.2톤과 3.8톤 차이(연간 환산 — 2027 실제 여유 아님). 상반기 출하 18.84톤 / 하반기 24.56톤, 하반기 균등 가동 참고 47.2×6/12 = 23.6톤 → 0.96톤 부족 방향.</a:t>
            </a:r>
          </a:p>
          <a:p>
            <a:r>
              <a:t>■ 2027 실제 생산: 1월 현재 조건(관측 67.47 h) 11 Batch = 2,090 kg. 2~5월 공사 중 가동, 6월 시운전 양품·출하 승인, 7월 이후 설비별 간격·Batch량·초기 안정화가 미확인 → 연간 실제 생산량은 부분합계로 보류(0 또는 정상값 임의 입력 안 함).</a:t>
            </a:r>
          </a:p>
          <a:p>
            <a:r>
              <a:t>■ 시나리오(참고, Excel 05): S1 공사 중 중단 → 2027 생산 25.7톤(생산−출하 -17.7톤) · S2 공사 중 현재 유지 → 33.8톤(-9.6톤) · S3 50%·안정화 3개월 → 24.2톤(-19.2톤). 개선 안정 후 47.2톤÷12 = 3,933 kg/월은 상한 참고 → 2027 대응에는 선행 생산·현재고 확인이 핵심.</a:t>
            </a:r>
          </a:p>
          <a:p>
            <a:r>
              <a:t>■ 필요 Batch(출하÷190): 1~2월 14.5 / 3~6월 17.5 / 7~12월 21.5 Batch/월, 연 228.4 Batch (동일 Batch 다고객 배분 — 시간 중복 계산 안 함).</a:t>
            </a:r>
          </a:p>
          <a:p>
            <a:r>
              <a:t>■ 충진: 5 Gal (하이닉스+CXMT)÷20×2 h = 189.3 / 247.3 / 267.3 h/월, 연 2,972 h (OQC 별도 연 330 h). 월평균 병 수는 병 상당 — 실제는 20 kg 정수 용기 배분. 200 L: 이지켐 4→8용기, 한솔 2용기 → 6 / 10용기/월, 연 96용기(이지켐 72 + 한솔 24), OQC 연 192 h. 이지켐·한솔 1~6월 수동, 7월~ ARS — 충진시간 미확인 고객은 확정하지 않음(공통 8 h 적용 가정 시 연 768 h, 비교용).</a:t>
            </a:r>
          </a:p>
          <a:p>
            <a:r>
              <a:t>■ 재고: 기말재고 = 기초재고 + 출하 가능 양품 생산량 − 출하량 / 필요 생산량 = 출하량 + 목표 기말재고 − 기초재고. 하이닉스 출하·목표재고 우선 → 나머지 고객 배분(우선순위 미확인 시 출하 비율). 2027.12 기말재고 → 2028.1 기초재고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C71A4B21-8DEE-4335-81E3-8269740468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60509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5">
            <a:extLst>
              <a:ext uri="{FF2B5EF4-FFF2-40B4-BE49-F238E27FC236}">
                <a16:creationId xmlns:a16="http://schemas.microsoft.com/office/drawing/2014/main" id="{D615167A-2341-4D77-BF97-C98DABC787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657100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63547" y="3829914"/>
            <a:ext cx="8229600" cy="63356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92040" y="573234"/>
            <a:ext cx="8229600" cy="2508741"/>
          </a:xfrm>
        </p:spPr>
        <p:txBody>
          <a:bodyPr/>
          <a:lstStyle>
            <a:lvl1pPr algn="r">
              <a:defRPr>
                <a:solidFill>
                  <a:schemeClr val="bg1"/>
                </a:solidFill>
              </a:defRPr>
            </a:lvl1pPr>
            <a:lvl2pPr algn="r">
              <a:defRPr>
                <a:solidFill>
                  <a:schemeClr val="bg1"/>
                </a:solidFill>
              </a:defRPr>
            </a:lvl2pPr>
            <a:lvl3pPr algn="r">
              <a:defRPr>
                <a:solidFill>
                  <a:schemeClr val="bg1"/>
                </a:solidFill>
              </a:defRPr>
            </a:lvl3pPr>
            <a:lvl4pPr algn="r">
              <a:defRPr>
                <a:solidFill>
                  <a:schemeClr val="bg1"/>
                </a:solidFill>
              </a:defRPr>
            </a:lvl4pPr>
            <a:lvl5pPr algn="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슬라이드 번호 개체 틀 5">
            <a:extLst>
              <a:ext uri="{FF2B5EF4-FFF2-40B4-BE49-F238E27FC236}">
                <a16:creationId xmlns:a16="http://schemas.microsoft.com/office/drawing/2014/main" id="{0715BF9F-7BEC-43D5-AA15-65F5EC73A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8338069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00532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altLang="ko-KR" dirty="0"/>
              <a:t>-</a:t>
            </a:r>
            <a:fld id="{B45B5F3F-A87E-4E73-9154-1C8A9C2706CD}" type="slidenum">
              <a:rPr lang="ko-KR" altLang="en-US" smtClean="0"/>
              <a:pPr/>
              <a:t>‹#›</a:t>
            </a:fld>
            <a:r>
              <a:rPr lang="en-US" altLang="ko-KR" dirty="0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028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As-is | 공정시간과 현재 생산능력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공용 정제기 1대 · 정제 45 h / 충진 전 57 h · 검사·충진은 다음 Batch 정제와 병렬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1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- 1 -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noFill/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5040940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900940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900940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공용 정제기 1대 · 103℃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공동 (한솔 '27~)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139771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280940" y="1310000"/>
            <a:ext cx="113895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422949" y="1915000"/>
            <a:ext cx="1335982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정제 45 h/Batch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 + 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하이닉스·CXMT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약 9병 18 h (≈2.25 근무일)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FFF3E6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200 L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충진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이지켐 8 h/용기 · 한솔 시간 확인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925940" y="251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46427" y="251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925940" y="3030000"/>
            <a:ext cx="10000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46427" y="3030000"/>
            <a:ext cx="393763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한솔('27~)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 (운송 별도)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090940" y="975000"/>
            <a:ext cx="168052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090940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01874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42514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287000" y="34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443129" y="3400000"/>
            <a:ext cx="11250374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한 Batch 확인 공정시간 — 단순 합계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달력 납기 · 다음 Batch 투입 간격 아님</a:t>
            </a:r>
          </a:p>
        </p:txBody>
      </p:sp>
      <p:sp>
        <p:nvSpPr>
          <p:cNvPr id="260" name="Rectangle 259"/>
          <p:cNvSpPr/>
          <p:nvPr/>
        </p:nvSpPr>
        <p:spPr>
          <a:xfrm>
            <a:off x="5537000" y="3455000"/>
            <a:ext cx="150000" cy="10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572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확정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6077000" y="3455000"/>
            <a:ext cx="150000" cy="100000"/>
          </a:xfrm>
          <a:prstGeom prst="rect">
            <a:avLst/>
          </a:prstGeom>
          <a:solidFill>
            <a:srgbClr val="EAF1FA"/>
          </a:solidFill>
          <a:ln w="1270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626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계획·제시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6842000" y="3455000"/>
            <a:ext cx="150000" cy="100000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7032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추정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382000" y="3455000"/>
            <a:ext cx="150000" cy="1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7572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환산 참고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8147000" y="3455000"/>
            <a:ext cx="150000" cy="10000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8337000" y="3430000"/>
            <a:ext cx="70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검토안</a:t>
            </a:r>
          </a:p>
        </p:txBody>
      </p:sp>
      <p:sp>
        <p:nvSpPr>
          <p:cNvPr id="270" name="TextBox 269"/>
          <p:cNvSpPr txBox="1"/>
          <p:nvPr/>
        </p:nvSpPr>
        <p:spPr>
          <a:xfrm>
            <a:off x="287000" y="3680000"/>
            <a:ext cx="13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약 9병</a:t>
            </a:r>
          </a:p>
        </p:txBody>
      </p:sp>
      <p:sp>
        <p:nvSpPr>
          <p:cNvPr id="271" name="Rectangle 270"/>
          <p:cNvSpPr/>
          <p:nvPr/>
        </p:nvSpPr>
        <p:spPr>
          <a:xfrm>
            <a:off x="1636776" y="370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1899224" y="3700000"/>
            <a:ext cx="2952549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 45 h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5245447" y="370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5376672" y="3700000"/>
            <a:ext cx="1181019" cy="210000"/>
          </a:xfrm>
          <a:prstGeom prst="rect">
            <a:avLst/>
          </a:prstGeom>
          <a:solidFill>
            <a:srgbClr val="548235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18 h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6557691" y="3700000"/>
            <a:ext cx="131224" cy="210000"/>
          </a:xfrm>
          <a:prstGeom prst="rect">
            <a:avLst/>
          </a:prstGeom>
          <a:solidFill>
            <a:srgbClr val="40404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76" name="Rectangle 275"/>
          <p:cNvSpPr/>
          <p:nvPr/>
        </p:nvSpPr>
        <p:spPr>
          <a:xfrm>
            <a:off x="6698060" y="3700000"/>
            <a:ext cx="502920" cy="21000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0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7255844" y="3680000"/>
            <a:ext cx="15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77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+ 미확인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287000" y="4010000"/>
            <a:ext cx="13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이지켐 200 L 1용기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1636776" y="403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899224" y="4030000"/>
            <a:ext cx="2952549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 45 h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245447" y="4030000"/>
            <a:ext cx="131224" cy="210000"/>
          </a:xfrm>
          <a:prstGeom prst="rect">
            <a:avLst/>
          </a:prstGeom>
          <a:solidFill>
            <a:srgbClr val="2E75B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2" name="Rectangle 281"/>
          <p:cNvSpPr/>
          <p:nvPr/>
        </p:nvSpPr>
        <p:spPr>
          <a:xfrm>
            <a:off x="5376672" y="4030000"/>
            <a:ext cx="524897" cy="21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충진 8 h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901569" y="4030000"/>
            <a:ext cx="131224" cy="210000"/>
          </a:xfrm>
          <a:prstGeom prst="rect">
            <a:avLst/>
          </a:prstGeom>
          <a:solidFill>
            <a:srgbClr val="40404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041938" y="4030000"/>
            <a:ext cx="502920" cy="210000"/>
          </a:xfrm>
          <a:prstGeom prst="rect">
            <a:avLst/>
          </a:prstGeom>
          <a:solidFill>
            <a:srgbClr val="FFF2CC"/>
          </a:solidFill>
          <a:ln w="9525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0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미확인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6599722" y="4010000"/>
            <a:ext cx="150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67 h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+ 미확인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87000" y="4350000"/>
            <a:ext cx="857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IQC 2 + 준비·투입 2 + 정제 45 + PQC·이송 6 + FQC 2 = 57 h (중복 가산 없음) · OQC 2 h · 77 h·67 h는 확인시간 단순 합계 — 실제 달력 납기 아님 · 미확인: 대기·세척·전환·한솔 충진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287000" y="455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397000" y="452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11월 운전 예시 — 정제기 1대 월 11 Batch (과거 최대)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간격 65.5 h = 720÷11 (구성 확인)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1167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1167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1167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1423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423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679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1679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1936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1936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2192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2192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2448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48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705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705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05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05" name="Rectangle 304"/>
          <p:cNvSpPr/>
          <p:nvPr/>
        </p:nvSpPr>
        <p:spPr>
          <a:xfrm>
            <a:off x="2961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2961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2961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3217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3217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3474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3474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3730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3730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3986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3986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16" name="TextBox 315"/>
          <p:cNvSpPr txBox="1"/>
          <p:nvPr/>
        </p:nvSpPr>
        <p:spPr>
          <a:xfrm>
            <a:off x="4243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317" name="TextBox 316"/>
          <p:cNvSpPr txBox="1"/>
          <p:nvPr/>
        </p:nvSpPr>
        <p:spPr>
          <a:xfrm>
            <a:off x="4243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4499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4499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4499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21" name="Rectangle 320"/>
          <p:cNvSpPr/>
          <p:nvPr/>
        </p:nvSpPr>
        <p:spPr>
          <a:xfrm>
            <a:off x="4755666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22" name="TextBox 321"/>
          <p:cNvSpPr txBox="1"/>
          <p:nvPr/>
        </p:nvSpPr>
        <p:spPr>
          <a:xfrm>
            <a:off x="4755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323" name="TextBox 322"/>
          <p:cNvSpPr txBox="1"/>
          <p:nvPr/>
        </p:nvSpPr>
        <p:spPr>
          <a:xfrm>
            <a:off x="4755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24" name="TextBox 323"/>
          <p:cNvSpPr txBox="1"/>
          <p:nvPr/>
        </p:nvSpPr>
        <p:spPr>
          <a:xfrm>
            <a:off x="5012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325" name="TextBox 324"/>
          <p:cNvSpPr txBox="1"/>
          <p:nvPr/>
        </p:nvSpPr>
        <p:spPr>
          <a:xfrm>
            <a:off x="5012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5268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5268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5524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5524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5781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5781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6037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6037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6293666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6293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6293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37" name="Rectangle 336"/>
          <p:cNvSpPr/>
          <p:nvPr/>
        </p:nvSpPr>
        <p:spPr>
          <a:xfrm>
            <a:off x="6550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38" name="TextBox 337"/>
          <p:cNvSpPr txBox="1"/>
          <p:nvPr/>
        </p:nvSpPr>
        <p:spPr>
          <a:xfrm>
            <a:off x="6550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6550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6806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341" name="TextBox 340"/>
          <p:cNvSpPr txBox="1"/>
          <p:nvPr/>
        </p:nvSpPr>
        <p:spPr>
          <a:xfrm>
            <a:off x="6806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sp>
        <p:nvSpPr>
          <p:cNvPr id="342" name="TextBox 341"/>
          <p:cNvSpPr txBox="1"/>
          <p:nvPr/>
        </p:nvSpPr>
        <p:spPr>
          <a:xfrm>
            <a:off x="7062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343" name="TextBox 342"/>
          <p:cNvSpPr txBox="1"/>
          <p:nvPr/>
        </p:nvSpPr>
        <p:spPr>
          <a:xfrm>
            <a:off x="7062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화</a:t>
            </a:r>
          </a:p>
        </p:txBody>
      </p:sp>
      <p:sp>
        <p:nvSpPr>
          <p:cNvPr id="344" name="TextBox 343"/>
          <p:cNvSpPr txBox="1"/>
          <p:nvPr/>
        </p:nvSpPr>
        <p:spPr>
          <a:xfrm>
            <a:off x="7319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345" name="TextBox 344"/>
          <p:cNvSpPr txBox="1"/>
          <p:nvPr/>
        </p:nvSpPr>
        <p:spPr>
          <a:xfrm>
            <a:off x="7319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수</a:t>
            </a:r>
          </a:p>
        </p:txBody>
      </p:sp>
      <p:sp>
        <p:nvSpPr>
          <p:cNvPr id="346" name="TextBox 345"/>
          <p:cNvSpPr txBox="1"/>
          <p:nvPr/>
        </p:nvSpPr>
        <p:spPr>
          <a:xfrm>
            <a:off x="7575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7575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목</a:t>
            </a:r>
          </a:p>
        </p:txBody>
      </p:sp>
      <p:sp>
        <p:nvSpPr>
          <p:cNvPr id="348" name="TextBox 347"/>
          <p:cNvSpPr txBox="1"/>
          <p:nvPr/>
        </p:nvSpPr>
        <p:spPr>
          <a:xfrm>
            <a:off x="7831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7831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금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088000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088000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352" name="TextBox 351"/>
          <p:cNvSpPr txBox="1"/>
          <p:nvPr/>
        </p:nvSpPr>
        <p:spPr>
          <a:xfrm>
            <a:off x="8088000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토</a:t>
            </a:r>
          </a:p>
        </p:txBody>
      </p:sp>
      <p:sp>
        <p:nvSpPr>
          <p:cNvPr id="353" name="Rectangle 352"/>
          <p:cNvSpPr/>
          <p:nvPr/>
        </p:nvSpPr>
        <p:spPr>
          <a:xfrm>
            <a:off x="8344333" y="4770000"/>
            <a:ext cx="256333" cy="845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8344333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355" name="TextBox 354"/>
          <p:cNvSpPr txBox="1"/>
          <p:nvPr/>
        </p:nvSpPr>
        <p:spPr>
          <a:xfrm>
            <a:off x="8344333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일</a:t>
            </a:r>
          </a:p>
        </p:txBody>
      </p:sp>
      <p:sp>
        <p:nvSpPr>
          <p:cNvPr id="356" name="TextBox 355"/>
          <p:cNvSpPr txBox="1"/>
          <p:nvPr/>
        </p:nvSpPr>
        <p:spPr>
          <a:xfrm>
            <a:off x="8600666" y="4770000"/>
            <a:ext cx="256333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8600666" y="4910000"/>
            <a:ext cx="256333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월</a:t>
            </a:r>
          </a:p>
        </p:txBody>
      </p:sp>
      <p:cxnSp>
        <p:nvCxnSpPr>
          <p:cNvPr id="358" name="Connector 357"/>
          <p:cNvCxnSpPr/>
          <p:nvPr/>
        </p:nvCxnSpPr>
        <p:spPr>
          <a:xfrm>
            <a:off x="1167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59" name="Connector 358"/>
          <p:cNvCxnSpPr/>
          <p:nvPr/>
        </p:nvCxnSpPr>
        <p:spPr>
          <a:xfrm>
            <a:off x="1423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0" name="Connector 359"/>
          <p:cNvCxnSpPr/>
          <p:nvPr/>
        </p:nvCxnSpPr>
        <p:spPr>
          <a:xfrm>
            <a:off x="1679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1" name="Connector 360"/>
          <p:cNvCxnSpPr/>
          <p:nvPr/>
        </p:nvCxnSpPr>
        <p:spPr>
          <a:xfrm>
            <a:off x="1936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2" name="Connector 361"/>
          <p:cNvCxnSpPr/>
          <p:nvPr/>
        </p:nvCxnSpPr>
        <p:spPr>
          <a:xfrm>
            <a:off x="2192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3" name="Connector 362"/>
          <p:cNvCxnSpPr/>
          <p:nvPr/>
        </p:nvCxnSpPr>
        <p:spPr>
          <a:xfrm>
            <a:off x="2448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4" name="Connector 363"/>
          <p:cNvCxnSpPr/>
          <p:nvPr/>
        </p:nvCxnSpPr>
        <p:spPr>
          <a:xfrm>
            <a:off x="2705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5" name="Connector 364"/>
          <p:cNvCxnSpPr/>
          <p:nvPr/>
        </p:nvCxnSpPr>
        <p:spPr>
          <a:xfrm>
            <a:off x="2961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6" name="Connector 365"/>
          <p:cNvCxnSpPr/>
          <p:nvPr/>
        </p:nvCxnSpPr>
        <p:spPr>
          <a:xfrm>
            <a:off x="3217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7" name="Connector 366"/>
          <p:cNvCxnSpPr/>
          <p:nvPr/>
        </p:nvCxnSpPr>
        <p:spPr>
          <a:xfrm>
            <a:off x="3474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8" name="Connector 367"/>
          <p:cNvCxnSpPr/>
          <p:nvPr/>
        </p:nvCxnSpPr>
        <p:spPr>
          <a:xfrm>
            <a:off x="3730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69" name="Connector 368"/>
          <p:cNvCxnSpPr/>
          <p:nvPr/>
        </p:nvCxnSpPr>
        <p:spPr>
          <a:xfrm>
            <a:off x="3986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0" name="Connector 369"/>
          <p:cNvCxnSpPr/>
          <p:nvPr/>
        </p:nvCxnSpPr>
        <p:spPr>
          <a:xfrm>
            <a:off x="4243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1" name="Connector 370"/>
          <p:cNvCxnSpPr/>
          <p:nvPr/>
        </p:nvCxnSpPr>
        <p:spPr>
          <a:xfrm>
            <a:off x="4499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2" name="Connector 371"/>
          <p:cNvCxnSpPr/>
          <p:nvPr/>
        </p:nvCxnSpPr>
        <p:spPr>
          <a:xfrm>
            <a:off x="4755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3" name="Connector 372"/>
          <p:cNvCxnSpPr/>
          <p:nvPr/>
        </p:nvCxnSpPr>
        <p:spPr>
          <a:xfrm>
            <a:off x="5012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4" name="Connector 373"/>
          <p:cNvCxnSpPr/>
          <p:nvPr/>
        </p:nvCxnSpPr>
        <p:spPr>
          <a:xfrm>
            <a:off x="5268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5" name="Connector 374"/>
          <p:cNvCxnSpPr/>
          <p:nvPr/>
        </p:nvCxnSpPr>
        <p:spPr>
          <a:xfrm>
            <a:off x="5524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6" name="Connector 375"/>
          <p:cNvCxnSpPr/>
          <p:nvPr/>
        </p:nvCxnSpPr>
        <p:spPr>
          <a:xfrm>
            <a:off x="5781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7" name="Connector 376"/>
          <p:cNvCxnSpPr/>
          <p:nvPr/>
        </p:nvCxnSpPr>
        <p:spPr>
          <a:xfrm>
            <a:off x="6037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8" name="Connector 377"/>
          <p:cNvCxnSpPr/>
          <p:nvPr/>
        </p:nvCxnSpPr>
        <p:spPr>
          <a:xfrm>
            <a:off x="6293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79" name="Connector 378"/>
          <p:cNvCxnSpPr/>
          <p:nvPr/>
        </p:nvCxnSpPr>
        <p:spPr>
          <a:xfrm>
            <a:off x="6550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0" name="Connector 379"/>
          <p:cNvCxnSpPr/>
          <p:nvPr/>
        </p:nvCxnSpPr>
        <p:spPr>
          <a:xfrm>
            <a:off x="6806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1" name="Connector 380"/>
          <p:cNvCxnSpPr/>
          <p:nvPr/>
        </p:nvCxnSpPr>
        <p:spPr>
          <a:xfrm>
            <a:off x="7062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2" name="Connector 381"/>
          <p:cNvCxnSpPr/>
          <p:nvPr/>
        </p:nvCxnSpPr>
        <p:spPr>
          <a:xfrm>
            <a:off x="7319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3" name="Connector 382"/>
          <p:cNvCxnSpPr/>
          <p:nvPr/>
        </p:nvCxnSpPr>
        <p:spPr>
          <a:xfrm>
            <a:off x="7575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4" name="Connector 383"/>
          <p:cNvCxnSpPr/>
          <p:nvPr/>
        </p:nvCxnSpPr>
        <p:spPr>
          <a:xfrm>
            <a:off x="7831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5" name="Connector 384"/>
          <p:cNvCxnSpPr/>
          <p:nvPr/>
        </p:nvCxnSpPr>
        <p:spPr>
          <a:xfrm>
            <a:off x="8088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6" name="Connector 385"/>
          <p:cNvCxnSpPr/>
          <p:nvPr/>
        </p:nvCxnSpPr>
        <p:spPr>
          <a:xfrm>
            <a:off x="8344333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7" name="Connector 386"/>
          <p:cNvCxnSpPr/>
          <p:nvPr/>
        </p:nvCxnSpPr>
        <p:spPr>
          <a:xfrm>
            <a:off x="8600666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8" name="Connector 387"/>
          <p:cNvCxnSpPr/>
          <p:nvPr/>
        </p:nvCxnSpPr>
        <p:spPr>
          <a:xfrm>
            <a:off x="8857000" y="5025000"/>
            <a:ext cx="0" cy="590000"/>
          </a:xfrm>
          <a:prstGeom prst="line">
            <a:avLst/>
          </a:prstGeom>
          <a:ln w="5080">
            <a:solidFill>
              <a:srgbClr val="D9D9D9"/>
            </a:solidFill>
          </a:ln>
        </p:spPr>
      </p:cxnSp>
      <p:cxnSp>
        <p:nvCxnSpPr>
          <p:cNvPr id="389" name="Connector 388"/>
          <p:cNvCxnSpPr/>
          <p:nvPr/>
        </p:nvCxnSpPr>
        <p:spPr>
          <a:xfrm>
            <a:off x="1167000" y="5025000"/>
            <a:ext cx="7690000" cy="0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390" name="Connector 389"/>
          <p:cNvCxnSpPr/>
          <p:nvPr/>
        </p:nvCxnSpPr>
        <p:spPr>
          <a:xfrm>
            <a:off x="1167000" y="5615000"/>
            <a:ext cx="7690000" cy="0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sp>
        <p:nvSpPr>
          <p:cNvPr id="391" name="TextBox 390"/>
          <p:cNvSpPr txBox="1"/>
          <p:nvPr/>
        </p:nvSpPr>
        <p:spPr>
          <a:xfrm>
            <a:off x="287000" y="4770000"/>
            <a:ext cx="850000" cy="1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11월 (2026)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87000" y="4910000"/>
            <a:ext cx="850000" cy="11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24 h 연속 · 720 h</a:t>
            </a:r>
          </a:p>
        </p:txBody>
      </p:sp>
      <p:sp>
        <p:nvSpPr>
          <p:cNvPr id="393" name="TextBox 392"/>
          <p:cNvSpPr txBox="1"/>
          <p:nvPr/>
        </p:nvSpPr>
        <p:spPr>
          <a:xfrm>
            <a:off x="287000" y="5025000"/>
            <a:ext cx="850000" cy="2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1대</a:t>
            </a:r>
          </a:p>
        </p:txBody>
      </p:sp>
      <p:sp>
        <p:nvSpPr>
          <p:cNvPr id="394" name="TextBox 393"/>
          <p:cNvSpPr txBox="1"/>
          <p:nvPr/>
        </p:nvSpPr>
        <p:spPr>
          <a:xfrm>
            <a:off x="287000" y="5275000"/>
            <a:ext cx="850000" cy="1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FQC·충진·OQC</a:t>
            </a:r>
          </a:p>
        </p:txBody>
      </p:sp>
      <p:sp>
        <p:nvSpPr>
          <p:cNvPr id="395" name="TextBox 394"/>
          <p:cNvSpPr txBox="1"/>
          <p:nvPr/>
        </p:nvSpPr>
        <p:spPr>
          <a:xfrm>
            <a:off x="287000" y="5465000"/>
            <a:ext cx="85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1191768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</a:t>
            </a:r>
          </a:p>
        </p:txBody>
      </p:sp>
      <p:sp>
        <p:nvSpPr>
          <p:cNvPr id="397" name="Rectangle 396"/>
          <p:cNvSpPr/>
          <p:nvPr/>
        </p:nvSpPr>
        <p:spPr>
          <a:xfrm>
            <a:off x="1693164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98" name="Rectangle 397"/>
          <p:cNvSpPr/>
          <p:nvPr/>
        </p:nvSpPr>
        <p:spPr>
          <a:xfrm>
            <a:off x="1757172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1555791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1890037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B2</a:t>
            </a:r>
          </a:p>
        </p:txBody>
      </p:sp>
      <p:sp>
        <p:nvSpPr>
          <p:cNvPr id="401" name="Rectangle 400"/>
          <p:cNvSpPr/>
          <p:nvPr/>
        </p:nvSpPr>
        <p:spPr>
          <a:xfrm>
            <a:off x="2391433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2" name="Rectangle 401"/>
          <p:cNvSpPr/>
          <p:nvPr/>
        </p:nvSpPr>
        <p:spPr>
          <a:xfrm>
            <a:off x="2455441" y="5310000"/>
            <a:ext cx="234695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2254882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2588306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B3</a:t>
            </a:r>
          </a:p>
        </p:txBody>
      </p:sp>
      <p:sp>
        <p:nvSpPr>
          <p:cNvPr id="405" name="Rectangle 404"/>
          <p:cNvSpPr/>
          <p:nvPr/>
        </p:nvSpPr>
        <p:spPr>
          <a:xfrm>
            <a:off x="3089702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3153710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2953973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3286575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B4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3787971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3851979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3653064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3984844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B5</a:t>
            </a:r>
          </a:p>
        </p:txBody>
      </p:sp>
      <p:sp>
        <p:nvSpPr>
          <p:cNvPr id="413" name="Rectangle 412"/>
          <p:cNvSpPr/>
          <p:nvPr/>
        </p:nvSpPr>
        <p:spPr>
          <a:xfrm>
            <a:off x="4486240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4" name="Rectangle 413"/>
          <p:cNvSpPr/>
          <p:nvPr/>
        </p:nvSpPr>
        <p:spPr>
          <a:xfrm>
            <a:off x="4550248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5" name="TextBox 414"/>
          <p:cNvSpPr txBox="1"/>
          <p:nvPr/>
        </p:nvSpPr>
        <p:spPr>
          <a:xfrm>
            <a:off x="4352155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416" name="Rectangle 415"/>
          <p:cNvSpPr/>
          <p:nvPr/>
        </p:nvSpPr>
        <p:spPr>
          <a:xfrm>
            <a:off x="4683113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B6</a:t>
            </a:r>
          </a:p>
        </p:txBody>
      </p:sp>
      <p:sp>
        <p:nvSpPr>
          <p:cNvPr id="417" name="Rectangle 416"/>
          <p:cNvSpPr/>
          <p:nvPr/>
        </p:nvSpPr>
        <p:spPr>
          <a:xfrm>
            <a:off x="5184509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8" name="Rectangle 417"/>
          <p:cNvSpPr/>
          <p:nvPr/>
        </p:nvSpPr>
        <p:spPr>
          <a:xfrm>
            <a:off x="5248517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19" name="TextBox 418"/>
          <p:cNvSpPr txBox="1"/>
          <p:nvPr/>
        </p:nvSpPr>
        <p:spPr>
          <a:xfrm>
            <a:off x="5051246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420" name="Rectangle 419"/>
          <p:cNvSpPr/>
          <p:nvPr/>
        </p:nvSpPr>
        <p:spPr>
          <a:xfrm>
            <a:off x="5381382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B7</a:t>
            </a:r>
          </a:p>
        </p:txBody>
      </p:sp>
      <p:sp>
        <p:nvSpPr>
          <p:cNvPr id="421" name="Rectangle 420"/>
          <p:cNvSpPr/>
          <p:nvPr/>
        </p:nvSpPr>
        <p:spPr>
          <a:xfrm>
            <a:off x="5882778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2" name="Rectangle 421"/>
          <p:cNvSpPr/>
          <p:nvPr/>
        </p:nvSpPr>
        <p:spPr>
          <a:xfrm>
            <a:off x="5946786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3" name="TextBox 422"/>
          <p:cNvSpPr txBox="1"/>
          <p:nvPr/>
        </p:nvSpPr>
        <p:spPr>
          <a:xfrm>
            <a:off x="5750337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424" name="Rectangle 423"/>
          <p:cNvSpPr/>
          <p:nvPr/>
        </p:nvSpPr>
        <p:spPr>
          <a:xfrm>
            <a:off x="6079651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B8</a:t>
            </a:r>
          </a:p>
        </p:txBody>
      </p:sp>
      <p:sp>
        <p:nvSpPr>
          <p:cNvPr id="425" name="Rectangle 424"/>
          <p:cNvSpPr/>
          <p:nvPr/>
        </p:nvSpPr>
        <p:spPr>
          <a:xfrm>
            <a:off x="6581047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6" name="Rectangle 425"/>
          <p:cNvSpPr/>
          <p:nvPr/>
        </p:nvSpPr>
        <p:spPr>
          <a:xfrm>
            <a:off x="6645055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27" name="TextBox 426"/>
          <p:cNvSpPr txBox="1"/>
          <p:nvPr/>
        </p:nvSpPr>
        <p:spPr>
          <a:xfrm>
            <a:off x="6449428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428" name="Rectangle 427"/>
          <p:cNvSpPr/>
          <p:nvPr/>
        </p:nvSpPr>
        <p:spPr>
          <a:xfrm>
            <a:off x="6777920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B9</a:t>
            </a:r>
          </a:p>
        </p:txBody>
      </p:sp>
      <p:sp>
        <p:nvSpPr>
          <p:cNvPr id="429" name="Rectangle 428"/>
          <p:cNvSpPr/>
          <p:nvPr/>
        </p:nvSpPr>
        <p:spPr>
          <a:xfrm>
            <a:off x="7279316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0" name="Rectangle 429"/>
          <p:cNvSpPr/>
          <p:nvPr/>
        </p:nvSpPr>
        <p:spPr>
          <a:xfrm>
            <a:off x="7343324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1" name="TextBox 430"/>
          <p:cNvSpPr txBox="1"/>
          <p:nvPr/>
        </p:nvSpPr>
        <p:spPr>
          <a:xfrm>
            <a:off x="7148518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432" name="Rectangle 431"/>
          <p:cNvSpPr/>
          <p:nvPr/>
        </p:nvSpPr>
        <p:spPr>
          <a:xfrm>
            <a:off x="7476189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B10</a:t>
            </a:r>
          </a:p>
        </p:txBody>
      </p:sp>
      <p:sp>
        <p:nvSpPr>
          <p:cNvPr id="433" name="Rectangle 432"/>
          <p:cNvSpPr/>
          <p:nvPr/>
        </p:nvSpPr>
        <p:spPr>
          <a:xfrm>
            <a:off x="7977585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4" name="Rectangle 433"/>
          <p:cNvSpPr/>
          <p:nvPr/>
        </p:nvSpPr>
        <p:spPr>
          <a:xfrm>
            <a:off x="8041593" y="5310000"/>
            <a:ext cx="234696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5" name="TextBox 434"/>
          <p:cNvSpPr txBox="1"/>
          <p:nvPr/>
        </p:nvSpPr>
        <p:spPr>
          <a:xfrm>
            <a:off x="7847609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436" name="Rectangle 435"/>
          <p:cNvSpPr/>
          <p:nvPr/>
        </p:nvSpPr>
        <p:spPr>
          <a:xfrm>
            <a:off x="8174458" y="5055000"/>
            <a:ext cx="501396" cy="190000"/>
          </a:xfrm>
          <a:prstGeom prst="rect">
            <a:avLst/>
          </a:prstGeom>
          <a:solidFill>
            <a:srgbClr val="FF7900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B11</a:t>
            </a:r>
          </a:p>
        </p:txBody>
      </p:sp>
      <p:sp>
        <p:nvSpPr>
          <p:cNvPr id="437" name="Rectangle 436"/>
          <p:cNvSpPr/>
          <p:nvPr/>
        </p:nvSpPr>
        <p:spPr>
          <a:xfrm>
            <a:off x="8675854" y="5085000"/>
            <a:ext cx="64008" cy="130000"/>
          </a:xfrm>
          <a:prstGeom prst="rect">
            <a:avLst/>
          </a:prstGeom>
          <a:solidFill>
            <a:srgbClr val="9DC3E6"/>
          </a:solidFill>
          <a:ln w="508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8" name="Rectangle 437"/>
          <p:cNvSpPr/>
          <p:nvPr/>
        </p:nvSpPr>
        <p:spPr>
          <a:xfrm>
            <a:off x="8739862" y="5310000"/>
            <a:ext cx="111529" cy="1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39" name="TextBox 438"/>
          <p:cNvSpPr txBox="1"/>
          <p:nvPr/>
        </p:nvSpPr>
        <p:spPr>
          <a:xfrm>
            <a:off x="8546700" y="5465000"/>
            <a:ext cx="440000" cy="1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4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440" name="Rectangle 439"/>
          <p:cNvSpPr/>
          <p:nvPr/>
        </p:nvSpPr>
        <p:spPr>
          <a:xfrm>
            <a:off x="5989320" y="4560000"/>
            <a:ext cx="150000" cy="10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1" name="TextBox 440"/>
          <p:cNvSpPr txBox="1"/>
          <p:nvPr/>
        </p:nvSpPr>
        <p:spPr>
          <a:xfrm>
            <a:off x="6153912" y="4535000"/>
            <a:ext cx="77724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준비·정제 47 h</a:t>
            </a:r>
          </a:p>
        </p:txBody>
      </p:sp>
      <p:sp>
        <p:nvSpPr>
          <p:cNvPr id="442" name="Rectangle 441"/>
          <p:cNvSpPr/>
          <p:nvPr/>
        </p:nvSpPr>
        <p:spPr>
          <a:xfrm>
            <a:off x="6931152" y="4560000"/>
            <a:ext cx="150000" cy="100000"/>
          </a:xfrm>
          <a:prstGeom prst="rect">
            <a:avLst/>
          </a:prstGeom>
          <a:solidFill>
            <a:srgbClr val="9DC3E6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3" name="TextBox 442"/>
          <p:cNvSpPr txBox="1"/>
          <p:nvPr/>
        </p:nvSpPr>
        <p:spPr>
          <a:xfrm>
            <a:off x="7095744" y="4535000"/>
            <a:ext cx="6858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PQC·이송 6 h</a:t>
            </a:r>
          </a:p>
        </p:txBody>
      </p:sp>
      <p:sp>
        <p:nvSpPr>
          <p:cNvPr id="444" name="Rectangle 443"/>
          <p:cNvSpPr/>
          <p:nvPr/>
        </p:nvSpPr>
        <p:spPr>
          <a:xfrm>
            <a:off x="7790688" y="4560000"/>
            <a:ext cx="150000" cy="10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5" name="TextBox 444"/>
          <p:cNvSpPr txBox="1"/>
          <p:nvPr/>
        </p:nvSpPr>
        <p:spPr>
          <a:xfrm>
            <a:off x="7955279" y="4535000"/>
            <a:ext cx="9144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FQC·충진·OQC 22 h</a:t>
            </a:r>
          </a:p>
        </p:txBody>
      </p:sp>
      <p:sp>
        <p:nvSpPr>
          <p:cNvPr id="446" name="Rectangle 445"/>
          <p:cNvSpPr/>
          <p:nvPr/>
        </p:nvSpPr>
        <p:spPr>
          <a:xfrm>
            <a:off x="287000" y="566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7" name="TextBox 446"/>
          <p:cNvSpPr txBox="1"/>
          <p:nvPr/>
        </p:nvSpPr>
        <p:spPr>
          <a:xfrm>
            <a:off x="33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과거 최대  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11 Batch · 2,090 kg/월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매월 11회 반복 참고 25.08톤/년 (11×190×12)</a:t>
            </a:r>
          </a:p>
        </p:txBody>
      </p:sp>
      <p:sp>
        <p:nvSpPr>
          <p:cNvPr id="448" name="Rectangle 447"/>
          <p:cNvSpPr/>
          <p:nvPr/>
        </p:nvSpPr>
        <p:spPr>
          <a:xfrm>
            <a:off x="2447000" y="5665000"/>
            <a:ext cx="209000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49" name="TextBox 448"/>
          <p:cNvSpPr txBox="1"/>
          <p:nvPr/>
        </p:nvSpPr>
        <p:spPr>
          <a:xfrm>
            <a:off x="249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시간 비교  </a:t>
            </a:r>
            <a:r>
              <a:rPr sz="9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495 h + 225 h = 720 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정제 11×45 + 225 h (점유·전환·대기·보수·월 경계 확인)</a:t>
            </a:r>
          </a:p>
        </p:txBody>
      </p:sp>
      <p:sp>
        <p:nvSpPr>
          <p:cNvPr id="450" name="Rectangle 449"/>
          <p:cNvSpPr/>
          <p:nvPr/>
        </p:nvSpPr>
        <p:spPr>
          <a:xfrm>
            <a:off x="4607000" y="5665000"/>
            <a:ext cx="2090000" cy="420000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1" name="TextBox 450"/>
          <p:cNvSpPr txBox="1"/>
          <p:nvPr/>
        </p:nvSpPr>
        <p:spPr>
          <a:xfrm>
            <a:off x="465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이론 (정제만)  </a:t>
            </a:r>
            <a:r>
              <a:rPr sz="9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720÷45 = 16 Batch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3,040 kg/월 · 실제 Capa. 아님 · 관측 67.5 h → 10.7</a:t>
            </a:r>
          </a:p>
        </p:txBody>
      </p:sp>
      <p:sp>
        <p:nvSpPr>
          <p:cNvPr id="452" name="Rectangle 451"/>
          <p:cNvSpPr/>
          <p:nvPr/>
        </p:nvSpPr>
        <p:spPr>
          <a:xfrm>
            <a:off x="6767000" y="566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3" name="TextBox 452"/>
          <p:cNvSpPr txBox="1"/>
          <p:nvPr/>
        </p:nvSpPr>
        <p:spPr>
          <a:xfrm>
            <a:off x="6817000" y="5690000"/>
            <a:ext cx="1990000" cy="39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현재 연간 Capa.  </a:t>
            </a: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26.2톤 (기준값)</a:t>
            </a:r>
          </a:p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26,200÷190 = 137.9 · 138×190 = 26,220 kg · 월 11.49</a:t>
            </a:r>
          </a:p>
        </p:txBody>
      </p:sp>
      <p:sp>
        <p:nvSpPr>
          <p:cNvPr id="454" name="Rectangle 271"/>
          <p:cNvSpPr/>
          <p:nvPr/>
        </p:nvSpPr>
        <p:spPr>
          <a:xfrm>
            <a:off x="1768000" y="3700000"/>
            <a:ext cx="131224" cy="210000"/>
          </a:xfrm>
          <a:prstGeom prst="rect">
            <a:avLst/>
          </a:prstGeom>
          <a:solidFill>
            <a:srgbClr val="F4B183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55" name="Rectangle 272"/>
          <p:cNvSpPr/>
          <p:nvPr/>
        </p:nvSpPr>
        <p:spPr>
          <a:xfrm>
            <a:off x="4851774" y="3700000"/>
            <a:ext cx="393673" cy="21000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6" name="TextBox 455"/>
          <p:cNvSpPr txBox="1"/>
          <p:nvPr/>
        </p:nvSpPr>
        <p:spPr>
          <a:xfrm>
            <a:off x="4851774" y="3736576"/>
            <a:ext cx="39367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" b="1">
                <a:solidFill>
                  <a:srgbClr val="1F3864"/>
                </a:solidFill>
                <a:latin typeface="Noto Sans KR"/>
                <a:ea typeface="Noto Sans KR"/>
                <a:cs typeface="Noto Sans KR"/>
              </a:rPr>
              <a:t>PQC·이송 6</a:t>
            </a:r>
          </a:p>
        </p:txBody>
      </p:sp>
      <p:sp>
        <p:nvSpPr>
          <p:cNvPr id="457" name="Rectangle 279"/>
          <p:cNvSpPr/>
          <p:nvPr/>
        </p:nvSpPr>
        <p:spPr>
          <a:xfrm>
            <a:off x="1768000" y="4030000"/>
            <a:ext cx="131224" cy="210000"/>
          </a:xfrm>
          <a:prstGeom prst="rect">
            <a:avLst/>
          </a:prstGeom>
          <a:solidFill>
            <a:srgbClr val="F4B183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3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/>
            </a:r>
          </a:p>
        </p:txBody>
      </p:sp>
      <p:sp>
        <p:nvSpPr>
          <p:cNvPr id="458" name="Rectangle 280"/>
          <p:cNvSpPr/>
          <p:nvPr/>
        </p:nvSpPr>
        <p:spPr>
          <a:xfrm>
            <a:off x="4851774" y="4030000"/>
            <a:ext cx="393673" cy="210000"/>
          </a:xfrm>
          <a:prstGeom prst="rect">
            <a:avLst/>
          </a:prstGeom>
          <a:solidFill>
            <a:srgbClr val="9DC3E6"/>
          </a:solidFill>
          <a:ln w="6350">
            <a:solidFill>
              <a:srgbClr val="FFFFF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851774" y="4066576"/>
            <a:ext cx="393673" cy="137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" b="1">
                <a:solidFill>
                  <a:srgbClr val="1F3864"/>
                </a:solidFill>
                <a:latin typeface="Noto Sans KR"/>
                <a:ea typeface="Noto Sans KR"/>
                <a:cs typeface="Noto Sans KR"/>
              </a:rPr>
              <a:t>PQC·이송 6</a:t>
            </a:r>
          </a:p>
        </p:txBody>
      </p:sp>
      <p:sp>
        <p:nvSpPr>
          <p:cNvPr id="460" name="TextBox 459"/>
          <p:cNvSpPr txBox="1"/>
          <p:nvPr/>
        </p:nvSpPr>
        <p:spPr>
          <a:xfrm>
            <a:off x="4965192" y="3593592"/>
            <a:ext cx="822960" cy="1097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▼ 충진 전 57 h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To-be | 정제기 2대 운영과 투자 계획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정제기 1·2 시간차 운전 · 공용 후공정 · '27.7 생산 시작 · 47.2톤/년 (연간 환산)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2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- 2 -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Can 164"/>
          <p:cNvSpPr/>
          <p:nvPr/>
        </p:nvSpPr>
        <p:spPr>
          <a:xfrm>
            <a:off x="600640" y="1100000"/>
            <a:ext cx="360000" cy="42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Crude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288436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88436" y="1570000"/>
            <a:ext cx="984407" cy="34000"/>
          </a:xfrm>
          <a:prstGeom prst="rect">
            <a:avLst/>
          </a:prstGeom>
          <a:solidFill>
            <a:srgbClr val="7F7F7F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09531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원재료 입고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Lake Materials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722859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IQC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1624418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1624418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645513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수입검사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NMR·ICP·IC</a:t>
            </a:r>
          </a:p>
        </p:txBody>
      </p:sp>
      <p:sp>
        <p:nvSpPr>
          <p:cNvPr id="173" name="Can 172"/>
          <p:cNvSpPr/>
          <p:nvPr/>
        </p:nvSpPr>
        <p:spPr>
          <a:xfrm>
            <a:off x="3233226" y="1140000"/>
            <a:ext cx="270000" cy="340000"/>
          </a:xfrm>
          <a:prstGeom prst="can">
            <a:avLst/>
          </a:prstGeom>
          <a:solidFill>
            <a:srgbClr val="EDEDED"/>
          </a:solidFill>
          <a:ln w="15875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2876022" y="1570000"/>
            <a:ext cx="984407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2876022" y="1570000"/>
            <a:ext cx="984407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97117" y="1615000"/>
            <a:ext cx="942218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준비 · 투입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Canister → 정제기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155753" y="1030000"/>
            <a:ext cx="1870374" cy="890000"/>
          </a:xfrm>
          <a:prstGeom prst="rect">
            <a:avLst/>
          </a:prstGeom>
          <a:solidFill>
            <a:srgbClr val="FDEDF0"/>
          </a:solidFill>
          <a:ln w="254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4578009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9" name="Round Same Side Corner Rectangle 178"/>
          <p:cNvSpPr/>
          <p:nvPr/>
        </p:nvSpPr>
        <p:spPr>
          <a:xfrm rot="10800000">
            <a:off x="4438009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438009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정제기1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4212004" y="1570000"/>
            <a:ext cx="1757871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4212004" y="1570000"/>
            <a:ext cx="1757871" cy="34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233099" y="1615000"/>
            <a:ext cx="1715682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정제기 1·2 · 시간차 병행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4개 고객 공용 배정 (전용 없음)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6419890" y="1180000"/>
            <a:ext cx="703148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PQC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6321450" y="1570000"/>
            <a:ext cx="900029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6321450" y="1570000"/>
            <a:ext cx="900029" cy="340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42544" y="1615000"/>
            <a:ext cx="857841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공정검사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NMR</a:t>
            </a:r>
          </a:p>
        </p:txBody>
      </p:sp>
      <p:sp>
        <p:nvSpPr>
          <p:cNvPr id="188" name="Can 187"/>
          <p:cNvSpPr/>
          <p:nvPr/>
        </p:nvSpPr>
        <p:spPr>
          <a:xfrm>
            <a:off x="7907447" y="1100000"/>
            <a:ext cx="400000" cy="420000"/>
          </a:xfrm>
          <a:prstGeom prst="can">
            <a:avLst/>
          </a:prstGeom>
          <a:solidFill>
            <a:srgbClr val="FFE3CC"/>
          </a:solidFill>
          <a:ln w="15875">
            <a:solidFill>
              <a:srgbClr val="FF7900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573054" y="1570000"/>
            <a:ext cx="1068785" cy="3200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573054" y="1570000"/>
            <a:ext cx="1068785" cy="34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7594148" y="1615000"/>
            <a:ext cx="1026596" cy="26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Product Tank</a:t>
            </a:r>
          </a:p>
          <a:p>
            <a:pPr algn="ctr">
              <a:spcAft>
                <a:spcPts val="0"/>
              </a:spcAft>
            </a:pPr>
            <a:r>
              <a:rPr sz="63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PQC 합격 후 이송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960640" y="1310000"/>
            <a:ext cx="762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3" name="Connector 192"/>
          <p:cNvCxnSpPr/>
          <p:nvPr/>
        </p:nvCxnSpPr>
        <p:spPr>
          <a:xfrm>
            <a:off x="2426007" y="1310000"/>
            <a:ext cx="80721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4" name="Connector 193"/>
          <p:cNvCxnSpPr/>
          <p:nvPr/>
        </p:nvCxnSpPr>
        <p:spPr>
          <a:xfrm>
            <a:off x="3503226" y="1310000"/>
            <a:ext cx="930895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5" name="Connector 194"/>
          <p:cNvCxnSpPr/>
          <p:nvPr/>
        </p:nvCxnSpPr>
        <p:spPr>
          <a:xfrm>
            <a:off x="5721496" y="1310000"/>
            <a:ext cx="69839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196" name="Connector 195"/>
          <p:cNvCxnSpPr/>
          <p:nvPr/>
        </p:nvCxnSpPr>
        <p:spPr>
          <a:xfrm>
            <a:off x="7123039" y="1310000"/>
            <a:ext cx="784407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197" name="Rounded Rectangle 196"/>
          <p:cNvSpPr/>
          <p:nvPr/>
        </p:nvSpPr>
        <p:spPr>
          <a:xfrm>
            <a:off x="429066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–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1722859" y="1915000"/>
            <a:ext cx="70314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2974463" y="1915000"/>
            <a:ext cx="78752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95527" y="1915000"/>
            <a:ext cx="1594538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정제 45 h (설비별)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391573" y="1915000"/>
            <a:ext cx="2186060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PQC + 제품 이송 합계 6 h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86877" y="2640000"/>
            <a:ext cx="731274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FQC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88436" y="2920000"/>
            <a:ext cx="928155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제품검사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429066" y="3100000"/>
            <a:ext cx="646896" cy="150000"/>
          </a:xfrm>
          <a:prstGeom prst="roundRect">
            <a:avLst>
              <a:gd name="adj" fmla="val 30000"/>
            </a:avLst>
          </a:prstGeom>
          <a:solidFill>
            <a:srgbClr val="E2EFD9"/>
          </a:solidFill>
          <a:ln w="952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  <a:r>
              <a:rPr sz="6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</a:t>
            </a:r>
          </a:p>
        </p:txBody>
      </p:sp>
      <p:cxnSp>
        <p:nvCxnSpPr>
          <p:cNvPr id="206" name="Connector 205"/>
          <p:cNvCxnSpPr/>
          <p:nvPr/>
        </p:nvCxnSpPr>
        <p:spPr>
          <a:xfrm>
            <a:off x="1118151" y="2770000"/>
            <a:ext cx="337511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7" name="Connector 206"/>
          <p:cNvCxnSpPr/>
          <p:nvPr/>
        </p:nvCxnSpPr>
        <p:spPr>
          <a:xfrm>
            <a:off x="1455663" y="2510000"/>
            <a:ext cx="4572" cy="520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08" name="Connector 207"/>
          <p:cNvCxnSpPr/>
          <p:nvPr/>
        </p:nvCxnSpPr>
        <p:spPr>
          <a:xfrm>
            <a:off x="1455663" y="251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09" name="Connector 208"/>
          <p:cNvCxnSpPr/>
          <p:nvPr/>
        </p:nvCxnSpPr>
        <p:spPr>
          <a:xfrm>
            <a:off x="1455663" y="3030000"/>
            <a:ext cx="239070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10" name="Rectangle 209"/>
          <p:cNvSpPr/>
          <p:nvPr/>
        </p:nvSpPr>
        <p:spPr>
          <a:xfrm>
            <a:off x="1694733" y="2300000"/>
            <a:ext cx="3164167" cy="420000"/>
          </a:xfrm>
          <a:prstGeom prst="rect">
            <a:avLst/>
          </a:prstGeom>
          <a:solidFill>
            <a:srgbClr val="E2EFD9"/>
          </a:solidFill>
          <a:ln w="15875">
            <a:solidFill>
              <a:srgbClr val="548235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1694733" y="2300000"/>
            <a:ext cx="63283" cy="4200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2" name="Rounded Rectangle 211"/>
          <p:cNvSpPr/>
          <p:nvPr/>
        </p:nvSpPr>
        <p:spPr>
          <a:xfrm>
            <a:off x="1835363" y="240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G/B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2510385" y="231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 충진 (유지)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 kg/병 · 필터 포함 · ARS 미적용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2 h/병 · 약 9병 18 h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694733" y="2820000"/>
            <a:ext cx="3164167" cy="420000"/>
          </a:xfrm>
          <a:prstGeom prst="rect">
            <a:avLst/>
          </a:prstGeom>
          <a:solidFill>
            <a:srgbClr val="EFE6F7"/>
          </a:solidFill>
          <a:ln w="15875">
            <a:solidFill>
              <a:srgbClr val="7030A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1694733" y="2820000"/>
            <a:ext cx="63283" cy="4200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6" name="Rounded Rectangle 215"/>
          <p:cNvSpPr/>
          <p:nvPr/>
        </p:nvSpPr>
        <p:spPr>
          <a:xfrm>
            <a:off x="1835363" y="2920000"/>
            <a:ext cx="590644" cy="220000"/>
          </a:xfrm>
          <a:prstGeom prst="roundRect">
            <a:avLst>
              <a:gd name="adj" fmla="val 15000"/>
            </a:avLst>
          </a:prstGeom>
          <a:solidFill>
            <a:srgbClr val="7030A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7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ARS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2510385" y="2830000"/>
            <a:ext cx="2292263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6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수동 → ARS 자동 충진 ('27.7~)</a:t>
            </a:r>
          </a:p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이지켐 140 kg · 한솔 150 kg/용기 · 필터 포함</a:t>
            </a:r>
          </a:p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'27.1~6 수동 → '27.7~ ARS · ARS 충진시간 확인</a:t>
            </a:r>
          </a:p>
        </p:txBody>
      </p:sp>
      <p:sp>
        <p:nvSpPr>
          <p:cNvPr id="218" name="Rounded Rectangle 217"/>
          <p:cNvSpPr/>
          <p:nvPr/>
        </p:nvSpPr>
        <p:spPr>
          <a:xfrm>
            <a:off x="4999531" y="238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4792193" y="251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0" name="Connector 219"/>
          <p:cNvCxnSpPr/>
          <p:nvPr/>
        </p:nvCxnSpPr>
        <p:spPr>
          <a:xfrm>
            <a:off x="5612256" y="251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1" name="Rectangle 220"/>
          <p:cNvSpPr/>
          <p:nvPr/>
        </p:nvSpPr>
        <p:spPr>
          <a:xfrm>
            <a:off x="6040190" y="230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6124568" y="230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SK하이닉스  </a:t>
            </a:r>
            <a:r>
              <a:rPr sz="700" b="0" i="0">
                <a:solidFill>
                  <a:srgbClr val="1B8A95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CXMT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4999531" y="2900000"/>
            <a:ext cx="646896" cy="260000"/>
          </a:xfrm>
          <a:prstGeom prst="roundRect">
            <a:avLst>
              <a:gd name="adj" fmla="val 20000"/>
            </a:avLst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OQC</a:t>
            </a:r>
          </a:p>
        </p:txBody>
      </p:sp>
      <p:cxnSp>
        <p:nvCxnSpPr>
          <p:cNvPr id="224" name="Connector 223"/>
          <p:cNvCxnSpPr/>
          <p:nvPr/>
        </p:nvCxnSpPr>
        <p:spPr>
          <a:xfrm>
            <a:off x="4792193" y="3030000"/>
            <a:ext cx="245428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25" name="Connector 224"/>
          <p:cNvCxnSpPr/>
          <p:nvPr/>
        </p:nvCxnSpPr>
        <p:spPr>
          <a:xfrm>
            <a:off x="5612256" y="3030000"/>
            <a:ext cx="427934" cy="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sp>
        <p:nvSpPr>
          <p:cNvPr id="226" name="Rectangle 225"/>
          <p:cNvSpPr/>
          <p:nvPr/>
        </p:nvSpPr>
        <p:spPr>
          <a:xfrm>
            <a:off x="6040190" y="2820000"/>
            <a:ext cx="2816812" cy="420000"/>
          </a:xfrm>
          <a:prstGeom prst="rect">
            <a:avLst/>
          </a:prstGeom>
          <a:solidFill>
            <a:srgbClr val="D9D9D9"/>
          </a:solidFill>
          <a:ln w="12700">
            <a:solidFill>
              <a:srgbClr val="40404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6124568" y="2820000"/>
            <a:ext cx="2704308" cy="4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</a:t>
            </a:r>
            <a:r>
              <a:rPr sz="700" b="0" i="0">
                <a:solidFill>
                  <a:srgbClr val="FF790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이지켐  </a:t>
            </a:r>
            <a:r>
              <a:rPr sz="750" b="1" i="0">
                <a:solidFill>
                  <a:srgbClr val="7030A0"/>
                </a:solidFill>
                <a:latin typeface="Noto Sans KR"/>
                <a:ea typeface="Noto Sans KR"/>
                <a:cs typeface="Noto Sans KR"/>
              </a:rPr>
              <a:t>■</a:t>
            </a:r>
            <a:r>
              <a:rPr sz="7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한솔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899909" y="3250000"/>
            <a:ext cx="3986345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3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OQC·출하 : 5 Gal 9병 2 h · 200 L 1용기 2 h (운송 별도)</a:t>
            </a:r>
          </a:p>
        </p:txBody>
      </p:sp>
      <p:cxnSp>
        <p:nvCxnSpPr>
          <p:cNvPr id="229" name="Connector 228"/>
          <p:cNvCxnSpPr/>
          <p:nvPr/>
        </p:nvCxnSpPr>
        <p:spPr>
          <a:xfrm>
            <a:off x="8107447" y="2065000"/>
            <a:ext cx="4572" cy="16500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0" name="Connector 229"/>
          <p:cNvCxnSpPr/>
          <p:nvPr/>
        </p:nvCxnSpPr>
        <p:spPr>
          <a:xfrm flipH="1">
            <a:off x="760640" y="2230000"/>
            <a:ext cx="7346806" cy="0"/>
          </a:xfrm>
          <a:prstGeom prst="line">
            <a:avLst/>
          </a:prstGeom>
          <a:ln w="15875">
            <a:solidFill>
              <a:srgbClr val="1A1A1A"/>
            </a:solidFill>
          </a:ln>
        </p:spPr>
      </p:cxnSp>
      <p:cxnSp>
        <p:nvCxnSpPr>
          <p:cNvPr id="231" name="Connector 230"/>
          <p:cNvCxnSpPr/>
          <p:nvPr/>
        </p:nvCxnSpPr>
        <p:spPr>
          <a:xfrm>
            <a:off x="760640" y="2230000"/>
            <a:ext cx="4572" cy="410000"/>
          </a:xfrm>
          <a:prstGeom prst="line">
            <a:avLst/>
          </a:prstGeom>
          <a:ln w="15875">
            <a:solidFill>
              <a:srgbClr val="1A1A1A"/>
            </a:solidFill>
            <a:tailEnd type="triangle" w="med" len="med"/>
          </a:ln>
        </p:spPr>
      </p:cxnSp>
      <p:cxnSp>
        <p:nvCxnSpPr>
          <p:cNvPr id="232" name="Connector 231"/>
          <p:cNvCxnSpPr/>
          <p:nvPr/>
        </p:nvCxnSpPr>
        <p:spPr>
          <a:xfrm flipV="1">
            <a:off x="6771465" y="975000"/>
            <a:ext cx="4572" cy="205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3" name="Connector 232"/>
          <p:cNvCxnSpPr/>
          <p:nvPr/>
        </p:nvCxnSpPr>
        <p:spPr>
          <a:xfrm flipH="1">
            <a:off x="5102622" y="975000"/>
            <a:ext cx="1668842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4" name="Connector 233"/>
          <p:cNvCxnSpPr/>
          <p:nvPr/>
        </p:nvCxnSpPr>
        <p:spPr>
          <a:xfrm>
            <a:off x="5102622" y="975000"/>
            <a:ext cx="4572" cy="85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5" name="TextBox 234"/>
          <p:cNvSpPr txBox="1"/>
          <p:nvPr/>
        </p:nvSpPr>
        <p:spPr>
          <a:xfrm>
            <a:off x="6813654" y="955000"/>
            <a:ext cx="1546926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PQC NG → 정제 복귀</a:t>
            </a:r>
          </a:p>
        </p:txBody>
      </p:sp>
      <p:cxnSp>
        <p:nvCxnSpPr>
          <p:cNvPr id="236" name="Connector 235"/>
          <p:cNvCxnSpPr/>
          <p:nvPr/>
        </p:nvCxnSpPr>
        <p:spPr>
          <a:xfrm flipV="1">
            <a:off x="940640" y="2300000"/>
            <a:ext cx="4572" cy="34000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7" name="Connector 236"/>
          <p:cNvCxnSpPr/>
          <p:nvPr/>
        </p:nvCxnSpPr>
        <p:spPr>
          <a:xfrm>
            <a:off x="940640" y="2300000"/>
            <a:ext cx="4526615" cy="0"/>
          </a:xfrm>
          <a:prstGeom prst="line">
            <a:avLst/>
          </a:prstGeom>
          <a:ln w="12700">
            <a:solidFill>
              <a:srgbClr val="E00000"/>
            </a:solidFill>
            <a:prstDash val="dash"/>
          </a:ln>
        </p:spPr>
      </p:cxnSp>
      <p:cxnSp>
        <p:nvCxnSpPr>
          <p:cNvPr id="238" name="Connector 237"/>
          <p:cNvCxnSpPr/>
          <p:nvPr/>
        </p:nvCxnSpPr>
        <p:spPr>
          <a:xfrm flipV="1">
            <a:off x="5467256" y="1910000"/>
            <a:ext cx="4572" cy="390000"/>
          </a:xfrm>
          <a:prstGeom prst="line">
            <a:avLst/>
          </a:prstGeom>
          <a:ln w="12700">
            <a:solidFill>
              <a:srgbClr val="E00000"/>
            </a:solidFill>
            <a:prstDash val="dash"/>
            <a:tailEnd type="triangle" w="med" len="med"/>
          </a:ln>
        </p:spPr>
      </p:cxnSp>
      <p:sp>
        <p:nvSpPr>
          <p:cNvPr id="239" name="TextBox 238"/>
          <p:cNvSpPr txBox="1"/>
          <p:nvPr/>
        </p:nvSpPr>
        <p:spPr>
          <a:xfrm>
            <a:off x="5512829" y="2150000"/>
            <a:ext cx="1968815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30" b="1" i="0">
                <a:solidFill>
                  <a:srgbClr val="E00000"/>
                </a:solidFill>
                <a:latin typeface="Noto Sans KR"/>
                <a:ea typeface="Noto Sans KR"/>
                <a:cs typeface="Noto Sans KR"/>
              </a:rPr>
              <a:t>FQC NG → 정제 복귀 (조건 확인)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287000" y="34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443129" y="3400000"/>
            <a:ext cx="11250374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투자 · 운영 일정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'27.6까지 정제기 1대 · 26.2톤/년 → '27.7부터 정제기 2대 · 47.2톤/년 (연간 환산)</a:t>
            </a:r>
          </a:p>
        </p:txBody>
      </p:sp>
      <p:graphicFrame>
        <p:nvGraphicFramePr>
          <p:cNvPr id="257" name="Table 256"/>
          <p:cNvGraphicFramePr>
            <a:graphicFrameLocks noGrp="1"/>
          </p:cNvGraphicFramePr>
          <p:nvPr/>
        </p:nvGraphicFramePr>
        <p:xfrm>
          <a:off x="287000" y="3620000"/>
          <a:ext cx="8569988" cy="895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00000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  <a:gridCol w="381666"/>
              </a:tblGrid>
              <a:tr h="150000">
                <a:tc rowSpan="2">
                  <a:txBody>
                    <a:bodyPr/>
                    <a:lstStyle/>
                    <a:p>
                      <a:pPr algn="l"/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2027년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8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2028년</a:t>
                      </a:r>
                      <a:endParaRPr sz="7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DEDED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45000">
                <a:tc v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리플럭스 공사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(2~5월) · 공사 중 가동 여부 확인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8C9D2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6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9CA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정제기 2대 적용 생산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</a:t>
                      </a:r>
                      <a:endParaRPr sz="60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생산 시작 '27.7 · 최초 12개월 '27.7~'28.6 (47.2톤 환산)</a:t>
                      </a:r>
                      <a:endParaRPr sz="630"/>
                    </a:p>
                  </a:txBody>
                  <a:tcPr anchor="ctr" marL="45000" marR="45000" marT="15000" marB="1500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0000"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ARS 200 L 충진 ('27.7~)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'26 설치 · 1~6월 200 L 수동 충진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30" b="1" i="0">
                          <a:solidFill>
                            <a:srgbClr val="7030A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ARS 운영 '27.7~ · 이지켐·한솔 200 L · 2028 전월 ARS (5 Gal 미적용)</a:t>
                      </a:r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FE6F7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t/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58" name="Rectangle 257"/>
          <p:cNvSpPr/>
          <p:nvPr/>
        </p:nvSpPr>
        <p:spPr>
          <a:xfrm>
            <a:off x="287000" y="463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97000" y="460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정제기 2대 시간차 운전 개념 — 30일(720 h) 예시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시차 30 h · 설비별 70.5 h (설명용 가정) · 완료 20 Batch = 3,800 kg (이월 포함)</a:t>
            </a:r>
          </a:p>
        </p:txBody>
      </p:sp>
      <p:sp>
        <p:nvSpPr>
          <p:cNvPr id="454" name="Rectangle 453"/>
          <p:cNvSpPr/>
          <p:nvPr/>
        </p:nvSpPr>
        <p:spPr>
          <a:xfrm>
            <a:off x="287000" y="573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5" name="TextBox 454"/>
          <p:cNvSpPr txBox="1"/>
          <p:nvPr/>
        </p:nvSpPr>
        <p:spPr>
          <a:xfrm>
            <a:off x="32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Capa. (연간 환산)</a:t>
            </a:r>
          </a:p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26.2 → 47.2톤/년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'27.7~'28.6 12개월 · 2027 실제 생산량 아님</a:t>
            </a:r>
          </a:p>
        </p:txBody>
      </p:sp>
      <p:sp>
        <p:nvSpPr>
          <p:cNvPr id="456" name="Rectangle 455"/>
          <p:cNvSpPr/>
          <p:nvPr/>
        </p:nvSpPr>
        <p:spPr>
          <a:xfrm>
            <a:off x="2447000" y="5735000"/>
            <a:ext cx="2090000" cy="4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7" name="TextBox 456"/>
          <p:cNvSpPr txBox="1"/>
          <p:nvPr/>
        </p:nvSpPr>
        <p:spPr>
          <a:xfrm>
            <a:off x="248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단순 2배 vs 개선 환산</a:t>
            </a:r>
          </a:p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52.4 vs 47.2톤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차이 5.2톤 = Mix·리사이클 준비 등 (확정 손실 아님)</a:t>
            </a:r>
          </a:p>
        </p:txBody>
      </p:sp>
      <p:sp>
        <p:nvSpPr>
          <p:cNvPr id="458" name="Rectangle 457"/>
          <p:cNvSpPr/>
          <p:nvPr/>
        </p:nvSpPr>
        <p:spPr>
          <a:xfrm>
            <a:off x="4607000" y="5735000"/>
            <a:ext cx="2090000" cy="420000"/>
          </a:xfrm>
          <a:prstGeom prst="rect">
            <a:avLst/>
          </a:prstGeom>
          <a:solidFill>
            <a:srgbClr val="FDEDF0"/>
          </a:solidFill>
          <a:ln w="1270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59" name="TextBox 458"/>
          <p:cNvSpPr txBox="1"/>
          <p:nvPr/>
        </p:nvSpPr>
        <p:spPr>
          <a:xfrm>
            <a:off x="464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설비별 등가 투입 간격</a:t>
            </a:r>
          </a:p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약 70.5 h (2대)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47.2톤÷190 역산 · 현재 1대 63.5 h · 45 h 단축 아님</a:t>
            </a:r>
          </a:p>
        </p:txBody>
      </p:sp>
      <p:sp>
        <p:nvSpPr>
          <p:cNvPr id="460" name="Rectangle 459"/>
          <p:cNvSpPr/>
          <p:nvPr/>
        </p:nvSpPr>
        <p:spPr>
          <a:xfrm>
            <a:off x="6767000" y="5735000"/>
            <a:ext cx="2090000" cy="420000"/>
          </a:xfrm>
          <a:prstGeom prst="rect">
            <a:avLst/>
          </a:prstGeom>
          <a:solidFill>
            <a:srgbClr val="FBE5D6"/>
          </a:solidFill>
          <a:ln w="12700">
            <a:solidFill>
              <a:srgbClr val="ED7D31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1" name="TextBox 460"/>
          <p:cNvSpPr txBox="1"/>
          <p:nvPr/>
        </p:nvSpPr>
        <p:spPr>
          <a:xfrm>
            <a:off x="6807000" y="5755000"/>
            <a:ext cx="2010000" cy="4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검토안</a:t>
            </a:r>
          </a:p>
          <a:p>
            <a:pPr algn="ctr">
              <a:spcAft>
                <a:spcPts val="0"/>
              </a:spcAft>
            </a:pPr>
            <a:r>
              <a:rPr sz="900" b="1" i="0">
                <a:solidFill>
                  <a:srgbClr val="ED7D31"/>
                </a:solidFill>
                <a:latin typeface="Noto Sans KR"/>
                <a:ea typeface="Noto Sans KR"/>
                <a:cs typeface="Noto Sans KR"/>
              </a:rPr>
              <a:t>50.2톤 (미확정)</a:t>
            </a:r>
          </a:p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+3톤 · 열 안정성·Dimer·Unknown·Yield · 승인·시점 미정</a:t>
            </a:r>
          </a:p>
        </p:txBody>
      </p:sp>
      <p:sp>
        <p:nvSpPr>
          <p:cNvPr id="462" name="Round Same Side Corner Rectangle 178"/>
          <p:cNvSpPr/>
          <p:nvPr/>
        </p:nvSpPr>
        <p:spPr>
          <a:xfrm rot="10800000">
            <a:off x="5338152" y="1195000"/>
            <a:ext cx="380000" cy="355000"/>
          </a:xfrm>
          <a:prstGeom prst="round2SameRect">
            <a:avLst>
              <a:gd name="adj1" fmla="val 0"/>
              <a:gd name="adj2" fmla="val 50000"/>
            </a:avLst>
          </a:prstGeom>
          <a:solidFill>
            <a:srgbClr val="A6A6A6"/>
          </a:solidFill>
          <a:ln w="15875">
            <a:solidFill>
              <a:srgbClr val="59595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3" name="Rectangle 177"/>
          <p:cNvSpPr/>
          <p:nvPr/>
        </p:nvSpPr>
        <p:spPr>
          <a:xfrm>
            <a:off x="5478152" y="1065000"/>
            <a:ext cx="100000" cy="140000"/>
          </a:xfrm>
          <a:prstGeom prst="rect">
            <a:avLst/>
          </a:prstGeom>
          <a:solidFill>
            <a:srgbClr val="BFBFBF"/>
          </a:solidFill>
          <a:ln w="12700">
            <a:solidFill>
              <a:srgbClr val="7F7F7F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464" name="TextBox 179"/>
          <p:cNvSpPr txBox="1"/>
          <p:nvPr/>
        </p:nvSpPr>
        <p:spPr>
          <a:xfrm>
            <a:off x="5338152" y="1260000"/>
            <a:ext cx="380000" cy="2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정제기2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4994214" y="1280160"/>
            <a:ext cx="274320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50" b="1">
                <a:solidFill>
                  <a:srgbClr val="C00000"/>
                </a:solidFill>
                <a:latin typeface="Noto Sans KR"/>
                <a:ea typeface="Noto Sans KR"/>
                <a:cs typeface="Noto Sans KR"/>
              </a:rPr>
              <a:t>시차</a:t>
            </a:r>
          </a:p>
        </p:txBody>
      </p:sp>
      <p:sp>
        <p:nvSpPr>
          <p:cNvPr id="466" name="TextBox 465"/>
          <p:cNvSpPr txBox="1"/>
          <p:nvPr/>
        </p:nvSpPr>
        <p:spPr>
          <a:xfrm>
            <a:off x="1170432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467" name="Rectangle 466"/>
          <p:cNvSpPr/>
          <p:nvPr/>
        </p:nvSpPr>
        <p:spPr>
          <a:xfrm>
            <a:off x="1170432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68" name="TextBox 467"/>
          <p:cNvSpPr txBox="1"/>
          <p:nvPr/>
        </p:nvSpPr>
        <p:spPr>
          <a:xfrm>
            <a:off x="1426768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469" name="Rectangle 468"/>
          <p:cNvSpPr/>
          <p:nvPr/>
        </p:nvSpPr>
        <p:spPr>
          <a:xfrm>
            <a:off x="1426768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1683105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471" name="Rectangle 470"/>
          <p:cNvSpPr/>
          <p:nvPr/>
        </p:nvSpPr>
        <p:spPr>
          <a:xfrm>
            <a:off x="1683105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2" name="TextBox 471"/>
          <p:cNvSpPr txBox="1"/>
          <p:nvPr/>
        </p:nvSpPr>
        <p:spPr>
          <a:xfrm>
            <a:off x="1939442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473" name="Rectangle 472"/>
          <p:cNvSpPr/>
          <p:nvPr/>
        </p:nvSpPr>
        <p:spPr>
          <a:xfrm>
            <a:off x="1939442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4" name="TextBox 473"/>
          <p:cNvSpPr txBox="1"/>
          <p:nvPr/>
        </p:nvSpPr>
        <p:spPr>
          <a:xfrm>
            <a:off x="2195779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475" name="Rectangle 474"/>
          <p:cNvSpPr/>
          <p:nvPr/>
        </p:nvSpPr>
        <p:spPr>
          <a:xfrm>
            <a:off x="2195779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6" name="TextBox 475"/>
          <p:cNvSpPr txBox="1"/>
          <p:nvPr/>
        </p:nvSpPr>
        <p:spPr>
          <a:xfrm>
            <a:off x="2452116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477" name="Rectangle 476"/>
          <p:cNvSpPr/>
          <p:nvPr/>
        </p:nvSpPr>
        <p:spPr>
          <a:xfrm>
            <a:off x="2452116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78" name="TextBox 477"/>
          <p:cNvSpPr txBox="1"/>
          <p:nvPr/>
        </p:nvSpPr>
        <p:spPr>
          <a:xfrm>
            <a:off x="2708452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479" name="Rectangle 478"/>
          <p:cNvSpPr/>
          <p:nvPr/>
        </p:nvSpPr>
        <p:spPr>
          <a:xfrm>
            <a:off x="2708452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0" name="TextBox 479"/>
          <p:cNvSpPr txBox="1"/>
          <p:nvPr/>
        </p:nvSpPr>
        <p:spPr>
          <a:xfrm>
            <a:off x="2964789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481" name="Rectangle 480"/>
          <p:cNvSpPr/>
          <p:nvPr/>
        </p:nvSpPr>
        <p:spPr>
          <a:xfrm>
            <a:off x="2964789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2" name="TextBox 481"/>
          <p:cNvSpPr txBox="1"/>
          <p:nvPr/>
        </p:nvSpPr>
        <p:spPr>
          <a:xfrm>
            <a:off x="3221126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483" name="Rectangle 482"/>
          <p:cNvSpPr/>
          <p:nvPr/>
        </p:nvSpPr>
        <p:spPr>
          <a:xfrm>
            <a:off x="3221126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4" name="TextBox 483"/>
          <p:cNvSpPr txBox="1"/>
          <p:nvPr/>
        </p:nvSpPr>
        <p:spPr>
          <a:xfrm>
            <a:off x="3477463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485" name="Rectangle 484"/>
          <p:cNvSpPr/>
          <p:nvPr/>
        </p:nvSpPr>
        <p:spPr>
          <a:xfrm>
            <a:off x="3477463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6" name="TextBox 485"/>
          <p:cNvSpPr txBox="1"/>
          <p:nvPr/>
        </p:nvSpPr>
        <p:spPr>
          <a:xfrm>
            <a:off x="3733799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487" name="Rectangle 486"/>
          <p:cNvSpPr/>
          <p:nvPr/>
        </p:nvSpPr>
        <p:spPr>
          <a:xfrm>
            <a:off x="3733799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88" name="TextBox 487"/>
          <p:cNvSpPr txBox="1"/>
          <p:nvPr/>
        </p:nvSpPr>
        <p:spPr>
          <a:xfrm>
            <a:off x="3990136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489" name="Rectangle 488"/>
          <p:cNvSpPr/>
          <p:nvPr/>
        </p:nvSpPr>
        <p:spPr>
          <a:xfrm>
            <a:off x="3990136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0" name="TextBox 489"/>
          <p:cNvSpPr txBox="1"/>
          <p:nvPr/>
        </p:nvSpPr>
        <p:spPr>
          <a:xfrm>
            <a:off x="4246473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491" name="Rectangle 490"/>
          <p:cNvSpPr/>
          <p:nvPr/>
        </p:nvSpPr>
        <p:spPr>
          <a:xfrm>
            <a:off x="4246473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2" name="TextBox 491"/>
          <p:cNvSpPr txBox="1"/>
          <p:nvPr/>
        </p:nvSpPr>
        <p:spPr>
          <a:xfrm>
            <a:off x="4502810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493" name="Rectangle 492"/>
          <p:cNvSpPr/>
          <p:nvPr/>
        </p:nvSpPr>
        <p:spPr>
          <a:xfrm>
            <a:off x="4502810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4" name="TextBox 493"/>
          <p:cNvSpPr txBox="1"/>
          <p:nvPr/>
        </p:nvSpPr>
        <p:spPr>
          <a:xfrm>
            <a:off x="4759147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495" name="Rectangle 494"/>
          <p:cNvSpPr/>
          <p:nvPr/>
        </p:nvSpPr>
        <p:spPr>
          <a:xfrm>
            <a:off x="4759147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6" name="TextBox 495"/>
          <p:cNvSpPr txBox="1"/>
          <p:nvPr/>
        </p:nvSpPr>
        <p:spPr>
          <a:xfrm>
            <a:off x="5015484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97" name="Rectangle 496"/>
          <p:cNvSpPr/>
          <p:nvPr/>
        </p:nvSpPr>
        <p:spPr>
          <a:xfrm>
            <a:off x="5015484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498" name="TextBox 497"/>
          <p:cNvSpPr txBox="1"/>
          <p:nvPr/>
        </p:nvSpPr>
        <p:spPr>
          <a:xfrm>
            <a:off x="5271820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499" name="Rectangle 498"/>
          <p:cNvSpPr/>
          <p:nvPr/>
        </p:nvSpPr>
        <p:spPr>
          <a:xfrm>
            <a:off x="5271820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0" name="TextBox 499"/>
          <p:cNvSpPr txBox="1"/>
          <p:nvPr/>
        </p:nvSpPr>
        <p:spPr>
          <a:xfrm>
            <a:off x="5528157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501" name="Rectangle 500"/>
          <p:cNvSpPr/>
          <p:nvPr/>
        </p:nvSpPr>
        <p:spPr>
          <a:xfrm>
            <a:off x="5528157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2" name="TextBox 501"/>
          <p:cNvSpPr txBox="1"/>
          <p:nvPr/>
        </p:nvSpPr>
        <p:spPr>
          <a:xfrm>
            <a:off x="5784494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503" name="Rectangle 502"/>
          <p:cNvSpPr/>
          <p:nvPr/>
        </p:nvSpPr>
        <p:spPr>
          <a:xfrm>
            <a:off x="5784494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4" name="TextBox 503"/>
          <p:cNvSpPr txBox="1"/>
          <p:nvPr/>
        </p:nvSpPr>
        <p:spPr>
          <a:xfrm>
            <a:off x="6040831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505" name="Rectangle 504"/>
          <p:cNvSpPr/>
          <p:nvPr/>
        </p:nvSpPr>
        <p:spPr>
          <a:xfrm>
            <a:off x="6040831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6" name="TextBox 505"/>
          <p:cNvSpPr txBox="1"/>
          <p:nvPr/>
        </p:nvSpPr>
        <p:spPr>
          <a:xfrm>
            <a:off x="6297168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507" name="Rectangle 506"/>
          <p:cNvSpPr/>
          <p:nvPr/>
        </p:nvSpPr>
        <p:spPr>
          <a:xfrm>
            <a:off x="6297168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08" name="TextBox 507"/>
          <p:cNvSpPr txBox="1"/>
          <p:nvPr/>
        </p:nvSpPr>
        <p:spPr>
          <a:xfrm>
            <a:off x="6553504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509" name="Rectangle 508"/>
          <p:cNvSpPr/>
          <p:nvPr/>
        </p:nvSpPr>
        <p:spPr>
          <a:xfrm>
            <a:off x="6553504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0" name="TextBox 509"/>
          <p:cNvSpPr txBox="1"/>
          <p:nvPr/>
        </p:nvSpPr>
        <p:spPr>
          <a:xfrm>
            <a:off x="6809841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511" name="Rectangle 510"/>
          <p:cNvSpPr/>
          <p:nvPr/>
        </p:nvSpPr>
        <p:spPr>
          <a:xfrm>
            <a:off x="6809841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2" name="TextBox 511"/>
          <p:cNvSpPr txBox="1"/>
          <p:nvPr/>
        </p:nvSpPr>
        <p:spPr>
          <a:xfrm>
            <a:off x="7066178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513" name="Rectangle 512"/>
          <p:cNvSpPr/>
          <p:nvPr/>
        </p:nvSpPr>
        <p:spPr>
          <a:xfrm>
            <a:off x="7066178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4" name="TextBox 513"/>
          <p:cNvSpPr txBox="1"/>
          <p:nvPr/>
        </p:nvSpPr>
        <p:spPr>
          <a:xfrm>
            <a:off x="7322515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515" name="Rectangle 514"/>
          <p:cNvSpPr/>
          <p:nvPr/>
        </p:nvSpPr>
        <p:spPr>
          <a:xfrm>
            <a:off x="7322515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6" name="TextBox 515"/>
          <p:cNvSpPr txBox="1"/>
          <p:nvPr/>
        </p:nvSpPr>
        <p:spPr>
          <a:xfrm>
            <a:off x="7578851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517" name="Rectangle 516"/>
          <p:cNvSpPr/>
          <p:nvPr/>
        </p:nvSpPr>
        <p:spPr>
          <a:xfrm>
            <a:off x="7578851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18" name="TextBox 517"/>
          <p:cNvSpPr txBox="1"/>
          <p:nvPr/>
        </p:nvSpPr>
        <p:spPr>
          <a:xfrm>
            <a:off x="7835188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519" name="Rectangle 518"/>
          <p:cNvSpPr/>
          <p:nvPr/>
        </p:nvSpPr>
        <p:spPr>
          <a:xfrm>
            <a:off x="7835188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91525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521" name="Rectangle 520"/>
          <p:cNvSpPr/>
          <p:nvPr/>
        </p:nvSpPr>
        <p:spPr>
          <a:xfrm>
            <a:off x="8091525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2" name="TextBox 521"/>
          <p:cNvSpPr txBox="1"/>
          <p:nvPr/>
        </p:nvSpPr>
        <p:spPr>
          <a:xfrm>
            <a:off x="8347862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0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8347862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4" name="TextBox 523"/>
          <p:cNvSpPr txBox="1"/>
          <p:nvPr/>
        </p:nvSpPr>
        <p:spPr>
          <a:xfrm>
            <a:off x="8604199" y="4809744"/>
            <a:ext cx="256336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30" b="1">
                <a:solidFill>
                  <a:srgbClr val="404040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525" name="Rectangle 524"/>
          <p:cNvSpPr/>
          <p:nvPr/>
        </p:nvSpPr>
        <p:spPr>
          <a:xfrm>
            <a:off x="8604199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6" name="Rectangle 525"/>
          <p:cNvSpPr/>
          <p:nvPr/>
        </p:nvSpPr>
        <p:spPr>
          <a:xfrm>
            <a:off x="8860536" y="4919472"/>
            <a:ext cx="9144" cy="73152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27" name="TextBox 526"/>
          <p:cNvSpPr txBox="1"/>
          <p:nvPr/>
        </p:nvSpPr>
        <p:spPr>
          <a:xfrm>
            <a:off x="283464" y="4937759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</a:t>
            </a:r>
          </a:p>
        </p:txBody>
      </p:sp>
      <p:sp>
        <p:nvSpPr>
          <p:cNvPr id="528" name="TextBox 527"/>
          <p:cNvSpPr txBox="1"/>
          <p:nvPr/>
        </p:nvSpPr>
        <p:spPr>
          <a:xfrm>
            <a:off x="283464" y="5084064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2</a:t>
            </a:r>
          </a:p>
        </p:txBody>
      </p:sp>
      <p:sp>
        <p:nvSpPr>
          <p:cNvPr id="529" name="TextBox 528"/>
          <p:cNvSpPr txBox="1"/>
          <p:nvPr/>
        </p:nvSpPr>
        <p:spPr>
          <a:xfrm>
            <a:off x="283464" y="5230368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PQC·이송·FQC</a:t>
            </a:r>
          </a:p>
        </p:txBody>
      </p:sp>
      <p:sp>
        <p:nvSpPr>
          <p:cNvPr id="530" name="TextBox 529"/>
          <p:cNvSpPr txBox="1"/>
          <p:nvPr/>
        </p:nvSpPr>
        <p:spPr>
          <a:xfrm>
            <a:off x="283464" y="5376672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 (공용)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283464" y="5522976"/>
            <a:ext cx="868680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00" b="1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누적 생산 kg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283464" y="4809744"/>
            <a:ext cx="868680" cy="1005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30일 · 720 h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1170432" y="4928616"/>
            <a:ext cx="21361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1170432" y="5367528"/>
            <a:ext cx="48063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5" name="Rectangle 534"/>
          <p:cNvSpPr/>
          <p:nvPr/>
        </p:nvSpPr>
        <p:spPr>
          <a:xfrm>
            <a:off x="1191793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</a:t>
            </a:r>
          </a:p>
        </p:txBody>
      </p:sp>
      <p:sp>
        <p:nvSpPr>
          <p:cNvPr id="536" name="Rectangle 535"/>
          <p:cNvSpPr/>
          <p:nvPr/>
        </p:nvSpPr>
        <p:spPr>
          <a:xfrm>
            <a:off x="1693786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7" name="Rectangle 536"/>
          <p:cNvSpPr/>
          <p:nvPr/>
        </p:nvSpPr>
        <p:spPr>
          <a:xfrm>
            <a:off x="1693786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8" name="Rectangle 537"/>
          <p:cNvSpPr/>
          <p:nvPr/>
        </p:nvSpPr>
        <p:spPr>
          <a:xfrm>
            <a:off x="1779231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39" name="Rectangle 538"/>
          <p:cNvSpPr/>
          <p:nvPr/>
        </p:nvSpPr>
        <p:spPr>
          <a:xfrm>
            <a:off x="1944782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1-2</a:t>
            </a:r>
          </a:p>
        </p:txBody>
      </p:sp>
      <p:sp>
        <p:nvSpPr>
          <p:cNvPr id="540" name="Rectangle 539"/>
          <p:cNvSpPr/>
          <p:nvPr/>
        </p:nvSpPr>
        <p:spPr>
          <a:xfrm>
            <a:off x="2446775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1" name="Rectangle 540"/>
          <p:cNvSpPr/>
          <p:nvPr/>
        </p:nvSpPr>
        <p:spPr>
          <a:xfrm>
            <a:off x="2446775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2" name="Rectangle 541"/>
          <p:cNvSpPr/>
          <p:nvPr/>
        </p:nvSpPr>
        <p:spPr>
          <a:xfrm>
            <a:off x="2532221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3" name="Rectangle 542"/>
          <p:cNvSpPr/>
          <p:nvPr/>
        </p:nvSpPr>
        <p:spPr>
          <a:xfrm>
            <a:off x="2697772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1-3</a:t>
            </a:r>
          </a:p>
        </p:txBody>
      </p:sp>
      <p:sp>
        <p:nvSpPr>
          <p:cNvPr id="544" name="Rectangle 543"/>
          <p:cNvSpPr/>
          <p:nvPr/>
        </p:nvSpPr>
        <p:spPr>
          <a:xfrm>
            <a:off x="3199765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5" name="Rectangle 544"/>
          <p:cNvSpPr/>
          <p:nvPr/>
        </p:nvSpPr>
        <p:spPr>
          <a:xfrm>
            <a:off x="3199765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6" name="Rectangle 545"/>
          <p:cNvSpPr/>
          <p:nvPr/>
        </p:nvSpPr>
        <p:spPr>
          <a:xfrm>
            <a:off x="3285210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7" name="Rectangle 546"/>
          <p:cNvSpPr/>
          <p:nvPr/>
        </p:nvSpPr>
        <p:spPr>
          <a:xfrm>
            <a:off x="3450761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1-4</a:t>
            </a:r>
          </a:p>
        </p:txBody>
      </p:sp>
      <p:sp>
        <p:nvSpPr>
          <p:cNvPr id="548" name="Rectangle 547"/>
          <p:cNvSpPr/>
          <p:nvPr/>
        </p:nvSpPr>
        <p:spPr>
          <a:xfrm>
            <a:off x="3952754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49" name="Rectangle 548"/>
          <p:cNvSpPr/>
          <p:nvPr/>
        </p:nvSpPr>
        <p:spPr>
          <a:xfrm>
            <a:off x="3952754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0" name="Rectangle 549"/>
          <p:cNvSpPr/>
          <p:nvPr/>
        </p:nvSpPr>
        <p:spPr>
          <a:xfrm>
            <a:off x="4038199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1" name="Rectangle 550"/>
          <p:cNvSpPr/>
          <p:nvPr/>
        </p:nvSpPr>
        <p:spPr>
          <a:xfrm>
            <a:off x="4203750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1-5</a:t>
            </a:r>
          </a:p>
        </p:txBody>
      </p:sp>
      <p:sp>
        <p:nvSpPr>
          <p:cNvPr id="552" name="Rectangle 551"/>
          <p:cNvSpPr/>
          <p:nvPr/>
        </p:nvSpPr>
        <p:spPr>
          <a:xfrm>
            <a:off x="4705743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3" name="Rectangle 552"/>
          <p:cNvSpPr/>
          <p:nvPr/>
        </p:nvSpPr>
        <p:spPr>
          <a:xfrm>
            <a:off x="4705743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4" name="Rectangle 553"/>
          <p:cNvSpPr/>
          <p:nvPr/>
        </p:nvSpPr>
        <p:spPr>
          <a:xfrm>
            <a:off x="4791189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5" name="Rectangle 554"/>
          <p:cNvSpPr/>
          <p:nvPr/>
        </p:nvSpPr>
        <p:spPr>
          <a:xfrm>
            <a:off x="4956740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1-6</a:t>
            </a:r>
          </a:p>
        </p:txBody>
      </p:sp>
      <p:sp>
        <p:nvSpPr>
          <p:cNvPr id="556" name="Rectangle 555"/>
          <p:cNvSpPr/>
          <p:nvPr/>
        </p:nvSpPr>
        <p:spPr>
          <a:xfrm>
            <a:off x="5458733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7" name="Rectangle 556"/>
          <p:cNvSpPr/>
          <p:nvPr/>
        </p:nvSpPr>
        <p:spPr>
          <a:xfrm>
            <a:off x="5458733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8" name="Rectangle 557"/>
          <p:cNvSpPr/>
          <p:nvPr/>
        </p:nvSpPr>
        <p:spPr>
          <a:xfrm>
            <a:off x="5544178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59" name="Rectangle 558"/>
          <p:cNvSpPr/>
          <p:nvPr/>
        </p:nvSpPr>
        <p:spPr>
          <a:xfrm>
            <a:off x="5709729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1-7</a:t>
            </a:r>
          </a:p>
        </p:txBody>
      </p:sp>
      <p:sp>
        <p:nvSpPr>
          <p:cNvPr id="560" name="Rectangle 559"/>
          <p:cNvSpPr/>
          <p:nvPr/>
        </p:nvSpPr>
        <p:spPr>
          <a:xfrm>
            <a:off x="6211722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1" name="Rectangle 560"/>
          <p:cNvSpPr/>
          <p:nvPr/>
        </p:nvSpPr>
        <p:spPr>
          <a:xfrm>
            <a:off x="6211722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2" name="Rectangle 561"/>
          <p:cNvSpPr/>
          <p:nvPr/>
        </p:nvSpPr>
        <p:spPr>
          <a:xfrm>
            <a:off x="6297168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3" name="Rectangle 562"/>
          <p:cNvSpPr/>
          <p:nvPr/>
        </p:nvSpPr>
        <p:spPr>
          <a:xfrm>
            <a:off x="6462718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1-8</a:t>
            </a:r>
          </a:p>
        </p:txBody>
      </p:sp>
      <p:sp>
        <p:nvSpPr>
          <p:cNvPr id="564" name="Rectangle 563"/>
          <p:cNvSpPr/>
          <p:nvPr/>
        </p:nvSpPr>
        <p:spPr>
          <a:xfrm>
            <a:off x="6964711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5" name="Rectangle 564"/>
          <p:cNvSpPr/>
          <p:nvPr/>
        </p:nvSpPr>
        <p:spPr>
          <a:xfrm>
            <a:off x="6964711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6" name="Rectangle 565"/>
          <p:cNvSpPr/>
          <p:nvPr/>
        </p:nvSpPr>
        <p:spPr>
          <a:xfrm>
            <a:off x="7050157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7" name="Rectangle 566"/>
          <p:cNvSpPr/>
          <p:nvPr/>
        </p:nvSpPr>
        <p:spPr>
          <a:xfrm>
            <a:off x="7215708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1-9</a:t>
            </a:r>
          </a:p>
        </p:txBody>
      </p:sp>
      <p:sp>
        <p:nvSpPr>
          <p:cNvPr id="568" name="Rectangle 567"/>
          <p:cNvSpPr/>
          <p:nvPr/>
        </p:nvSpPr>
        <p:spPr>
          <a:xfrm>
            <a:off x="7717701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69" name="Rectangle 568"/>
          <p:cNvSpPr/>
          <p:nvPr/>
        </p:nvSpPr>
        <p:spPr>
          <a:xfrm>
            <a:off x="7717701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0" name="Rectangle 569"/>
          <p:cNvSpPr/>
          <p:nvPr/>
        </p:nvSpPr>
        <p:spPr>
          <a:xfrm>
            <a:off x="7803146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1" name="Rectangle 570"/>
          <p:cNvSpPr/>
          <p:nvPr/>
        </p:nvSpPr>
        <p:spPr>
          <a:xfrm>
            <a:off x="7968697" y="4928616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1-10</a:t>
            </a:r>
          </a:p>
        </p:txBody>
      </p:sp>
      <p:sp>
        <p:nvSpPr>
          <p:cNvPr id="572" name="Rectangle 571"/>
          <p:cNvSpPr/>
          <p:nvPr/>
        </p:nvSpPr>
        <p:spPr>
          <a:xfrm>
            <a:off x="8470690" y="4928616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3" name="Rectangle 572"/>
          <p:cNvSpPr/>
          <p:nvPr/>
        </p:nvSpPr>
        <p:spPr>
          <a:xfrm>
            <a:off x="8470690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4" name="Rectangle 573"/>
          <p:cNvSpPr/>
          <p:nvPr/>
        </p:nvSpPr>
        <p:spPr>
          <a:xfrm>
            <a:off x="8556136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5" name="Rectangle 574"/>
          <p:cNvSpPr/>
          <p:nvPr/>
        </p:nvSpPr>
        <p:spPr>
          <a:xfrm>
            <a:off x="8721686" y="4928616"/>
            <a:ext cx="138849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6" name="Rectangle 575"/>
          <p:cNvSpPr/>
          <p:nvPr/>
        </p:nvSpPr>
        <p:spPr>
          <a:xfrm>
            <a:off x="1170432" y="5074920"/>
            <a:ext cx="90785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7" name="Rectangle 576"/>
          <p:cNvSpPr/>
          <p:nvPr/>
        </p:nvSpPr>
        <p:spPr>
          <a:xfrm>
            <a:off x="1261217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8" name="Rectangle 577"/>
          <p:cNvSpPr/>
          <p:nvPr/>
        </p:nvSpPr>
        <p:spPr>
          <a:xfrm>
            <a:off x="1261217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79" name="Rectangle 578"/>
          <p:cNvSpPr/>
          <p:nvPr/>
        </p:nvSpPr>
        <p:spPr>
          <a:xfrm>
            <a:off x="1346663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0" name="Rectangle 579"/>
          <p:cNvSpPr/>
          <p:nvPr/>
        </p:nvSpPr>
        <p:spPr>
          <a:xfrm>
            <a:off x="1512214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</a:t>
            </a:r>
          </a:p>
        </p:txBody>
      </p:sp>
      <p:sp>
        <p:nvSpPr>
          <p:cNvPr id="581" name="Rectangle 580"/>
          <p:cNvSpPr/>
          <p:nvPr/>
        </p:nvSpPr>
        <p:spPr>
          <a:xfrm>
            <a:off x="2014207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2" name="Rectangle 581"/>
          <p:cNvSpPr/>
          <p:nvPr/>
        </p:nvSpPr>
        <p:spPr>
          <a:xfrm>
            <a:off x="2014207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3" name="Rectangle 582"/>
          <p:cNvSpPr/>
          <p:nvPr/>
        </p:nvSpPr>
        <p:spPr>
          <a:xfrm>
            <a:off x="2099652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4" name="Rectangle 583"/>
          <p:cNvSpPr/>
          <p:nvPr/>
        </p:nvSpPr>
        <p:spPr>
          <a:xfrm>
            <a:off x="2265203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2-2</a:t>
            </a:r>
          </a:p>
        </p:txBody>
      </p:sp>
      <p:sp>
        <p:nvSpPr>
          <p:cNvPr id="585" name="Rectangle 584"/>
          <p:cNvSpPr/>
          <p:nvPr/>
        </p:nvSpPr>
        <p:spPr>
          <a:xfrm>
            <a:off x="2767196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6" name="Rectangle 585"/>
          <p:cNvSpPr/>
          <p:nvPr/>
        </p:nvSpPr>
        <p:spPr>
          <a:xfrm>
            <a:off x="2767196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7" name="Rectangle 586"/>
          <p:cNvSpPr/>
          <p:nvPr/>
        </p:nvSpPr>
        <p:spPr>
          <a:xfrm>
            <a:off x="2852642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88" name="Rectangle 587"/>
          <p:cNvSpPr/>
          <p:nvPr/>
        </p:nvSpPr>
        <p:spPr>
          <a:xfrm>
            <a:off x="3018193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2-3</a:t>
            </a:r>
          </a:p>
        </p:txBody>
      </p:sp>
      <p:sp>
        <p:nvSpPr>
          <p:cNvPr id="589" name="Rectangle 588"/>
          <p:cNvSpPr/>
          <p:nvPr/>
        </p:nvSpPr>
        <p:spPr>
          <a:xfrm>
            <a:off x="3520185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0" name="Rectangle 589"/>
          <p:cNvSpPr/>
          <p:nvPr/>
        </p:nvSpPr>
        <p:spPr>
          <a:xfrm>
            <a:off x="3520185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1" name="Rectangle 590"/>
          <p:cNvSpPr/>
          <p:nvPr/>
        </p:nvSpPr>
        <p:spPr>
          <a:xfrm>
            <a:off x="3605631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2" name="Rectangle 591"/>
          <p:cNvSpPr/>
          <p:nvPr/>
        </p:nvSpPr>
        <p:spPr>
          <a:xfrm>
            <a:off x="3771182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2-4</a:t>
            </a:r>
          </a:p>
        </p:txBody>
      </p:sp>
      <p:sp>
        <p:nvSpPr>
          <p:cNvPr id="593" name="Rectangle 592"/>
          <p:cNvSpPr/>
          <p:nvPr/>
        </p:nvSpPr>
        <p:spPr>
          <a:xfrm>
            <a:off x="4273175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4" name="Rectangle 593"/>
          <p:cNvSpPr/>
          <p:nvPr/>
        </p:nvSpPr>
        <p:spPr>
          <a:xfrm>
            <a:off x="4273175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5" name="Rectangle 594"/>
          <p:cNvSpPr/>
          <p:nvPr/>
        </p:nvSpPr>
        <p:spPr>
          <a:xfrm>
            <a:off x="4358620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6" name="Rectangle 595"/>
          <p:cNvSpPr/>
          <p:nvPr/>
        </p:nvSpPr>
        <p:spPr>
          <a:xfrm>
            <a:off x="4524171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2-5</a:t>
            </a:r>
          </a:p>
        </p:txBody>
      </p:sp>
      <p:sp>
        <p:nvSpPr>
          <p:cNvPr id="597" name="Rectangle 596"/>
          <p:cNvSpPr/>
          <p:nvPr/>
        </p:nvSpPr>
        <p:spPr>
          <a:xfrm>
            <a:off x="5026164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8" name="Rectangle 597"/>
          <p:cNvSpPr/>
          <p:nvPr/>
        </p:nvSpPr>
        <p:spPr>
          <a:xfrm>
            <a:off x="5026164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599" name="Rectangle 598"/>
          <p:cNvSpPr/>
          <p:nvPr/>
        </p:nvSpPr>
        <p:spPr>
          <a:xfrm>
            <a:off x="5111610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0" name="Rectangle 599"/>
          <p:cNvSpPr/>
          <p:nvPr/>
        </p:nvSpPr>
        <p:spPr>
          <a:xfrm>
            <a:off x="5277161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2-6</a:t>
            </a:r>
          </a:p>
        </p:txBody>
      </p:sp>
      <p:sp>
        <p:nvSpPr>
          <p:cNvPr id="601" name="Rectangle 600"/>
          <p:cNvSpPr/>
          <p:nvPr/>
        </p:nvSpPr>
        <p:spPr>
          <a:xfrm>
            <a:off x="5779154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2" name="Rectangle 601"/>
          <p:cNvSpPr/>
          <p:nvPr/>
        </p:nvSpPr>
        <p:spPr>
          <a:xfrm>
            <a:off x="5779154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3" name="Rectangle 602"/>
          <p:cNvSpPr/>
          <p:nvPr/>
        </p:nvSpPr>
        <p:spPr>
          <a:xfrm>
            <a:off x="5864599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4" name="Rectangle 603"/>
          <p:cNvSpPr/>
          <p:nvPr/>
        </p:nvSpPr>
        <p:spPr>
          <a:xfrm>
            <a:off x="6030150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2-7</a:t>
            </a:r>
          </a:p>
        </p:txBody>
      </p:sp>
      <p:sp>
        <p:nvSpPr>
          <p:cNvPr id="605" name="Rectangle 604"/>
          <p:cNvSpPr/>
          <p:nvPr/>
        </p:nvSpPr>
        <p:spPr>
          <a:xfrm>
            <a:off x="6532143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6" name="Rectangle 605"/>
          <p:cNvSpPr/>
          <p:nvPr/>
        </p:nvSpPr>
        <p:spPr>
          <a:xfrm>
            <a:off x="6532143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7" name="Rectangle 606"/>
          <p:cNvSpPr/>
          <p:nvPr/>
        </p:nvSpPr>
        <p:spPr>
          <a:xfrm>
            <a:off x="6617589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08" name="Rectangle 607"/>
          <p:cNvSpPr/>
          <p:nvPr/>
        </p:nvSpPr>
        <p:spPr>
          <a:xfrm>
            <a:off x="6783139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2-8</a:t>
            </a:r>
          </a:p>
        </p:txBody>
      </p:sp>
      <p:sp>
        <p:nvSpPr>
          <p:cNvPr id="609" name="Rectangle 608"/>
          <p:cNvSpPr/>
          <p:nvPr/>
        </p:nvSpPr>
        <p:spPr>
          <a:xfrm>
            <a:off x="7285132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0" name="Rectangle 609"/>
          <p:cNvSpPr/>
          <p:nvPr/>
        </p:nvSpPr>
        <p:spPr>
          <a:xfrm>
            <a:off x="7285132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1" name="Rectangle 610"/>
          <p:cNvSpPr/>
          <p:nvPr/>
        </p:nvSpPr>
        <p:spPr>
          <a:xfrm>
            <a:off x="7370578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2" name="Rectangle 611"/>
          <p:cNvSpPr/>
          <p:nvPr/>
        </p:nvSpPr>
        <p:spPr>
          <a:xfrm>
            <a:off x="7536129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2-9</a:t>
            </a:r>
          </a:p>
        </p:txBody>
      </p:sp>
      <p:sp>
        <p:nvSpPr>
          <p:cNvPr id="613" name="Rectangle 612"/>
          <p:cNvSpPr/>
          <p:nvPr/>
        </p:nvSpPr>
        <p:spPr>
          <a:xfrm>
            <a:off x="8038122" y="5074920"/>
            <a:ext cx="250996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4" name="Rectangle 613"/>
          <p:cNvSpPr/>
          <p:nvPr/>
        </p:nvSpPr>
        <p:spPr>
          <a:xfrm>
            <a:off x="8038122" y="5221224"/>
            <a:ext cx="85445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5" name="Rectangle 614"/>
          <p:cNvSpPr/>
          <p:nvPr/>
        </p:nvSpPr>
        <p:spPr>
          <a:xfrm>
            <a:off x="8123567" y="5367528"/>
            <a:ext cx="192252" cy="118872"/>
          </a:xfrm>
          <a:prstGeom prst="rect">
            <a:avLst/>
          </a:prstGeom>
          <a:solidFill>
            <a:srgbClr val="548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6" name="Rectangle 615"/>
          <p:cNvSpPr/>
          <p:nvPr/>
        </p:nvSpPr>
        <p:spPr>
          <a:xfrm>
            <a:off x="8289118" y="5074920"/>
            <a:ext cx="501992" cy="118872"/>
          </a:xfrm>
          <a:prstGeom prst="rect">
            <a:avLst/>
          </a:prstGeom>
          <a:solidFill>
            <a:srgbClr val="FF7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  <a:r>
              <a:rPr sz="5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2-10</a:t>
            </a:r>
          </a:p>
        </p:txBody>
      </p:sp>
      <p:sp>
        <p:nvSpPr>
          <p:cNvPr id="617" name="Rectangle 616"/>
          <p:cNvSpPr/>
          <p:nvPr/>
        </p:nvSpPr>
        <p:spPr>
          <a:xfrm>
            <a:off x="8791111" y="5074920"/>
            <a:ext cx="69424" cy="118872"/>
          </a:xfrm>
          <a:prstGeom prst="rect">
            <a:avLst/>
          </a:prstGeom>
          <a:noFill/>
          <a:ln w="9525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8" name="Rectangle 617"/>
          <p:cNvSpPr/>
          <p:nvPr/>
        </p:nvSpPr>
        <p:spPr>
          <a:xfrm>
            <a:off x="8791111" y="5221224"/>
            <a:ext cx="69424" cy="118872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" rIns="9144" tIns="0" bIns="0" wrap="none"/>
          <a:lstStyle/>
          <a:p>
            <a:pPr algn="ctr"/>
          </a:p>
        </p:txBody>
      </p:sp>
      <p:sp>
        <p:nvSpPr>
          <p:cNvPr id="619" name="TextBox 618"/>
          <p:cNvSpPr txBox="1"/>
          <p:nvPr/>
        </p:nvSpPr>
        <p:spPr>
          <a:xfrm>
            <a:off x="1191215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190</a:t>
            </a:r>
          </a:p>
        </p:txBody>
      </p:sp>
      <p:sp>
        <p:nvSpPr>
          <p:cNvPr id="620" name="TextBox 619"/>
          <p:cNvSpPr txBox="1"/>
          <p:nvPr/>
        </p:nvSpPr>
        <p:spPr>
          <a:xfrm>
            <a:off x="1623783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380</a:t>
            </a:r>
          </a:p>
        </p:txBody>
      </p:sp>
      <p:sp>
        <p:nvSpPr>
          <p:cNvPr id="621" name="TextBox 620"/>
          <p:cNvSpPr txBox="1"/>
          <p:nvPr/>
        </p:nvSpPr>
        <p:spPr>
          <a:xfrm>
            <a:off x="1944204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570</a:t>
            </a:r>
          </a:p>
        </p:txBody>
      </p:sp>
      <p:sp>
        <p:nvSpPr>
          <p:cNvPr id="622" name="TextBox 621"/>
          <p:cNvSpPr txBox="1"/>
          <p:nvPr/>
        </p:nvSpPr>
        <p:spPr>
          <a:xfrm>
            <a:off x="2376773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760</a:t>
            </a:r>
          </a:p>
        </p:txBody>
      </p:sp>
      <p:sp>
        <p:nvSpPr>
          <p:cNvPr id="623" name="TextBox 622"/>
          <p:cNvSpPr txBox="1"/>
          <p:nvPr/>
        </p:nvSpPr>
        <p:spPr>
          <a:xfrm>
            <a:off x="2697194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950</a:t>
            </a:r>
          </a:p>
        </p:txBody>
      </p:sp>
      <p:sp>
        <p:nvSpPr>
          <p:cNvPr id="624" name="TextBox 623"/>
          <p:cNvSpPr txBox="1"/>
          <p:nvPr/>
        </p:nvSpPr>
        <p:spPr>
          <a:xfrm>
            <a:off x="3129762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1,140</a:t>
            </a:r>
          </a:p>
        </p:txBody>
      </p:sp>
      <p:sp>
        <p:nvSpPr>
          <p:cNvPr id="625" name="TextBox 624"/>
          <p:cNvSpPr txBox="1"/>
          <p:nvPr/>
        </p:nvSpPr>
        <p:spPr>
          <a:xfrm>
            <a:off x="3450183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1,330</a:t>
            </a:r>
          </a:p>
        </p:txBody>
      </p:sp>
      <p:sp>
        <p:nvSpPr>
          <p:cNvPr id="626" name="TextBox 625"/>
          <p:cNvSpPr txBox="1"/>
          <p:nvPr/>
        </p:nvSpPr>
        <p:spPr>
          <a:xfrm>
            <a:off x="3882751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1,520</a:t>
            </a:r>
          </a:p>
        </p:txBody>
      </p:sp>
      <p:sp>
        <p:nvSpPr>
          <p:cNvPr id="627" name="TextBox 626"/>
          <p:cNvSpPr txBox="1"/>
          <p:nvPr/>
        </p:nvSpPr>
        <p:spPr>
          <a:xfrm>
            <a:off x="4203172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1,710</a:t>
            </a:r>
          </a:p>
        </p:txBody>
      </p:sp>
      <p:sp>
        <p:nvSpPr>
          <p:cNvPr id="628" name="TextBox 627"/>
          <p:cNvSpPr txBox="1"/>
          <p:nvPr/>
        </p:nvSpPr>
        <p:spPr>
          <a:xfrm>
            <a:off x="4635741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1,900</a:t>
            </a:r>
          </a:p>
        </p:txBody>
      </p:sp>
      <p:sp>
        <p:nvSpPr>
          <p:cNvPr id="629" name="TextBox 628"/>
          <p:cNvSpPr txBox="1"/>
          <p:nvPr/>
        </p:nvSpPr>
        <p:spPr>
          <a:xfrm>
            <a:off x="4956162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2,090</a:t>
            </a:r>
          </a:p>
        </p:txBody>
      </p:sp>
      <p:sp>
        <p:nvSpPr>
          <p:cNvPr id="630" name="TextBox 629"/>
          <p:cNvSpPr txBox="1"/>
          <p:nvPr/>
        </p:nvSpPr>
        <p:spPr>
          <a:xfrm>
            <a:off x="5388730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2,280</a:t>
            </a:r>
          </a:p>
        </p:txBody>
      </p:sp>
      <p:sp>
        <p:nvSpPr>
          <p:cNvPr id="631" name="TextBox 630"/>
          <p:cNvSpPr txBox="1"/>
          <p:nvPr/>
        </p:nvSpPr>
        <p:spPr>
          <a:xfrm>
            <a:off x="5709151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2,470</a:t>
            </a:r>
          </a:p>
        </p:txBody>
      </p:sp>
      <p:sp>
        <p:nvSpPr>
          <p:cNvPr id="632" name="TextBox 631"/>
          <p:cNvSpPr txBox="1"/>
          <p:nvPr/>
        </p:nvSpPr>
        <p:spPr>
          <a:xfrm>
            <a:off x="6141720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2,660</a:t>
            </a:r>
          </a:p>
        </p:txBody>
      </p:sp>
      <p:sp>
        <p:nvSpPr>
          <p:cNvPr id="633" name="TextBox 632"/>
          <p:cNvSpPr txBox="1"/>
          <p:nvPr/>
        </p:nvSpPr>
        <p:spPr>
          <a:xfrm>
            <a:off x="6462141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2,850</a:t>
            </a:r>
          </a:p>
        </p:txBody>
      </p:sp>
      <p:sp>
        <p:nvSpPr>
          <p:cNvPr id="634" name="TextBox 633"/>
          <p:cNvSpPr txBox="1"/>
          <p:nvPr/>
        </p:nvSpPr>
        <p:spPr>
          <a:xfrm>
            <a:off x="6894709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3,040</a:t>
            </a:r>
          </a:p>
        </p:txBody>
      </p:sp>
      <p:sp>
        <p:nvSpPr>
          <p:cNvPr id="635" name="TextBox 634"/>
          <p:cNvSpPr txBox="1"/>
          <p:nvPr/>
        </p:nvSpPr>
        <p:spPr>
          <a:xfrm>
            <a:off x="7215130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3,230</a:t>
            </a:r>
          </a:p>
        </p:txBody>
      </p:sp>
      <p:sp>
        <p:nvSpPr>
          <p:cNvPr id="636" name="TextBox 635"/>
          <p:cNvSpPr txBox="1"/>
          <p:nvPr/>
        </p:nvSpPr>
        <p:spPr>
          <a:xfrm>
            <a:off x="7647698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3,420</a:t>
            </a:r>
          </a:p>
        </p:txBody>
      </p:sp>
      <p:sp>
        <p:nvSpPr>
          <p:cNvPr id="637" name="TextBox 636"/>
          <p:cNvSpPr txBox="1"/>
          <p:nvPr/>
        </p:nvSpPr>
        <p:spPr>
          <a:xfrm>
            <a:off x="7968119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3,610</a:t>
            </a:r>
          </a:p>
        </p:txBody>
      </p:sp>
      <p:sp>
        <p:nvSpPr>
          <p:cNvPr id="638" name="TextBox 637"/>
          <p:cNvSpPr txBox="1"/>
          <p:nvPr/>
        </p:nvSpPr>
        <p:spPr>
          <a:xfrm>
            <a:off x="8400688" y="5513832"/>
            <a:ext cx="310896" cy="1188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00" b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3,800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과거 Batch 분석 및 2026년 기준 검토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관측 간격 약 67.5 h (6/2 #39~10/29 #92) · 2026 출하 19.22톤 vs 현재 26.2톤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3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- 3 -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Batch 표시일자 분포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원자료 생산계획 · 표시일자 의미(투입/완료) 미확정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55548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989419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360387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868451" y="1180000"/>
            <a:ext cx="24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807000" y="133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287000" y="132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5월*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3829129" y="13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37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4240419" y="13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7F7F7F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38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807000" y="149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87000" y="148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6월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950096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136138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40</a:t>
            </a:r>
          </a:p>
        </p:txBody>
      </p:sp>
      <p:sp>
        <p:nvSpPr>
          <p:cNvPr id="179" name="Rounded Rectangle 178"/>
          <p:cNvSpPr/>
          <p:nvPr/>
        </p:nvSpPr>
        <p:spPr>
          <a:xfrm>
            <a:off x="177267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41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2183967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42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259525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43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300654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44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3417838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45</a:t>
            </a:r>
          </a:p>
        </p:txBody>
      </p:sp>
      <p:sp>
        <p:nvSpPr>
          <p:cNvPr id="184" name="Rounded Rectangle 183"/>
          <p:cNvSpPr/>
          <p:nvPr/>
        </p:nvSpPr>
        <p:spPr>
          <a:xfrm>
            <a:off x="3829129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46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4103322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47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4377516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48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4514612" y="150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49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5097000" y="148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807000" y="165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87000" y="164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7월</a:t>
            </a:r>
          </a:p>
        </p:txBody>
      </p:sp>
      <p:sp>
        <p:nvSpPr>
          <p:cNvPr id="191" name="Rounded Rectangle 190"/>
          <p:cNvSpPr/>
          <p:nvPr/>
        </p:nvSpPr>
        <p:spPr>
          <a:xfrm>
            <a:off x="813000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50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087193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51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1498483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52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1772677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53</a:t>
            </a:r>
          </a:p>
        </p:txBody>
      </p:sp>
      <p:sp>
        <p:nvSpPr>
          <p:cNvPr id="195" name="Rounded Rectangle 194"/>
          <p:cNvSpPr/>
          <p:nvPr/>
        </p:nvSpPr>
        <p:spPr>
          <a:xfrm>
            <a:off x="2183967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54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259525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55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300654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56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3417838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57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382912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58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424041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59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4651709" y="166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5097000" y="164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/ T 11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807000" y="181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287000" y="180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8월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81300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61</a:t>
            </a:r>
          </a:p>
        </p:txBody>
      </p:sp>
      <p:sp>
        <p:nvSpPr>
          <p:cNvPr id="206" name="Rounded Rectangle 205"/>
          <p:cNvSpPr/>
          <p:nvPr/>
        </p:nvSpPr>
        <p:spPr>
          <a:xfrm>
            <a:off x="122429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62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163558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63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2046870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64</a:t>
            </a:r>
          </a:p>
        </p:txBody>
      </p:sp>
      <p:sp>
        <p:nvSpPr>
          <p:cNvPr id="209" name="Rounded Rectangle 208"/>
          <p:cNvSpPr/>
          <p:nvPr/>
        </p:nvSpPr>
        <p:spPr>
          <a:xfrm>
            <a:off x="245816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65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286945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66</a:t>
            </a:r>
          </a:p>
        </p:txBody>
      </p:sp>
      <p:sp>
        <p:nvSpPr>
          <p:cNvPr id="211" name="Rounded Rectangle 210"/>
          <p:cNvSpPr/>
          <p:nvPr/>
        </p:nvSpPr>
        <p:spPr>
          <a:xfrm>
            <a:off x="3280741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67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369203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68</a:t>
            </a:r>
          </a:p>
        </p:txBody>
      </p:sp>
      <p:sp>
        <p:nvSpPr>
          <p:cNvPr id="213" name="Rounded Rectangle 212"/>
          <p:cNvSpPr/>
          <p:nvPr/>
        </p:nvSpPr>
        <p:spPr>
          <a:xfrm>
            <a:off x="410332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69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514612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70</a:t>
            </a:r>
          </a:p>
        </p:txBody>
      </p:sp>
      <p:sp>
        <p:nvSpPr>
          <p:cNvPr id="215" name="Rounded Rectangle 214"/>
          <p:cNvSpPr/>
          <p:nvPr/>
        </p:nvSpPr>
        <p:spPr>
          <a:xfrm>
            <a:off x="4925903" y="182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71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5097000" y="180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07000" y="1972000"/>
            <a:ext cx="4250000" cy="136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87000" y="196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9월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1087193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72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1361387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73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1635580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74</a:t>
            </a:r>
          </a:p>
        </p:txBody>
      </p:sp>
      <p:sp>
        <p:nvSpPr>
          <p:cNvPr id="222" name="Rounded Rectangle 221"/>
          <p:cNvSpPr/>
          <p:nvPr/>
        </p:nvSpPr>
        <p:spPr>
          <a:xfrm>
            <a:off x="1909774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75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2183967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76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95258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77</a:t>
            </a:r>
          </a:p>
        </p:txBody>
      </p:sp>
      <p:sp>
        <p:nvSpPr>
          <p:cNvPr id="225" name="Rounded Rectangle 224"/>
          <p:cNvSpPr/>
          <p:nvPr/>
        </p:nvSpPr>
        <p:spPr>
          <a:xfrm>
            <a:off x="3280741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78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3829129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79</a:t>
            </a:r>
          </a:p>
        </p:txBody>
      </p:sp>
      <p:sp>
        <p:nvSpPr>
          <p:cNvPr id="227" name="Rounded Rectangle 226"/>
          <p:cNvSpPr/>
          <p:nvPr/>
        </p:nvSpPr>
        <p:spPr>
          <a:xfrm>
            <a:off x="4240419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80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4514612" y="198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81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097000" y="196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10개</a:t>
            </a:r>
            <a:r>
              <a:rPr sz="65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/ T 8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807000" y="2132000"/>
            <a:ext cx="4250000" cy="136000"/>
          </a:xfrm>
          <a:prstGeom prst="rect">
            <a:avLst/>
          </a:prstGeom>
          <a:solidFill>
            <a:srgbClr val="F9F9F9"/>
          </a:solidFill>
          <a:ln w="6350">
            <a:solidFill>
              <a:srgbClr val="D9D9D9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287000" y="2120000"/>
            <a:ext cx="49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10월</a:t>
            </a:r>
          </a:p>
        </p:txBody>
      </p:sp>
      <p:sp>
        <p:nvSpPr>
          <p:cNvPr id="232" name="Rounded Rectangle 231"/>
          <p:cNvSpPr/>
          <p:nvPr/>
        </p:nvSpPr>
        <p:spPr>
          <a:xfrm>
            <a:off x="81300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82</a:t>
            </a:r>
          </a:p>
        </p:txBody>
      </p:sp>
      <p:sp>
        <p:nvSpPr>
          <p:cNvPr id="233" name="Rounded Rectangle 232"/>
          <p:cNvSpPr/>
          <p:nvPr/>
        </p:nvSpPr>
        <p:spPr>
          <a:xfrm>
            <a:off x="122429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83</a:t>
            </a:r>
          </a:p>
        </p:txBody>
      </p:sp>
      <p:sp>
        <p:nvSpPr>
          <p:cNvPr id="234" name="Rounded Rectangle 233"/>
          <p:cNvSpPr/>
          <p:nvPr/>
        </p:nvSpPr>
        <p:spPr>
          <a:xfrm>
            <a:off x="163558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84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2046870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85</a:t>
            </a:r>
          </a:p>
        </p:txBody>
      </p:sp>
      <p:sp>
        <p:nvSpPr>
          <p:cNvPr id="236" name="Rounded Rectangle 235"/>
          <p:cNvSpPr/>
          <p:nvPr/>
        </p:nvSpPr>
        <p:spPr>
          <a:xfrm>
            <a:off x="2321064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86</a:t>
            </a:r>
          </a:p>
        </p:txBody>
      </p:sp>
      <p:sp>
        <p:nvSpPr>
          <p:cNvPr id="237" name="Rounded Rectangle 236"/>
          <p:cNvSpPr/>
          <p:nvPr/>
        </p:nvSpPr>
        <p:spPr>
          <a:xfrm>
            <a:off x="2732354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87</a:t>
            </a:r>
          </a:p>
        </p:txBody>
      </p:sp>
      <p:sp>
        <p:nvSpPr>
          <p:cNvPr id="238" name="Rounded Rectangle 237"/>
          <p:cNvSpPr/>
          <p:nvPr/>
        </p:nvSpPr>
        <p:spPr>
          <a:xfrm>
            <a:off x="3143645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88</a:t>
            </a:r>
          </a:p>
        </p:txBody>
      </p:sp>
      <p:sp>
        <p:nvSpPr>
          <p:cNvPr id="239" name="Rounded Rectangle 238"/>
          <p:cNvSpPr/>
          <p:nvPr/>
        </p:nvSpPr>
        <p:spPr>
          <a:xfrm>
            <a:off x="3417838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89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382912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90</a:t>
            </a:r>
          </a:p>
        </p:txBody>
      </p:sp>
      <p:sp>
        <p:nvSpPr>
          <p:cNvPr id="241" name="Rounded Rectangle 240"/>
          <p:cNvSpPr/>
          <p:nvPr/>
        </p:nvSpPr>
        <p:spPr>
          <a:xfrm>
            <a:off x="424041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91</a:t>
            </a:r>
          </a:p>
        </p:txBody>
      </p:sp>
      <p:sp>
        <p:nvSpPr>
          <p:cNvPr id="242" name="Rounded Rectangle 241"/>
          <p:cNvSpPr/>
          <p:nvPr/>
        </p:nvSpPr>
        <p:spPr>
          <a:xfrm>
            <a:off x="4651709" y="2140000"/>
            <a:ext cx="125096" cy="120000"/>
          </a:xfrm>
          <a:prstGeom prst="roundRect">
            <a:avLst>
              <a:gd name="adj" fmla="val 20000"/>
            </a:avLst>
          </a:prstGeom>
          <a:solidFill>
            <a:srgbClr val="FF7900"/>
          </a:solidFill>
          <a:ln>
            <a:noFill/>
          </a:ln>
        </p:spPr>
        <p:txBody>
          <a:bodyPr rtlCol="0" anchor="ctr" lIns="0" rIns="0" tIns="0" bIns="0" wrap="none"/>
          <a:lstStyle/>
          <a:p>
            <a:pPr algn="ctr"/>
            <a:r>
              <a:rPr sz="5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92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097000" y="2120000"/>
            <a:ext cx="650000" cy="1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11개</a:t>
            </a:r>
            <a:r>
              <a:rPr sz="650" b="1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/ T 11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287000" y="2290000"/>
            <a:ext cx="547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5월 일부(#37 · #38) · 번호 개수 / T = 원자료 Total (붉은 T = 불일치 → 집계 기준 확인) · 6~10월 번호 54 vs Total 46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5857000" y="950000"/>
            <a:ext cx="3000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표시일자 간격 분포 (#39~#92 · 54개 일자 · 53간격)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609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605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605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1일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617000" y="1918717"/>
            <a:ext cx="440000" cy="231282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577000" y="1748717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657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2일</a:t>
            </a:r>
          </a:p>
        </p:txBody>
      </p:sp>
      <p:sp>
        <p:nvSpPr>
          <p:cNvPr id="252" name="Rectangle 251"/>
          <p:cNvSpPr/>
          <p:nvPr/>
        </p:nvSpPr>
        <p:spPr>
          <a:xfrm>
            <a:off x="7137000" y="1330000"/>
            <a:ext cx="440000" cy="820000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7097000" y="1160000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709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3일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65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61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61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4일</a:t>
            </a:r>
          </a:p>
        </p:txBody>
      </p:sp>
      <p:sp>
        <p:nvSpPr>
          <p:cNvPr id="258" name="Rectangle 257"/>
          <p:cNvSpPr/>
          <p:nvPr/>
        </p:nvSpPr>
        <p:spPr>
          <a:xfrm>
            <a:off x="8177000" y="2128974"/>
            <a:ext cx="440000" cy="21025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8137000" y="1958974"/>
            <a:ext cx="520000" cy="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8137000" y="2170000"/>
            <a:ext cx="5200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5일</a:t>
            </a:r>
          </a:p>
        </p:txBody>
      </p:sp>
      <p:cxnSp>
        <p:nvCxnSpPr>
          <p:cNvPr id="261" name="Connector 260"/>
          <p:cNvCxnSpPr/>
          <p:nvPr/>
        </p:nvCxnSpPr>
        <p:spPr>
          <a:xfrm>
            <a:off x="6057000" y="2150000"/>
            <a:ext cx="2600000" cy="0"/>
          </a:xfrm>
          <a:prstGeom prst="line">
            <a:avLst/>
          </a:prstGeom>
          <a:ln w="9525">
            <a:solidFill>
              <a:srgbClr val="7F7F7F"/>
            </a:solidFill>
          </a:ln>
        </p:spPr>
      </p:cxnSp>
      <p:sp>
        <p:nvSpPr>
          <p:cNvPr id="262" name="TextBox 261"/>
          <p:cNvSpPr txBox="1"/>
          <p:nvPr/>
        </p:nvSpPr>
        <p:spPr>
          <a:xfrm>
            <a:off x="5857000" y="2340000"/>
            <a:ext cx="3000000" cy="3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평균 </a:t>
            </a:r>
            <a:r>
              <a:rPr sz="8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2.81일 = 약 67.5 h</a:t>
            </a: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(67.0~67.9 h)</a:t>
            </a:r>
          </a:p>
          <a:p>
            <a:pPr algn="l">
              <a:spcAft>
                <a:spcPts val="0"/>
              </a:spcAft>
            </a:pPr>
            <a:r>
              <a:rPr sz="65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중앙값 72 h (3일) · 월 경계 포함 · 5월 일부 제외 · 날짜만 있는 계획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287000" y="265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397000" y="262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월 생산능력 비교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정제기 1대 · 월 720 h · 연 환산은 참고값</a:t>
            </a:r>
          </a:p>
        </p:txBody>
      </p:sp>
      <p:graphicFrame>
        <p:nvGraphicFramePr>
          <p:cNvPr id="265" name="Table 264"/>
          <p:cNvGraphicFramePr>
            <a:graphicFrameLocks noGrp="1"/>
          </p:cNvGraphicFramePr>
          <p:nvPr/>
        </p:nvGraphicFramePr>
        <p:xfrm>
          <a:off x="287000" y="2834640"/>
          <a:ext cx="8570000" cy="8001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50000"/>
                <a:gridCol w="1000000"/>
                <a:gridCol w="1000000"/>
                <a:gridCol w="1050000"/>
                <a:gridCol w="1150000"/>
                <a:gridCol w="2120000"/>
              </a:tblGrid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기준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간격 h/Batch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Batch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월 생산 kg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 환산 톤 (참고)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산출 조건</a:t>
                      </a:r>
                      <a:endParaRPr sz="70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이론 (정제 45 h만)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45.0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3,040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36.5 (참고)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720÷45 · 준비·전환·이송·세척·대기·보수 제외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월 최대 11 Batch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65.5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25.08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 11×45 = 495 h + 225 h (구성 확인)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과거 일정 추정 (6~10월)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67.5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10.7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2,028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7F6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약 24.5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149일×24÷53 · 중앙값 72 h · 표시일 기준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8E7"/>
                    </a:solidFill>
                  </a:tcPr>
                </a:tc>
              </a:tr>
              <a:tr h="160020">
                <a:tc>
                  <a:txBody>
                    <a:bodyPr/>
                    <a:lstStyle/>
                    <a:p>
                      <a:pPr algn="l"/>
                      <a:r>
                        <a:rPr sz="73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Capa. 26.2톤 환산</a:t>
                      </a:r>
                      <a:endParaRPr sz="7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63.5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11.49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26.2</a:t>
                      </a:r>
                      <a:endParaRPr sz="78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3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26,200÷190 = 137.9 Batch 상당 · 기준값</a:t>
                      </a:r>
                      <a:endParaRPr sz="630"/>
                    </a:p>
                  </a:txBody>
                  <a:tcPr anchor="ctr" marL="45000" marR="45000" marT="15000" marB="150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</a:tr>
            </a:tbl>
          </a:graphicData>
        </a:graphic>
      </p:graphicFrame>
      <p:sp>
        <p:nvSpPr>
          <p:cNvPr id="266" name="Rectangle 265"/>
          <p:cNvSpPr/>
          <p:nvPr/>
        </p:nvSpPr>
        <p:spPr>
          <a:xfrm>
            <a:off x="287000" y="3675887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97000" y="3648456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④ 정제 · 검사 · 충진 병렬 운영 (관측 간격 67.5 h 기준 · 정제 45 h)</a:t>
            </a:r>
          </a:p>
        </p:txBody>
      </p:sp>
      <p:sp>
        <p:nvSpPr>
          <p:cNvPr id="268" name="TextBox 267"/>
          <p:cNvSpPr txBox="1"/>
          <p:nvPr/>
        </p:nvSpPr>
        <p:spPr>
          <a:xfrm>
            <a:off x="1187000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0h</a:t>
            </a:r>
          </a:p>
        </p:txBody>
      </p:sp>
      <p:cxnSp>
        <p:nvCxnSpPr>
          <p:cNvPr id="269" name="Connector 268"/>
          <p:cNvCxnSpPr/>
          <p:nvPr/>
        </p:nvCxnSpPr>
        <p:spPr>
          <a:xfrm>
            <a:off x="1337000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0" name="TextBox 269"/>
          <p:cNvSpPr txBox="1"/>
          <p:nvPr/>
        </p:nvSpPr>
        <p:spPr>
          <a:xfrm>
            <a:off x="1822714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30h</a:t>
            </a:r>
          </a:p>
        </p:txBody>
      </p:sp>
      <p:cxnSp>
        <p:nvCxnSpPr>
          <p:cNvPr id="271" name="Connector 270"/>
          <p:cNvCxnSpPr/>
          <p:nvPr/>
        </p:nvCxnSpPr>
        <p:spPr>
          <a:xfrm>
            <a:off x="1972714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2" name="TextBox 271"/>
          <p:cNvSpPr txBox="1"/>
          <p:nvPr/>
        </p:nvSpPr>
        <p:spPr>
          <a:xfrm>
            <a:off x="2458428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60h</a:t>
            </a:r>
          </a:p>
        </p:txBody>
      </p:sp>
      <p:cxnSp>
        <p:nvCxnSpPr>
          <p:cNvPr id="273" name="Connector 272"/>
          <p:cNvCxnSpPr/>
          <p:nvPr/>
        </p:nvCxnSpPr>
        <p:spPr>
          <a:xfrm>
            <a:off x="2608428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4" name="TextBox 273"/>
          <p:cNvSpPr txBox="1"/>
          <p:nvPr/>
        </p:nvSpPr>
        <p:spPr>
          <a:xfrm>
            <a:off x="3094142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90h</a:t>
            </a:r>
          </a:p>
        </p:txBody>
      </p:sp>
      <p:cxnSp>
        <p:nvCxnSpPr>
          <p:cNvPr id="275" name="Connector 274"/>
          <p:cNvCxnSpPr/>
          <p:nvPr/>
        </p:nvCxnSpPr>
        <p:spPr>
          <a:xfrm>
            <a:off x="3244142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6" name="TextBox 275"/>
          <p:cNvSpPr txBox="1"/>
          <p:nvPr/>
        </p:nvSpPr>
        <p:spPr>
          <a:xfrm>
            <a:off x="3729857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120h</a:t>
            </a:r>
          </a:p>
        </p:txBody>
      </p:sp>
      <p:cxnSp>
        <p:nvCxnSpPr>
          <p:cNvPr id="277" name="Connector 276"/>
          <p:cNvCxnSpPr/>
          <p:nvPr/>
        </p:nvCxnSpPr>
        <p:spPr>
          <a:xfrm>
            <a:off x="3879857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78" name="TextBox 277"/>
          <p:cNvSpPr txBox="1"/>
          <p:nvPr/>
        </p:nvSpPr>
        <p:spPr>
          <a:xfrm>
            <a:off x="4365571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150h</a:t>
            </a:r>
          </a:p>
        </p:txBody>
      </p:sp>
      <p:cxnSp>
        <p:nvCxnSpPr>
          <p:cNvPr id="279" name="Connector 278"/>
          <p:cNvCxnSpPr/>
          <p:nvPr/>
        </p:nvCxnSpPr>
        <p:spPr>
          <a:xfrm>
            <a:off x="4515571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0" name="TextBox 279"/>
          <p:cNvSpPr txBox="1"/>
          <p:nvPr/>
        </p:nvSpPr>
        <p:spPr>
          <a:xfrm>
            <a:off x="5001285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180h</a:t>
            </a:r>
          </a:p>
        </p:txBody>
      </p:sp>
      <p:cxnSp>
        <p:nvCxnSpPr>
          <p:cNvPr id="281" name="Connector 280"/>
          <p:cNvCxnSpPr/>
          <p:nvPr/>
        </p:nvCxnSpPr>
        <p:spPr>
          <a:xfrm>
            <a:off x="5151285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2" name="TextBox 281"/>
          <p:cNvSpPr txBox="1"/>
          <p:nvPr/>
        </p:nvSpPr>
        <p:spPr>
          <a:xfrm>
            <a:off x="5637000" y="3904487"/>
            <a:ext cx="300000" cy="1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210h</a:t>
            </a:r>
          </a:p>
        </p:txBody>
      </p:sp>
      <p:cxnSp>
        <p:nvCxnSpPr>
          <p:cNvPr id="283" name="Connector 282"/>
          <p:cNvCxnSpPr/>
          <p:nvPr/>
        </p:nvCxnSpPr>
        <p:spPr>
          <a:xfrm>
            <a:off x="5787000" y="4023360"/>
            <a:ext cx="0" cy="749808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sp>
        <p:nvSpPr>
          <p:cNvPr id="284" name="TextBox 283"/>
          <p:cNvSpPr txBox="1"/>
          <p:nvPr/>
        </p:nvSpPr>
        <p:spPr>
          <a:xfrm>
            <a:off x="287000" y="4069080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(1대)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287000" y="4242816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PQC·이송·FQC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287000" y="4416552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충진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287000" y="4590288"/>
            <a:ext cx="1030000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OQC · 출하</a:t>
            </a:r>
          </a:p>
        </p:txBody>
      </p:sp>
      <p:sp>
        <p:nvSpPr>
          <p:cNvPr id="288" name="Rectangle 287"/>
          <p:cNvSpPr/>
          <p:nvPr/>
        </p:nvSpPr>
        <p:spPr>
          <a:xfrm>
            <a:off x="1335024" y="4087368"/>
            <a:ext cx="1002792" cy="146304"/>
          </a:xfrm>
          <a:prstGeom prst="rect">
            <a:avLst/>
          </a:prstGeom>
          <a:solidFill>
            <a:srgbClr val="FF790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 n 준비·정제 47 h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2337816" y="4087368"/>
            <a:ext cx="436784" cy="146304"/>
          </a:xfrm>
          <a:prstGeom prst="rect">
            <a:avLst/>
          </a:prstGeom>
          <a:solidFill>
            <a:srgbClr val="FFF2CC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0" name="Rectangle 289"/>
          <p:cNvSpPr/>
          <p:nvPr/>
        </p:nvSpPr>
        <p:spPr>
          <a:xfrm>
            <a:off x="2337816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2508504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2892552" y="4608576"/>
            <a:ext cx="42672" cy="14630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2774600" y="4087368"/>
            <a:ext cx="1002792" cy="146304"/>
          </a:xfrm>
          <a:prstGeom prst="rect">
            <a:avLst/>
          </a:prstGeom>
          <a:solidFill>
            <a:srgbClr val="F4B183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B n+1 준비·정제 47 h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3777392" y="4087368"/>
            <a:ext cx="436784" cy="146304"/>
          </a:xfrm>
          <a:prstGeom prst="rect">
            <a:avLst/>
          </a:prstGeom>
          <a:solidFill>
            <a:srgbClr val="FFF2CC"/>
          </a:solidFill>
          <a:ln w="6350">
            <a:solidFill>
              <a:srgbClr val="BF9000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777392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948080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4332128" y="4608576"/>
            <a:ext cx="42672" cy="146304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4214176" y="4087368"/>
            <a:ext cx="1002792" cy="146304"/>
          </a:xfrm>
          <a:prstGeom prst="rect">
            <a:avLst/>
          </a:prstGeom>
          <a:solidFill>
            <a:srgbClr val="F8CBAD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  <a:r>
              <a:rPr sz="6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B n+2 준비·정제 47 h</a:t>
            </a:r>
          </a:p>
        </p:txBody>
      </p:sp>
      <p:sp>
        <p:nvSpPr>
          <p:cNvPr id="299" name="Rectangle 298"/>
          <p:cNvSpPr/>
          <p:nvPr/>
        </p:nvSpPr>
        <p:spPr>
          <a:xfrm>
            <a:off x="5216968" y="4261104"/>
            <a:ext cx="170688" cy="1463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5387656" y="4434840"/>
            <a:ext cx="384048" cy="146304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2535936" y="4270248"/>
            <a:ext cx="105156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← 기타 약 20.5 h (구성 확인)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2980944" y="4617720"/>
            <a:ext cx="128016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" b="1" i="0">
                <a:solidFill>
                  <a:srgbClr val="548235"/>
                </a:solidFill>
                <a:latin typeface="Noto Sans KR"/>
                <a:ea typeface="Noto Sans KR"/>
                <a:cs typeface="Noto Sans KR"/>
              </a:rPr>
              <a:t>↑ 충진은 다음 Batch 정제와 병렬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287000" y="4773168"/>
            <a:ext cx="5500000" cy="1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※ IQC(원료 Lot 공통 여부)·이송 중 정제기 점유·충진 인력·글로브 박스 근무시간이 다음 Batch를 제한하는지 확인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5937000" y="3675887"/>
            <a:ext cx="2920000" cy="1243584"/>
          </a:xfrm>
          <a:prstGeom prst="rect">
            <a:avLst/>
          </a:prstGeom>
          <a:solidFill>
            <a:srgbClr val="FFF8E7"/>
          </a:solidFill>
          <a:ln w="1270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027000" y="3703320"/>
            <a:ext cx="27400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5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추정 근거 · 가정 · 한계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데이터 : 6/2 #39~10/29 #92 (54개 일자 · 53간격) · 5월 일부 제외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방법 : 149일 × 24 ÷ 53 = 67.5 h (범위 67.0~67.9) · 중앙값 72 h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가정 : 표시일 = 매 Batch 같은 이벤트 · 번호 Batch 모두 수행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한계 : 날짜만 있는 계획 (실적 아님) · D일 = (D±1)×24 h, 2일≠48 h</a:t>
            </a:r>
          </a:p>
          <a:p>
            <a:pPr algn="l">
              <a:spcAft>
                <a:spcPts val="600"/>
              </a:spcAft>
            </a:pPr>
            <a:r>
              <a:rPr sz="620" b="0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차이 : 정제 45 h 대비 +22.5 h · 점유 47 h 대비 +20.5 h (구성 확인)</a:t>
            </a:r>
          </a:p>
          <a:p>
            <a:pPr algn="l">
              <a:spcAft>
                <a:spcPts val="600"/>
              </a:spcAft>
            </a:pPr>
            <a:r>
              <a:rPr sz="62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확인 : 표시일 의미 · 실제 시각 · Total 46 vs 번호 54 · 색상</a:t>
            </a:r>
          </a:p>
        </p:txBody>
      </p:sp>
      <p:graphicFrame>
        <p:nvGraphicFramePr>
          <p:cNvPr id="306" name="Table 166"/>
          <p:cNvGraphicFramePr>
            <a:graphicFrameLocks noGrp="1"/>
          </p:cNvGraphicFramePr>
          <p:nvPr/>
        </p:nvGraphicFramePr>
        <p:xfrm>
          <a:off x="283464" y="5193792"/>
          <a:ext cx="8567928" cy="1011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00000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490833"/>
                <a:gridCol w="780000"/>
              </a:tblGrid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SK하이닉스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16,980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FF79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</a:t>
                      </a:r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 (제시분)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1,600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1,200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1,360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1,420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19,220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계획 Total×190 (번호 ①)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1,520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8,740*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추정 생산 가능 (관측)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1,710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2,280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1,900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24,510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44475">
                <a:tc>
                  <a:txBody>
                    <a:bodyPr/>
                    <a:lstStyle/>
                    <a:p>
                      <a:pPr algn="l"/>
                      <a:r>
                        <a:rPr sz="58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추정 − 출하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+490</a:t>
                      </a:r>
                      <a:endParaRPr sz="580"/>
                    </a:p>
                  </a:txBody>
                  <a:tcPr anchor="ctr" marL="20000" marR="20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+290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+320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+890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+730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+670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+150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−140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+110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8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+5,290</a:t>
                      </a:r>
                      <a:endParaRPr sz="580"/>
                    </a:p>
                  </a:txBody>
                  <a:tcPr anchor="ctr" marL="20000" marR="20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307" name="Rectangle 262"/>
          <p:cNvSpPr/>
          <p:nvPr/>
        </p:nvSpPr>
        <p:spPr>
          <a:xfrm>
            <a:off x="287000" y="5001768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308" name="TextBox 263"/>
          <p:cNvSpPr txBox="1"/>
          <p:nvPr/>
        </p:nvSpPr>
        <p:spPr>
          <a:xfrm>
            <a:off x="397000" y="4974336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⑤ 2026 출하 제시분 vs 현재 Capa.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19.22톤 (CXMT·한솔 미제시) = 26.2톤의 73.4% · 차이 6.98톤 (가동률·판매 가능량 아님)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283464" y="6300216"/>
            <a:ext cx="5303520" cy="91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30" b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6~10월 합계 (번호×190 기준 10,260) · 계획은 원자료 생산계획(실적 아님) · 추정 생산 가능 = 관측 67.5 h·190 kg·달력 연속(129 Batch) · 상세 Excel 02·04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2027년 월별 출하와 공급 대응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출하계획 43.4톤 · 현재 26.2톤 대비 17.2톤 초과 · 하반기 24.56 vs 참고 23.6톤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4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- 4 -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2027 월별 출하 · 참고 Capa.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참고 Capa. = 연간 환산 ÷ 12 (공사·시운전·안정화 미반영) · 실제 생산 가능량은 조건 확인 후 계산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287000" y="1190000"/>
          <a:ext cx="8570000" cy="26115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0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800000"/>
              </a:tblGrid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조건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1대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공사 (가동 여부 확인)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시운전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초기 안정화 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월 환산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36,700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생산 가능량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2,090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(공사 중 가용시간)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(설비별 간격·Batch량)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부분 2,090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− 출하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−570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−1,150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−160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C0000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−6,700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7,000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2,753.3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3,333.3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4,093.3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43,400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17.5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21.5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228.4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 (병 상당×2)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189.3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2,972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이지켐·한솔 수동 (이지켐 8 h/용기 · 한솔 시간 확인)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이지켐·한솔 ARS '27.7~ (충진시간 확인 입력)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상·하반기 비교 (t)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상반기 출하 18.84 vs 26.2×6/12 = 13.1 (참고)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하반기 출하 24.56 vs 47.2×6/12 = 23.6 → 0.96 부족 방향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43.4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(기초 / 기말)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기초재고 미입력 → 계산 보류 · 2027.12 기말재고 → 2028.1 기초재고로 연결 (Excel 04)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287000" y="4114800"/>
            <a:ext cx="8570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하이닉스 22,720÷12 = 1,893.33 kg/월(표시 반올림) · CXMT 7,000 · 이지켐 10,080 (72용기) · 한솔 3,600 (24용기) · 5 Gal 병 상당 = (하이닉스+CXMT)÷20, 실제 20 kg 정수 배분 · 실제 생산 1월 = 관측 67.5 h 기준 11 Batch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87000" y="434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97000" y="431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2027 연간 환산 기준 비교 (확정 부족량 아님)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7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17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현재 Capa. 대비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7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43.4 vs 26.2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7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17.2톤 초과 → 개선·선행 생산 필요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49500" y="4542024"/>
            <a:ext cx="2082500" cy="640000"/>
          </a:xfrm>
          <a:prstGeom prst="rect">
            <a:avLst/>
          </a:prstGeom>
          <a:solidFill>
            <a:srgbClr val="EAF1FA"/>
          </a:solidFill>
          <a:ln w="1524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479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개선 환산 47.2톤 대비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69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+3.8</a:t>
            </a:r>
            <a:r>
              <a:rPr sz="700" b="1" i="0">
                <a:solidFill>
                  <a:srgbClr val="2E75B6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69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연간 환산값 — 2027 실제 여유 아님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12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42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하반기 출하 vs 참고 Capa.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2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24.56 vs 23.6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32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0.96톤 부족 방향 (47.2×6/12 균등 참고)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74500" y="454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804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2027 생산 − 출하 (시나리오)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94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−9.6 ~ −19.2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94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S2 공사 중 유지 ~ S3 50%·안정화 3개월 (Excel 05)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7000" y="528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7000" y="525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정제 · 충진 자원 제약 (월 기준)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87000" y="5482024"/>
            <a:ext cx="2082500" cy="640000"/>
          </a:xfrm>
          <a:prstGeom prst="rect">
            <a:avLst/>
          </a:prstGeom>
          <a:solidFill>
            <a:srgbClr val="FFF8E7"/>
          </a:solidFill>
          <a:ln w="1524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17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1~6월 (1대)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07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필요 14.5~17.5 vs 약 11</a:t>
            </a:r>
            <a:r>
              <a:rPr sz="7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 Batch/월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07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관측 67.5 h 기준 · 공사 중 가동 미확인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49500" y="548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79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정제기 7~12월 (2대)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69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필요 21.5 vs 20.7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Batch/월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469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47.2톤÷12÷190 · 설비별 간격 미확인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6120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642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5 Gal 글로브 박스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632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189.3 ~ 267.3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h/월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32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 2,972 h · 1교대 176 h의 152% (최대)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7745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804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200 L (이지켐+한솔)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794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6 → 10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용기/월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794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연 96용기 · OQC 2 h/용기 · 한솔·ARS 시간 확인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BE96E-E472-E164-23F2-95F3E9DCB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2DD2F-BCF5-ECAE-E5D5-3CF0B6E970A6}"/>
              </a:ext>
            </a:extLst>
          </p:cNvPr>
          <p:cNvSpPr txBox="1"/>
          <p:nvPr/>
        </p:nvSpPr>
        <p:spPr>
          <a:xfrm>
            <a:off x="419241" y="188640"/>
            <a:ext cx="74000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800" dirty="0" b="1">
                <a:gradFill>
                  <a:gsLst>
                    <a:gs pos="0">
                      <a:srgbClr val="FF7900"/>
                    </a:gs>
                    <a:gs pos="67000">
                      <a:srgbClr val="EB002C"/>
                    </a:gs>
                  </a:gsLst>
                  <a:lin ang="5400000" scaled="1"/>
                </a:gradFill>
              </a:rPr>
              <a:t>2028년 월별 출하 가정과 Capa. 대응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E334A9-F66D-C6A4-7BE9-6D50F9536A48}"/>
              </a:ext>
            </a:extLst>
          </p:cNvPr>
          <p:cNvSpPr/>
          <p:nvPr/>
        </p:nvSpPr>
        <p:spPr>
          <a:xfrm>
            <a:off x="243076" y="0"/>
            <a:ext cx="45719" cy="900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E35880-4093-876B-A5F4-41C1E861B78E}"/>
              </a:ext>
            </a:extLst>
          </p:cNvPr>
          <p:cNvSpPr txBox="1"/>
          <p:nvPr/>
        </p:nvSpPr>
        <p:spPr>
          <a:xfrm>
            <a:off x="683568" y="649029"/>
            <a:ext cx="8217356" cy="24622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algn="ctr">
              <a:defRPr kumimoji="1" sz="2800" b="1">
                <a:solidFill>
                  <a:schemeClr val="tx1">
                    <a:lumMod val="95000"/>
                    <a:lumOff val="5000"/>
                  </a:schemeClr>
                </a:solidFill>
                <a:latin typeface="Noto Sans KR" pitchFamily="2" charset="-127"/>
                <a:ea typeface="Noto Sans KR" pitchFamily="2" charset="-127"/>
              </a:defRPr>
            </a:lvl1pPr>
          </a:lstStyle>
          <a:p>
            <a:pPr algn="l"/>
            <a:r>
              <a:rPr lang="en-US" altLang="ko-KR" sz="1600" dirty="0"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출하 가정 45.76톤 · 47.2톤 대비 +1.44톤 (여유 방향) · 105℃ 50.2톤 검토</a:t>
            </a:r>
            <a:endParaRPr lang="en-US" altLang="ko-KR" sz="1600" dirty="0">
              <a:solidFill>
                <a:srgbClr val="FB6306"/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8FCEA6BD-DE04-59B4-A8D4-190141D5218B}"/>
              </a:ext>
            </a:extLst>
          </p:cNvPr>
          <p:cNvSpPr>
            <a:spLocks noChangeAspect="1"/>
          </p:cNvSpPr>
          <p:nvPr/>
        </p:nvSpPr>
        <p:spPr>
          <a:xfrm>
            <a:off x="419241" y="682139"/>
            <a:ext cx="180000" cy="180000"/>
          </a:xfrm>
          <a:prstGeom prst="ellipse">
            <a:avLst/>
          </a:prstGeom>
          <a:solidFill>
            <a:srgbClr val="EB002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 dirty="0">
                <a:latin typeface="Noto Sans KR" pitchFamily="2" charset="-127"/>
                <a:ea typeface="Noto Sans KR" pitchFamily="2" charset="-127"/>
              </a:rPr>
              <a:t>5</a:t>
            </a:r>
            <a:endParaRPr kumimoji="1" lang="ko-KR" altLang="en-US" sz="1000" b="1" dirty="0">
              <a:latin typeface="Noto Sans KR" pitchFamily="2" charset="-127"/>
              <a:ea typeface="Noto Sans KR" pitchFamily="2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8A963E8-7BFA-8421-BB5D-9C25023F1E9B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8384" y="165102"/>
            <a:ext cx="872541" cy="372545"/>
          </a:xfrm>
          <a:prstGeom prst="rect">
            <a:avLst/>
          </a:prstGeom>
        </p:spPr>
      </p:pic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93943A90-8311-883B-A173-01407C63CEE4}"/>
              </a:ext>
            </a:extLst>
          </p:cNvPr>
          <p:cNvSpPr/>
          <p:nvPr/>
        </p:nvSpPr>
        <p:spPr>
          <a:xfrm>
            <a:off x="234424" y="6411907"/>
            <a:ext cx="1027462" cy="2525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kumimoji="1" lang="en-US" altLang="ko-KR" sz="1100" dirty="0">
                <a:solidFill>
                  <a:schemeClr val="bg1">
                    <a:lumMod val="50000"/>
                  </a:schemeClr>
                </a:solidFill>
                <a:latin typeface="Noto Sans KR" panose="02000503000000020004" pitchFamily="2" charset="-127"/>
                <a:ea typeface="Noto Sans KR" panose="02000503000000020004" pitchFamily="2" charset="-127"/>
                <a:cs typeface="Noto Sans KR" panose="02000503000000020004" pitchFamily="2" charset="-127"/>
              </a:rPr>
              <a:t>Confidential</a:t>
            </a:r>
            <a:endParaRPr kumimoji="1" lang="ko-KR" altLang="en-US" sz="1100" dirty="0">
              <a:solidFill>
                <a:schemeClr val="bg1">
                  <a:lumMod val="50000"/>
                </a:schemeClr>
              </a:solidFill>
              <a:latin typeface="Noto Sans KR" panose="02000503000000020004" pitchFamily="2" charset="-127"/>
              <a:ea typeface="Noto Sans KR" panose="02000503000000020004" pitchFamily="2" charset="-127"/>
              <a:cs typeface="Noto Sans KR" panose="02000503000000020004" pitchFamily="2" charset="-127"/>
            </a:endParaRPr>
          </a:p>
        </p:txBody>
      </p:sp>
      <p:cxnSp>
        <p:nvCxnSpPr>
          <p:cNvPr id="163" name="직선 연결선[R] 162">
            <a:extLst>
              <a:ext uri="{FF2B5EF4-FFF2-40B4-BE49-F238E27FC236}">
                <a16:creationId xmlns:a16="http://schemas.microsoft.com/office/drawing/2014/main" id="{8DEBABA2-333E-086B-36F6-137958AA3974}"/>
              </a:ext>
            </a:extLst>
          </p:cNvPr>
          <p:cNvCxnSpPr>
            <a:cxnSpLocks/>
          </p:cNvCxnSpPr>
          <p:nvPr/>
        </p:nvCxnSpPr>
        <p:spPr>
          <a:xfrm>
            <a:off x="1442533" y="6538184"/>
            <a:ext cx="72008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53F489-CBFB-4C6F-878D-02975AD51256}"/>
              </a:ext>
            </a:extLst>
          </p:cNvPr>
          <p:cNvSpPr txBox="1"/>
          <p:nvPr/>
        </p:nvSpPr>
        <p:spPr>
          <a:xfrm>
            <a:off x="3972000" y="6461240"/>
            <a:ext cx="1200000" cy="153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kumimoji="1" lang="en-US" altLang="ko-KR" sz="1000" dirty="0" b="0" i="0">
                <a:solidFill>
                  <a:srgbClr val="7F7F7F"/>
                </a:solidFill>
                <a:latin typeface="Noto Sans KR" panose="02000403000000020004" pitchFamily="2" charset="-127"/>
                <a:ea typeface="Noto Sans KR" panose="02000403000000020004" pitchFamily="2" charset="-127"/>
                <a:cs typeface="Noto Sans KR" panose="02000403000000020004" pitchFamily="2" charset="-127"/>
              </a:rPr>
              <a:t>- 5 -</a:t>
            </a:r>
            <a:endParaRPr kumimoji="1" lang="ko-KR" altLang="en-US" sz="1000" dirty="0">
              <a:solidFill>
                <a:schemeClr val="bg1">
                  <a:lumMod val="50000"/>
                </a:schemeClr>
              </a:solidFill>
              <a:latin typeface="Noto Sans KR" panose="02000403000000020004" pitchFamily="2" charset="-127"/>
              <a:ea typeface="Noto Sans KR" panose="02000403000000020004" pitchFamily="2" charset="-127"/>
              <a:cs typeface="Noto Sans KR" panose="02000403000000020004" pitchFamily="2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5657000" y="6300000"/>
            <a:ext cx="32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공란 : 담당부서 확인 후 입력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87000" y="980000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97000" y="950000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① 2028 월별 출하 가정 · 참고 Capa. · 충진 (kg)</a:t>
            </a:r>
            <a:r>
              <a:rPr sz="7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   하이닉스·CXMT·한솔 2027 하반기 수준 유지 · 이지켐 월 840 kg — 확정 고객 수요 아님</a:t>
            </a: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287000" y="1190000"/>
          <a:ext cx="8570000" cy="261152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50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485000"/>
                <a:gridCol w="800000"/>
              </a:tblGrid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12월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연간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A1A1A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적용 조건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9F9F9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최초 12개월 ('27.7~'28.6)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정제기 2대 · 47.2톤 기준 (105℃ 적용 시점 미정)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404040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47.2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3F3F3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3,933.3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47,200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105℃ 검토안 50.2 (÷12)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4,183.3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50,200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참고 Capa. − 출하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385723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+1,440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SK하이닉스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1,893.3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22,720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CXMT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9,360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이지켐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840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10,080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■ 한솔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3,600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출하 합계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3,813.3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45,760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필요 Batch (÷190)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20.1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240.8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Gal 충진 h (병 상당×2)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267.3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3,208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용기 (140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72용기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한솔 용기 (150 kg)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24용기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200 L 충진 방식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이지켐 · 한솔 ARS (충진시간 확인 입력) · 5 Gal 글로브 박스 유지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2E75B6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실제 생산 가능량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 — 설비별 간격·Batch량·양품률 입력 시 계산 (Excel 04) · 연간 환산값과 구분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D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EB002C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153619">
                <a:tc>
                  <a:txBody>
                    <a:bodyPr/>
                    <a:lstStyle/>
                    <a:p>
                      <a:pPr algn="l"/>
                      <a:r>
                        <a:rPr sz="600" b="1" i="0">
                          <a:solidFill>
                            <a:srgbClr val="7F7F7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 (기초 / 기말)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gridSpan="12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2027.12 기말재고 → 2028.1 기초재고 연결 · 미확인 시 0 초기화 안 함</a:t>
                      </a:r>
                      <a:endParaRPr sz="600"/>
                    </a:p>
                  </a:txBody>
                  <a:tcPr anchor="ctr" marL="27000" marR="27000" marT="0" marB="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r>
                        <a:rPr sz="600" b="0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/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D9D9D9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00" b="1" i="0">
                          <a:solidFill>
                            <a:srgbClr val="1A1A1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보류</a:t>
                      </a:r>
                      <a:endParaRPr sz="600"/>
                    </a:p>
                  </a:txBody>
                  <a:tcPr anchor="ctr" marL="27000" marR="27000" marT="0" marB="0">
                    <a:lnL w="6350">
                      <a:solidFill>
                        <a:srgbClr val="BFBFBF"/>
                      </a:solidFill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287000" y="4114800"/>
            <a:ext cx="8570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8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* 하이닉스 22,720÷12 · CXMT 780 · 이지켐 840 · 한솔 300 kg/월 (가정 — 2027 연간 43.4톤 복제 아님) · 105℃는 미확정 검토안으로 별도 비교 · 실제 생산량은 연간 환산값과 구분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287000" y="434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97000" y="431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② 2028 연간 환산 비교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287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17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출하 가정 (2028)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07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45.76</a:t>
            </a:r>
            <a:r>
              <a:rPr sz="700" b="1" i="0">
                <a:solidFill>
                  <a:srgbClr val="EB002C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307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3,813.3 kg/월 × 12 · 확정 수요 아님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449500" y="4542024"/>
            <a:ext cx="2082500" cy="640000"/>
          </a:xfrm>
          <a:prstGeom prst="rect">
            <a:avLst/>
          </a:prstGeom>
          <a:solidFill>
            <a:srgbClr val="EAF1FA"/>
          </a:solidFill>
          <a:ln w="15240">
            <a:solidFill>
              <a:srgbClr val="2E75B6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76" name="TextBox 175"/>
          <p:cNvSpPr txBox="1"/>
          <p:nvPr/>
        </p:nvSpPr>
        <p:spPr>
          <a:xfrm>
            <a:off x="2479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기본: 47.2톤 기준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2469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+1.44</a:t>
            </a:r>
            <a:r>
              <a:rPr sz="7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2469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여유 방향 · 확정 부족량·판매 가능량 아님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4612000" y="4542024"/>
            <a:ext cx="2082500" cy="640000"/>
          </a:xfrm>
          <a:prstGeom prst="rect">
            <a:avLst/>
          </a:prstGeom>
          <a:solidFill>
            <a:srgbClr val="FDEDF0"/>
          </a:solidFill>
          <a:ln w="15240">
            <a:solidFill>
              <a:srgbClr val="EB002C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46420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12개월 적용 시 (50.2)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6320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+4.44</a:t>
            </a:r>
            <a:r>
              <a:rPr sz="700" b="1" i="0">
                <a:solidFill>
                  <a:srgbClr val="385723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320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여유 방향 · 검토안 · 승인·시점 미정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6774500" y="454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6804500" y="458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24개월 필요 선행재고 (참고)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6794500" y="473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9.6 ~ 19.2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톤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6794500" y="501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'27.1.1 기준 · 시나리오 S2~S3 (Excel 05)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87000" y="5282024"/>
            <a:ext cx="50000" cy="165000"/>
          </a:xfrm>
          <a:prstGeom prst="rect">
            <a:avLst/>
          </a:prstGeom>
          <a:solidFill>
            <a:srgbClr val="EB002C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97000" y="5252024"/>
            <a:ext cx="8000000" cy="2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③ 재고 이월 · 추가 개선 · 품질 · 충진 자원 검토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87000" y="5482024"/>
            <a:ext cx="2082500" cy="640000"/>
          </a:xfrm>
          <a:prstGeom prst="rect">
            <a:avLst/>
          </a:prstGeom>
          <a:solidFill>
            <a:srgbClr val="FFF8E7"/>
          </a:solidFill>
          <a:ln w="15240">
            <a:solidFill>
              <a:srgbClr val="BF9000"/>
            </a:solidFill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17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재고 이월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307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7F6000"/>
                </a:solidFill>
                <a:latin typeface="Noto Sans KR"/>
                <a:ea typeface="Noto Sans KR"/>
                <a:cs typeface="Noto Sans KR"/>
              </a:rPr>
              <a:t>'27.12 → '28.1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07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기초·목표재고 입력 · 하이닉스 우선 확보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2449500" y="5482024"/>
            <a:ext cx="2082500" cy="640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F7F7F"/>
            </a:solidFill>
            <a:prstDash val="dash"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2479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추가 개선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2469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설비별 ≤ 70.5</a:t>
            </a:r>
            <a:r>
              <a:rPr sz="700" b="1" i="0">
                <a:solidFill>
                  <a:srgbClr val="3F3F3F"/>
                </a:solidFill>
                <a:latin typeface="Noto Sans KR"/>
                <a:ea typeface="Noto Sans KR"/>
                <a:cs typeface="Noto Sans KR"/>
              </a:rPr>
              <a:t> h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2469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Mix·준비·대기 단축 · 105℃ 검토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46120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46420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충진 자원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46320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267.3 h · 8</a:t>
            </a:r>
            <a:r>
              <a:rPr sz="7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 용기/월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46320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5 Gal 연 3,208 h (1교대 152%) · 200 L 연 96용기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774500" y="5482024"/>
            <a:ext cx="2082500" cy="640000"/>
          </a:xfrm>
          <a:prstGeom prst="rect">
            <a:avLst/>
          </a:prstGeom>
          <a:solidFill>
            <a:srgbClr val="F5F6F8"/>
          </a:solidFill>
          <a:ln>
            <a:noFill/>
          </a:ln>
        </p:spPr>
        <p:txBody>
          <a:bodyPr rtlCol="0" anchor="ctr" lIns="30000" rIns="30000" tIns="0" bIns="0" wrap="square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6804500" y="5522024"/>
            <a:ext cx="20225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72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105℃ 검토안 확인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6794500" y="5672024"/>
            <a:ext cx="2042500" cy="2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Noto Sans KR"/>
                <a:ea typeface="Noto Sans KR"/>
                <a:cs typeface="Noto Sans KR"/>
              </a:rPr>
              <a:t>승인 · 적용 시점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794500" y="5957024"/>
            <a:ext cx="2042500" cy="1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600" b="0" i="0">
                <a:solidFill>
                  <a:srgbClr val="7F7F7F"/>
                </a:solidFill>
                <a:latin typeface="Noto Sans KR"/>
                <a:ea typeface="Noto Sans KR"/>
                <a:cs typeface="Noto Sans KR"/>
              </a:rPr>
              <a:t>열 안정성·Dimer·Unknown·Yield · 이지켐 색도</a:t>
            </a:r>
          </a:p>
        </p:txBody>
      </p:sp>
    </p:spTree>
    <p:extLst>
      <p:ext uri="{BB962C8B-B14F-4D97-AF65-F5344CB8AC3E}">
        <p14:creationId xmlns:p14="http://schemas.microsoft.com/office/powerpoint/2010/main" val="1298990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95502</TotalTime>
  <Words>9459</Words>
  <Application>Microsoft Office PowerPoint</Application>
  <PresentationFormat>화면 슬라이드 쇼(4:3)</PresentationFormat>
  <Paragraphs>2567</Paragraphs>
  <Slides>54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18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54</vt:i4>
      </vt:variant>
    </vt:vector>
  </HeadingPairs>
  <TitlesOfParts>
    <vt:vector size="73" baseType="lpstr">
      <vt:lpstr>Meiryo UI</vt:lpstr>
      <vt:lpstr>ＭＳ Ｐゴシック</vt:lpstr>
      <vt:lpstr>Paperlogy 4 Regular</vt:lpstr>
      <vt:lpstr>Paperlogy 5 Medium</vt:lpstr>
      <vt:lpstr>Paperlogy 6 SemiBold</vt:lpstr>
      <vt:lpstr>Paperlogy 7 Bold</vt:lpstr>
      <vt:lpstr>Paperlogy 8 ExtraBold</vt:lpstr>
      <vt:lpstr>Pretendard</vt:lpstr>
      <vt:lpstr>Pretendard Light</vt:lpstr>
      <vt:lpstr>Pretendard Medium</vt:lpstr>
      <vt:lpstr>Pretendard SemiBold</vt:lpstr>
      <vt:lpstr>맑은 고딕</vt:lpstr>
      <vt:lpstr>맑은 고딕</vt:lpstr>
      <vt:lpstr>Arial</vt:lpstr>
      <vt:lpstr>Arial Narrow</vt:lpstr>
      <vt:lpstr>Tahoma</vt:lpstr>
      <vt:lpstr>Times New Roman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XP R2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김지현(JIHYUN KIM)/SK트리켐 마케팅팀/SKMR</cp:lastModifiedBy>
  <cp:revision>2121</cp:revision>
  <cp:lastPrinted>2024-01-02T22:30:24Z</cp:lastPrinted>
  <dcterms:created xsi:type="dcterms:W3CDTF">2016-08-27T13:10:56Z</dcterms:created>
  <dcterms:modified xsi:type="dcterms:W3CDTF">2026-09-10T02:13:59Z</dcterms:modified>
</cp:coreProperties>
</file>