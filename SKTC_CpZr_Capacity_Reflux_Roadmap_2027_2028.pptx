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6"/>
  </p:notesMasterIdLst>
  <p:sldIdLst>
    <p:sldId id="268" r:id="rId61"/>
    <p:sldId id="274" r:id="rId12"/>
    <p:sldId id="269" r:id="rId6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</p:sldIdLst>
  <p:sldSz cx="9144000" cy="6858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 userDrawn="1">
          <p15:clr>
            <a:srgbClr val="A4A3A4"/>
          </p15:clr>
        </p15:guide>
        <p15:guide id="2" pos="214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251E"/>
    <a:srgbClr val="FB6306"/>
    <a:srgbClr val="FAFAFA"/>
    <a:srgbClr val="FFFFFF"/>
    <a:srgbClr val="0061DA"/>
    <a:srgbClr val="F74912"/>
    <a:srgbClr val="E9BB9F"/>
    <a:srgbClr val="EB002C"/>
    <a:srgbClr val="FFDD71"/>
    <a:srgbClr val="F951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15" autoAdjust="0"/>
    <p:restoredTop sz="84988" autoAdjust="0"/>
  </p:normalViewPr>
  <p:slideViewPr>
    <p:cSldViewPr>
      <p:cViewPr>
        <p:scale>
          <a:sx n="98" d="100"/>
          <a:sy n="98" d="100"/>
        </p:scale>
        <p:origin x="245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1" d="100"/>
          <a:sy n="91" d="100"/>
        </p:scale>
        <p:origin x="-2034" y="-108"/>
      </p:cViewPr>
      <p:guideLst>
        <p:guide orient="horz" pos="3131"/>
        <p:guide pos="2145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openxmlformats.org/officeDocument/2006/relationships/slide" Target="slides/slide1.xml"/><Relationship Id="rId62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Capa. 기준 생산</c:v>
                </c:pt>
              </c:strCache>
            </c:strRef>
          </c:tx>
          <c:spPr>
            <a:ln w="19050">
              <a:solidFill>
                <a:srgbClr val="FF7900"/>
              </a:solidFill>
            </a:ln>
          </c:spPr>
          <c:marker>
            <c:symbol val="circle"/>
            <c:size val="3"/>
            <c:spPr>
              <a:solidFill>
                <a:srgbClr val="FF7900"/>
              </a:solidFill>
              <a:ln>
                <a:solidFill>
                  <a:srgbClr val="FF7900"/>
                </a:solidFill>
              </a:ln>
            </c:spPr>
          </c:marker>
          <c:cat>
            <c:strRef>
              <c:f>Sheet1!$A$2:$A$25</c:f>
              <c:strCache>
                <c:ptCount val="24"/>
                <c:pt idx="0">
                  <c:v>27.1</c:v>
                </c:pt>
                <c:pt idx="1">
                  <c:v>27.2</c:v>
                </c:pt>
                <c:pt idx="2">
                  <c:v>27.3</c:v>
                </c:pt>
                <c:pt idx="3">
                  <c:v>27.4</c:v>
                </c:pt>
                <c:pt idx="4">
                  <c:v>27.5</c:v>
                </c:pt>
                <c:pt idx="5">
                  <c:v>27.6</c:v>
                </c:pt>
                <c:pt idx="6">
                  <c:v>27.7</c:v>
                </c:pt>
                <c:pt idx="7">
                  <c:v>27.8</c:v>
                </c:pt>
                <c:pt idx="8">
                  <c:v>27.9</c:v>
                </c:pt>
                <c:pt idx="9">
                  <c:v>27.10</c:v>
                </c:pt>
                <c:pt idx="10">
                  <c:v>27.11</c:v>
                </c:pt>
                <c:pt idx="11">
                  <c:v>27.12</c:v>
                </c:pt>
                <c:pt idx="12">
                  <c:v>28.1</c:v>
                </c:pt>
                <c:pt idx="13">
                  <c:v>28.2</c:v>
                </c:pt>
                <c:pt idx="14">
                  <c:v>28.3</c:v>
                </c:pt>
                <c:pt idx="15">
                  <c:v>28.4</c:v>
                </c:pt>
                <c:pt idx="16">
                  <c:v>28.5</c:v>
                </c:pt>
                <c:pt idx="17">
                  <c:v>28.6</c:v>
                </c:pt>
                <c:pt idx="18">
                  <c:v>28.7</c:v>
                </c:pt>
                <c:pt idx="19">
                  <c:v>28.8</c:v>
                </c:pt>
                <c:pt idx="20">
                  <c:v>28.9</c:v>
                </c:pt>
                <c:pt idx="21">
                  <c:v>28.10</c:v>
                </c:pt>
                <c:pt idx="22">
                  <c:v>28.11</c:v>
                </c:pt>
                <c:pt idx="23">
                  <c:v>28.12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2178</c:v>
                </c:pt>
                <c:pt idx="1">
                  <c:v>2178</c:v>
                </c:pt>
                <c:pt idx="2">
                  <c:v>3168</c:v>
                </c:pt>
                <c:pt idx="3">
                  <c:v>1188</c:v>
                </c:pt>
                <c:pt idx="4">
                  <c:v>4182.9</c:v>
                </c:pt>
                <c:pt idx="5">
                  <c:v>4182.9</c:v>
                </c:pt>
                <c:pt idx="6">
                  <c:v>4182.9</c:v>
                </c:pt>
                <c:pt idx="7">
                  <c:v>4182.9</c:v>
                </c:pt>
                <c:pt idx="8">
                  <c:v>4182.9</c:v>
                </c:pt>
                <c:pt idx="9">
                  <c:v>4182.9</c:v>
                </c:pt>
                <c:pt idx="10">
                  <c:v>4182.9</c:v>
                </c:pt>
                <c:pt idx="11">
                  <c:v>4182.9</c:v>
                </c:pt>
                <c:pt idx="12">
                  <c:v>4455.6</c:v>
                </c:pt>
                <c:pt idx="13">
                  <c:v>4455.6</c:v>
                </c:pt>
                <c:pt idx="14">
                  <c:v>4455.6</c:v>
                </c:pt>
                <c:pt idx="15">
                  <c:v>1188</c:v>
                </c:pt>
                <c:pt idx="16">
                  <c:v>4455.6</c:v>
                </c:pt>
                <c:pt idx="17">
                  <c:v>4455.6</c:v>
                </c:pt>
                <c:pt idx="18">
                  <c:v>4455.6</c:v>
                </c:pt>
                <c:pt idx="19">
                  <c:v>4455.6</c:v>
                </c:pt>
                <c:pt idx="20">
                  <c:v>4455.6</c:v>
                </c:pt>
                <c:pt idx="21">
                  <c:v>4455.6</c:v>
                </c:pt>
                <c:pt idx="22">
                  <c:v>4455.6</c:v>
                </c:pt>
                <c:pt idx="23">
                  <c:v>4455.6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기존 생산계획</c:v>
                </c:pt>
              </c:strCache>
            </c:strRef>
          </c:tx>
          <c:spPr>
            <a:ln w="19050">
              <a:solidFill>
                <a:srgbClr val="2E75B6"/>
              </a:solidFill>
            </a:ln>
          </c:spPr>
          <c:marker>
            <c:symbol val="circle"/>
            <c:size val="3"/>
            <c:spPr>
              <a:solidFill>
                <a:srgbClr val="2E75B6"/>
              </a:solidFill>
              <a:ln>
                <a:solidFill>
                  <a:srgbClr val="2E75B6"/>
                </a:solidFill>
              </a:ln>
            </c:spPr>
          </c:marker>
          <c:cat>
            <c:strRef>
              <c:f>Sheet1!$A$2:$A$25</c:f>
              <c:strCache>
                <c:ptCount val="24"/>
                <c:pt idx="0">
                  <c:v>27.1</c:v>
                </c:pt>
                <c:pt idx="1">
                  <c:v>27.2</c:v>
                </c:pt>
                <c:pt idx="2">
                  <c:v>27.3</c:v>
                </c:pt>
                <c:pt idx="3">
                  <c:v>27.4</c:v>
                </c:pt>
                <c:pt idx="4">
                  <c:v>27.5</c:v>
                </c:pt>
                <c:pt idx="5">
                  <c:v>27.6</c:v>
                </c:pt>
                <c:pt idx="6">
                  <c:v>27.7</c:v>
                </c:pt>
                <c:pt idx="7">
                  <c:v>27.8</c:v>
                </c:pt>
                <c:pt idx="8">
                  <c:v>27.9</c:v>
                </c:pt>
                <c:pt idx="9">
                  <c:v>27.10</c:v>
                </c:pt>
                <c:pt idx="10">
                  <c:v>27.11</c:v>
                </c:pt>
                <c:pt idx="11">
                  <c:v>27.12</c:v>
                </c:pt>
                <c:pt idx="12">
                  <c:v>28.1</c:v>
                </c:pt>
                <c:pt idx="13">
                  <c:v>28.2</c:v>
                </c:pt>
                <c:pt idx="14">
                  <c:v>28.3</c:v>
                </c:pt>
                <c:pt idx="15">
                  <c:v>28.4</c:v>
                </c:pt>
                <c:pt idx="16">
                  <c:v>28.5</c:v>
                </c:pt>
                <c:pt idx="17">
                  <c:v>28.6</c:v>
                </c:pt>
                <c:pt idx="18">
                  <c:v>28.7</c:v>
                </c:pt>
                <c:pt idx="19">
                  <c:v>28.8</c:v>
                </c:pt>
                <c:pt idx="20">
                  <c:v>28.9</c:v>
                </c:pt>
                <c:pt idx="21">
                  <c:v>28.10</c:v>
                </c:pt>
                <c:pt idx="22">
                  <c:v>28.11</c:v>
                </c:pt>
                <c:pt idx="23">
                  <c:v>28.12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2178</c:v>
                </c:pt>
                <c:pt idx="1">
                  <c:v>2178</c:v>
                </c:pt>
                <c:pt idx="2">
                  <c:v>3168</c:v>
                </c:pt>
                <c:pt idx="3">
                  <c:v>1188</c:v>
                </c:pt>
                <c:pt idx="4">
                  <c:v>3564</c:v>
                </c:pt>
                <c:pt idx="5">
                  <c:v>3564</c:v>
                </c:pt>
                <c:pt idx="6">
                  <c:v>3564</c:v>
                </c:pt>
                <c:pt idx="7">
                  <c:v>3564</c:v>
                </c:pt>
                <c:pt idx="8">
                  <c:v>3564</c:v>
                </c:pt>
                <c:pt idx="9">
                  <c:v>3564</c:v>
                </c:pt>
                <c:pt idx="10">
                  <c:v>3564</c:v>
                </c:pt>
                <c:pt idx="11">
                  <c:v>3564</c:v>
                </c:pt>
                <c:pt idx="12">
                  <c:v>3564</c:v>
                </c:pt>
                <c:pt idx="13">
                  <c:v>3564</c:v>
                </c:pt>
                <c:pt idx="14">
                  <c:v>3564</c:v>
                </c:pt>
                <c:pt idx="15">
                  <c:v>1188</c:v>
                </c:pt>
                <c:pt idx="16">
                  <c:v>3564</c:v>
                </c:pt>
                <c:pt idx="17">
                  <c:v>3564</c:v>
                </c:pt>
                <c:pt idx="18">
                  <c:v>3564</c:v>
                </c:pt>
                <c:pt idx="19">
                  <c:v>3168</c:v>
                </c:pt>
                <c:pt idx="20">
                  <c:v>3168</c:v>
                </c:pt>
                <c:pt idx="21">
                  <c:v>3168</c:v>
                </c:pt>
                <c:pt idx="22">
                  <c:v>3168</c:v>
                </c:pt>
                <c:pt idx="23">
                  <c:v>3168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출하</c:v>
                </c:pt>
              </c:strCache>
            </c:strRef>
          </c:tx>
          <c:spPr>
            <a:ln w="19050">
              <a:solidFill>
                <a:srgbClr val="404040"/>
              </a:solidFill>
            </a:ln>
          </c:spPr>
          <c:marker>
            <c:symbol val="circle"/>
            <c:size val="3"/>
            <c:spPr>
              <a:solidFill>
                <a:srgbClr val="404040"/>
              </a:solidFill>
              <a:ln>
                <a:solidFill>
                  <a:srgbClr val="404040"/>
                </a:solidFill>
              </a:ln>
            </c:spPr>
          </c:marker>
          <c:cat>
            <c:strRef>
              <c:f>Sheet1!$A$2:$A$25</c:f>
              <c:strCache>
                <c:ptCount val="24"/>
                <c:pt idx="0">
                  <c:v>27.1</c:v>
                </c:pt>
                <c:pt idx="1">
                  <c:v>27.2</c:v>
                </c:pt>
                <c:pt idx="2">
                  <c:v>27.3</c:v>
                </c:pt>
                <c:pt idx="3">
                  <c:v>27.4</c:v>
                </c:pt>
                <c:pt idx="4">
                  <c:v>27.5</c:v>
                </c:pt>
                <c:pt idx="5">
                  <c:v>27.6</c:v>
                </c:pt>
                <c:pt idx="6">
                  <c:v>27.7</c:v>
                </c:pt>
                <c:pt idx="7">
                  <c:v>27.8</c:v>
                </c:pt>
                <c:pt idx="8">
                  <c:v>27.9</c:v>
                </c:pt>
                <c:pt idx="9">
                  <c:v>27.10</c:v>
                </c:pt>
                <c:pt idx="10">
                  <c:v>27.11</c:v>
                </c:pt>
                <c:pt idx="11">
                  <c:v>27.12</c:v>
                </c:pt>
                <c:pt idx="12">
                  <c:v>28.1</c:v>
                </c:pt>
                <c:pt idx="13">
                  <c:v>28.2</c:v>
                </c:pt>
                <c:pt idx="14">
                  <c:v>28.3</c:v>
                </c:pt>
                <c:pt idx="15">
                  <c:v>28.4</c:v>
                </c:pt>
                <c:pt idx="16">
                  <c:v>28.5</c:v>
                </c:pt>
                <c:pt idx="17">
                  <c:v>28.6</c:v>
                </c:pt>
                <c:pt idx="18">
                  <c:v>28.7</c:v>
                </c:pt>
                <c:pt idx="19">
                  <c:v>28.8</c:v>
                </c:pt>
                <c:pt idx="20">
                  <c:v>28.9</c:v>
                </c:pt>
                <c:pt idx="21">
                  <c:v>28.10</c:v>
                </c:pt>
                <c:pt idx="22">
                  <c:v>28.11</c:v>
                </c:pt>
                <c:pt idx="23">
                  <c:v>28.12</c:v>
                </c:pt>
              </c:strCache>
            </c: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2753.3</c:v>
                </c:pt>
                <c:pt idx="1">
                  <c:v>2753.3</c:v>
                </c:pt>
                <c:pt idx="2">
                  <c:v>3333.3</c:v>
                </c:pt>
                <c:pt idx="3">
                  <c:v>3333.3</c:v>
                </c:pt>
                <c:pt idx="4">
                  <c:v>3333.3</c:v>
                </c:pt>
                <c:pt idx="5">
                  <c:v>3333.3</c:v>
                </c:pt>
                <c:pt idx="6">
                  <c:v>4093.3</c:v>
                </c:pt>
                <c:pt idx="7">
                  <c:v>4093.3</c:v>
                </c:pt>
                <c:pt idx="8">
                  <c:v>4093.3</c:v>
                </c:pt>
                <c:pt idx="9">
                  <c:v>4093.3</c:v>
                </c:pt>
                <c:pt idx="10">
                  <c:v>4093.3</c:v>
                </c:pt>
                <c:pt idx="11">
                  <c:v>4093.3</c:v>
                </c:pt>
                <c:pt idx="12">
                  <c:v>3813.3</c:v>
                </c:pt>
                <c:pt idx="13">
                  <c:v>3813.3</c:v>
                </c:pt>
                <c:pt idx="14">
                  <c:v>3813.3</c:v>
                </c:pt>
                <c:pt idx="15">
                  <c:v>3813.3</c:v>
                </c:pt>
                <c:pt idx="16">
                  <c:v>3813.3</c:v>
                </c:pt>
                <c:pt idx="17">
                  <c:v>3813.3</c:v>
                </c:pt>
                <c:pt idx="18">
                  <c:v>3813.3</c:v>
                </c:pt>
                <c:pt idx="19">
                  <c:v>3813.3</c:v>
                </c:pt>
                <c:pt idx="20">
                  <c:v>3813.3</c:v>
                </c:pt>
                <c:pt idx="21">
                  <c:v>3813.3</c:v>
                </c:pt>
                <c:pt idx="22">
                  <c:v>3813.3</c:v>
                </c:pt>
                <c:pt idx="23">
                  <c:v>3813.3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6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7E6E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650"/>
          </a:pPr>
        </a:p>
      </c:txPr>
    </c:legend>
    <c:plotVisOnly val="1"/>
    <c:dispBlanksAs val="gap"/>
    <c:showDLblsOverMax val="0"/>
  </c:chart>
  <c:txPr>
    <a:bodyPr/>
    <a:lstStyle/>
    <a:p>
      <a:pPr>
        <a:defRPr sz="650">
          <a:latin typeface="Noto Sans K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Capa. 기준</c:v>
                </c:pt>
              </c:strCache>
            </c:strRef>
          </c:tx>
          <c:spPr>
            <a:ln w="19050">
              <a:solidFill>
                <a:srgbClr val="FF7900"/>
              </a:solidFill>
            </a:ln>
          </c:spPr>
          <c:marker>
            <c:symbol val="circle"/>
            <c:size val="3"/>
            <c:spPr>
              <a:solidFill>
                <a:srgbClr val="FF7900"/>
              </a:solidFill>
              <a:ln>
                <a:solidFill>
                  <a:srgbClr val="FF7900"/>
                </a:solidFill>
              </a:ln>
            </c:spPr>
          </c:marker>
          <c:cat>
            <c:strRef>
              <c:f>Sheet1!$A$2:$A$25</c:f>
              <c:strCache>
                <c:ptCount val="24"/>
                <c:pt idx="0">
                  <c:v>27.1</c:v>
                </c:pt>
                <c:pt idx="1">
                  <c:v>27.2</c:v>
                </c:pt>
                <c:pt idx="2">
                  <c:v>27.3</c:v>
                </c:pt>
                <c:pt idx="3">
                  <c:v>27.4</c:v>
                </c:pt>
                <c:pt idx="4">
                  <c:v>27.5</c:v>
                </c:pt>
                <c:pt idx="5">
                  <c:v>27.6</c:v>
                </c:pt>
                <c:pt idx="6">
                  <c:v>27.7</c:v>
                </c:pt>
                <c:pt idx="7">
                  <c:v>27.8</c:v>
                </c:pt>
                <c:pt idx="8">
                  <c:v>27.9</c:v>
                </c:pt>
                <c:pt idx="9">
                  <c:v>27.10</c:v>
                </c:pt>
                <c:pt idx="10">
                  <c:v>27.11</c:v>
                </c:pt>
                <c:pt idx="11">
                  <c:v>27.12</c:v>
                </c:pt>
                <c:pt idx="12">
                  <c:v>28.1</c:v>
                </c:pt>
                <c:pt idx="13">
                  <c:v>28.2</c:v>
                </c:pt>
                <c:pt idx="14">
                  <c:v>28.3</c:v>
                </c:pt>
                <c:pt idx="15">
                  <c:v>28.4</c:v>
                </c:pt>
                <c:pt idx="16">
                  <c:v>28.5</c:v>
                </c:pt>
                <c:pt idx="17">
                  <c:v>28.6</c:v>
                </c:pt>
                <c:pt idx="18">
                  <c:v>28.7</c:v>
                </c:pt>
                <c:pt idx="19">
                  <c:v>28.8</c:v>
                </c:pt>
                <c:pt idx="20">
                  <c:v>28.9</c:v>
                </c:pt>
                <c:pt idx="21">
                  <c:v>28.10</c:v>
                </c:pt>
                <c:pt idx="22">
                  <c:v>28.11</c:v>
                </c:pt>
                <c:pt idx="23">
                  <c:v>28.12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-575.3</c:v>
                </c:pt>
                <c:pt idx="1">
                  <c:v>-1150.7</c:v>
                </c:pt>
                <c:pt idx="2">
                  <c:v>-1316</c:v>
                </c:pt>
                <c:pt idx="3">
                  <c:v>-3461.3</c:v>
                </c:pt>
                <c:pt idx="4">
                  <c:v>-2611.8</c:v>
                </c:pt>
                <c:pt idx="5">
                  <c:v>-1762.2</c:v>
                </c:pt>
                <c:pt idx="6">
                  <c:v>-1672.6</c:v>
                </c:pt>
                <c:pt idx="7">
                  <c:v>-1583.0</c:v>
                </c:pt>
                <c:pt idx="8">
                  <c:v>-1493.5</c:v>
                </c:pt>
                <c:pt idx="9">
                  <c:v>-1403.9</c:v>
                </c:pt>
                <c:pt idx="10">
                  <c:v>-1314.3</c:v>
                </c:pt>
                <c:pt idx="11">
                  <c:v>-1224.7</c:v>
                </c:pt>
                <c:pt idx="12">
                  <c:v>-582.4</c:v>
                </c:pt>
                <c:pt idx="13">
                  <c:v>59.9</c:v>
                </c:pt>
                <c:pt idx="14">
                  <c:v>702.2</c:v>
                </c:pt>
                <c:pt idx="15">
                  <c:v>-1923.2</c:v>
                </c:pt>
                <c:pt idx="16">
                  <c:v>-1280.8</c:v>
                </c:pt>
                <c:pt idx="17">
                  <c:v>-638.5</c:v>
                </c:pt>
                <c:pt idx="18">
                  <c:v>3.8</c:v>
                </c:pt>
                <c:pt idx="19">
                  <c:v>646.1</c:v>
                </c:pt>
                <c:pt idx="20">
                  <c:v>1288.4</c:v>
                </c:pt>
                <c:pt idx="21">
                  <c:v>1930.7</c:v>
                </c:pt>
                <c:pt idx="22">
                  <c:v>2573.0</c:v>
                </c:pt>
                <c:pt idx="23">
                  <c:v>3215.3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기존 생산계획</c:v>
                </c:pt>
              </c:strCache>
            </c:strRef>
          </c:tx>
          <c:spPr>
            <a:ln w="19050">
              <a:solidFill>
                <a:srgbClr val="2E75B6"/>
              </a:solidFill>
            </a:ln>
          </c:spPr>
          <c:marker>
            <c:symbol val="circle"/>
            <c:size val="3"/>
            <c:spPr>
              <a:solidFill>
                <a:srgbClr val="2E75B6"/>
              </a:solidFill>
              <a:ln>
                <a:solidFill>
                  <a:srgbClr val="2E75B6"/>
                </a:solidFill>
              </a:ln>
            </c:spPr>
          </c:marker>
          <c:cat>
            <c:strRef>
              <c:f>Sheet1!$A$2:$A$25</c:f>
              <c:strCache>
                <c:ptCount val="24"/>
                <c:pt idx="0">
                  <c:v>27.1</c:v>
                </c:pt>
                <c:pt idx="1">
                  <c:v>27.2</c:v>
                </c:pt>
                <c:pt idx="2">
                  <c:v>27.3</c:v>
                </c:pt>
                <c:pt idx="3">
                  <c:v>27.4</c:v>
                </c:pt>
                <c:pt idx="4">
                  <c:v>27.5</c:v>
                </c:pt>
                <c:pt idx="5">
                  <c:v>27.6</c:v>
                </c:pt>
                <c:pt idx="6">
                  <c:v>27.7</c:v>
                </c:pt>
                <c:pt idx="7">
                  <c:v>27.8</c:v>
                </c:pt>
                <c:pt idx="8">
                  <c:v>27.9</c:v>
                </c:pt>
                <c:pt idx="9">
                  <c:v>27.10</c:v>
                </c:pt>
                <c:pt idx="10">
                  <c:v>27.11</c:v>
                </c:pt>
                <c:pt idx="11">
                  <c:v>27.12</c:v>
                </c:pt>
                <c:pt idx="12">
                  <c:v>28.1</c:v>
                </c:pt>
                <c:pt idx="13">
                  <c:v>28.2</c:v>
                </c:pt>
                <c:pt idx="14">
                  <c:v>28.3</c:v>
                </c:pt>
                <c:pt idx="15">
                  <c:v>28.4</c:v>
                </c:pt>
                <c:pt idx="16">
                  <c:v>28.5</c:v>
                </c:pt>
                <c:pt idx="17">
                  <c:v>28.6</c:v>
                </c:pt>
                <c:pt idx="18">
                  <c:v>28.7</c:v>
                </c:pt>
                <c:pt idx="19">
                  <c:v>28.8</c:v>
                </c:pt>
                <c:pt idx="20">
                  <c:v>28.9</c:v>
                </c:pt>
                <c:pt idx="21">
                  <c:v>28.10</c:v>
                </c:pt>
                <c:pt idx="22">
                  <c:v>28.11</c:v>
                </c:pt>
                <c:pt idx="23">
                  <c:v>28.12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-575.3</c:v>
                </c:pt>
                <c:pt idx="1">
                  <c:v>-1150.7</c:v>
                </c:pt>
                <c:pt idx="2">
                  <c:v>-1316</c:v>
                </c:pt>
                <c:pt idx="3">
                  <c:v>-3461.3</c:v>
                </c:pt>
                <c:pt idx="4">
                  <c:v>-3230.7</c:v>
                </c:pt>
                <c:pt idx="5">
                  <c:v>-3000</c:v>
                </c:pt>
                <c:pt idx="6">
                  <c:v>-3529.3</c:v>
                </c:pt>
                <c:pt idx="7">
                  <c:v>-4058.7</c:v>
                </c:pt>
                <c:pt idx="8">
                  <c:v>-4588</c:v>
                </c:pt>
                <c:pt idx="9">
                  <c:v>-5117.3</c:v>
                </c:pt>
                <c:pt idx="10">
                  <c:v>-5646.7</c:v>
                </c:pt>
                <c:pt idx="11">
                  <c:v>-6176</c:v>
                </c:pt>
                <c:pt idx="12">
                  <c:v>-6425.3</c:v>
                </c:pt>
                <c:pt idx="13">
                  <c:v>-6674.7</c:v>
                </c:pt>
                <c:pt idx="14">
                  <c:v>-6924</c:v>
                </c:pt>
                <c:pt idx="15">
                  <c:v>-9549.3</c:v>
                </c:pt>
                <c:pt idx="16">
                  <c:v>-9798.7</c:v>
                </c:pt>
                <c:pt idx="17">
                  <c:v>-10048</c:v>
                </c:pt>
                <c:pt idx="18">
                  <c:v>-10297.3</c:v>
                </c:pt>
                <c:pt idx="19">
                  <c:v>-10942.7</c:v>
                </c:pt>
                <c:pt idx="20">
                  <c:v>-11588</c:v>
                </c:pt>
                <c:pt idx="21">
                  <c:v>-12233.3</c:v>
                </c:pt>
                <c:pt idx="22">
                  <c:v>-12878.7</c:v>
                </c:pt>
                <c:pt idx="23">
                  <c:v>-13524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6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7E6E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650"/>
          </a:pPr>
        </a:p>
      </c:txPr>
    </c:legend>
    <c:plotVisOnly val="1"/>
    <c:dispBlanksAs val="gap"/>
    <c:showDLblsOverMax val="0"/>
  </c:chart>
  <c:txPr>
    <a:bodyPr/>
    <a:lstStyle/>
    <a:p>
      <a:pPr>
        <a:defRPr sz="650">
          <a:latin typeface="Noto Sans K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</c:v>
                </c:pt>
              </c:strCache>
            </c:strRef>
          </c:tx>
          <c:spPr>
            <a:solidFill>
              <a:srgbClr val="FF7900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2178</c:v>
                </c:pt>
                <c:pt idx="1">
                  <c:v>2178</c:v>
                </c:pt>
                <c:pt idx="2">
                  <c:v>3168</c:v>
                </c:pt>
                <c:pt idx="3">
                  <c:v>1188</c:v>
                </c:pt>
                <c:pt idx="4">
                  <c:v>4182.9</c:v>
                </c:pt>
                <c:pt idx="5">
                  <c:v>4182.9</c:v>
                </c:pt>
                <c:pt idx="6">
                  <c:v>4182.9</c:v>
                </c:pt>
                <c:pt idx="7">
                  <c:v>4182.9</c:v>
                </c:pt>
                <c:pt idx="8">
                  <c:v>4182.9</c:v>
                </c:pt>
                <c:pt idx="9">
                  <c:v>4182.9</c:v>
                </c:pt>
                <c:pt idx="10">
                  <c:v>4182.9</c:v>
                </c:pt>
                <c:pt idx="11">
                  <c:v>4182.9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출하</c:v>
                </c:pt>
              </c:strCache>
            </c:strRef>
          </c:tx>
          <c:spPr>
            <a:solidFill>
              <a:srgbClr val="A6A6A6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2753.3</c:v>
                </c:pt>
                <c:pt idx="1">
                  <c:v>2753.3</c:v>
                </c:pt>
                <c:pt idx="2">
                  <c:v>3333.3</c:v>
                </c:pt>
                <c:pt idx="3">
                  <c:v>3333.3</c:v>
                </c:pt>
                <c:pt idx="4">
                  <c:v>3333.3</c:v>
                </c:pt>
                <c:pt idx="5">
                  <c:v>3333.3</c:v>
                </c:pt>
                <c:pt idx="6">
                  <c:v>4093.3</c:v>
                </c:pt>
                <c:pt idx="7">
                  <c:v>4093.3</c:v>
                </c:pt>
                <c:pt idx="8">
                  <c:v>4093.3</c:v>
                </c:pt>
                <c:pt idx="9">
                  <c:v>4093.3</c:v>
                </c:pt>
                <c:pt idx="10">
                  <c:v>4093.3</c:v>
                </c:pt>
                <c:pt idx="11">
                  <c:v>4093.3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7E6E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650"/>
          </a:pPr>
        </a:p>
      </c:txPr>
    </c:legend>
    <c:dispBlanksAs val="gap"/>
  </c:chart>
  <c:txPr>
    <a:bodyPr/>
    <a:lstStyle/>
    <a:p>
      <a:pPr>
        <a:defRPr sz="650">
          <a:latin typeface="Noto Sans K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누적</c:v>
                </c:pt>
              </c:strCache>
            </c:strRef>
          </c:tx>
          <c:spPr>
            <a:solidFill>
              <a:srgbClr val="385723"/>
            </a:solidFill>
          </c:spPr>
          <c:invertIfNegative val="0"/>
          <c:dPt>
            <c:idx val="0"/>
            <c:spPr>
              <a:solidFill>
                <a:srgbClr val="C00000"/>
              </a:solidFill>
            </c:spPr>
          </c:dPt>
          <c:dPt>
            <c:idx val="1"/>
            <c:spPr>
              <a:solidFill>
                <a:srgbClr val="C00000"/>
              </a:solidFill>
            </c:spPr>
          </c:dPt>
          <c:dPt>
            <c:idx val="2"/>
            <c:spPr>
              <a:solidFill>
                <a:srgbClr val="C00000"/>
              </a:solidFill>
            </c:spPr>
          </c:dPt>
          <c:dPt>
            <c:idx val="3"/>
            <c:spPr>
              <a:solidFill>
                <a:srgbClr val="C00000"/>
              </a:solidFill>
            </c:spPr>
          </c:dPt>
          <c:dPt>
            <c:idx val="4"/>
            <c:spPr>
              <a:solidFill>
                <a:srgbClr val="C00000"/>
              </a:solidFill>
            </c:spPr>
          </c:dPt>
          <c:dPt>
            <c:idx val="5"/>
            <c:spPr>
              <a:solidFill>
                <a:srgbClr val="C00000"/>
              </a:solidFill>
            </c:spPr>
          </c:dPt>
          <c:dPt>
            <c:idx val="6"/>
            <c:spPr>
              <a:solidFill>
                <a:srgbClr val="C00000"/>
              </a:solidFill>
            </c:spPr>
          </c:dPt>
          <c:dPt>
            <c:idx val="7"/>
            <c:spPr>
              <a:solidFill>
                <a:srgbClr val="C00000"/>
              </a:solidFill>
            </c:spPr>
          </c:dPt>
          <c:dPt>
            <c:idx val="8"/>
            <c:spPr>
              <a:solidFill>
                <a:srgbClr val="C00000"/>
              </a:solidFill>
            </c:spPr>
          </c:dPt>
          <c:dPt>
            <c:idx val="9"/>
            <c:spPr>
              <a:solidFill>
                <a:srgbClr val="C00000"/>
              </a:solidFill>
            </c:spPr>
          </c:dPt>
          <c:dPt>
            <c:idx val="10"/>
            <c:spPr>
              <a:solidFill>
                <a:srgbClr val="C00000"/>
              </a:solidFill>
            </c:spPr>
          </c:dPt>
          <c:dPt>
            <c:idx val="11"/>
            <c:spPr>
              <a:solidFill>
                <a:srgbClr val="C00000"/>
              </a:solidFill>
            </c:spPr>
          </c:dPt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-575.3</c:v>
                </c:pt>
                <c:pt idx="1">
                  <c:v>-1150.7</c:v>
                </c:pt>
                <c:pt idx="2">
                  <c:v>-1316</c:v>
                </c:pt>
                <c:pt idx="3">
                  <c:v>-3461.3</c:v>
                </c:pt>
                <c:pt idx="4">
                  <c:v>-2611.8</c:v>
                </c:pt>
                <c:pt idx="5">
                  <c:v>-1762.2</c:v>
                </c:pt>
                <c:pt idx="6">
                  <c:v>-1672.6</c:v>
                </c:pt>
                <c:pt idx="7">
                  <c:v>-1583.0</c:v>
                </c:pt>
                <c:pt idx="8">
                  <c:v>-1493.5</c:v>
                </c:pt>
                <c:pt idx="9">
                  <c:v>-1403.9</c:v>
                </c:pt>
                <c:pt idx="10">
                  <c:v>-1314.3</c:v>
                </c:pt>
                <c:pt idx="11">
                  <c:v>-1224.7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7E6E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650">
          <a:latin typeface="Noto Sans KR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</c:v>
                </c:pt>
              </c:strCache>
            </c:strRef>
          </c:tx>
          <c:spPr>
            <a:solidFill>
              <a:srgbClr val="2E75B6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2178</c:v>
                </c:pt>
                <c:pt idx="1">
                  <c:v>2178</c:v>
                </c:pt>
                <c:pt idx="2">
                  <c:v>3168</c:v>
                </c:pt>
                <c:pt idx="3">
                  <c:v>1188</c:v>
                </c:pt>
                <c:pt idx="4">
                  <c:v>3564</c:v>
                </c:pt>
                <c:pt idx="5">
                  <c:v>3564</c:v>
                </c:pt>
                <c:pt idx="6">
                  <c:v>3564</c:v>
                </c:pt>
                <c:pt idx="7">
                  <c:v>3564</c:v>
                </c:pt>
                <c:pt idx="8">
                  <c:v>3564</c:v>
                </c:pt>
                <c:pt idx="9">
                  <c:v>3564</c:v>
                </c:pt>
                <c:pt idx="10">
                  <c:v>3564</c:v>
                </c:pt>
                <c:pt idx="11">
                  <c:v>3564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출하</c:v>
                </c:pt>
              </c:strCache>
            </c:strRef>
          </c:tx>
          <c:spPr>
            <a:solidFill>
              <a:srgbClr val="A6A6A6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2753.3</c:v>
                </c:pt>
                <c:pt idx="1">
                  <c:v>2753.3</c:v>
                </c:pt>
                <c:pt idx="2">
                  <c:v>3333.3</c:v>
                </c:pt>
                <c:pt idx="3">
                  <c:v>3333.3</c:v>
                </c:pt>
                <c:pt idx="4">
                  <c:v>3333.3</c:v>
                </c:pt>
                <c:pt idx="5">
                  <c:v>3333.3</c:v>
                </c:pt>
                <c:pt idx="6">
                  <c:v>4093.3</c:v>
                </c:pt>
                <c:pt idx="7">
                  <c:v>4093.3</c:v>
                </c:pt>
                <c:pt idx="8">
                  <c:v>4093.3</c:v>
                </c:pt>
                <c:pt idx="9">
                  <c:v>4093.3</c:v>
                </c:pt>
                <c:pt idx="10">
                  <c:v>4093.3</c:v>
                </c:pt>
                <c:pt idx="11">
                  <c:v>4093.3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7E6E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650"/>
          </a:pPr>
        </a:p>
      </c:txPr>
    </c:legend>
    <c:dispBlanksAs val="gap"/>
  </c:chart>
  <c:txPr>
    <a:bodyPr/>
    <a:lstStyle/>
    <a:p>
      <a:pPr>
        <a:defRPr sz="650">
          <a:latin typeface="Noto Sans KR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누적</c:v>
                </c:pt>
              </c:strCache>
            </c:strRef>
          </c:tx>
          <c:spPr>
            <a:solidFill>
              <a:srgbClr val="385723"/>
            </a:solidFill>
          </c:spPr>
          <c:invertIfNegative val="0"/>
          <c:dPt>
            <c:idx val="0"/>
            <c:spPr>
              <a:solidFill>
                <a:srgbClr val="C00000"/>
              </a:solidFill>
            </c:spPr>
          </c:dPt>
          <c:dPt>
            <c:idx val="1"/>
            <c:spPr>
              <a:solidFill>
                <a:srgbClr val="C00000"/>
              </a:solidFill>
            </c:spPr>
          </c:dPt>
          <c:dPt>
            <c:idx val="2"/>
            <c:spPr>
              <a:solidFill>
                <a:srgbClr val="C00000"/>
              </a:solidFill>
            </c:spPr>
          </c:dPt>
          <c:dPt>
            <c:idx val="3"/>
            <c:spPr>
              <a:solidFill>
                <a:srgbClr val="C00000"/>
              </a:solidFill>
            </c:spPr>
          </c:dPt>
          <c:dPt>
            <c:idx val="4"/>
            <c:spPr>
              <a:solidFill>
                <a:srgbClr val="C00000"/>
              </a:solidFill>
            </c:spPr>
          </c:dPt>
          <c:dPt>
            <c:idx val="5"/>
            <c:spPr>
              <a:solidFill>
                <a:srgbClr val="C00000"/>
              </a:solidFill>
            </c:spPr>
          </c:dPt>
          <c:dPt>
            <c:idx val="6"/>
            <c:spPr>
              <a:solidFill>
                <a:srgbClr val="C00000"/>
              </a:solidFill>
            </c:spPr>
          </c:dPt>
          <c:dPt>
            <c:idx val="7"/>
            <c:spPr>
              <a:solidFill>
                <a:srgbClr val="C00000"/>
              </a:solidFill>
            </c:spPr>
          </c:dPt>
          <c:dPt>
            <c:idx val="8"/>
            <c:spPr>
              <a:solidFill>
                <a:srgbClr val="C00000"/>
              </a:solidFill>
            </c:spPr>
          </c:dPt>
          <c:dPt>
            <c:idx val="9"/>
            <c:spPr>
              <a:solidFill>
                <a:srgbClr val="C00000"/>
              </a:solidFill>
            </c:spPr>
          </c:dPt>
          <c:dPt>
            <c:idx val="10"/>
            <c:spPr>
              <a:solidFill>
                <a:srgbClr val="C00000"/>
              </a:solidFill>
            </c:spPr>
          </c:dPt>
          <c:dPt>
            <c:idx val="11"/>
            <c:spPr>
              <a:solidFill>
                <a:srgbClr val="C00000"/>
              </a:solidFill>
            </c:spPr>
          </c:dPt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-575.3</c:v>
                </c:pt>
                <c:pt idx="1">
                  <c:v>-1150.7</c:v>
                </c:pt>
                <c:pt idx="2">
                  <c:v>-1316</c:v>
                </c:pt>
                <c:pt idx="3">
                  <c:v>-3461.3</c:v>
                </c:pt>
                <c:pt idx="4">
                  <c:v>-3230.7</c:v>
                </c:pt>
                <c:pt idx="5">
                  <c:v>-3000</c:v>
                </c:pt>
                <c:pt idx="6">
                  <c:v>-3529.3</c:v>
                </c:pt>
                <c:pt idx="7">
                  <c:v>-4058.7</c:v>
                </c:pt>
                <c:pt idx="8">
                  <c:v>-4588</c:v>
                </c:pt>
                <c:pt idx="9">
                  <c:v>-5117.3</c:v>
                </c:pt>
                <c:pt idx="10">
                  <c:v>-5646.7</c:v>
                </c:pt>
                <c:pt idx="11">
                  <c:v>-6176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7E6E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650">
          <a:latin typeface="Noto Sans KR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</c:v>
                </c:pt>
              </c:strCache>
            </c:strRef>
          </c:tx>
          <c:spPr>
            <a:solidFill>
              <a:srgbClr val="FF7900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4455.6</c:v>
                </c:pt>
                <c:pt idx="1">
                  <c:v>4455.6</c:v>
                </c:pt>
                <c:pt idx="2">
                  <c:v>4455.6</c:v>
                </c:pt>
                <c:pt idx="3">
                  <c:v>1188</c:v>
                </c:pt>
                <c:pt idx="4">
                  <c:v>4455.6</c:v>
                </c:pt>
                <c:pt idx="5">
                  <c:v>4455.6</c:v>
                </c:pt>
                <c:pt idx="6">
                  <c:v>4455.6</c:v>
                </c:pt>
                <c:pt idx="7">
                  <c:v>4455.6</c:v>
                </c:pt>
                <c:pt idx="8">
                  <c:v>4455.6</c:v>
                </c:pt>
                <c:pt idx="9">
                  <c:v>4455.6</c:v>
                </c:pt>
                <c:pt idx="10">
                  <c:v>4455.6</c:v>
                </c:pt>
                <c:pt idx="11">
                  <c:v>4455.6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출하</c:v>
                </c:pt>
              </c:strCache>
            </c:strRef>
          </c:tx>
          <c:spPr>
            <a:solidFill>
              <a:srgbClr val="A6A6A6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3813.3</c:v>
                </c:pt>
                <c:pt idx="1">
                  <c:v>3813.3</c:v>
                </c:pt>
                <c:pt idx="2">
                  <c:v>3813.3</c:v>
                </c:pt>
                <c:pt idx="3">
                  <c:v>3813.3</c:v>
                </c:pt>
                <c:pt idx="4">
                  <c:v>3813.3</c:v>
                </c:pt>
                <c:pt idx="5">
                  <c:v>3813.3</c:v>
                </c:pt>
                <c:pt idx="6">
                  <c:v>3813.3</c:v>
                </c:pt>
                <c:pt idx="7">
                  <c:v>3813.3</c:v>
                </c:pt>
                <c:pt idx="8">
                  <c:v>3813.3</c:v>
                </c:pt>
                <c:pt idx="9">
                  <c:v>3813.3</c:v>
                </c:pt>
                <c:pt idx="10">
                  <c:v>3813.3</c:v>
                </c:pt>
                <c:pt idx="11">
                  <c:v>3813.3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7E6E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650"/>
          </a:pPr>
        </a:p>
      </c:txPr>
    </c:legend>
    <c:dispBlanksAs val="gap"/>
  </c:chart>
  <c:txPr>
    <a:bodyPr/>
    <a:lstStyle/>
    <a:p>
      <a:pPr>
        <a:defRPr sz="650">
          <a:latin typeface="Noto Sans KR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누적</c:v>
                </c:pt>
              </c:strCache>
            </c:strRef>
          </c:tx>
          <c:spPr>
            <a:solidFill>
              <a:srgbClr val="385723"/>
            </a:solidFill>
          </c:spPr>
          <c:invertIfNegative val="0"/>
          <c:dPt>
            <c:idx val="0"/>
            <c:spPr>
              <a:solidFill>
                <a:srgbClr val="C00000"/>
              </a:solidFill>
            </c:spPr>
          </c:dPt>
          <c:dPt>
            <c:idx val="3"/>
            <c:spPr>
              <a:solidFill>
                <a:srgbClr val="C00000"/>
              </a:solidFill>
            </c:spPr>
          </c:dPt>
          <c:dPt>
            <c:idx val="4"/>
            <c:spPr>
              <a:solidFill>
                <a:srgbClr val="C00000"/>
              </a:solidFill>
            </c:spPr>
          </c:dPt>
          <c:dPt>
            <c:idx val="5"/>
            <c:spPr>
              <a:solidFill>
                <a:srgbClr val="C00000"/>
              </a:solidFill>
            </c:spPr>
          </c:dPt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-582.4</c:v>
                </c:pt>
                <c:pt idx="1">
                  <c:v>59.9</c:v>
                </c:pt>
                <c:pt idx="2">
                  <c:v>702.2</c:v>
                </c:pt>
                <c:pt idx="3">
                  <c:v>-1923.2</c:v>
                </c:pt>
                <c:pt idx="4">
                  <c:v>-1280.8</c:v>
                </c:pt>
                <c:pt idx="5">
                  <c:v>-638.5</c:v>
                </c:pt>
                <c:pt idx="6">
                  <c:v>3.8</c:v>
                </c:pt>
                <c:pt idx="7">
                  <c:v>646.1</c:v>
                </c:pt>
                <c:pt idx="8">
                  <c:v>1288.4</c:v>
                </c:pt>
                <c:pt idx="9">
                  <c:v>1930.7</c:v>
                </c:pt>
                <c:pt idx="10">
                  <c:v>2573.0</c:v>
                </c:pt>
                <c:pt idx="11">
                  <c:v>3215.3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7E6E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650">
          <a:latin typeface="Noto Sans KR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</c:v>
                </c:pt>
              </c:strCache>
            </c:strRef>
          </c:tx>
          <c:spPr>
            <a:solidFill>
              <a:srgbClr val="2E75B6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3564</c:v>
                </c:pt>
                <c:pt idx="1">
                  <c:v>3564</c:v>
                </c:pt>
                <c:pt idx="2">
                  <c:v>3564</c:v>
                </c:pt>
                <c:pt idx="3">
                  <c:v>1188</c:v>
                </c:pt>
                <c:pt idx="4">
                  <c:v>3564</c:v>
                </c:pt>
                <c:pt idx="5">
                  <c:v>3564</c:v>
                </c:pt>
                <c:pt idx="6">
                  <c:v>3564</c:v>
                </c:pt>
                <c:pt idx="7">
                  <c:v>3168</c:v>
                </c:pt>
                <c:pt idx="8">
                  <c:v>3168</c:v>
                </c:pt>
                <c:pt idx="9">
                  <c:v>3168</c:v>
                </c:pt>
                <c:pt idx="10">
                  <c:v>3168</c:v>
                </c:pt>
                <c:pt idx="11">
                  <c:v>3168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출하</c:v>
                </c:pt>
              </c:strCache>
            </c:strRef>
          </c:tx>
          <c:spPr>
            <a:solidFill>
              <a:srgbClr val="A6A6A6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3813.3</c:v>
                </c:pt>
                <c:pt idx="1">
                  <c:v>3813.3</c:v>
                </c:pt>
                <c:pt idx="2">
                  <c:v>3813.3</c:v>
                </c:pt>
                <c:pt idx="3">
                  <c:v>3813.3</c:v>
                </c:pt>
                <c:pt idx="4">
                  <c:v>3813.3</c:v>
                </c:pt>
                <c:pt idx="5">
                  <c:v>3813.3</c:v>
                </c:pt>
                <c:pt idx="6">
                  <c:v>3813.3</c:v>
                </c:pt>
                <c:pt idx="7">
                  <c:v>3813.3</c:v>
                </c:pt>
                <c:pt idx="8">
                  <c:v>3813.3</c:v>
                </c:pt>
                <c:pt idx="9">
                  <c:v>3813.3</c:v>
                </c:pt>
                <c:pt idx="10">
                  <c:v>3813.3</c:v>
                </c:pt>
                <c:pt idx="11">
                  <c:v>3813.3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7E6E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650"/>
          </a:pPr>
        </a:p>
      </c:txPr>
    </c:legend>
    <c:dispBlanksAs val="gap"/>
  </c:chart>
  <c:txPr>
    <a:bodyPr/>
    <a:lstStyle/>
    <a:p>
      <a:pPr>
        <a:defRPr sz="650">
          <a:latin typeface="Noto Sans KR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누적</c:v>
                </c:pt>
              </c:strCache>
            </c:strRef>
          </c:tx>
          <c:spPr>
            <a:solidFill>
              <a:srgbClr val="385723"/>
            </a:solidFill>
          </c:spPr>
          <c:invertIfNegative val="0"/>
          <c:dPt>
            <c:idx val="0"/>
            <c:spPr>
              <a:solidFill>
                <a:srgbClr val="C00000"/>
              </a:solidFill>
            </c:spPr>
          </c:dPt>
          <c:dPt>
            <c:idx val="1"/>
            <c:spPr>
              <a:solidFill>
                <a:srgbClr val="C00000"/>
              </a:solidFill>
            </c:spPr>
          </c:dPt>
          <c:dPt>
            <c:idx val="2"/>
            <c:spPr>
              <a:solidFill>
                <a:srgbClr val="C00000"/>
              </a:solidFill>
            </c:spPr>
          </c:dPt>
          <c:dPt>
            <c:idx val="3"/>
            <c:spPr>
              <a:solidFill>
                <a:srgbClr val="C00000"/>
              </a:solidFill>
            </c:spPr>
          </c:dPt>
          <c:dPt>
            <c:idx val="4"/>
            <c:spPr>
              <a:solidFill>
                <a:srgbClr val="C00000"/>
              </a:solidFill>
            </c:spPr>
          </c:dPt>
          <c:dPt>
            <c:idx val="5"/>
            <c:spPr>
              <a:solidFill>
                <a:srgbClr val="C00000"/>
              </a:solidFill>
            </c:spPr>
          </c:dPt>
          <c:dPt>
            <c:idx val="6"/>
            <c:spPr>
              <a:solidFill>
                <a:srgbClr val="C00000"/>
              </a:solidFill>
            </c:spPr>
          </c:dPt>
          <c:dPt>
            <c:idx val="7"/>
            <c:spPr>
              <a:solidFill>
                <a:srgbClr val="C00000"/>
              </a:solidFill>
            </c:spPr>
          </c:dPt>
          <c:dPt>
            <c:idx val="8"/>
            <c:spPr>
              <a:solidFill>
                <a:srgbClr val="C00000"/>
              </a:solidFill>
            </c:spPr>
          </c:dPt>
          <c:dPt>
            <c:idx val="9"/>
            <c:spPr>
              <a:solidFill>
                <a:srgbClr val="C00000"/>
              </a:solidFill>
            </c:spPr>
          </c:dPt>
          <c:dPt>
            <c:idx val="10"/>
            <c:spPr>
              <a:solidFill>
                <a:srgbClr val="C00000"/>
              </a:solidFill>
            </c:spPr>
          </c:dPt>
          <c:dPt>
            <c:idx val="11"/>
            <c:spPr>
              <a:solidFill>
                <a:srgbClr val="C00000"/>
              </a:solidFill>
            </c:spPr>
          </c:dPt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-6425.3</c:v>
                </c:pt>
                <c:pt idx="1">
                  <c:v>-6674.7</c:v>
                </c:pt>
                <c:pt idx="2">
                  <c:v>-6924</c:v>
                </c:pt>
                <c:pt idx="3">
                  <c:v>-9549.3</c:v>
                </c:pt>
                <c:pt idx="4">
                  <c:v>-9798.7</c:v>
                </c:pt>
                <c:pt idx="5">
                  <c:v>-10048</c:v>
                </c:pt>
                <c:pt idx="6">
                  <c:v>-10297.3</c:v>
                </c:pt>
                <c:pt idx="7">
                  <c:v>-10942.7</c:v>
                </c:pt>
                <c:pt idx="8">
                  <c:v>-11588</c:v>
                </c:pt>
                <c:pt idx="9">
                  <c:v>-12233.3</c:v>
                </c:pt>
                <c:pt idx="10">
                  <c:v>-12878.7</c:v>
                </c:pt>
                <c:pt idx="11">
                  <c:v>-13524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7E6E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650">
          <a:latin typeface="Noto Sans K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9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r">
              <a:defRPr sz="1200"/>
            </a:lvl1pPr>
          </a:lstStyle>
          <a:p>
            <a:fld id="{AA418431-0B53-4AF1-8AD8-9A9A7D49F4A5}" type="datetimeFigureOut">
              <a:rPr lang="ko-KR" altLang="en-US" smtClean="0"/>
              <a:pPr/>
              <a:t>2026-09-10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72050" cy="3729037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0"/>
          </a:gradFill>
          <a:ln w="12700">
            <a:solidFill>
              <a:prstClr val="black"/>
            </a:solidFill>
          </a:ln>
        </p:spPr>
        <p:txBody>
          <a:bodyPr vert="horz" lIns="94531" tIns="47265" rIns="94531" bIns="4726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2" y="4721186"/>
            <a:ext cx="5445759" cy="4472702"/>
          </a:xfrm>
          <a:prstGeom prst="rect">
            <a:avLst/>
          </a:prstGeom>
        </p:spPr>
        <p:txBody>
          <a:bodyPr vert="horz" lIns="94531" tIns="47265" rIns="94531" bIns="4726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9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r">
              <a:defRPr sz="1200"/>
            </a:lvl1pPr>
          </a:lstStyle>
          <a:p>
            <a:fld id="{72D75F77-8026-4911-8E6D-EBCB86E5E0B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657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정제기 1대의 과거 최대인 월 11 Batch를 30일(720 h)에 놓으면 투입 간격은 65.5 h이고, 11 × 190 = 2,090 kg입니다.</a:t>
            </a:r>
          </a:p>
          <a:p>
            <a:r>
              <a:t>막대는 준비·투입 2 h + 순수 정제 45 h를 정제기 운전으로, 이후 다음 투입까지를 해제·전환 구간(구성 확인)으로 표시했습니다. 정제가 끝난 Batch는 PQC~이송·FQC 8 h 뒤 충진하며, 그동안 다음 Batch가 정제됩니다.</a:t>
            </a:r>
          </a:p>
          <a:p>
            <a:r>
              <a:t>순수 정제만 놓고 보면 720 ÷ 45 = 16 Batch(3,040 kg)이지만 점유·전환·보수 등을 뺀 이론값입니다. 11 Batch 기준 495 h를 뺀 225 h를 전부 손실이나 충진시간으로 보지 않습니다.</a:t>
            </a:r>
          </a:p>
          <a:p>
            <a:r>
              <a:t>현재 연간 Capa. 26.2톤은 190 kg 기준 137.9 Batch 상당(월 11.5 Batch, 2,183 kg)입니다. 운전시간·가동률을 조정해서 맞춘 값이 아닙니다.</a:t>
            </a:r>
          </a:p>
          <a:p>
            <a:r>
              <a:t>2026 출하 제시분은 19,220 kg(하이닉스 16,980 + 이지켐 2,240)이며 CXMT·한솔 물량은 아직 제시되지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정제기 2대 운전 예시입니다. 설비별 투입 간격 66.3 h는 월 Capa. 4,182.9 kg ÷ 190 = 22.0 Batch를 평균 월 730 h에 2대로 나눈 역산값이고, 정제기 2 시차 30 h는 설명용 가정입니다. 실제 투입 간격은 초류 진행과 충진 처리능력을 보고 정합니다.</a:t>
            </a:r>
          </a:p>
          <a:p>
            <a:r>
              <a:t>30일(720 h) 안에 FQC가 끝나는 Batch는 21개(3,990 kg)이고, 월평균 730 h 기준으로는 22.0 Batch = 4,183 kg입니다.</a:t>
            </a:r>
          </a:p>
          <a:p>
            <a:r>
              <a:t>두 정제기의 완료 시점이 엇갈려 5 Gal 충진(18 h)과 200 L 충진(8 h)이 겹치지 않게 배치됩니다. 충진은 출하 비중(7월 기준 200 L 약 35%)에 맞춰 일부 Batch를 200 L로 표시했습니다.</a:t>
            </a:r>
          </a:p>
          <a:p>
            <a:r>
              <a:t>기존 생산계획의 5~12월 3,564 kg은 190 kg 기준 월 18.8 Batch, 설비별 간격 약 78 h에 해당합니다. 2028년 105℃ 기준 4,455.6 kg은 월 23.5 Batch입니다.</a:t>
            </a:r>
          </a:p>
          <a:p>
            <a:r>
              <a:t>Batch 수가 늘어나면 글로브 박스 충진·검사·Tank·포장이 먼저 병목이 될 수 있어, 정제능력과 최종 출하능력은 구분해서 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버전을 같은 출하계획(2027 43.40톤, 2028 45.76톤)에 비교했습니다. 2027년 1~4월은 확정 생산(2,178 · 2,178 · 3,168 · 1,188 kg)으로 두 버전이 같습니다.</a:t>
            </a:r>
          </a:p>
          <a:p>
            <a:r>
              <a:t>① Capa. 기준: 2027년 5~12월 4,182.9 kg/월(47.2톤 기준), 2028년 105℃ 50.2톤 기준 4,455.6 kg/월(4월 대정비 1,188 kg). 2027년 −1.22톤, 2028년 +4.44톤. 누적 최저는 '27.4 −3,461 kg으로, 2027년 1월 기초재고가 약 3.5톤 있어야 결품 없이 대응할 수 있습니다.</a:t>
            </a:r>
          </a:p>
          <a:p>
            <a:r>
              <a:t>② 기존 생산계획: 2027년 5~12월 3,564 kg, 2028년 3,564 kg(4월 1,188 · 8~12월 3,168 kg) — 2027년 37.22톤, 2028년 38.41톤. 출하 대비 2027년 −6.18톤, 2028년 −7.35톤으로 누적 부족이 계속 커져 '28.12 −13,524 kg입니다.</a:t>
            </a:r>
          </a:p>
          <a:p>
            <a:r>
              <a:t>누적은 양품률 100% 기준이므로 실제 필요 재고는 합격률과 목표재고를 반영하면 더 커집니다.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2027년 생산·출하 ① Capa. 기준 (47.2톤). 생산 42,175 kg, 출하 43,400 kg, 차이 −1,225 kg. 2027년 1~4월은 확정 생산(2,178 · 2,178 · 3,168 · 1,188 kg, 4월 대정비)입니다. 5월부터 월 Capa. (47,200 − 1,188) ÷ 11 = 4,182.9 kg을 적용했습니다. 누적은 2027년 1월부터의 (생산 − 출하)이며 최저 −3,461 kg(27.4월)입니다. 양품률·기초재고가 입력되면 Excel에서 기말재고가 계산됩니다. 출하: 하이닉스 22,720 ÷ 12, CXMT 7,000, 이지켐 10,080, 한솔 3,600 kg. 200 L 충진은 이지켐·한솔 수동 8 h/용기 기준이며, ARS 시간이 실측되면 Excel 01_입력에서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2027년 생산·출하 ② 기존 생산계획. 생산 37,224 kg, 출하 43,400 kg, 차이 −6,176 kg. 2027년 1~4월은 확정 생산(2,178 · 2,178 · 3,168 · 1,188 kg, 4월 대정비)입니다. 기존 생산계획 수치(3,564 · 3,168 · 2,178 · 1,188 kg)는 198 kg × 정수 Batch(18 · 16 · 11 · 6)와 일치합니다 — 계획 Batch량 기준 확인 필요. 누적은 2027년 1월부터의 (생산 − 출하)이며 최저 −6,176 kg(27.12월)입니다. 양품률·기초재고가 입력되면 Excel에서 기말재고가 계산됩니다. 출하: 하이닉스 22,720 ÷ 12, CXMT 7,000, 이지켐 10,080, 한솔 3,600 kg. 200 L 충진은 이지켐·한솔 수동 8 h/용기 기준이며, ARS 시간이 실측되면 Excel 01_입력에서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2028년 생산·출하 ① Capa. 기준 (50.2톤). 생산 50,200 kg, 출하 45,760 kg, 차이 +4,440 kg. 105℃ 50.2톤 기준으로 4월 대정비 1,188 kg, 나머지 달 4,455.6 kg입니다. 105℃는 품질 검증·승인이 전제입니다. 47.2톤 기준이면 +1.44톤입니다. 누적은 2027년 1월부터의 (생산 − 출하)이며 최저 −1,923 kg(28.4월)입니다. 양품률·기초재고가 입력되면 Excel에서 기말재고가 계산됩니다. 출하: 하이닉스 22,720 ÷ 12, CXMT 9,360, 이지켐 10,080, 한솔 3,600 kg. 2028년 물량은 2027년 하반기 수준을 유지한 비교용 가정이며 이지켐은 월 840 kg입니다. 200 L 충진은 이지켐·한솔 수동 8 h/용기 기준이며, ARS 시간이 실측되면 Excel 01_입력에서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2028년 생산·출하 ② 기존 생산계획. 생산 38,412 kg, 출하 45,760 kg, 차이 −7,348 kg. 기존 생산계획 수치(3,564 · 3,168 · 2,178 · 1,188 kg)는 198 kg × 정수 Batch(18 · 16 · 11 · 6)와 일치합니다 — 계획 Batch량 기준 확인 필요. 누적은 2027년 1월부터의 (생산 − 출하)이며 최저 −13,524 kg(28.12월)입니다. 양품률·기초재고가 입력되면 Excel에서 기말재고가 계산됩니다. 출하: 하이닉스 22,720 ÷ 12, CXMT 9,360, 이지켐 10,080, 한솔 3,600 kg. 2028년 물량은 2027년 하반기 수준을 유지한 비교용 가정이며 이지켐은 월 840 kg입니다. 200 L 충진은 이지켐·한솔 수동 8 h/용기 기준이며, ARS 시간이 실측되면 Excel 01_입력에서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후공정 작업량은 출하 물량으로 계산했습니다. 5 Gal은 (하이닉스 + CXMT) ÷ 20 kg × 2 h, 200 L은 이지켐 140 kg · 한솔 150 kg 용기 × 8 h(수동 기준)입니다.</a:t>
            </a:r>
          </a:p>
          <a:p>
            <a:r>
              <a:t>2027년 하반기부터 5 Gal 충진이 월 약 267 h로 1교대(8 h × 22일 = 176 h)를 넘습니다. 정제기가 2대가 되어도 충진·검사·Tank가 따라오지 못하면 출하량은 늘지 않으므로 교대·인원 계획이 함께 필요합니다.</a:t>
            </a:r>
          </a:p>
          <a:p>
            <a:r>
              <a:t>ARS는 실제 충진은 더 길 수 있지만 용기 투입·반출·퍼지를 포함하면 수동과 전체 시간이 비슷할 수 있다는 설명이 있어, 실측 전까지 수동 8 h를 그대로 적용했습니다. ARS 효과는 Capa.에 더하지 않았습니다.</a:t>
            </a:r>
          </a:p>
          <a:p>
            <a:r>
              <a:t>충진·포장 1~1.5일, 18 h → 9 h는 검토 중인 개선 방향으로, 계산에는 반영하지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생산팀과 나눈 대화 중 생산·품질·설비·충진 관련 내용만 정리했습니다. 구두로 언급된 회수량(160~170 kg, 약 220 kg, 195~200 kg)은 운전 조건과 대상이 구분되지 않아 확정 생산량으로 쓰지 않고, 환산 기준은 190 kg/Batch를 유지했습니다.</a:t>
            </a:r>
          </a:p>
          <a:p>
            <a:r>
              <a:t>수율은 신규 Crude만이 아니라 재투입·Mix를 포함한 총 투입량 기준으로 따로 계산해야 합니다(Excel 09 시트 입력란). '135 · 120'은 단위가 확인되지 않아 생산량으로 입력하지 않았고, '65%에서 5% 상승'도 정의를 확인할 항목입니다.</a:t>
            </a:r>
          </a:p>
          <a:p>
            <a:r>
              <a:t>이지켐은 색도 때문에 추가 투입을 제한하는 경우가 있어, 고객별 품질·색도 규격과 합격률을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As-is는 정제기 1대로 하이닉스·CXMT·이지켐(한솔 '27~)을 함께 생산합니다.</a:t>
            </a:r>
          </a:p>
          <a:p>
            <a:r>
              <a:t>57 h는 IQC부터 FQC까지의 현재 보고 기준이고, 순수 정제 45 h는 57 − IQC 2 − 준비·투입 2 − PQC~이송 6 − FQC 2로 계산한 값입니다(실측 아님). 대화 중 57 − 2 − 6 = 49 h 계산, 과거 약 72 h · 최근 약 53 h 언급이 있어 원자료의 측정 시작·종료점은 확인이 필요합니다.</a:t>
            </a:r>
          </a:p>
          <a:p>
            <a:r>
              <a:t>PQC와 제품 이송은 합쳐서 6 h입니다. 57 h에는 충진·OQC가 포함되지 않습니다.</a:t>
            </a:r>
          </a:p>
          <a:p>
            <a:r>
              <a:t>5 Gal 9병은 2 h × 9 = 18 h 작업이며 현장에서는 근무시간 기준 약 2일로 설명합니다. 200 L은 이지켐·한솔 모두 수동 8 h/용기로 반영했습니다.</a:t>
            </a:r>
          </a:p>
          <a:p>
            <a:r>
              <a:t>경로별 합계 77 h · 67 h는 확인된 시간 항목을 더한 값으로, 달력 기준 납기나 다음 Batch 투입 간격과는 다릅니다. 충진이 진행되는 동안 다음 Batch 정제가 가능합니다.</a:t>
            </a:r>
          </a:p>
          <a:p>
            <a:r>
              <a:t>190 kg과 5 Gal 9병 180 kg의 차이 10 kg은 잔량·추가 충진·다른 고객 배분 여부를 확인할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리플럭스 이후에는 정제기 2대를 활용합니다. 정제기 1을 먼저 투입·운전하고, 초류 진행에 맞춰 정제기 2를 투입해 두 설비의 운전 구간을 겹칩니다(현장 설명: 다음 날 투입·초류 중간·초류 종료 무렵 — 투입 간격은 미확정).</a:t>
            </a:r>
          </a:p>
          <a:p>
            <a:r>
              <a:t>정제기별 Batch 시간이 절반으로 줄어드는 것이 아니라 두 설비의 생산을 겹쳐 전체 생산량을 늘리는 방식이며, 제품 회수 시점이 엇갈려 검사·충진 부하가 한꺼번에 몰리지 않습니다. 57 ÷ 2 = 28.5 h는 이상적인 경우의 도착 간격 설명일 뿐 정제기별 Batch 시간이 아닙니다.</a:t>
            </a:r>
          </a:p>
          <a:p>
            <a:r>
              <a:t>일정: '27.1~3 정제기 1대 확정 생산(2,178 · 2,178 · 3,168 kg) → '27.4 대정비(1,188 kg) → '27.5부터 정제기 2대. 대정비는 매년 4월로 반영했습니다. 200 L ARS는 '27.7부터(이지켐·한솔), 5 Gal은 글로브 박스를 유지합니다.</a:t>
            </a:r>
          </a:p>
          <a:p>
            <a:r>
              <a:t>Capa.: 26.2 + 21 = 47.2톤/년. 대정비 월이 있으므로 월 기준은 (47,200 − 1,188) ÷ 11 = 4,182.9 kg입니다. 2028년은 105℃ 적용(+3톤)으로 50.2톤, 월 4,455.6 kg — 열 안정성·Dimer·Unknown impurity·수율 검증과 승인이 전제입니다.</a:t>
            </a:r>
          </a:p>
          <a:p>
            <a:r>
              <a:t>47.2톤이 현재의 2배(52.4톤)가 아닌 것은 추가 투입용 Mix·Premix 준비 등에 설비 시간이 필요하기 때문이며, 각 요인의 손실량은 아직 정량화되지 않았습니다.</a:t>
            </a:r>
          </a:p>
          <a:p>
            <a:r>
              <a:t>리플럭스는 하이닉스 요구 품질 대응과 생산능력 확대를 함께 보는 프로젝트입니다. 추가 정제기가 기존 설비 개조인지 신규 설치인지, 설비 번호(2070·2060 등)는 도면과 대조해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C71A4B21-8DEE-4335-81E3-826974046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0509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D615167A-2341-4D77-BF97-C98DABC78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571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63547" y="3829914"/>
            <a:ext cx="8229600" cy="63356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2040" y="573234"/>
            <a:ext cx="8229600" cy="2508741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  <a:lvl3pPr algn="r"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슬라이드 번호 개체 틀 5">
            <a:extLst>
              <a:ext uri="{FF2B5EF4-FFF2-40B4-BE49-F238E27FC236}">
                <a16:creationId xmlns:a16="http://schemas.microsoft.com/office/drawing/2014/main" id="{0715BF9F-7BEC-43D5-AA15-65F5EC73A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33806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028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Relationship Id="rId6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chart" Target="../charts/chart3.xml"/><Relationship Id="rId5" Type="http://schemas.openxmlformats.org/officeDocument/2006/relationships/chart" Target="../charts/chart4.xml"/><Relationship Id="rId6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chart" Target="../charts/chart5.xml"/><Relationship Id="rId5" Type="http://schemas.openxmlformats.org/officeDocument/2006/relationships/chart" Target="../charts/chart6.xml"/><Relationship Id="rId6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chart" Target="../charts/chart7.xml"/><Relationship Id="rId5" Type="http://schemas.openxmlformats.org/officeDocument/2006/relationships/chart" Target="../charts/chart8.xml"/><Relationship Id="rId6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chart" Target="../charts/chart9.xml"/><Relationship Id="rId5" Type="http://schemas.openxmlformats.org/officeDocument/2006/relationships/chart" Target="../charts/chart10.xml"/><Relationship Id="rId6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공정 흐름과 공정시간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현재 정제기 1대 · IQC~FQC 57 h (순수 정제 45 h) · 정제 중 이전 Batch 검사·충진 병행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noFill/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40940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900940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900940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공용 정제기 1대 · 103℃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공동 (한솔 '27~)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139771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280940" y="1310000"/>
            <a:ext cx="113895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422949" y="1915000"/>
            <a:ext cx="1335982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순수 정제 45 h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PQC~제품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9병 18 h (현장 약 2일)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FFF3E6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200 L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8 h/용기 (이지켐 · 한솔)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925940" y="251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46427" y="251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925940" y="303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46427" y="303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한솔('27~)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090940" y="975000"/>
            <a:ext cx="168052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090940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0187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42514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259" name="Rectangle 257"/>
          <p:cNvSpPr/>
          <p:nvPr/>
        </p:nvSpPr>
        <p:spPr>
          <a:xfrm>
            <a:off x="283464" y="3502151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34747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공정시간 단순 합계 (h)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IQC~FQC 57 h + 충진 + OQC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83464" y="3822191"/>
            <a:ext cx="1600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9병 (하이닉스·CXMT)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1920240" y="3776472"/>
            <a:ext cx="160316" cy="237744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2080556" y="3776472"/>
            <a:ext cx="160316" cy="237744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2240873" y="3776472"/>
            <a:ext cx="3607129" cy="237744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 45 h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5848003" y="3776472"/>
            <a:ext cx="480950" cy="237744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1F1F1F"/>
                </a:solidFill>
                <a:latin typeface="Noto Sans KR"/>
                <a:ea typeface="Noto Sans KR"/>
                <a:cs typeface="Noto Sans KR"/>
              </a:rPr>
              <a:t>PQC~이송 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6328954" y="3776472"/>
            <a:ext cx="160316" cy="23774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489271" y="3776472"/>
            <a:ext cx="1442851" cy="23774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 18 h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7932123" y="3776472"/>
            <a:ext cx="160316" cy="23774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8147304" y="3813048"/>
            <a:ext cx="548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77 h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283464" y="4151376"/>
            <a:ext cx="1600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이지켐 200 L 1용기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1920240" y="4105656"/>
            <a:ext cx="160316" cy="237744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2080556" y="4105656"/>
            <a:ext cx="160316" cy="237744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2240873" y="4105656"/>
            <a:ext cx="3607129" cy="237744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 45 h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5848003" y="4105656"/>
            <a:ext cx="480950" cy="237744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1F1F1F"/>
                </a:solidFill>
                <a:latin typeface="Noto Sans KR"/>
                <a:ea typeface="Noto Sans KR"/>
                <a:cs typeface="Noto Sans KR"/>
              </a:rPr>
              <a:t>PQC~이송 6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6328954" y="4105656"/>
            <a:ext cx="160316" cy="23774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489271" y="4105656"/>
            <a:ext cx="641267" cy="23774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 8 h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7130538" y="4105656"/>
            <a:ext cx="160316" cy="23774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7345719" y="4142232"/>
            <a:ext cx="548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67 h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283464" y="4480559"/>
            <a:ext cx="1600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8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한솔 200 L 1용기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920240" y="4434840"/>
            <a:ext cx="160316" cy="237744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2080556" y="4434840"/>
            <a:ext cx="160316" cy="237744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2240873" y="4434840"/>
            <a:ext cx="3607129" cy="237744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 45 h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848003" y="4434840"/>
            <a:ext cx="480950" cy="237744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1F1F1F"/>
                </a:solidFill>
                <a:latin typeface="Noto Sans KR"/>
                <a:ea typeface="Noto Sans KR"/>
                <a:cs typeface="Noto Sans KR"/>
              </a:rPr>
              <a:t>PQC~이송 6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6328954" y="4434840"/>
            <a:ext cx="160316" cy="23774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6489271" y="4434840"/>
            <a:ext cx="641267" cy="237744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6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 8 h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7130538" y="4434840"/>
            <a:ext cx="160316" cy="23774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7345719" y="44714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67 h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6489271" y="3721608"/>
            <a:ext cx="10972" cy="102412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5986351" y="475488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▲ IQC~FQC 57 h</a:t>
            </a:r>
          </a:p>
        </p:txBody>
      </p:sp>
      <p:graphicFrame>
        <p:nvGraphicFramePr>
          <p:cNvPr id="290" name="Table 289"/>
          <p:cNvGraphicFramePr>
            <a:graphicFrameLocks noGrp="1"/>
          </p:cNvGraphicFramePr>
          <p:nvPr/>
        </p:nvGraphicFramePr>
        <p:xfrm>
          <a:off x="283464" y="5010912"/>
          <a:ext cx="8567928" cy="987552"/>
        </p:xfrm>
        <a:graphic>
          <a:graphicData uri="http://schemas.openxmlformats.org/drawingml/2006/table">
            <a:tbl>
              <a:tblPr firstRow="0" bandRow="0"/>
              <a:tblGrid>
                <a:gridCol w="1691640"/>
                <a:gridCol w="502920"/>
                <a:gridCol w="594360"/>
                <a:gridCol w="594360"/>
                <a:gridCol w="594360"/>
                <a:gridCol w="502920"/>
                <a:gridCol w="640080"/>
                <a:gridCol w="502920"/>
                <a:gridCol w="594360"/>
                <a:gridCol w="502920"/>
                <a:gridCol w="731520"/>
                <a:gridCol w="1115568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경로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IQC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준비·투입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정제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PQC~이송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FQC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IQC~FQC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OQC·출하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충진량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 기준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9병 (하이닉스·CXMT)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180 kg (9병)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h/병 × 9병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200 L 1용기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140 kg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h/용기 (수동)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200 L 1용기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150 kg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h/용기 (수동)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운영과 투자 일정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2대의 투입 시점을 엇갈리게 운영하여 생산을 병행하고, 후공정 부하를 분산하는 계획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3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- 3 -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solidFill>
            <a:srgbClr val="FDEDF0"/>
          </a:solidFill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578009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438009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438009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정제기1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정제기 1·2 · 투입 시점 엇갈림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공용 배정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930895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721496" y="1310000"/>
            <a:ext cx="69839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231231" y="1915000"/>
            <a:ext cx="1723129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순수 정제 45 h (설비별)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PQC~제품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 (유지)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9병 18 h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EFE6F7"/>
          </a:solidFill>
          <a:ln w="15875">
            <a:solidFill>
              <a:srgbClr val="7030A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ARS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→ ARS ('27.7~)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수동 8 h/용기 · ARS 단계별 시간 실측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792193" y="251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12256" y="251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792193" y="303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12256" y="303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102622" y="975000"/>
            <a:ext cx="1668842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102622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26615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67256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462" name="Round Same Side Corner Rectangle 178"/>
          <p:cNvSpPr/>
          <p:nvPr/>
        </p:nvSpPr>
        <p:spPr>
          <a:xfrm rot="10800000">
            <a:off x="5338152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3" name="Rectangle 177"/>
          <p:cNvSpPr/>
          <p:nvPr/>
        </p:nvSpPr>
        <p:spPr>
          <a:xfrm>
            <a:off x="5478152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4" name="TextBox 179"/>
          <p:cNvSpPr txBox="1"/>
          <p:nvPr/>
        </p:nvSpPr>
        <p:spPr>
          <a:xfrm>
            <a:off x="5338152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정제기2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4994214" y="1280160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시차</a:t>
            </a:r>
          </a:p>
        </p:txBody>
      </p:sp>
      <p:sp>
        <p:nvSpPr>
          <p:cNvPr id="466" name="Rectangle 257"/>
          <p:cNvSpPr/>
          <p:nvPr/>
        </p:nvSpPr>
        <p:spPr>
          <a:xfrm>
            <a:off x="283464" y="3502151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7" name="TextBox 258"/>
          <p:cNvSpPr txBox="1"/>
          <p:nvPr/>
        </p:nvSpPr>
        <p:spPr>
          <a:xfrm>
            <a:off x="393192" y="34747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투자 · 운영 일정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매년 4월 대정비 · '27.5 정제기 2대 생산 시작</a:t>
            </a:r>
          </a:p>
        </p:txBody>
      </p:sp>
      <p:graphicFrame>
        <p:nvGraphicFramePr>
          <p:cNvPr id="468" name="Table 467"/>
          <p:cNvGraphicFramePr>
            <a:graphicFrameLocks noGrp="1"/>
          </p:cNvGraphicFramePr>
          <p:nvPr/>
        </p:nvGraphicFramePr>
        <p:xfrm>
          <a:off x="283464" y="3730752"/>
          <a:ext cx="8540496" cy="1376172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  <a:gridCol w="393192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gridSpan="6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 (확정 생산)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 · 2,178 · 3,168 kg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 (매년 4월)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생산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4,182.9 kg (47.2톤 기준) · 기존 생산계획 3,564 kg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105℃ 월 4,455.6 kg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 8 h/용기 (이지켐 · 한솔)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운영 '27.7~ · 이지켐 · 한솔 200 L (5 Gal은 글로브 박스 유지)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4DFEC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105℃ (2028)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103 → 105℃ · +3톤 · 품질 검증 및 승인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4DFEC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9" name="Rectangle 257"/>
          <p:cNvSpPr/>
          <p:nvPr/>
        </p:nvSpPr>
        <p:spPr>
          <a:xfrm>
            <a:off x="283464" y="523951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70" name="TextBox 258"/>
          <p:cNvSpPr txBox="1"/>
          <p:nvPr/>
        </p:nvSpPr>
        <p:spPr>
          <a:xfrm>
            <a:off x="393192" y="521208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Capa. 기준 — 대정비 월을 뺀 11개월로 월 기준 산정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471" name="Table 470"/>
          <p:cNvGraphicFramePr>
            <a:graphicFrameLocks noGrp="1"/>
          </p:cNvGraphicFramePr>
          <p:nvPr/>
        </p:nvGraphicFramePr>
        <p:xfrm>
          <a:off x="283464" y="5468112"/>
          <a:ext cx="8567928" cy="777240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731520"/>
                <a:gridCol w="914400"/>
                <a:gridCol w="731520"/>
                <a:gridCol w="822960"/>
                <a:gridCol w="3355848"/>
              </a:tblGrid>
              <a:tr h="155448">
                <a:tc>
                  <a:txBody>
                    <a:bodyPr wrap="none"/>
                    <a:lstStyle/>
                    <a:p>
                      <a:pPr algn="l"/>
                      <a:r>
                        <a:rPr sz="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(t)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기준 (kg)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Batch/월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산식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55448">
                <a:tc>
                  <a:txBody>
                    <a:bodyPr wrap="none"/>
                    <a:lstStyle/>
                    <a:p>
                      <a:pPr algn="l"/>
                      <a:r>
                        <a:rPr sz="6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(정제기 1대 · 103℃)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'27.1~3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 ÷ 12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 wrap="none"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후 (정제기 2대)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47.2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'27.5~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(47,200 − 대정비 1,188) ÷ 11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 wrap="none"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 105℃ 적용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50.2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'28.1~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(50,200 − 대정비 1,188) ÷ 11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 wrap="none"/>
                    <a:lstStyle/>
                    <a:p>
                      <a:pPr algn="l"/>
                      <a:r>
                        <a:rPr sz="65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참고: 현재의 단순 2배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52.4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4,366.7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23.0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5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 안 함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65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Mix·Premix 준비 등 설비 시간 필요 → 2배 아님</a:t>
                      </a:r>
                      <a:endParaRPr sz="6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정제기 1대 한 달 운전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1대 한 달 11 Batch = 2,090 kg (과거 최대) · 연간 26.2톤 = 월 2,183 kg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2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- 2 -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30일 운전 예시 — 과거 최대 월 11 Batch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투입 간격 720 ÷ 11 = 65.5 h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207008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1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462125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717243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972360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2227478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2482596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2737713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2992831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3247948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3503066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3758183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4013301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268419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4523536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4778654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5033772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5288889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5544007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5799124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6054242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6309359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64477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6819595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7074712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7329830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7584947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7840065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8095183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28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8350300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29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8605418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1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30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283464" y="1243584"/>
            <a:ext cx="86868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일 (30일 · 720 h)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283464" y="1495044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1207008" y="1709928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283464" y="1824228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PQC~이송·FQC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1207008" y="2039112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283464" y="2153412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충진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1207008" y="2368296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283464" y="2482596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충진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1207008" y="2697479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283464" y="2811779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생산 kg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1207008" y="3026664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207008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462125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717243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972360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2227478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482596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737713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992831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3247948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3503066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3758183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4013301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4268419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4523536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4778654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5033772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5288889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5544007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5799124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6054242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6309359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6564477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6819595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7074712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7329830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7584947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7840065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8095183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8350300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8605418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8860536" y="1399032"/>
            <a:ext cx="9144" cy="162763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207008" y="1463040"/>
            <a:ext cx="2125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228267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1727873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727873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924043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2423648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2423648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2619818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3119423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3119423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3315593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3815198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3815198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4011368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4510974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4510974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4707144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B6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5206749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5206749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5402919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B7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5902524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5902524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6098694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B8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6598300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6598300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6794469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B9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7294075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7294075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7490245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B10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7989850" y="1463040"/>
            <a:ext cx="19616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7989850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8186020" y="1463040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B11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8685625" y="1463040"/>
            <a:ext cx="174910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8685625" y="1792224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1207008" y="2121408"/>
            <a:ext cx="101467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1630032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190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1812912" y="212140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2325807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380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2508687" y="212140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3021582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570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3204462" y="212140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3717358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760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3900238" y="2450592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4413133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950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4596013" y="212140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5108908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1,140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5291788" y="212140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5804683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1,330</a:t>
            </a:r>
          </a:p>
        </p:txBody>
      </p:sp>
      <p:sp>
        <p:nvSpPr>
          <p:cNvPr id="381" name="Rectangle 380"/>
          <p:cNvSpPr/>
          <p:nvPr/>
        </p:nvSpPr>
        <p:spPr>
          <a:xfrm>
            <a:off x="5987563" y="212140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500459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1,520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6683339" y="2450592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7196234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1,710</a:t>
            </a:r>
          </a:p>
        </p:txBody>
      </p:sp>
      <p:sp>
        <p:nvSpPr>
          <p:cNvPr id="385" name="Rectangle 384"/>
          <p:cNvSpPr/>
          <p:nvPr/>
        </p:nvSpPr>
        <p:spPr>
          <a:xfrm>
            <a:off x="7379114" y="212140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7892009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1,900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8074889" y="212140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8587785" y="2807207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2,090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8770665" y="2450592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1207008" y="3099816"/>
            <a:ext cx="146304" cy="9144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1389888" y="308152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준비·투입 + 순수 정제 (47 h)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2743200" y="3099816"/>
            <a:ext cx="146304" cy="9144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2926080" y="308152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정제기 해제·전환 (확인 필요)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4279392" y="3099816"/>
            <a:ext cx="146304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4462272" y="308152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PQC~이송 · FQC (8 h)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5815583" y="3099816"/>
            <a:ext cx="146304" cy="9144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5998464" y="308152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5 Gal 충진 (18 h)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7351775" y="3099816"/>
            <a:ext cx="146304" cy="9144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7534655" y="308152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200 L 충진 (8 h)</a:t>
            </a:r>
          </a:p>
        </p:txBody>
      </p:sp>
      <p:sp>
        <p:nvSpPr>
          <p:cNvPr id="400" name="Rectangle 257"/>
          <p:cNvSpPr/>
          <p:nvPr/>
        </p:nvSpPr>
        <p:spPr>
          <a:xfrm>
            <a:off x="283464" y="3483863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1" name="TextBox 258"/>
          <p:cNvSpPr txBox="1"/>
          <p:nvPr/>
        </p:nvSpPr>
        <p:spPr>
          <a:xfrm>
            <a:off x="393192" y="3456432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월 생산량 비교 — 정제기 1대 · 720 h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402" name="Table 401"/>
          <p:cNvGraphicFramePr>
            <a:graphicFrameLocks noGrp="1"/>
          </p:cNvGraphicFramePr>
          <p:nvPr/>
        </p:nvGraphicFramePr>
        <p:xfrm>
          <a:off x="283464" y="3712463"/>
          <a:ext cx="8567928" cy="1325880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822960"/>
                <a:gridCol w="868680"/>
                <a:gridCol w="868680"/>
                <a:gridCol w="960120"/>
                <a:gridCol w="3035808"/>
              </a:tblGrid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Batch/월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kg/월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(t)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투입 간격 (h)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 근거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이론 (순수 정제 45 h만)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3,040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36.5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45.0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720 ÷ 45 · 정제기 점유·전환·보수 제외 (이론)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최대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25.08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65.5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 11 × 45 = 495 h + 기타 225 h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26.20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63.5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26,200 ÷ 190 = 137.9 Batch · 138 × 190 = 26,220 kg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출하 (제시분)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8.4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1,602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19.22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하이닉스 16,980 + 이지켐 2,240 · CXMT·한솔 미제시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3" name="Rectangle 257"/>
          <p:cNvSpPr/>
          <p:nvPr/>
        </p:nvSpPr>
        <p:spPr>
          <a:xfrm>
            <a:off x="283464" y="523951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4" name="TextBox 258"/>
          <p:cNvSpPr txBox="1"/>
          <p:nvPr/>
        </p:nvSpPr>
        <p:spPr>
          <a:xfrm>
            <a:off x="393192" y="521208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과거 최대 11 Batch의 720 h 구성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283464" y="5550408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720 h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1207008" y="5504688"/>
            <a:ext cx="5261800" cy="27432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 11 × 45 = 495 h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6468808" y="5504688"/>
            <a:ext cx="233857" cy="27432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6702666" y="5504688"/>
            <a:ext cx="2157869" cy="2743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650" b="1">
                <a:solidFill>
                  <a:srgbClr val="1F1F1F"/>
                </a:solidFill>
                <a:latin typeface="Noto Sans KR"/>
                <a:ea typeface="Noto Sans KR"/>
                <a:cs typeface="Noto Sans KR"/>
              </a:rPr>
              <a:t>기타 203 h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207008" y="5824728"/>
            <a:ext cx="7653527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0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준비·투입 11 × 2 = 22 h · 기타 = 정제기 해제·세척·전환·승인 대기·보수·월 경계 등 (구성 확인)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시차 운전 한 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2대 · 30일 21 Batch = 3,990 kg · 월평균 22.0 Batch = 4,183 kg (47.2톤)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4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- 4 -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30일 운전 예시 — 정제기 2대 투입 시점 엇갈림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설비별 투입 간격 66.3 h · 정제기 2 시차 30 h (가정)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207008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1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462125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717243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972360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2227478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2482596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2737713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2992831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3247948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3503066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3758183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4013301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268419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4523536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4778654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5033772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5288889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5544007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5799124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6054242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6309359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64477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6819595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7074712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7329830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7584947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7840065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8095183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28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8350300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29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8605418" y="1243584"/>
            <a:ext cx="255117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1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30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283464" y="1243584"/>
            <a:ext cx="86868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일 (30일 · 720 h)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283464" y="1490472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1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1207008" y="1700784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283464" y="1810512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2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1207008" y="2020824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283464" y="2130552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PQC~이송·FQC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1207008" y="2340864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283464" y="2450592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충진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1207008" y="2660903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283464" y="2770632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충진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1207008" y="2980944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283464" y="3090672"/>
            <a:ext cx="914400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생산 kg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1207008" y="3300984"/>
            <a:ext cx="7653527" cy="3657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207008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462125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717243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972360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227478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482596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737713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992831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3247948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503066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3758183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4013301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4268419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4523536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4778654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5033772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5288889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5544007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5799124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6054242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6309359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6564477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6819595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7074712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7329830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7584947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7840065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8095183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8350300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8605418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8860536" y="1399032"/>
            <a:ext cx="9144" cy="1901951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207008" y="1458468"/>
            <a:ext cx="21259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228267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1-1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1727873" y="1458468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727873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933216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1-2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2432821" y="1458468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2432821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2638164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1-3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3137769" y="1458468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3137769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3343112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1-4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3842717" y="1458468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3842717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4048060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1-5</a:t>
            </a:r>
          </a:p>
        </p:txBody>
      </p:sp>
      <p:sp>
        <p:nvSpPr>
          <p:cNvPr id="349" name="Rectangle 348"/>
          <p:cNvSpPr/>
          <p:nvPr/>
        </p:nvSpPr>
        <p:spPr>
          <a:xfrm>
            <a:off x="4547665" y="1458468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4547665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4753008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1-6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5252614" y="1458468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5252614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5457957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1-7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5957562" y="1458468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5957562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6162905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1-8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6662510" y="1458468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6662510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6867853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1-9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7367458" y="1458468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7367458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7572801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1-10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8072406" y="1458468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8072406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8277749" y="1458468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1-11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8777355" y="1458468"/>
            <a:ext cx="83180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8777355" y="2098548"/>
            <a:ext cx="83180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1207008" y="1778507"/>
            <a:ext cx="134813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1341821" y="1778507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1341821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1547164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2-1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2046770" y="1778507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046770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252113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2-2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2751718" y="1778507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751718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957061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2-3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3456666" y="1778507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3456666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3662009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2-4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4161614" y="1778507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4161614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4366957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2-5</a:t>
            </a:r>
          </a:p>
        </p:txBody>
      </p:sp>
      <p:sp>
        <p:nvSpPr>
          <p:cNvPr id="385" name="Rectangle 384"/>
          <p:cNvSpPr/>
          <p:nvPr/>
        </p:nvSpPr>
        <p:spPr>
          <a:xfrm>
            <a:off x="4866562" y="1778507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4866562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5071905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2-6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5571511" y="1778507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5571511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5776854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2-7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6276459" y="1778507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6276459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6481802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2-8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6981407" y="1778507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6981407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7186750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2-9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7686355" y="1778507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7686355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7891698" y="1778507"/>
            <a:ext cx="499605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2-10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8391303" y="1778507"/>
            <a:ext cx="205342" cy="18288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8391303" y="2098548"/>
            <a:ext cx="85039" cy="1828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596646" y="1778507"/>
            <a:ext cx="263889" cy="18288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2-11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1207008" y="2418588"/>
            <a:ext cx="92294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1243981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190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1426861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1630032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380</a:t>
            </a:r>
          </a:p>
        </p:txBody>
      </p:sp>
      <p:sp>
        <p:nvSpPr>
          <p:cNvPr id="407" name="Rectangle 406"/>
          <p:cNvSpPr/>
          <p:nvPr/>
        </p:nvSpPr>
        <p:spPr>
          <a:xfrm>
            <a:off x="1812912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1948929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570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2131809" y="2738627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2334980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760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2517860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2653877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950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2836757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3039928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1,140</a:t>
            </a:r>
          </a:p>
        </p:txBody>
      </p:sp>
      <p:sp>
        <p:nvSpPr>
          <p:cNvPr id="415" name="Rectangle 414"/>
          <p:cNvSpPr/>
          <p:nvPr/>
        </p:nvSpPr>
        <p:spPr>
          <a:xfrm>
            <a:off x="3222808" y="2738627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3358825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1,330</a:t>
            </a:r>
          </a:p>
        </p:txBody>
      </p:sp>
      <p:sp>
        <p:nvSpPr>
          <p:cNvPr id="417" name="Rectangle 416"/>
          <p:cNvSpPr/>
          <p:nvPr/>
        </p:nvSpPr>
        <p:spPr>
          <a:xfrm>
            <a:off x="3541705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3744876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1,520</a:t>
            </a:r>
          </a:p>
        </p:txBody>
      </p:sp>
      <p:sp>
        <p:nvSpPr>
          <p:cNvPr id="419" name="Rectangle 418"/>
          <p:cNvSpPr/>
          <p:nvPr/>
        </p:nvSpPr>
        <p:spPr>
          <a:xfrm>
            <a:off x="3927756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20" name="TextBox 419"/>
          <p:cNvSpPr txBox="1"/>
          <p:nvPr/>
        </p:nvSpPr>
        <p:spPr>
          <a:xfrm>
            <a:off x="4063773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1,710</a:t>
            </a:r>
          </a:p>
        </p:txBody>
      </p:sp>
      <p:sp>
        <p:nvSpPr>
          <p:cNvPr id="421" name="Rectangle 420"/>
          <p:cNvSpPr/>
          <p:nvPr/>
        </p:nvSpPr>
        <p:spPr>
          <a:xfrm>
            <a:off x="4246653" y="2738627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22" name="TextBox 421"/>
          <p:cNvSpPr txBox="1"/>
          <p:nvPr/>
        </p:nvSpPr>
        <p:spPr>
          <a:xfrm>
            <a:off x="4449825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1,900</a:t>
            </a:r>
          </a:p>
        </p:txBody>
      </p:sp>
      <p:sp>
        <p:nvSpPr>
          <p:cNvPr id="423" name="Rectangle 422"/>
          <p:cNvSpPr/>
          <p:nvPr/>
        </p:nvSpPr>
        <p:spPr>
          <a:xfrm>
            <a:off x="4632705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24" name="TextBox 423"/>
          <p:cNvSpPr txBox="1"/>
          <p:nvPr/>
        </p:nvSpPr>
        <p:spPr>
          <a:xfrm>
            <a:off x="4768722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2,090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4951602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5154773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2,280</a:t>
            </a:r>
          </a:p>
        </p:txBody>
      </p:sp>
      <p:sp>
        <p:nvSpPr>
          <p:cNvPr id="427" name="Rectangle 426"/>
          <p:cNvSpPr/>
          <p:nvPr/>
        </p:nvSpPr>
        <p:spPr>
          <a:xfrm>
            <a:off x="5337653" y="2738627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28" name="TextBox 427"/>
          <p:cNvSpPr txBox="1"/>
          <p:nvPr/>
        </p:nvSpPr>
        <p:spPr>
          <a:xfrm>
            <a:off x="5473670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2,470</a:t>
            </a:r>
          </a:p>
        </p:txBody>
      </p:sp>
      <p:sp>
        <p:nvSpPr>
          <p:cNvPr id="429" name="Rectangle 428"/>
          <p:cNvSpPr/>
          <p:nvPr/>
        </p:nvSpPr>
        <p:spPr>
          <a:xfrm>
            <a:off x="5656550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30" name="TextBox 429"/>
          <p:cNvSpPr txBox="1"/>
          <p:nvPr/>
        </p:nvSpPr>
        <p:spPr>
          <a:xfrm>
            <a:off x="5859721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2,660</a:t>
            </a:r>
          </a:p>
        </p:txBody>
      </p:sp>
      <p:sp>
        <p:nvSpPr>
          <p:cNvPr id="431" name="Rectangle 430"/>
          <p:cNvSpPr/>
          <p:nvPr/>
        </p:nvSpPr>
        <p:spPr>
          <a:xfrm>
            <a:off x="6042601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32" name="TextBox 431"/>
          <p:cNvSpPr txBox="1"/>
          <p:nvPr/>
        </p:nvSpPr>
        <p:spPr>
          <a:xfrm>
            <a:off x="6178618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2,850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6361498" y="2738627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34" name="TextBox 433"/>
          <p:cNvSpPr txBox="1"/>
          <p:nvPr/>
        </p:nvSpPr>
        <p:spPr>
          <a:xfrm>
            <a:off x="6564669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3,040</a:t>
            </a:r>
          </a:p>
        </p:txBody>
      </p:sp>
      <p:sp>
        <p:nvSpPr>
          <p:cNvPr id="435" name="Rectangle 434"/>
          <p:cNvSpPr/>
          <p:nvPr/>
        </p:nvSpPr>
        <p:spPr>
          <a:xfrm>
            <a:off x="6747549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36" name="TextBox 435"/>
          <p:cNvSpPr txBox="1"/>
          <p:nvPr/>
        </p:nvSpPr>
        <p:spPr>
          <a:xfrm>
            <a:off x="6883566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3,230</a:t>
            </a:r>
          </a:p>
        </p:txBody>
      </p:sp>
      <p:sp>
        <p:nvSpPr>
          <p:cNvPr id="437" name="Rectangle 436"/>
          <p:cNvSpPr/>
          <p:nvPr/>
        </p:nvSpPr>
        <p:spPr>
          <a:xfrm>
            <a:off x="7066446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38" name="TextBox 437"/>
          <p:cNvSpPr txBox="1"/>
          <p:nvPr/>
        </p:nvSpPr>
        <p:spPr>
          <a:xfrm>
            <a:off x="7269617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3,420</a:t>
            </a:r>
          </a:p>
        </p:txBody>
      </p:sp>
      <p:sp>
        <p:nvSpPr>
          <p:cNvPr id="439" name="Rectangle 438"/>
          <p:cNvSpPr/>
          <p:nvPr/>
        </p:nvSpPr>
        <p:spPr>
          <a:xfrm>
            <a:off x="7452497" y="2738627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40" name="TextBox 439"/>
          <p:cNvSpPr txBox="1"/>
          <p:nvPr/>
        </p:nvSpPr>
        <p:spPr>
          <a:xfrm>
            <a:off x="7588514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3,610</a:t>
            </a:r>
          </a:p>
        </p:txBody>
      </p:sp>
      <p:sp>
        <p:nvSpPr>
          <p:cNvPr id="441" name="Rectangle 440"/>
          <p:cNvSpPr/>
          <p:nvPr/>
        </p:nvSpPr>
        <p:spPr>
          <a:xfrm>
            <a:off x="7771394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42" name="TextBox 441"/>
          <p:cNvSpPr txBox="1"/>
          <p:nvPr/>
        </p:nvSpPr>
        <p:spPr>
          <a:xfrm>
            <a:off x="7974566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3,800</a:t>
            </a:r>
          </a:p>
        </p:txBody>
      </p:sp>
      <p:sp>
        <p:nvSpPr>
          <p:cNvPr id="443" name="Rectangle 442"/>
          <p:cNvSpPr/>
          <p:nvPr/>
        </p:nvSpPr>
        <p:spPr>
          <a:xfrm>
            <a:off x="8157446" y="2418588"/>
            <a:ext cx="191338" cy="18288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44" name="TextBox 443"/>
          <p:cNvSpPr txBox="1"/>
          <p:nvPr/>
        </p:nvSpPr>
        <p:spPr>
          <a:xfrm>
            <a:off x="8293463" y="3086100"/>
            <a:ext cx="36576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3,990</a:t>
            </a:r>
          </a:p>
        </p:txBody>
      </p:sp>
      <p:sp>
        <p:nvSpPr>
          <p:cNvPr id="445" name="Rectangle 444"/>
          <p:cNvSpPr/>
          <p:nvPr/>
        </p:nvSpPr>
        <p:spPr>
          <a:xfrm>
            <a:off x="8476343" y="2738627"/>
            <a:ext cx="85039" cy="18288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1207008" y="3374136"/>
            <a:ext cx="146304" cy="91440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47" name="TextBox 446"/>
          <p:cNvSpPr txBox="1"/>
          <p:nvPr/>
        </p:nvSpPr>
        <p:spPr>
          <a:xfrm>
            <a:off x="1389888" y="335584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준비·투입 + 순수 정제 (47 h)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2743200" y="3374136"/>
            <a:ext cx="146304" cy="91440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49" name="TextBox 448"/>
          <p:cNvSpPr txBox="1"/>
          <p:nvPr/>
        </p:nvSpPr>
        <p:spPr>
          <a:xfrm>
            <a:off x="2926080" y="335584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정제기 해제·전환 (확인 필요)</a:t>
            </a:r>
          </a:p>
        </p:txBody>
      </p:sp>
      <p:sp>
        <p:nvSpPr>
          <p:cNvPr id="450" name="Rectangle 449"/>
          <p:cNvSpPr/>
          <p:nvPr/>
        </p:nvSpPr>
        <p:spPr>
          <a:xfrm>
            <a:off x="4279392" y="3374136"/>
            <a:ext cx="146304" cy="914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51" name="TextBox 450"/>
          <p:cNvSpPr txBox="1"/>
          <p:nvPr/>
        </p:nvSpPr>
        <p:spPr>
          <a:xfrm>
            <a:off x="4462272" y="335584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PQC~이송 · FQC (8 h)</a:t>
            </a:r>
          </a:p>
        </p:txBody>
      </p:sp>
      <p:sp>
        <p:nvSpPr>
          <p:cNvPr id="452" name="Rectangle 451"/>
          <p:cNvSpPr/>
          <p:nvPr/>
        </p:nvSpPr>
        <p:spPr>
          <a:xfrm>
            <a:off x="5815583" y="3374136"/>
            <a:ext cx="146304" cy="91440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5998464" y="335584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5 Gal 충진 (18 h)</a:t>
            </a:r>
          </a:p>
        </p:txBody>
      </p:sp>
      <p:sp>
        <p:nvSpPr>
          <p:cNvPr id="454" name="Rectangle 453"/>
          <p:cNvSpPr/>
          <p:nvPr/>
        </p:nvSpPr>
        <p:spPr>
          <a:xfrm>
            <a:off x="7351775" y="3374136"/>
            <a:ext cx="146304" cy="9144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7534655" y="3355848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200 L 충진 (8 h)</a:t>
            </a:r>
          </a:p>
        </p:txBody>
      </p:sp>
      <p:sp>
        <p:nvSpPr>
          <p:cNvPr id="456" name="Rectangle 257"/>
          <p:cNvSpPr/>
          <p:nvPr/>
        </p:nvSpPr>
        <p:spPr>
          <a:xfrm>
            <a:off x="283464" y="377647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7" name="TextBox 258"/>
          <p:cNvSpPr txBox="1"/>
          <p:nvPr/>
        </p:nvSpPr>
        <p:spPr>
          <a:xfrm>
            <a:off x="393192" y="3749039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월 생산량 비교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458" name="Table 457"/>
          <p:cNvGraphicFramePr>
            <a:graphicFrameLocks noGrp="1"/>
          </p:cNvGraphicFramePr>
          <p:nvPr/>
        </p:nvGraphicFramePr>
        <p:xfrm>
          <a:off x="283464" y="4005072"/>
          <a:ext cx="8567928" cy="2084831"/>
        </p:xfrm>
        <a:graphic>
          <a:graphicData uri="http://schemas.openxmlformats.org/drawingml/2006/table">
            <a:tbl>
              <a:tblPr firstRow="0" bandRow="0"/>
              <a:tblGrid>
                <a:gridCol w="2011680"/>
                <a:gridCol w="548640"/>
                <a:gridCol w="777240"/>
                <a:gridCol w="868680"/>
                <a:gridCol w="822960"/>
                <a:gridCol w="1143000"/>
                <a:gridCol w="2395728"/>
              </a:tblGrid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Batch/월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kg/월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(t)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설비별 투입 간격 (h)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 근거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63.5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26,200 ÷ 190 = 137.9 Batch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최대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11.0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25.1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65.5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 × 45 = 495 h + 225 h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기존 생산계획 ('27.5~)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37.2 ('27)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77.8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 5~12월 월 생산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Capa. 47.2톤 기준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47.2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66.3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(47,200 − 1,188) ÷ 11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l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 105℃ 50.2톤 기준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4,456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50.2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62.3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2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(50,200 − 1,188) ÷ 11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2027~2028 생산 계획 버전 비교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Capa. 기준은 누적 최저 −3.46톤 ('27.4) · 기존 생산계획은 −13.52톤 ('28.12)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5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- 5 -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연간 생산 vs 출하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누적 = 2027.1부터 (생산 − 출하)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822959"/>
        </p:xfrm>
        <a:graphic>
          <a:graphicData uri="http://schemas.openxmlformats.org/drawingml/2006/table">
            <a:tbl>
              <a:tblPr firstRow="0" bandRow="0"/>
              <a:tblGrid>
                <a:gridCol w="2514600"/>
                <a:gridCol w="731520"/>
                <a:gridCol w="731520"/>
                <a:gridCol w="685800"/>
                <a:gridCol w="731520"/>
                <a:gridCol w="731520"/>
                <a:gridCol w="685800"/>
                <a:gridCol w="886968"/>
                <a:gridCol w="868680"/>
              </a:tblGrid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버전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생산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출하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차이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 생산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 출하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차이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24개월 누적 최저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시점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Capa. 기준 (2027 47.2톤 · 2028 50.2톤)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42,175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43,400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−1,225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50,200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+4,440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−3,461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'27.4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기존 생산계획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37,224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43,400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−6,176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38,412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−7,348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−13,524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2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'28.12</a:t>
                      </a:r>
                      <a:endParaRPr sz="72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226771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224028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월 생산 vs 출하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64" name="Rectangle 257"/>
          <p:cNvSpPr/>
          <p:nvPr/>
        </p:nvSpPr>
        <p:spPr>
          <a:xfrm>
            <a:off x="4663440" y="226771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5" name="TextBox 258"/>
          <p:cNvSpPr txBox="1"/>
          <p:nvPr/>
        </p:nvSpPr>
        <p:spPr>
          <a:xfrm>
            <a:off x="4773168" y="2240280"/>
            <a:ext cx="3749039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누적 (생산 − 출하, 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6" name="Chart 265"/>
          <p:cNvGraphicFramePr>
            <a:graphicFrameLocks noGrp="1"/>
          </p:cNvGraphicFramePr>
          <p:nvPr/>
        </p:nvGraphicFramePr>
        <p:xfrm>
          <a:off x="283464" y="2487168"/>
          <a:ext cx="4297680" cy="37033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67" name="Chart 266"/>
          <p:cNvGraphicFramePr>
            <a:graphicFrameLocks noGrp="1"/>
          </p:cNvGraphicFramePr>
          <p:nvPr/>
        </p:nvGraphicFramePr>
        <p:xfrm>
          <a:off x="4663440" y="2487168"/>
          <a:ext cx="4206240" cy="37033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2027년 생산·출하 ① Capa. 기준 (47.2톤)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 42.18톤 vs 출하 43.40톤 → −1.22톤 · 누적 최저 −3.46톤 ('27.4)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6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- 6 -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2027 월별 생산 · 출하 · 충진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1~4월 확정 · 5~12월 (47,200 − 1,188) ÷ 11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07008"/>
          <a:ext cx="8567928" cy="2779775"/>
        </p:xfrm>
        <a:graphic>
          <a:graphicData uri="http://schemas.openxmlformats.org/drawingml/2006/table">
            <a:tbl>
              <a:tblPr firstRow="0" bandRow="0"/>
              <a:tblGrid>
                <a:gridCol w="1481328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667512"/>
              </a:tblGrid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42,175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환산 (÷190)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222.0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7,000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한솔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43,400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출하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−2,145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+850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+850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−1,225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(생산 − 출하) '27.1~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−1,151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−1,316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−3,461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−2,612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−1,762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−1,673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−1,583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−1,493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−1,404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−1,314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−1,225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−1,225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(출하÷190)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228.4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2,972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h (8 h/용기)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768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용기 (140 kg)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용기 (150 kg)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41879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41605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월 생산 vs 출하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64" name="Rectangle 257"/>
          <p:cNvSpPr/>
          <p:nvPr/>
        </p:nvSpPr>
        <p:spPr>
          <a:xfrm>
            <a:off x="4663440" y="41879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5" name="TextBox 258"/>
          <p:cNvSpPr txBox="1"/>
          <p:nvPr/>
        </p:nvSpPr>
        <p:spPr>
          <a:xfrm>
            <a:off x="4773168" y="4160520"/>
            <a:ext cx="3749039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누적 (생산 − 출하, 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6" name="Chart 265"/>
          <p:cNvGraphicFramePr>
            <a:graphicFrameLocks noGrp="1"/>
          </p:cNvGraphicFramePr>
          <p:nvPr/>
        </p:nvGraphicFramePr>
        <p:xfrm>
          <a:off x="283464" y="4407408"/>
          <a:ext cx="429768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67" name="Chart 266"/>
          <p:cNvGraphicFramePr>
            <a:graphicFrameLocks noGrp="1"/>
          </p:cNvGraphicFramePr>
          <p:nvPr/>
        </p:nvGraphicFramePr>
        <p:xfrm>
          <a:off x="4663440" y="4407408"/>
          <a:ext cx="4206240" cy="18288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2027년 생산·출하 ② 기존 생산계획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 37.22톤 vs 출하 43.40톤 → −6.18톤 · 누적 최저 −6.18톤 ('27.12)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7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- 7 -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2027 월별 생산 · 출하 · 충진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1~4월 확정 · 5~12월 3,564 kg/월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07008"/>
          <a:ext cx="8567928" cy="2779775"/>
        </p:xfrm>
        <a:graphic>
          <a:graphicData uri="http://schemas.openxmlformats.org/drawingml/2006/table">
            <a:tbl>
              <a:tblPr firstRow="0" bandRow="0"/>
              <a:tblGrid>
                <a:gridCol w="1481328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667512"/>
              </a:tblGrid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37,224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환산 (÷190)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195.9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7,000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한솔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43,400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출하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−2,145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+231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+231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−529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−529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−529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−529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−529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−529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−6,176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(생산 − 출하) '27.1~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−1,151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−1,316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−3,461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−3,231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−3,000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−3,529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−4,059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−4,588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−5,117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−5,647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−6,176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−6,176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(출하÷190)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228.4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2,972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h (8 h/용기)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768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용기 (140 kg)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용기 (150 kg)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41879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41605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월 생산 vs 출하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64" name="Rectangle 257"/>
          <p:cNvSpPr/>
          <p:nvPr/>
        </p:nvSpPr>
        <p:spPr>
          <a:xfrm>
            <a:off x="4663440" y="41879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5" name="TextBox 258"/>
          <p:cNvSpPr txBox="1"/>
          <p:nvPr/>
        </p:nvSpPr>
        <p:spPr>
          <a:xfrm>
            <a:off x="4773168" y="4160520"/>
            <a:ext cx="3749039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누적 (생산 − 출하, 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6" name="Chart 265"/>
          <p:cNvGraphicFramePr>
            <a:graphicFrameLocks noGrp="1"/>
          </p:cNvGraphicFramePr>
          <p:nvPr/>
        </p:nvGraphicFramePr>
        <p:xfrm>
          <a:off x="283464" y="4407408"/>
          <a:ext cx="429768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67" name="Chart 266"/>
          <p:cNvGraphicFramePr>
            <a:graphicFrameLocks noGrp="1"/>
          </p:cNvGraphicFramePr>
          <p:nvPr/>
        </p:nvGraphicFramePr>
        <p:xfrm>
          <a:off x="4663440" y="4407408"/>
          <a:ext cx="4206240" cy="18288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2028년 생산·출하 ① Capa. 기준 (50.2톤)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 50.20톤 vs 출하 45.76톤 → +4.44톤 · '27.1부터 누적 연말 +3.22톤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8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- 8 -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2028 월별 생산 · 출하 · 충진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105℃ · 4월 대정비 1,188 kg · 나머지 (50,200 − 1,188) ÷ 11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07008"/>
          <a:ext cx="8567928" cy="2779775"/>
        </p:xfrm>
        <a:graphic>
          <a:graphicData uri="http://schemas.openxmlformats.org/drawingml/2006/table">
            <a:tbl>
              <a:tblPr firstRow="0" bandRow="0"/>
              <a:tblGrid>
                <a:gridCol w="1481328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667512"/>
              </a:tblGrid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2대·105℃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2대·105℃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50,200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환산 (÷190)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264.2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9,360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한솔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출하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−2,625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+4,440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(생산 − 출하) '27.1~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−582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+702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−1,923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−1,281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−639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+1,288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+1,931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+2,573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+3,215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+3,215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(출하÷190)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240.8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3,208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h (8 h/용기)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768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용기 (140 kg)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용기 (150 kg)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41879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41605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월 생산 vs 출하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64" name="Rectangle 257"/>
          <p:cNvSpPr/>
          <p:nvPr/>
        </p:nvSpPr>
        <p:spPr>
          <a:xfrm>
            <a:off x="4663440" y="41879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5" name="TextBox 258"/>
          <p:cNvSpPr txBox="1"/>
          <p:nvPr/>
        </p:nvSpPr>
        <p:spPr>
          <a:xfrm>
            <a:off x="4773168" y="4160520"/>
            <a:ext cx="3749039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누적 (생산 − 출하, 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6" name="Chart 265"/>
          <p:cNvGraphicFramePr>
            <a:graphicFrameLocks noGrp="1"/>
          </p:cNvGraphicFramePr>
          <p:nvPr/>
        </p:nvGraphicFramePr>
        <p:xfrm>
          <a:off x="283464" y="4407408"/>
          <a:ext cx="429768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67" name="Chart 266"/>
          <p:cNvGraphicFramePr>
            <a:graphicFrameLocks noGrp="1"/>
          </p:cNvGraphicFramePr>
          <p:nvPr/>
        </p:nvGraphicFramePr>
        <p:xfrm>
          <a:off x="4663440" y="4407408"/>
          <a:ext cx="4206240" cy="18288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2028년 생산·출하 ② 기존 생산계획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 38.41톤 vs 출하 45.76톤 → −7.35톤 · '27.1부터 누적 연말 −13.52톤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9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- 9 -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2028 월별 생산 · 출하 · 충진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3,564 kg/월 · 4월 1,188 · 8~12월 3,168 kg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07008"/>
          <a:ext cx="8567928" cy="2779775"/>
        </p:xfrm>
        <a:graphic>
          <a:graphicData uri="http://schemas.openxmlformats.org/drawingml/2006/table">
            <a:tbl>
              <a:tblPr firstRow="0" bandRow="0"/>
              <a:tblGrid>
                <a:gridCol w="1481328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534924"/>
                <a:gridCol w="667512"/>
              </a:tblGrid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38,412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환산 (÷190)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18.8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202.2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9,360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한솔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출하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−2,625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−249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−645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−7,348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(생산 − 출하) '27.1~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−6,425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−6,675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−6,924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−9,549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−9,799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−10,048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−10,297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−10,943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−11,588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−12,233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−12,879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−13,524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−13,524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(출하÷190)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240.8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3,208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h (8 h/용기)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768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용기 (140 kg)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 wrap="non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용기 (150 kg)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41879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41605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월 생산 vs 출하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64" name="Rectangle 257"/>
          <p:cNvSpPr/>
          <p:nvPr/>
        </p:nvSpPr>
        <p:spPr>
          <a:xfrm>
            <a:off x="4663440" y="41879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5" name="TextBox 258"/>
          <p:cNvSpPr txBox="1"/>
          <p:nvPr/>
        </p:nvSpPr>
        <p:spPr>
          <a:xfrm>
            <a:off x="4773168" y="4160520"/>
            <a:ext cx="3749039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누적 (생산 − 출하, 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6" name="Chart 265"/>
          <p:cNvGraphicFramePr>
            <a:graphicFrameLocks noGrp="1"/>
          </p:cNvGraphicFramePr>
          <p:nvPr/>
        </p:nvGraphicFramePr>
        <p:xfrm>
          <a:off x="283464" y="4407408"/>
          <a:ext cx="429768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67" name="Chart 266"/>
          <p:cNvGraphicFramePr>
            <a:graphicFrameLocks noGrp="1"/>
          </p:cNvGraphicFramePr>
          <p:nvPr/>
        </p:nvGraphicFramePr>
        <p:xfrm>
          <a:off x="4663440" y="4407408"/>
          <a:ext cx="4206240" cy="18288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후공정 부하 검토 — 충진 · 검사 · OQC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정제능력과 출하능력은 별개 · 5 Gal 충진 최대 월 267 h = 1교대 176 h의 152%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10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- 10 -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 작업량 (출하계획 기준)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출하 물량으로 계산 — 생산 버전과 무관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2331719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960120"/>
                <a:gridCol w="960120"/>
                <a:gridCol w="960120"/>
                <a:gridCol w="960120"/>
                <a:gridCol w="2532888"/>
              </a:tblGrid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'27.1~2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'27.3~6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'27.7~12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'28 (월)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병 (하이닉스+CXMT)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95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124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134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134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kg/병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h/병 · 글로브 박스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글로브 박스 1교대 가용 h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 × 22일 (교대 확대 시 증가)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글로브 박스 부하율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108%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141%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152%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152%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1교대 기준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용기 (이지켐 + 한솔)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140 kg · 150 kg/용기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h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80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h/용기 (ARS 실측 전)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OQC·출하 h (5 Gal + 200 L)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39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2 h · 1용기 2 h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PQC~이송 · FQC h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116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140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172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161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 × 필요 Batch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(출하 ÷ 190)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7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37307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37033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병목 검토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3959352"/>
          <a:ext cx="8567928" cy="2139696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2057400"/>
                <a:gridCol w="2377440"/>
                <a:gridCol w="2532888"/>
              </a:tblGrid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자원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기준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이후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필요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글로브 박스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h/병 · 9병 18 h · 현장 약 2일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최대 267 h — 1교대 176 h 초과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교대 · 충진 인원 · 글로브 박스 수 · 18 h → 9 h 방안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(이지켐 · 한솔)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 8 h/용기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'27.7~ · 전체 시간은 수동과 비슷할 수 있음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용기 준비 · 투입·반출 · 퍼지 · 충진 · 전환 시간 실측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(PQC · FQC)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PQC~이송 6 h · FQC 2 h / Batch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증가 · 두 정제기 회수 시점 겹침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인력 · 승인 대기시간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Product Tank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 합격 후 이송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두 정제기 제품 보관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Tank 수 · 용량 · 회전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 · 포장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1 Batch 약 2일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개선 방향 1~1.5일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개선 방안 · 일정 (현재 미반영)</a:t>
                      </a:r>
                      <a:endParaRPr sz="6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생산팀 확인 사항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생산팀 대화 내용 정리 — 자료 반영 기준과 추가 확인 항목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생산·설비·품질·충진 관련 확인 내용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4956048"/>
        </p:xfrm>
        <a:graphic>
          <a:graphicData uri="http://schemas.openxmlformats.org/drawingml/2006/table">
            <a:tbl>
              <a:tblPr firstRow="0" bandRow="0"/>
              <a:tblGrid>
                <a:gridCol w="1051560"/>
                <a:gridCol w="3246120"/>
                <a:gridCol w="2240280"/>
                <a:gridCol w="2029968"/>
              </a:tblGrid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생산팀 설명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자료 반영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필요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공정시간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 h에서 IQC·준비·PQC~이송·FQC를 빼면 순수 정제 45 h · 대화 중 57 − 2 − 6 = 49 h 계산도 있음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IQC~FQC 57 h, 순수 정제 45 h (차감 계산)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원자료 시간 측정의 시작점·종료점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시간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약 72 h, 최근 약 53 h 언급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원자료 설명으로 보존 (57 h 기준 유지)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두 값의 측정 범위가 같은지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 투입 후 초류 진행에 맞춰 정제기 2 투입 (다음 날 / 초류 중간 / 초류 종료 무렵 언급)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투입 시점을 엇갈려 병행 운전 · 운전 예시 시차 30 h는 가정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 투입 시점 · 설비 번호(2070·2060) 도면 대조 · 개조/신규 여부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생산물 도착 간격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 ÷ 2 = 28.5 h는 이상적인 경우의 도착 간격 설명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정제기별 Batch 시간으로 사용하지 않음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Capa. 2배 아님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투입용 Mix·Premix 준비 등에 설비 시간이 필요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47.2톤 (현재 26.2톤의 2배 52.4톤 아님)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Mix·Premix 준비시간 · 사용 설비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목적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하이닉스 요구 품질 대응을 위한 정제 기능 개선 · 환류 운전은 회수 속도와 Batch 시간에 영향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품질 대응 + 생산능력 확대 · 온도 상승 효과와 2대 효과 구분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환류 운전 시 Batch 시간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회수량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조건별 약 160~170 kg / 추가 투입 시 약 220 kg / 전체 약 195~200 kg (197 kg) / Crude 200 kg × 75~80% ≈ 150~160 kg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환산 기준 190 kg/Batch 유지 · 조건별 실측 입력란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조건별 투입·회수·양품·잔량 실측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수율 표현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"65%에서 5% 올렸다"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65→70% 개선으로 단정하지 않음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수치 정의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135 · 120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Mix 유무에 따라 언급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 생산량으로 입력하지 않음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단위 · 색도 등 품질 지표인지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색도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색도 조건 때문에 추가 투입 제한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고객별 품질 조건 별도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고객별 품질·색도 규격 · 합격률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18 h 작업, 근무시간 반영 시 약 2일 · 개선 방향 1~1.5일 · 18 h → 9 h 방안 검토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h/병 · 18 h 유지 (개선은 미반영)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교대·연장근무 · 충진 인원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자체 충진은 더 길 수 있으나 용기 투입·반출·퍼지 포함 시 전체 시간은 비슷할 수 있음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시간 미입력 시 수동 8 h 적용 · Capa. 가산 없음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작업 단계별 시간 (용기 준비~설비 전환)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충진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수동 충진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h/용기 반영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전환 후 시간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물량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대화 중 '약 40톤' 언급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고객별 출하계획 (43.4 / 45.76톤) 유지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6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95502</TotalTime>
  <Words>9459</Words>
  <Application>Microsoft Office PowerPoint</Application>
  <PresentationFormat>화면 슬라이드 쇼(4:3)</PresentationFormat>
  <Paragraphs>2567</Paragraphs>
  <Slides>54</Slides>
  <Notes>54</Notes>
  <HiddenSlides>0</HiddenSlides>
  <MMClips>0</MMClips>
  <ScaleCrop>false</ScaleCrop>
  <HeadingPairs>
    <vt:vector size="6" baseType="variant">
      <vt:variant>
        <vt:lpstr>사용한 글꼴</vt:lpstr>
      </vt:variant>
      <vt:variant>
        <vt:i4>18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73" baseType="lpstr">
      <vt:lpstr>Meiryo UI</vt:lpstr>
      <vt:lpstr>ＭＳ Ｐゴシック</vt:lpstr>
      <vt:lpstr>Paperlogy 4 Regular</vt:lpstr>
      <vt:lpstr>Paperlogy 5 Medium</vt:lpstr>
      <vt:lpstr>Paperlogy 6 SemiBold</vt:lpstr>
      <vt:lpstr>Paperlogy 7 Bold</vt:lpstr>
      <vt:lpstr>Paperlogy 8 ExtraBold</vt:lpstr>
      <vt:lpstr>Pretendard</vt:lpstr>
      <vt:lpstr>Pretendard Light</vt:lpstr>
      <vt:lpstr>Pretendard Medium</vt:lpstr>
      <vt:lpstr>Pretendard SemiBold</vt:lpstr>
      <vt:lpstr>맑은 고딕</vt:lpstr>
      <vt:lpstr>맑은 고딕</vt:lpstr>
      <vt:lpstr>Arial</vt:lpstr>
      <vt:lpstr>Arial Narrow</vt:lpstr>
      <vt:lpstr>Tahoma</vt:lpstr>
      <vt:lpstr>Times New Roman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XP R2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김지현(JIHYUN KIM)/SK트리켐 마케팅팀/SKMR</cp:lastModifiedBy>
  <cp:revision>2121</cp:revision>
  <cp:lastPrinted>2024-01-02T22:30:24Z</cp:lastPrinted>
  <dcterms:created xsi:type="dcterms:W3CDTF">2016-08-27T13:10:56Z</dcterms:created>
  <dcterms:modified xsi:type="dcterms:W3CDTF">2026-09-10T02:13:59Z</dcterms:modified>
</cp:coreProperties>
</file>