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5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48" r:id="rId1"/>
  </p:sldMasterIdLst>
  <p:notesMasterIdLst>
    <p:notesMasterId r:id="rId56"/>
  </p:notesMasterIdLst>
  <p:sldIdLst>
    <p:sldId id="268" r:id="rId61"/>
    <p:sldId id="269" r:id="rId62"/>
    <p:sldId id="270" r:id="rId63"/>
    <p:sldId id="272" r:id="rId65"/>
    <p:sldId id="273" r:id="rId66"/>
  </p:sldIdLst>
  <p:sldSz cx="9144000" cy="6858000" type="screen4x3"/>
  <p:notesSz cx="6807200" cy="9939338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3131" userDrawn="1">
          <p15:clr>
            <a:srgbClr val="A4A3A4"/>
          </p15:clr>
        </p15:guide>
        <p15:guide id="2" pos="2145" userDrawn="1">
          <p15:clr>
            <a:srgbClr val="A4A3A4"/>
          </p15:clr>
        </p15:guide>
      </p15:notes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3251E"/>
    <a:srgbClr val="FB6306"/>
    <a:srgbClr val="FAFAFA"/>
    <a:srgbClr val="FFFFFF"/>
    <a:srgbClr val="0061DA"/>
    <a:srgbClr val="F74912"/>
    <a:srgbClr val="E9BB9F"/>
    <a:srgbClr val="EB002C"/>
    <a:srgbClr val="FFDD71"/>
    <a:srgbClr val="F9510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15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E3FDE45-AF77-4B5C-9715-49D594BDF05E}" styleName="밝은 스타일 1 - 강조 2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2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2"/>
              </a:solidFill>
            </a:ln>
          </a:bottom>
        </a:tcBdr>
        <a:fill>
          <a:noFill/>
        </a:fill>
      </a:tcStyle>
    </a:firstRow>
  </a:tblStyle>
  <a:tblStyle styleId="{68D230F3-CF80-4859-8CE7-A43EE81993B5}" styleName="밝은 스타일 1 - 강조 6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6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6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6"/>
              </a:solidFill>
            </a:ln>
          </a:bottom>
        </a:tcBdr>
        <a:fill>
          <a:noFill/>
        </a:fill>
      </a:tcStyle>
    </a:firstRow>
  </a:tblStyle>
  <a:tblStyle styleId="{6E25E649-3F16-4E02-A733-19D2CDBF48F0}" styleName="보통 스타일 3 - 강조 1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B301B821-A1FF-4177-AEE7-76D212191A09}" styleName="보통 스타일 1 - 강조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1">
              <a:tint val="20000"/>
            </a:schemeClr>
          </a:solidFill>
        </a:fill>
      </a:tcStyle>
    </a:band1H>
    <a:band1V>
      <a:tcStyle>
        <a:tcBdr/>
        <a:fill>
          <a:solidFill>
            <a:schemeClr val="accent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7315" autoAdjust="0"/>
    <p:restoredTop sz="84988" autoAdjust="0"/>
  </p:normalViewPr>
  <p:slideViewPr>
    <p:cSldViewPr>
      <p:cViewPr>
        <p:scale>
          <a:sx n="98" d="100"/>
          <a:sy n="98" d="100"/>
        </p:scale>
        <p:origin x="2454" y="7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notesViewPr>
    <p:cSldViewPr>
      <p:cViewPr varScale="1">
        <p:scale>
          <a:sx n="91" d="100"/>
          <a:sy n="91" d="100"/>
        </p:scale>
        <p:origin x="-2034" y="-108"/>
      </p:cViewPr>
      <p:guideLst>
        <p:guide orient="horz" pos="3131"/>
        <p:guide pos="2145"/>
      </p:guideLst>
    </p:cSldViewPr>
  </p:notes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56" Type="http://schemas.openxmlformats.org/officeDocument/2006/relationships/notesMaster" Target="notesMasters/notesMaster1.xml"/><Relationship Id="rId57" Type="http://schemas.openxmlformats.org/officeDocument/2006/relationships/presProps" Target="presProps.xml"/><Relationship Id="rId58" Type="http://schemas.openxmlformats.org/officeDocument/2006/relationships/viewProps" Target="viewProps.xml"/><Relationship Id="rId59" Type="http://schemas.openxmlformats.org/officeDocument/2006/relationships/theme" Target="theme/theme1.xml"/><Relationship Id="rId60" Type="http://schemas.openxmlformats.org/officeDocument/2006/relationships/tableStyles" Target="tableStyles.xml"/><Relationship Id="rId61" Type="http://schemas.openxmlformats.org/officeDocument/2006/relationships/slide" Target="slides/slide1.xml"/><Relationship Id="rId62" Type="http://schemas.openxmlformats.org/officeDocument/2006/relationships/slide" Target="slides/slide2.xml"/><Relationship Id="rId63" Type="http://schemas.openxmlformats.org/officeDocument/2006/relationships/slide" Target="slides/slide3.xml"/><Relationship Id="rId65" Type="http://schemas.openxmlformats.org/officeDocument/2006/relationships/slide" Target="slides/slide4.xml"/><Relationship Id="rId66" Type="http://schemas.openxmlformats.org/officeDocument/2006/relationships/slide" Target="slides/slide5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1" y="1"/>
            <a:ext cx="2949787" cy="496965"/>
          </a:xfrm>
          <a:prstGeom prst="rect">
            <a:avLst/>
          </a:prstGeom>
        </p:spPr>
        <p:txBody>
          <a:bodyPr vert="horz" lIns="94531" tIns="47265" rIns="94531" bIns="47265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55839" y="1"/>
            <a:ext cx="2949787" cy="496965"/>
          </a:xfrm>
          <a:prstGeom prst="rect">
            <a:avLst/>
          </a:prstGeom>
        </p:spPr>
        <p:txBody>
          <a:bodyPr vert="horz" lIns="94531" tIns="47265" rIns="94531" bIns="47265" rtlCol="0"/>
          <a:lstStyle>
            <a:lvl1pPr algn="r">
              <a:defRPr sz="1200"/>
            </a:lvl1pPr>
          </a:lstStyle>
          <a:p>
            <a:fld id="{AA418431-0B53-4AF1-8AD8-9A9A7D49F4A5}" type="datetimeFigureOut">
              <a:rPr lang="ko-KR" altLang="en-US" smtClean="0"/>
              <a:pPr/>
              <a:t>2026-09-10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917575" y="744538"/>
            <a:ext cx="4972050" cy="3729037"/>
          </a:xfrm>
          <a:prstGeom prst="rect">
            <a:avLst/>
          </a:prstGeom>
          <a:gradFill>
            <a:gsLst>
              <a:gs pos="0">
                <a:schemeClr val="accent1">
                  <a:tint val="66000"/>
                  <a:satMod val="160000"/>
                </a:schemeClr>
              </a:gs>
              <a:gs pos="50000">
                <a:schemeClr val="accent1">
                  <a:tint val="44500"/>
                  <a:satMod val="160000"/>
                </a:schemeClr>
              </a:gs>
              <a:gs pos="100000">
                <a:schemeClr val="accent1">
                  <a:tint val="23500"/>
                  <a:satMod val="160000"/>
                </a:schemeClr>
              </a:gs>
            </a:gsLst>
            <a:lin ang="5400000" scaled="0"/>
          </a:gradFill>
          <a:ln w="12700">
            <a:solidFill>
              <a:prstClr val="black"/>
            </a:solidFill>
          </a:ln>
        </p:spPr>
        <p:txBody>
          <a:bodyPr vert="horz" lIns="94531" tIns="47265" rIns="94531" bIns="47265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0722" y="4721186"/>
            <a:ext cx="5445759" cy="4472702"/>
          </a:xfrm>
          <a:prstGeom prst="rect">
            <a:avLst/>
          </a:prstGeom>
        </p:spPr>
        <p:txBody>
          <a:bodyPr vert="horz" lIns="94531" tIns="47265" rIns="94531" bIns="47265" rtlCol="0"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1" y="9440648"/>
            <a:ext cx="2949787" cy="496965"/>
          </a:xfrm>
          <a:prstGeom prst="rect">
            <a:avLst/>
          </a:prstGeom>
        </p:spPr>
        <p:txBody>
          <a:bodyPr vert="horz" lIns="94531" tIns="47265" rIns="94531" bIns="47265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55839" y="9440648"/>
            <a:ext cx="2949787" cy="496965"/>
          </a:xfrm>
          <a:prstGeom prst="rect">
            <a:avLst/>
          </a:prstGeom>
        </p:spPr>
        <p:txBody>
          <a:bodyPr vert="horz" lIns="94531" tIns="47265" rIns="94531" bIns="47265" rtlCol="0" anchor="b"/>
          <a:lstStyle>
            <a:lvl1pPr algn="r">
              <a:defRPr sz="1200"/>
            </a:lvl1pPr>
          </a:lstStyle>
          <a:p>
            <a:fld id="{72D75F77-8026-4911-8E6D-EBCB86E5E0BC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7565794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5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5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5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[5장 2028년 월별 출하 가정과 Capa. 대응 (Excel 01_Inputs K, 04_Monthly_2026_2028, 05_Reflux_Scenarios 3·5절)]</a:t>
            </a:r>
          </a:p>
          <a:p>
            <a:r>
              <a:t>■ 출하 가정(확정 고객 수요 아님): 하이닉스 22,720÷12 · CXMT 780 · 한솔 300 kg/월은 2027년 하반기 수준 유지, 이지켐은 월 840 kg (사용자 수정, 2027 하반기 1,120 kg 아님) → 3,813.33 kg/월 × 12 = 45,760 kg = 45.76톤 (CXMT 9,360 · 이지켐 10,080 · 한솔 3,600). 01_Inputs K에서 독립 변경 가능.</a:t>
            </a:r>
          </a:p>
          <a:p>
            <a:r>
              <a:t>■ 연간 환산 비교(확정 부족량·판매 가능량 아님): 기본 47.2톤 기준 47.2 − 45.76 = +1.44톤(여유 방향) · 105℃ 검토안 12개월 적용 시 50.2 − 45.76 = +4.44톤(여유 방향). 105℃는 미확정·적용 시점 미정·검증 및 승인 필요 → 기본 시나리오는 47.2톤, 적용 시점 확정 시 01_Inputs '105℃ 적용 시작 월' 입력 → 04 시트 월별 반영.</a:t>
            </a:r>
          </a:p>
          <a:p>
            <a:r>
              <a:t>■ 필요 Batch: 20.1 Batch/월, 연 240.8 Batch(190 kg). 47.2톤 환산 20.7 Batch/월. 설비별 등가 간격 70.5 h·Batch량·양품률이 대응 조건.</a:t>
            </a:r>
          </a:p>
          <a:p>
            <a:r>
              <a:t>■ 충진: 5 Gal 267.3 h/월, 연 3,208 h (OQC 별도 연 356 h) · 200 L 이지켐 6 + 한솔 2 = 8용기/월, 연 96용기, 전월 ARS — ARS 충진시간 미확인(공통 8 h 적용 가정 시 연 768 h). 정제기 720 h를 인력 근무시간으로 적용하지 않음.</a:t>
            </a:r>
          </a:p>
          <a:p>
            <a:r>
              <a:t>■ 재고: 2027.12 기말재고 → 2028.1 기초재고 연결(미확인 시 0 초기화 안 함). 시나리오 기준 2027.1.1 필요 선행재고(누적 최저 시점) S1 17.7톤('27.12) / S2 9.6톤('27.12) / S3 19.2톤('27.12). 하이닉스 공급·목표재고 우선, 다른 고객 우선순위는 확인값.</a:t>
            </a:r>
          </a:p>
          <a:p>
            <a:r>
              <a:t>■ 확인: 105℃ 열 안정성·Dimer·Unknown impurity·Yield 영향·고객 승인·적용 시점 / 이지켐 색도 합격률 / 글로브 박스 교대 / 2028 수요 확정.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[1장 As-is — 공정시간과 현재 생산능력 (Excel 01_Inputs B·C, 03_Capacity_Model 1~7절)]</a:t>
            </a:r>
          </a:p>
          <a:p>
            <a:r>
              <a:t>■ 운영 전제: 정제기 1대를 하이닉스·CXMT·이지켐(·한솔 '27~)이 공동 사용 — 고객 전용 설비 없음. 앞 Batch 검사·충진 중 다음 Batch 정제 가능(병렬).</a:t>
            </a:r>
          </a:p>
          <a:p>
            <a:r>
              <a:t>■ 공정시간 (사용자가 정한 자료 작성 기준 / 57시간에서 기타 공정시간 차감): IQC 2 + 준비·투입 2 + 정제 45 + PQC·제품 이송 합계 6 + FQC 2 = 충진 전까지 57 h. PQC와 이송은 그림에서 구분하되 시간은 합계 6 h(각 6 h 아님). 생산팀 대화 중 49 h 언급은 참고로만 보존.</a:t>
            </a:r>
          </a:p>
          <a:p>
            <a:r>
              <a:t>■ 충진·OQC: 5 Gal 2 h/병, 약 9병 18 h(18 ÷ 8 h = 2.25 근무일, 현장 '약 2일' 설명) · 5 Gal OQC 9병 합계 2 h · 이지켐 200 L 수동 8 h/용기 · 200 L OQC 1용기 2 h · 한솔 수동·ARS 시간은 미확인(이지켐 8 h 복제 안 함). 충진·포장 1~1.5일은 개선 과제(달성 실적 아님).</a:t>
            </a:r>
          </a:p>
          <a:p>
            <a:r>
              <a:t>■ 확인시간 단순 합계: 5 Gal 약 9병 57+18+2 = 77 h · 이지켐 1용기 57+8+2 = 67 h — 실제 달력 납기 아님, 다음 Batch 투입 간격 아님.</a:t>
            </a:r>
          </a:p>
          <a:p>
            <a:r>
              <a:t>■ 정제기 점유 확인분 = 준비 2 + 정제 45 = 47 h (이송 중 점유분 미확인 → 47~53 h). 과거 일정 관측 평균 간격 67.47 h → 비점유 약 20.5 h(구성 미확인).</a:t>
            </a:r>
          </a:p>
          <a:p>
            <a:r>
              <a:t>■ 이론(정제만): 720 ÷ 45 = 16 Batch/월 × 190 = 3,040 kg/월 — 준비·전환·이송·세척·대기·보수 제외 비교값, 실제 Capa. 아님.</a:t>
            </a:r>
          </a:p>
          <a:p>
            <a:r>
              <a:t>■ 과거 최대 11 Batch: 11×45 = 495 h, 720 − 495 = 225 h(전부 손실·충진으로 분류 안 함), 11×190 = 2,090 kg/월, 매월 11회 반복 참고 25.08톤/년. 11월 예시 막대는 65.5 h 균등 배분(준비·정제 47 h + PQC·이송 6 h + FQC·충진·OQC 22 h는 다음 Batch와 병렬).</a:t>
            </a:r>
          </a:p>
          <a:p>
            <a:r>
              <a:t>■ 26.2톤: 26,200 ÷ 190 = 137.895 Batch 상당 → 138 × 190 = 26,220 kg = 26.22톤 → 26.2톤. 시간·가동률·수율을 조정해 맞추지 않음.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[2장 To-be — 정제기 2대 운영과 투자 계획 (Excel 03_Capacity_Model 8절, 05_Reflux_Scenarios)]</a:t>
            </a:r>
          </a:p>
          <a:p>
            <a:r>
              <a:t>■ 정제기: As-is 1대 단일 설비 순차 생산 → To-be 정제기 1·2를 시간차를 두고 병행 운전. 정제기 1을 먼저 투입·가동한 뒤 투입·초류 진행 상황과 충진 처리능력을 고려해 정제기 2를 기동하고, 두 설비 운전 구간을 겹치되 제품이 한꺼번에 충진으로 몰리지 않도록 배치. 고객별 전용 정제기 없음 — 전체 설비 자원 안에서 고객 물량 배정.</a:t>
            </a:r>
          </a:p>
          <a:p>
            <a:r>
              <a:t>■ 시차·설비별 간격: 미확정. Gantt의 시차 30 h·설비별 간격 70.5 h는 운영 개념 설명용 가정(동시 기동·24 h 고정 아님). 설비별 간격 70.5 h = 47.2톤 ÷ 190 kg = 248.4 Batch/년을 2대로 나눈 역산 참고값(현재 1대 26.2톤 등가 63.5 h 대비 +7.0 h — Mix·리사이클 준비 등 가능성, 구성 미확인). 정제 45 h를 22.5 h로 단축하는 계산이 아님.</a:t>
            </a:r>
          </a:p>
          <a:p>
            <a:r>
              <a:t>■ Capa.: 26.2 + 21 = 47.2톤/년(최초 12개월 '27.7~'28.6 연간 환산). 현재 단순 2배 52.4톤과의 차이 5.2톤은 보조 작업·공유 자원 등 가능성 — 확정 손실로 표시하지 않음. 2027 실제 생산량은 공사 중 가동·시운전 양품·출하 승인·초기 안정화를 반영해 별도 산정(4장).</a:t>
            </a:r>
          </a:p>
          <a:p>
            <a:r>
              <a:t>■ 충진: 5 Gal은 글로브 박스 유지(ARS 미적용). 200 L ARS는 '26 설치 → '27 운영 계획 — 한솔 '27.1~6 수동, '27.7~ ARS, 2028 전월 ARS. 이지켐 ARS 전환 월은 근거('27~ 운영 계획)만 있어 확인 필요(한솔 7월 전환 자동 적용 안 함). ARS 효과는 정제 Capa.에 가산하지 않음.</a:t>
            </a:r>
          </a:p>
          <a:p>
            <a:r>
              <a:t>■ 공용 후공정: 2대 합산 평균 투입 간격 35.3 h — 1교대(8 h/일) 충진 시 18 h 작업 = 경과 54 h로 Tank·충진 회전 부족(-20.7 h), 2교대 시 여유 6.3 h (Product Tank 1기 가정, 03 시트 10절).</a:t>
            </a:r>
          </a:p>
          <a:p>
            <a:r>
              <a:t>■ 2028 검토안: 103→105℃, +3톤 → 50.2톤(산술) · 목표 2028년 이후 50톤 수준 · 미확정·적용 시점 미정·검증 및 승인 필요(열 안정성, Dimer, Unknown impurity, Yield).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[3장 과거 Batch 분석 및 2026년 기준 검토 (Excel 02_Batch_Raw, 03_Capacity_Model 3~7절, 04_Monthly_2026_2028)]</a:t>
            </a:r>
          </a:p>
          <a:p>
            <a:r>
              <a:t>■ 원자료(첨부 PPT 원본·수정본 3장 발표자 노트, 원본 분포도 좌표, 사용자 지시 목록 3중 대조 → 차이 0건). 원본 이미지 5개는 미첨부. 연도 미표기 → 2026 가정.</a:t>
            </a:r>
          </a:p>
          <a:p>
            <a:r>
              <a:t>- 5월(일부): 5/23 #37, 5/26 #38</a:t>
            </a:r>
          </a:p>
          <a:p>
            <a:r>
              <a:t>- 6월: 6/2 #39, 6/5 #40, 6/8 #41, 6/11 #42, 6/14 #43, 6/17 #44, 6/20 #45, 6/23 #46, 6/25 #47, 6/27 #48, 6/28 #49</a:t>
            </a:r>
          </a:p>
          <a:p>
            <a:r>
              <a:t>- 7월: 7/1 #50, 7/3 #51, 7/6 #52, 7/8 #53, 7/11 #54, 7/14 #55, 7/17 #56, 7/20 #57, 7/23 #58, 7/26 #59, 7/29 #60</a:t>
            </a:r>
          </a:p>
          <a:p>
            <a:r>
              <a:t>- 8월: 8/1 #61, 8/4 #62, 8/7 #63, 8/10 #64, 8/13 #65, 8/16 #66, 8/19 #67, 8/22 #68, 8/25 #69, 8/28 #70, 8/31 #71</a:t>
            </a:r>
          </a:p>
          <a:p>
            <a:r>
              <a:t>- 9월: 9/3 #72, 9/5 #73, 9/7 #74, 9/9 #75, 9/11 #76, 9/14 #77, 9/19 #78, 9/23 #79, 9/26 #80, 9/28 #81</a:t>
            </a:r>
          </a:p>
          <a:p>
            <a:r>
              <a:t>- 10월: 10/1 #82, 10/4 #83, 10/7 #84, 10/10 #85, 10/12 #86, 10/15 #87, 10/18 #88, 10/20 #89, 10/23 #90, 10/26 #91, 10/29 #92</a:t>
            </a:r>
          </a:p>
          <a:p>
            <a:r>
              <a:t>■ 집계: 원자료 Total 6월 8 / 7월 11 / 8월 8 / 9월 8 / 10월 11 = 46, 번호 개수 11/11/11/10/11 = 54 — 번호 개수를 양품 완료 Batch로 확정하지 않음. 색상·표시일자 의미 확인.</a:t>
            </a:r>
          </a:p>
          <a:p>
            <a:r>
              <a:t>■ 관측 간격: 주 범위 6/2 #39~10/29 #92, 54개 일자·53개 간격, 149일 × 24 ÷ 53 = 67.47 h(범위 67.02~67.92), 중앙값 72 h, 3일 간격 74%. 월 경계 간격 포함, 5월 일부 제외.</a:t>
            </a:r>
          </a:p>
          <a:p>
            <a:r>
              <a:t>- 한계: 날짜만 있는 계획 — 실제 정제시간과 구분. 정제 45 h 대비 +22.5 h, 점유 47 h 대비 +20.5 h는 PQC·이송·세척·대기·계획 여유 등 가능성(구성 미확인).</a:t>
            </a:r>
          </a:p>
          <a:p>
            <a:r>
              <a:t>- 57 h 연속 가정에서 확인 필요였던 고밀도 구간(6/23~7/3, 9/3~9/11, 4간격 평균 최대 54 h)은 점유 하한 47 h 기준으로는 양립 가능 — 이송 중 점유·세척 반영 시 재확인.</a:t>
            </a:r>
          </a:p>
          <a:p>
            <a:r>
              <a:t>■ 비교: 이론 720÷45 = 16 Batch·3,040 kg/월(실제 Capa. 아님) · 과거 최대 11 Batch 495 h + 225 h · 관측 10.7 Batch/30일(31일 11.0) · 26.2톤 = 월 11.49 Batch 상당(역산 63.5 h).</a:t>
            </a:r>
          </a:p>
          <a:p>
            <a:r>
              <a:t>■ 2026: 제시 출하 19,220 kg(하이닉스 16,980 + 이지켐 2,240) — CXMT·한솔 미제시(0으로 확정 안 함). 현재 26.2톤 대비 73.4%, 산술 차이 6.98톤. 관측 기준 추정 생산 가능 24,510 kg(129 Batch, 정지·보수 미반영 상한) — 9~12월 월 출하 1,940~2,040 kg은 월 생산 가능량(10~11 Batch)에 근접, 재고 활용 필요. 상세 월별은 Excel 04 시트.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[4장 2027년 월별 출하와 공급 대응 (Excel 01_Inputs K, 04_Monthly_2026_2028, 05_Reflux_Scenarios)]</a:t>
            </a:r>
          </a:p>
          <a:p>
            <a:r>
              <a:t>■ 출하계획(kg): 하이닉스 22,720÷12 = 1,893.33/월(표시 반올림, 연간 22,720 유지) · CXMT 1~2월 0 / 3~6월 580 / 7~12월 780 = 7,000 · 이지켐 1~6월 560 / 7~12월 1,120 = 10,080 · 한솔 1~12월 300 = 3,600 → 합계 43,400 kg = 43.4톤. 월 합계 1~2월 2,753.3 / 3~6월 3,333.3 / 7~12월 4,093.3.</a:t>
            </a:r>
          </a:p>
          <a:p>
            <a:r>
              <a:t>■ 연간 환산 비교: 현재 26.2톤 대비 17.2톤 초과 · 개선 후 47.2톤과 3.8톤 차이(연간 환산 — 2027 실제 여유 아님). 상반기 출하 18.84톤 / 하반기 24.56톤, 하반기 균등 가동 참고 47.2×6/12 = 23.6톤 → 0.96톤 부족 방향.</a:t>
            </a:r>
          </a:p>
          <a:p>
            <a:r>
              <a:t>■ 2027 실제 생산: 1월 현재 조건(관측 67.47 h) 11 Batch = 2,090 kg. 2~5월 공사 중 가동, 6월 시운전 양품·출하 승인, 7월 이후 설비별 간격·Batch량·초기 안정화가 미확인 → 연간 실제 생산량은 부분합계로 보류(0 또는 정상값 임의 입력 안 함).</a:t>
            </a:r>
          </a:p>
          <a:p>
            <a:r>
              <a:t>■ 시나리오(참고, Excel 05): S1 공사 중 중단 → 2027 생산 25.7톤(생산−출하 -17.7톤) · S2 공사 중 현재 유지 → 33.8톤(-9.6톤) · S3 50%·안정화 3개월 → 24.2톤(-19.2톤). 개선 안정 후 47.2톤÷12 = 3,933 kg/월은 상한 참고 → 2027 대응에는 선행 생산·현재고 확인이 핵심.</a:t>
            </a:r>
          </a:p>
          <a:p>
            <a:r>
              <a:t>■ 필요 Batch(출하÷190): 1~2월 14.5 / 3~6월 17.5 / 7~12월 21.5 Batch/월, 연 228.4 Batch (동일 Batch 다고객 배분 — 시간 중복 계산 안 함).</a:t>
            </a:r>
          </a:p>
          <a:p>
            <a:r>
              <a:t>■ 충진: 5 Gal (하이닉스+CXMT)÷20×2 h = 189.3 / 247.3 / 267.3 h/월, 연 2,972 h (OQC 별도 연 330 h). 월평균 병 수는 병 상당 — 실제는 20 kg 정수 용기 배분. 200 L: 이지켐 4→8용기, 한솔 2용기 → 6 / 10용기/월, 연 96용기(이지켐 72 + 한솔 24), OQC 연 192 h. 한솔 1~6월 수동·7월~ ARS, 이지켐 ARS 전환 월 확인 — 충진시간 미확인 고객은 확정하지 않음(공통 8 h 적용 가정 시 연 768 h, 비교용).</a:t>
            </a:r>
          </a:p>
          <a:p>
            <a:r>
              <a:t>■ 재고: 기말재고 = 기초재고 + 출하 가능 양품 생산량 − 출하량 / 필요 생산량 = 출하량 + 목표 기말재고 − 기초재고. 하이닉스 출하·목표재고 우선 → 나머지 고객 배분(우선순위 미확인 시 출하 비율). 2027.12 기말재고 → 2028.1 기초재고 연결.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5">
            <a:extLst>
              <a:ext uri="{FF2B5EF4-FFF2-40B4-BE49-F238E27FC236}">
                <a16:creationId xmlns:a16="http://schemas.microsoft.com/office/drawing/2014/main" id="{C71A4B21-8DEE-4335-81E3-82697404688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7005322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r>
              <a:rPr lang="en-US" altLang="ko-KR" dirty="0"/>
              <a:t>-</a:t>
            </a:r>
            <a:fld id="{B45B5F3F-A87E-4E73-9154-1C8A9C2706CD}" type="slidenum">
              <a:rPr lang="ko-KR" altLang="en-US" smtClean="0"/>
              <a:pPr/>
              <a:t>‹#›</a:t>
            </a:fld>
            <a:r>
              <a:rPr lang="en-US" altLang="ko-KR" dirty="0"/>
              <a:t>-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76050981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5">
            <a:extLst>
              <a:ext uri="{FF2B5EF4-FFF2-40B4-BE49-F238E27FC236}">
                <a16:creationId xmlns:a16="http://schemas.microsoft.com/office/drawing/2014/main" id="{D615167A-2341-4D77-BF97-C98DABC787B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7005322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r>
              <a:rPr lang="en-US" altLang="ko-KR" dirty="0"/>
              <a:t>-</a:t>
            </a:r>
            <a:fld id="{B45B5F3F-A87E-4E73-9154-1C8A9C2706CD}" type="slidenum">
              <a:rPr lang="ko-KR" altLang="en-US" smtClean="0"/>
              <a:pPr/>
              <a:t>‹#›</a:t>
            </a:fld>
            <a:r>
              <a:rPr lang="en-US" altLang="ko-KR" dirty="0"/>
              <a:t>-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66571008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1_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263547" y="3829914"/>
            <a:ext cx="8229600" cy="633565"/>
          </a:xfrm>
        </p:spPr>
        <p:txBody>
          <a:bodyPr/>
          <a:lstStyle>
            <a:lvl1pPr algn="l">
              <a:defRPr>
                <a:solidFill>
                  <a:schemeClr val="bg1"/>
                </a:solidFill>
              </a:defRPr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392040" y="573234"/>
            <a:ext cx="8229600" cy="2508741"/>
          </a:xfrm>
        </p:spPr>
        <p:txBody>
          <a:bodyPr/>
          <a:lstStyle>
            <a:lvl1pPr algn="r">
              <a:defRPr>
                <a:solidFill>
                  <a:schemeClr val="bg1"/>
                </a:solidFill>
              </a:defRPr>
            </a:lvl1pPr>
            <a:lvl2pPr algn="r">
              <a:defRPr>
                <a:solidFill>
                  <a:schemeClr val="bg1"/>
                </a:solidFill>
              </a:defRPr>
            </a:lvl2pPr>
            <a:lvl3pPr algn="r">
              <a:defRPr>
                <a:solidFill>
                  <a:schemeClr val="bg1"/>
                </a:solidFill>
              </a:defRPr>
            </a:lvl3pPr>
            <a:lvl4pPr algn="r">
              <a:defRPr>
                <a:solidFill>
                  <a:schemeClr val="bg1"/>
                </a:solidFill>
              </a:defRPr>
            </a:lvl4pPr>
            <a:lvl5pPr algn="r"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ko-KR" altLang="en-US" dirty="0"/>
              <a:t>마스터 텍스트 스타일을 편집합니다</a:t>
            </a:r>
          </a:p>
          <a:p>
            <a:pPr lvl="1"/>
            <a:r>
              <a:rPr lang="ko-KR" altLang="en-US" dirty="0"/>
              <a:t>둘째 수준</a:t>
            </a:r>
          </a:p>
          <a:p>
            <a:pPr lvl="2"/>
            <a:r>
              <a:rPr lang="ko-KR" altLang="en-US" dirty="0"/>
              <a:t>셋째 수준</a:t>
            </a:r>
          </a:p>
          <a:p>
            <a:pPr lvl="3"/>
            <a:r>
              <a:rPr lang="ko-KR" altLang="en-US" dirty="0"/>
              <a:t>넷째 수준</a:t>
            </a:r>
          </a:p>
          <a:p>
            <a:pPr lvl="4"/>
            <a:r>
              <a:rPr lang="ko-KR" altLang="en-US" dirty="0"/>
              <a:t>다섯째 수준</a:t>
            </a:r>
          </a:p>
        </p:txBody>
      </p:sp>
      <p:sp>
        <p:nvSpPr>
          <p:cNvPr id="4" name="슬라이드 번호 개체 틀 5">
            <a:extLst>
              <a:ext uri="{FF2B5EF4-FFF2-40B4-BE49-F238E27FC236}">
                <a16:creationId xmlns:a16="http://schemas.microsoft.com/office/drawing/2014/main" id="{0715BF9F-7BEC-43D5-AA15-65F5EC73A67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7005322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r>
              <a:rPr lang="en-US" altLang="ko-KR" dirty="0"/>
              <a:t>-</a:t>
            </a:r>
            <a:fld id="{B45B5F3F-A87E-4E73-9154-1C8A9C2706CD}" type="slidenum">
              <a:rPr lang="ko-KR" altLang="en-US" smtClean="0"/>
              <a:pPr/>
              <a:t>‹#›</a:t>
            </a:fld>
            <a:r>
              <a:rPr lang="en-US" altLang="ko-KR" dirty="0"/>
              <a:t>-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983380690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7005322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r>
              <a:rPr lang="en-US" altLang="ko-KR" dirty="0"/>
              <a:t>-</a:t>
            </a:r>
            <a:fld id="{B45B5F3F-A87E-4E73-9154-1C8A9C2706CD}" type="slidenum">
              <a:rPr lang="ko-KR" altLang="en-US" smtClean="0"/>
              <a:pPr/>
              <a:t>‹#›</a:t>
            </a:fld>
            <a:r>
              <a:rPr lang="en-US" altLang="ko-KR" dirty="0"/>
              <a:t>-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39202840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hdr="0" ftr="0" dt="0"/>
  <p:txStyles>
    <p:titleStyle>
      <a:lvl1pPr algn="ctr" defTabSz="914400" rtl="0" eaLnBrk="1" latinLnBrk="1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1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1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5.xml"/><Relationship Id="rId3" Type="http://schemas.openxmlformats.org/officeDocument/2006/relationships/image" Target="../media/image3.png"/><Relationship Id="rId4" Type="http://schemas.openxmlformats.org/officeDocument/2006/relationships/image" Target="../media/image138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6.xml"/><Relationship Id="rId3" Type="http://schemas.openxmlformats.org/officeDocument/2006/relationships/image" Target="../media/image3.png"/><Relationship Id="rId4" Type="http://schemas.openxmlformats.org/officeDocument/2006/relationships/image" Target="../media/image138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7.xml"/><Relationship Id="rId3" Type="http://schemas.openxmlformats.org/officeDocument/2006/relationships/image" Target="../media/image3.png"/><Relationship Id="rId4" Type="http://schemas.openxmlformats.org/officeDocument/2006/relationships/image" Target="../media/image138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9.xml"/><Relationship Id="rId3" Type="http://schemas.openxmlformats.org/officeDocument/2006/relationships/image" Target="../media/image3.png"/><Relationship Id="rId4" Type="http://schemas.openxmlformats.org/officeDocument/2006/relationships/image" Target="../media/image138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Relationship Id="rId4" Type="http://schemas.openxmlformats.org/officeDocument/2006/relationships/image" Target="../media/image138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32BE96E-E472-E164-23F2-95F3E9DCB42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75E2DD2F-BCF5-ECAE-E5D5-3CF0B6E970A6}"/>
              </a:ext>
            </a:extLst>
          </p:cNvPr>
          <p:cNvSpPr txBox="1"/>
          <p:nvPr/>
        </p:nvSpPr>
        <p:spPr>
          <a:xfrm>
            <a:off x="419241" y="188640"/>
            <a:ext cx="7400000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>
            <a:defPPr>
              <a:defRPr lang="ko-KR"/>
            </a:defPPr>
            <a:lvl1pPr algn="ctr">
              <a:defRPr kumimoji="1" sz="2800" b="1">
                <a:solidFill>
                  <a:schemeClr val="tx1">
                    <a:lumMod val="95000"/>
                    <a:lumOff val="5000"/>
                  </a:schemeClr>
                </a:solidFill>
                <a:latin typeface="Noto Sans KR" pitchFamily="2" charset="-127"/>
                <a:ea typeface="Noto Sans KR" pitchFamily="2" charset="-127"/>
              </a:defRPr>
            </a:lvl1pPr>
          </a:lstStyle>
          <a:p>
            <a:pPr algn="l"/>
            <a:r>
              <a:rPr lang="en-US" altLang="ko-KR" sz="1800" dirty="0" b="1">
                <a:gradFill>
                  <a:gsLst>
                    <a:gs pos="0">
                      <a:srgbClr val="FF7900"/>
                    </a:gs>
                    <a:gs pos="67000">
                      <a:srgbClr val="EB002C"/>
                    </a:gs>
                  </a:gsLst>
                  <a:lin ang="5400000" scaled="1"/>
                </a:gradFill>
              </a:rPr>
              <a:t>As-is | 공정시간과 현재 생산능력</a:t>
            </a: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F5E334A9-F66D-C6A4-7BE9-6D50F9536A48}"/>
              </a:ext>
            </a:extLst>
          </p:cNvPr>
          <p:cNvSpPr/>
          <p:nvPr/>
        </p:nvSpPr>
        <p:spPr>
          <a:xfrm>
            <a:off x="243076" y="0"/>
            <a:ext cx="45719" cy="900000"/>
          </a:xfrm>
          <a:prstGeom prst="rect">
            <a:avLst/>
          </a:prstGeom>
          <a:solidFill>
            <a:srgbClr val="EB002C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42E35880-4093-876B-A5F4-41C1E861B78E}"/>
              </a:ext>
            </a:extLst>
          </p:cNvPr>
          <p:cNvSpPr txBox="1"/>
          <p:nvPr/>
        </p:nvSpPr>
        <p:spPr>
          <a:xfrm>
            <a:off x="683568" y="649029"/>
            <a:ext cx="8217356" cy="24622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>
            <a:defPPr>
              <a:defRPr lang="ko-KR"/>
            </a:defPPr>
            <a:lvl1pPr algn="ctr">
              <a:defRPr kumimoji="1" sz="2800" b="1">
                <a:solidFill>
                  <a:schemeClr val="tx1">
                    <a:lumMod val="95000"/>
                    <a:lumOff val="5000"/>
                  </a:schemeClr>
                </a:solidFill>
                <a:latin typeface="Noto Sans KR" pitchFamily="2" charset="-127"/>
                <a:ea typeface="Noto Sans KR" pitchFamily="2" charset="-127"/>
              </a:defRPr>
            </a:lvl1pPr>
          </a:lstStyle>
          <a:p>
            <a:pPr algn="l"/>
            <a:r>
              <a:rPr lang="en-US" altLang="ko-KR" sz="1600" dirty="0"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공용 정제기 1대 · 정제 45 h / 충진 전 57 h · 검사·충진은 다음 Batch 정제와 병렬</a:t>
            </a:r>
            <a:endParaRPr lang="en-US" altLang="ko-KR" sz="1600" dirty="0">
              <a:solidFill>
                <a:srgbClr val="FB6306"/>
              </a:solidFill>
              <a:latin typeface="Noto Sans KR" panose="02000503000000020004" pitchFamily="2" charset="-127"/>
              <a:ea typeface="Noto Sans KR" panose="02000503000000020004" pitchFamily="2" charset="-127"/>
              <a:cs typeface="Noto Sans KR" panose="02000503000000020004" pitchFamily="2" charset="-127"/>
            </a:endParaRPr>
          </a:p>
        </p:txBody>
      </p:sp>
      <p:sp>
        <p:nvSpPr>
          <p:cNvPr id="7" name="타원 6">
            <a:extLst>
              <a:ext uri="{FF2B5EF4-FFF2-40B4-BE49-F238E27FC236}">
                <a16:creationId xmlns:a16="http://schemas.microsoft.com/office/drawing/2014/main" id="{8FCEA6BD-DE04-59B4-A8D4-190141D5218B}"/>
              </a:ext>
            </a:extLst>
          </p:cNvPr>
          <p:cNvSpPr>
            <a:spLocks noChangeAspect="1"/>
          </p:cNvSpPr>
          <p:nvPr/>
        </p:nvSpPr>
        <p:spPr>
          <a:xfrm>
            <a:off x="419241" y="682139"/>
            <a:ext cx="180000" cy="180000"/>
          </a:xfrm>
          <a:prstGeom prst="ellipse">
            <a:avLst/>
          </a:prstGeom>
          <a:solidFill>
            <a:srgbClr val="EB002C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 b="1" dirty="0">
                <a:latin typeface="Noto Sans KR" pitchFamily="2" charset="-127"/>
                <a:ea typeface="Noto Sans KR" pitchFamily="2" charset="-127"/>
              </a:rPr>
              <a:t>1</a:t>
            </a:r>
            <a:endParaRPr kumimoji="1" lang="ko-KR" altLang="en-US" sz="1000" b="1" dirty="0">
              <a:latin typeface="Noto Sans KR" pitchFamily="2" charset="-127"/>
              <a:ea typeface="Noto Sans KR" pitchFamily="2" charset="-127"/>
            </a:endParaRPr>
          </a:p>
        </p:txBody>
      </p:sp>
      <p:pic>
        <p:nvPicPr>
          <p:cNvPr id="8" name="그림 7">
            <a:extLst>
              <a:ext uri="{FF2B5EF4-FFF2-40B4-BE49-F238E27FC236}">
                <a16:creationId xmlns:a16="http://schemas.microsoft.com/office/drawing/2014/main" id="{B8A963E8-7BFA-8421-BB5D-9C25023F1E9B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028384" y="165102"/>
            <a:ext cx="872541" cy="372545"/>
          </a:xfrm>
          <a:prstGeom prst="rect">
            <a:avLst/>
          </a:prstGeom>
        </p:spPr>
      </p:pic>
      <p:sp>
        <p:nvSpPr>
          <p:cNvPr id="161" name="직사각형 160">
            <a:extLst>
              <a:ext uri="{FF2B5EF4-FFF2-40B4-BE49-F238E27FC236}">
                <a16:creationId xmlns:a16="http://schemas.microsoft.com/office/drawing/2014/main" id="{93943A90-8311-883B-A173-01407C63CEE4}"/>
              </a:ext>
            </a:extLst>
          </p:cNvPr>
          <p:cNvSpPr/>
          <p:nvPr/>
        </p:nvSpPr>
        <p:spPr>
          <a:xfrm>
            <a:off x="234424" y="6411907"/>
            <a:ext cx="1027462" cy="252555"/>
          </a:xfrm>
          <a:prstGeom prst="rect">
            <a:avLst/>
          </a:prstGeom>
          <a:noFill/>
          <a:ln w="9525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kumimoji="1" lang="en-US" altLang="ko-KR" sz="1100" dirty="0">
                <a:solidFill>
                  <a:schemeClr val="bg1">
                    <a:lumMod val="50000"/>
                  </a:schemeClr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Confidential</a:t>
            </a:r>
            <a:endParaRPr kumimoji="1" lang="ko-KR" altLang="en-US" sz="1100" dirty="0">
              <a:solidFill>
                <a:schemeClr val="bg1">
                  <a:lumMod val="50000"/>
                </a:schemeClr>
              </a:solidFill>
              <a:latin typeface="Noto Sans KR" panose="02000503000000020004" pitchFamily="2" charset="-127"/>
              <a:ea typeface="Noto Sans KR" panose="02000503000000020004" pitchFamily="2" charset="-127"/>
              <a:cs typeface="Noto Sans KR" panose="02000503000000020004" pitchFamily="2" charset="-127"/>
            </a:endParaRPr>
          </a:p>
        </p:txBody>
      </p:sp>
      <p:cxnSp>
        <p:nvCxnSpPr>
          <p:cNvPr id="163" name="직선 연결선[R] 162">
            <a:extLst>
              <a:ext uri="{FF2B5EF4-FFF2-40B4-BE49-F238E27FC236}">
                <a16:creationId xmlns:a16="http://schemas.microsoft.com/office/drawing/2014/main" id="{8DEBABA2-333E-086B-36F6-137958AA3974}"/>
              </a:ext>
            </a:extLst>
          </p:cNvPr>
          <p:cNvCxnSpPr>
            <a:cxnSpLocks/>
          </p:cNvCxnSpPr>
          <p:nvPr/>
        </p:nvCxnSpPr>
        <p:spPr>
          <a:xfrm>
            <a:off x="1442533" y="6538184"/>
            <a:ext cx="7200800" cy="0"/>
          </a:xfrm>
          <a:prstGeom prst="line">
            <a:avLst/>
          </a:prstGeom>
          <a:ln w="6350"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8D53F489-CBFB-4C6F-878D-02975AD51256}"/>
              </a:ext>
            </a:extLst>
          </p:cNvPr>
          <p:cNvSpPr txBox="1"/>
          <p:nvPr/>
        </p:nvSpPr>
        <p:spPr>
          <a:xfrm>
            <a:off x="3972000" y="6461240"/>
            <a:ext cx="1200000" cy="15388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kumimoji="1" lang="en-US" altLang="ko-KR" sz="1000" dirty="0" b="0" i="0">
                <a:solidFill>
                  <a:srgbClr val="7F7F7F"/>
                </a:solidFill>
                <a:latin typeface="Noto Sans KR" panose="02000403000000020004" pitchFamily="2" charset="-127"/>
                <a:ea typeface="Noto Sans KR" panose="02000403000000020004" pitchFamily="2" charset="-127"/>
                <a:cs typeface="Noto Sans KR" panose="02000403000000020004" pitchFamily="2" charset="-127"/>
              </a:rPr>
              <a:t>- 1 -</a:t>
            </a:r>
            <a:endParaRPr kumimoji="1" lang="ko-KR" altLang="en-US" sz="1000" dirty="0">
              <a:solidFill>
                <a:schemeClr val="bg1">
                  <a:lumMod val="50000"/>
                </a:schemeClr>
              </a:solidFill>
              <a:latin typeface="Noto Sans KR" panose="02000403000000020004" pitchFamily="2" charset="-127"/>
              <a:ea typeface="Noto Sans KR" panose="02000403000000020004" pitchFamily="2" charset="-127"/>
              <a:cs typeface="Noto Sans KR" panose="02000403000000020004" pitchFamily="2" charset="-127"/>
            </a:endParaRPr>
          </a:p>
        </p:txBody>
      </p:sp>
      <p:sp>
        <p:nvSpPr>
          <p:cNvPr id="164" name="TextBox 163"/>
          <p:cNvSpPr txBox="1"/>
          <p:nvPr/>
        </p:nvSpPr>
        <p:spPr>
          <a:xfrm>
            <a:off x="5657000" y="6300000"/>
            <a:ext cx="3200000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800" b="0" i="0">
                <a:solidFill>
                  <a:srgbClr val="7F7F7F"/>
                </a:solidFill>
                <a:latin typeface="Noto Sans KR"/>
                <a:ea typeface="Noto Sans KR"/>
                <a:cs typeface="Noto Sans KR"/>
              </a:rPr>
              <a:t>공란 : 담당부서 확인 후 입력</a:t>
            </a:r>
          </a:p>
        </p:txBody>
      </p:sp>
      <p:sp>
        <p:nvSpPr>
          <p:cNvPr id="165" name="Can 164"/>
          <p:cNvSpPr/>
          <p:nvPr/>
        </p:nvSpPr>
        <p:spPr>
          <a:xfrm>
            <a:off x="457000" y="1100000"/>
            <a:ext cx="360000" cy="420000"/>
          </a:xfrm>
          <a:prstGeom prst="can">
            <a:avLst/>
          </a:prstGeom>
          <a:solidFill>
            <a:srgbClr val="EDEDED"/>
          </a:solidFill>
          <a:ln w="15875">
            <a:solidFill>
              <a:srgbClr val="7F7F7F"/>
            </a:solidFill>
          </a:ln>
        </p:spPr>
        <p:txBody>
          <a:bodyPr rtlCol="0" anchor="ctr" lIns="30000" rIns="30000" tIns="0" bIns="0" wrap="square"/>
          <a:lstStyle/>
          <a:p>
            <a:pPr algn="ctr"/>
            <a:r>
              <a:rPr sz="700" b="1" i="0">
                <a:solidFill>
                  <a:srgbClr val="1A1A1A"/>
                </a:solidFill>
                <a:latin typeface="Noto Sans KR"/>
                <a:ea typeface="Noto Sans KR"/>
                <a:cs typeface="Noto Sans KR"/>
              </a:rPr>
              <a:t>Crude</a:t>
            </a:r>
          </a:p>
        </p:txBody>
      </p:sp>
      <p:sp>
        <p:nvSpPr>
          <p:cNvPr id="166" name="Rectangle 165"/>
          <p:cNvSpPr/>
          <p:nvPr/>
        </p:nvSpPr>
        <p:spPr>
          <a:xfrm>
            <a:off x="287000" y="1570000"/>
            <a:ext cx="700000" cy="320000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</p:spPr>
        <p:txBody>
          <a:bodyPr rtlCol="0" anchor="ctr" lIns="30000" rIns="30000" tIns="0" bIns="0" wrap="square"/>
          <a:lstStyle/>
          <a:p>
            <a:pPr algn="ctr"/>
          </a:p>
        </p:txBody>
      </p:sp>
      <p:sp>
        <p:nvSpPr>
          <p:cNvPr id="167" name="Rectangle 166"/>
          <p:cNvSpPr/>
          <p:nvPr/>
        </p:nvSpPr>
        <p:spPr>
          <a:xfrm>
            <a:off x="287000" y="1570000"/>
            <a:ext cx="700000" cy="34000"/>
          </a:xfrm>
          <a:prstGeom prst="rect">
            <a:avLst/>
          </a:prstGeom>
          <a:solidFill>
            <a:srgbClr val="7F7F7F"/>
          </a:solidFill>
          <a:ln>
            <a:noFill/>
          </a:ln>
        </p:spPr>
        <p:txBody>
          <a:bodyPr rtlCol="0" anchor="ctr" lIns="30000" rIns="30000" tIns="0" bIns="0" wrap="square"/>
          <a:lstStyle/>
          <a:p>
            <a:pPr algn="ctr"/>
          </a:p>
        </p:txBody>
      </p:sp>
      <p:sp>
        <p:nvSpPr>
          <p:cNvPr id="168" name="TextBox 167"/>
          <p:cNvSpPr txBox="1"/>
          <p:nvPr/>
        </p:nvSpPr>
        <p:spPr>
          <a:xfrm>
            <a:off x="302000" y="1615000"/>
            <a:ext cx="670000" cy="265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780" b="1" i="0">
                <a:solidFill>
                  <a:srgbClr val="1A1A1A"/>
                </a:solidFill>
                <a:latin typeface="Noto Sans KR"/>
                <a:ea typeface="Noto Sans KR"/>
                <a:cs typeface="Noto Sans KR"/>
              </a:rPr>
              <a:t>원재료 입고</a:t>
            </a:r>
          </a:p>
          <a:p>
            <a:pPr algn="ctr">
              <a:spcAft>
                <a:spcPts val="0"/>
              </a:spcAft>
            </a:pPr>
            <a:r>
              <a:rPr sz="630" b="0" i="0">
                <a:solidFill>
                  <a:srgbClr val="7F7F7F"/>
                </a:solidFill>
                <a:latin typeface="Noto Sans KR"/>
                <a:ea typeface="Noto Sans KR"/>
                <a:cs typeface="Noto Sans KR"/>
              </a:rPr>
              <a:t>Lake Materials</a:t>
            </a:r>
          </a:p>
        </p:txBody>
      </p:sp>
      <p:sp>
        <p:nvSpPr>
          <p:cNvPr id="169" name="Rounded Rectangle 168"/>
          <p:cNvSpPr/>
          <p:nvPr/>
        </p:nvSpPr>
        <p:spPr>
          <a:xfrm>
            <a:off x="1307000" y="1180000"/>
            <a:ext cx="500000" cy="260000"/>
          </a:xfrm>
          <a:prstGeom prst="roundRect">
            <a:avLst>
              <a:gd name="adj" fmla="val 20000"/>
            </a:avLst>
          </a:prstGeom>
          <a:solidFill>
            <a:srgbClr val="2E75B6"/>
          </a:solidFill>
          <a:ln>
            <a:noFill/>
          </a:ln>
        </p:spPr>
        <p:txBody>
          <a:bodyPr rtlCol="0" anchor="ctr" lIns="30000" rIns="30000" tIns="0" bIns="0" wrap="square"/>
          <a:lstStyle/>
          <a:p>
            <a:pPr algn="ctr"/>
            <a:r>
              <a:rPr sz="900" b="1" i="0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IQC</a:t>
            </a:r>
          </a:p>
        </p:txBody>
      </p:sp>
      <p:sp>
        <p:nvSpPr>
          <p:cNvPr id="170" name="Rectangle 169"/>
          <p:cNvSpPr/>
          <p:nvPr/>
        </p:nvSpPr>
        <p:spPr>
          <a:xfrm>
            <a:off x="1237000" y="1570000"/>
            <a:ext cx="640000" cy="320000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</p:spPr>
        <p:txBody>
          <a:bodyPr rtlCol="0" anchor="ctr" lIns="30000" rIns="30000" tIns="0" bIns="0" wrap="square"/>
          <a:lstStyle/>
          <a:p>
            <a:pPr algn="ctr"/>
          </a:p>
        </p:txBody>
      </p:sp>
      <p:sp>
        <p:nvSpPr>
          <p:cNvPr id="171" name="Rectangle 170"/>
          <p:cNvSpPr/>
          <p:nvPr/>
        </p:nvSpPr>
        <p:spPr>
          <a:xfrm>
            <a:off x="1237000" y="1570000"/>
            <a:ext cx="640000" cy="34000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txBody>
          <a:bodyPr rtlCol="0" anchor="ctr" lIns="30000" rIns="30000" tIns="0" bIns="0" wrap="square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1252000" y="1615000"/>
            <a:ext cx="610000" cy="265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780" b="1" i="0">
                <a:solidFill>
                  <a:srgbClr val="1A1A1A"/>
                </a:solidFill>
                <a:latin typeface="Noto Sans KR"/>
                <a:ea typeface="Noto Sans KR"/>
                <a:cs typeface="Noto Sans KR"/>
              </a:rPr>
              <a:t>수입검사</a:t>
            </a:r>
          </a:p>
          <a:p>
            <a:pPr algn="ctr">
              <a:spcAft>
                <a:spcPts val="0"/>
              </a:spcAft>
            </a:pPr>
            <a:r>
              <a:rPr sz="630" b="0" i="0">
                <a:solidFill>
                  <a:srgbClr val="7F7F7F"/>
                </a:solidFill>
                <a:latin typeface="Noto Sans KR"/>
                <a:ea typeface="Noto Sans KR"/>
                <a:cs typeface="Noto Sans KR"/>
              </a:rPr>
              <a:t>NMR·ICP·IC</a:t>
            </a:r>
          </a:p>
        </p:txBody>
      </p:sp>
      <p:sp>
        <p:nvSpPr>
          <p:cNvPr id="173" name="Can 172"/>
          <p:cNvSpPr/>
          <p:nvPr/>
        </p:nvSpPr>
        <p:spPr>
          <a:xfrm>
            <a:off x="2342000" y="1140000"/>
            <a:ext cx="270000" cy="340000"/>
          </a:xfrm>
          <a:prstGeom prst="can">
            <a:avLst/>
          </a:prstGeom>
          <a:solidFill>
            <a:srgbClr val="EDEDED"/>
          </a:solidFill>
          <a:ln w="15875">
            <a:solidFill>
              <a:srgbClr val="7F7F7F"/>
            </a:solidFill>
          </a:ln>
        </p:spPr>
        <p:txBody>
          <a:bodyPr rtlCol="0" anchor="ctr" lIns="30000" rIns="30000" tIns="0" bIns="0" wrap="square"/>
          <a:lstStyle/>
          <a:p>
            <a:pPr algn="ctr"/>
          </a:p>
        </p:txBody>
      </p:sp>
      <p:sp>
        <p:nvSpPr>
          <p:cNvPr id="174" name="Rectangle 173"/>
          <p:cNvSpPr/>
          <p:nvPr/>
        </p:nvSpPr>
        <p:spPr>
          <a:xfrm>
            <a:off x="2127000" y="1570000"/>
            <a:ext cx="700000" cy="320000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</p:spPr>
        <p:txBody>
          <a:bodyPr rtlCol="0" anchor="ctr" lIns="30000" rIns="30000" tIns="0" bIns="0" wrap="square"/>
          <a:lstStyle/>
          <a:p>
            <a:pPr algn="ctr"/>
          </a:p>
        </p:txBody>
      </p:sp>
      <p:sp>
        <p:nvSpPr>
          <p:cNvPr id="175" name="Rectangle 174"/>
          <p:cNvSpPr/>
          <p:nvPr/>
        </p:nvSpPr>
        <p:spPr>
          <a:xfrm>
            <a:off x="2127000" y="1570000"/>
            <a:ext cx="700000" cy="34000"/>
          </a:xfrm>
          <a:prstGeom prst="rect">
            <a:avLst/>
          </a:prstGeom>
          <a:solidFill>
            <a:srgbClr val="FF7900"/>
          </a:solidFill>
          <a:ln>
            <a:noFill/>
          </a:ln>
        </p:spPr>
        <p:txBody>
          <a:bodyPr rtlCol="0" anchor="ctr" lIns="30000" rIns="30000" tIns="0" bIns="0" wrap="square"/>
          <a:lstStyle/>
          <a:p>
            <a:pPr algn="ctr"/>
          </a:p>
        </p:txBody>
      </p:sp>
      <p:sp>
        <p:nvSpPr>
          <p:cNvPr id="176" name="TextBox 175"/>
          <p:cNvSpPr txBox="1"/>
          <p:nvPr/>
        </p:nvSpPr>
        <p:spPr>
          <a:xfrm>
            <a:off x="2142000" y="1615000"/>
            <a:ext cx="670000" cy="265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780" b="1" i="0">
                <a:solidFill>
                  <a:srgbClr val="1A1A1A"/>
                </a:solidFill>
                <a:latin typeface="Noto Sans KR"/>
                <a:ea typeface="Noto Sans KR"/>
                <a:cs typeface="Noto Sans KR"/>
              </a:rPr>
              <a:t>준비 · 투입</a:t>
            </a:r>
          </a:p>
          <a:p>
            <a:pPr algn="ctr">
              <a:spcAft>
                <a:spcPts val="0"/>
              </a:spcAft>
            </a:pPr>
            <a:r>
              <a:rPr sz="630" b="0" i="0">
                <a:solidFill>
                  <a:srgbClr val="7F7F7F"/>
                </a:solidFill>
                <a:latin typeface="Noto Sans KR"/>
                <a:ea typeface="Noto Sans KR"/>
                <a:cs typeface="Noto Sans KR"/>
              </a:rPr>
              <a:t>Canister → 정제기</a:t>
            </a:r>
          </a:p>
        </p:txBody>
      </p:sp>
      <p:sp>
        <p:nvSpPr>
          <p:cNvPr id="177" name="Rectangle 176"/>
          <p:cNvSpPr/>
          <p:nvPr/>
        </p:nvSpPr>
        <p:spPr>
          <a:xfrm>
            <a:off x="3037000" y="1030000"/>
            <a:ext cx="1330000" cy="890000"/>
          </a:xfrm>
          <a:prstGeom prst="rect">
            <a:avLst/>
          </a:prstGeom>
          <a:noFill/>
          <a:ln w="25400">
            <a:solidFill>
              <a:srgbClr val="EB002C"/>
            </a:solidFill>
          </a:ln>
        </p:spPr>
        <p:txBody>
          <a:bodyPr rtlCol="0" anchor="ctr" lIns="30000" rIns="30000" tIns="0" bIns="0" wrap="square"/>
          <a:lstStyle/>
          <a:p>
            <a:pPr algn="ctr"/>
          </a:p>
        </p:txBody>
      </p:sp>
      <p:sp>
        <p:nvSpPr>
          <p:cNvPr id="178" name="Rectangle 177"/>
          <p:cNvSpPr/>
          <p:nvPr/>
        </p:nvSpPr>
        <p:spPr>
          <a:xfrm>
            <a:off x="3652000" y="1065000"/>
            <a:ext cx="100000" cy="140000"/>
          </a:xfrm>
          <a:prstGeom prst="rect">
            <a:avLst/>
          </a:prstGeom>
          <a:solidFill>
            <a:srgbClr val="BFBFBF"/>
          </a:solidFill>
          <a:ln w="12700">
            <a:solidFill>
              <a:srgbClr val="7F7F7F"/>
            </a:solidFill>
          </a:ln>
        </p:spPr>
        <p:txBody>
          <a:bodyPr rtlCol="0" anchor="ctr" lIns="30000" rIns="30000" tIns="0" bIns="0" wrap="square"/>
          <a:lstStyle/>
          <a:p>
            <a:pPr algn="ctr"/>
          </a:p>
        </p:txBody>
      </p:sp>
      <p:sp>
        <p:nvSpPr>
          <p:cNvPr id="179" name="Round Same Side Corner Rectangle 178"/>
          <p:cNvSpPr/>
          <p:nvPr/>
        </p:nvSpPr>
        <p:spPr>
          <a:xfrm rot="10800000">
            <a:off x="3512000" y="1195000"/>
            <a:ext cx="380000" cy="355000"/>
          </a:xfrm>
          <a:prstGeom prst="round2SameRect">
            <a:avLst>
              <a:gd name="adj1" fmla="val 0"/>
              <a:gd name="adj2" fmla="val 50000"/>
            </a:avLst>
          </a:prstGeom>
          <a:solidFill>
            <a:srgbClr val="A6A6A6"/>
          </a:solidFill>
          <a:ln w="15875">
            <a:solidFill>
              <a:srgbClr val="595959"/>
            </a:solidFill>
          </a:ln>
        </p:spPr>
        <p:txBody>
          <a:bodyPr rtlCol="0" anchor="ctr" lIns="30000" rIns="30000" tIns="0" bIns="0" wrap="square"/>
          <a:lstStyle/>
          <a:p>
            <a:pPr algn="ctr"/>
          </a:p>
        </p:txBody>
      </p:sp>
      <p:sp>
        <p:nvSpPr>
          <p:cNvPr id="180" name="TextBox 179"/>
          <p:cNvSpPr txBox="1"/>
          <p:nvPr/>
        </p:nvSpPr>
        <p:spPr>
          <a:xfrm>
            <a:off x="3512000" y="1260000"/>
            <a:ext cx="380000" cy="200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750" b="1" i="0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정제기</a:t>
            </a:r>
          </a:p>
        </p:txBody>
      </p:sp>
      <p:sp>
        <p:nvSpPr>
          <p:cNvPr id="181" name="Rectangle 180"/>
          <p:cNvSpPr/>
          <p:nvPr/>
        </p:nvSpPr>
        <p:spPr>
          <a:xfrm>
            <a:off x="3077000" y="1570000"/>
            <a:ext cx="1250000" cy="320000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</p:spPr>
        <p:txBody>
          <a:bodyPr rtlCol="0" anchor="ctr" lIns="30000" rIns="30000" tIns="0" bIns="0" wrap="square"/>
          <a:lstStyle/>
          <a:p>
            <a:pPr algn="ctr"/>
          </a:p>
        </p:txBody>
      </p:sp>
      <p:sp>
        <p:nvSpPr>
          <p:cNvPr id="182" name="Rectangle 181"/>
          <p:cNvSpPr/>
          <p:nvPr/>
        </p:nvSpPr>
        <p:spPr>
          <a:xfrm>
            <a:off x="3077000" y="1570000"/>
            <a:ext cx="1250000" cy="34000"/>
          </a:xfrm>
          <a:prstGeom prst="rect">
            <a:avLst/>
          </a:prstGeom>
          <a:solidFill>
            <a:srgbClr val="FF7900"/>
          </a:solidFill>
          <a:ln>
            <a:noFill/>
          </a:ln>
        </p:spPr>
        <p:txBody>
          <a:bodyPr rtlCol="0" anchor="ctr" lIns="30000" rIns="30000" tIns="0" bIns="0" wrap="square"/>
          <a:lstStyle/>
          <a:p>
            <a:pPr algn="ctr"/>
          </a:p>
        </p:txBody>
      </p:sp>
      <p:sp>
        <p:nvSpPr>
          <p:cNvPr id="183" name="TextBox 182"/>
          <p:cNvSpPr txBox="1"/>
          <p:nvPr/>
        </p:nvSpPr>
        <p:spPr>
          <a:xfrm>
            <a:off x="3092000" y="1615000"/>
            <a:ext cx="1220000" cy="265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780" b="1" i="0">
                <a:solidFill>
                  <a:srgbClr val="EB002C"/>
                </a:solidFill>
                <a:latin typeface="Noto Sans KR"/>
                <a:ea typeface="Noto Sans KR"/>
                <a:cs typeface="Noto Sans KR"/>
              </a:rPr>
              <a:t>공용 정제기 1대 · 103℃</a:t>
            </a:r>
          </a:p>
          <a:p>
            <a:pPr algn="ctr">
              <a:spcAft>
                <a:spcPts val="0"/>
              </a:spcAft>
            </a:pPr>
            <a:r>
              <a:rPr sz="630" b="0" i="0">
                <a:solidFill>
                  <a:srgbClr val="7F7F7F"/>
                </a:solidFill>
                <a:latin typeface="Noto Sans KR"/>
                <a:ea typeface="Noto Sans KR"/>
                <a:cs typeface="Noto Sans KR"/>
              </a:rPr>
              <a:t>4개 고객 공동 (한솔 '27~)</a:t>
            </a:r>
          </a:p>
        </p:txBody>
      </p:sp>
      <p:sp>
        <p:nvSpPr>
          <p:cNvPr id="184" name="Rounded Rectangle 183"/>
          <p:cNvSpPr/>
          <p:nvPr/>
        </p:nvSpPr>
        <p:spPr>
          <a:xfrm>
            <a:off x="4647000" y="1180000"/>
            <a:ext cx="500000" cy="260000"/>
          </a:xfrm>
          <a:prstGeom prst="roundRect">
            <a:avLst>
              <a:gd name="adj" fmla="val 20000"/>
            </a:avLst>
          </a:prstGeom>
          <a:solidFill>
            <a:srgbClr val="2E75B6"/>
          </a:solidFill>
          <a:ln>
            <a:noFill/>
          </a:ln>
        </p:spPr>
        <p:txBody>
          <a:bodyPr rtlCol="0" anchor="ctr" lIns="30000" rIns="30000" tIns="0" bIns="0" wrap="square"/>
          <a:lstStyle/>
          <a:p>
            <a:pPr algn="ctr"/>
            <a:r>
              <a:rPr sz="900" b="1" i="0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PQC</a:t>
            </a:r>
          </a:p>
        </p:txBody>
      </p:sp>
      <p:sp>
        <p:nvSpPr>
          <p:cNvPr id="185" name="Rectangle 184"/>
          <p:cNvSpPr/>
          <p:nvPr/>
        </p:nvSpPr>
        <p:spPr>
          <a:xfrm>
            <a:off x="4577000" y="1570000"/>
            <a:ext cx="640000" cy="320000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</p:spPr>
        <p:txBody>
          <a:bodyPr rtlCol="0" anchor="ctr" lIns="30000" rIns="30000" tIns="0" bIns="0" wrap="square"/>
          <a:lstStyle/>
          <a:p>
            <a:pPr algn="ctr"/>
          </a:p>
        </p:txBody>
      </p:sp>
      <p:sp>
        <p:nvSpPr>
          <p:cNvPr id="186" name="Rectangle 185"/>
          <p:cNvSpPr/>
          <p:nvPr/>
        </p:nvSpPr>
        <p:spPr>
          <a:xfrm>
            <a:off x="4577000" y="1570000"/>
            <a:ext cx="640000" cy="34000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txBody>
          <a:bodyPr rtlCol="0" anchor="ctr" lIns="30000" rIns="30000" tIns="0" bIns="0" wrap="square"/>
          <a:lstStyle/>
          <a:p>
            <a:pPr algn="ctr"/>
          </a:p>
        </p:txBody>
      </p:sp>
      <p:sp>
        <p:nvSpPr>
          <p:cNvPr id="187" name="TextBox 186"/>
          <p:cNvSpPr txBox="1"/>
          <p:nvPr/>
        </p:nvSpPr>
        <p:spPr>
          <a:xfrm>
            <a:off x="4592000" y="1615000"/>
            <a:ext cx="610000" cy="265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780" b="1" i="0">
                <a:solidFill>
                  <a:srgbClr val="1A1A1A"/>
                </a:solidFill>
                <a:latin typeface="Noto Sans KR"/>
                <a:ea typeface="Noto Sans KR"/>
                <a:cs typeface="Noto Sans KR"/>
              </a:rPr>
              <a:t>공정검사</a:t>
            </a:r>
          </a:p>
          <a:p>
            <a:pPr algn="ctr">
              <a:spcAft>
                <a:spcPts val="0"/>
              </a:spcAft>
            </a:pPr>
            <a:r>
              <a:rPr sz="630" b="0" i="0">
                <a:solidFill>
                  <a:srgbClr val="7F7F7F"/>
                </a:solidFill>
                <a:latin typeface="Noto Sans KR"/>
                <a:ea typeface="Noto Sans KR"/>
                <a:cs typeface="Noto Sans KR"/>
              </a:rPr>
              <a:t>NMR</a:t>
            </a:r>
          </a:p>
        </p:txBody>
      </p:sp>
      <p:sp>
        <p:nvSpPr>
          <p:cNvPr id="188" name="Can 187"/>
          <p:cNvSpPr/>
          <p:nvPr/>
        </p:nvSpPr>
        <p:spPr>
          <a:xfrm>
            <a:off x="5647000" y="1100000"/>
            <a:ext cx="400000" cy="420000"/>
          </a:xfrm>
          <a:prstGeom prst="can">
            <a:avLst/>
          </a:prstGeom>
          <a:solidFill>
            <a:srgbClr val="FFE3CC"/>
          </a:solidFill>
          <a:ln w="15875">
            <a:solidFill>
              <a:srgbClr val="FF7900"/>
            </a:solidFill>
          </a:ln>
        </p:spPr>
        <p:txBody>
          <a:bodyPr rtlCol="0" anchor="ctr" lIns="30000" rIns="30000" tIns="0" bIns="0" wrap="square"/>
          <a:lstStyle/>
          <a:p>
            <a:pPr algn="ctr"/>
            <a:r>
              <a:rPr sz="650" b="1" i="0">
                <a:solidFill>
                  <a:srgbClr val="1A1A1A"/>
                </a:solidFill>
                <a:latin typeface="Noto Sans KR"/>
                <a:ea typeface="Noto Sans KR"/>
                <a:cs typeface="Noto Sans KR"/>
              </a:rPr>
              <a:t>Product</a:t>
            </a:r>
          </a:p>
        </p:txBody>
      </p:sp>
      <p:sp>
        <p:nvSpPr>
          <p:cNvPr id="189" name="Rectangle 188"/>
          <p:cNvSpPr/>
          <p:nvPr/>
        </p:nvSpPr>
        <p:spPr>
          <a:xfrm>
            <a:off x="5467000" y="1570000"/>
            <a:ext cx="760000" cy="320000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</p:spPr>
        <p:txBody>
          <a:bodyPr rtlCol="0" anchor="ctr" lIns="30000" rIns="30000" tIns="0" bIns="0" wrap="square"/>
          <a:lstStyle/>
          <a:p>
            <a:pPr algn="ctr"/>
          </a:p>
        </p:txBody>
      </p:sp>
      <p:sp>
        <p:nvSpPr>
          <p:cNvPr id="190" name="Rectangle 189"/>
          <p:cNvSpPr/>
          <p:nvPr/>
        </p:nvSpPr>
        <p:spPr>
          <a:xfrm>
            <a:off x="5467000" y="1570000"/>
            <a:ext cx="760000" cy="34000"/>
          </a:xfrm>
          <a:prstGeom prst="rect">
            <a:avLst/>
          </a:prstGeom>
          <a:solidFill>
            <a:srgbClr val="FF7900"/>
          </a:solidFill>
          <a:ln>
            <a:noFill/>
          </a:ln>
        </p:spPr>
        <p:txBody>
          <a:bodyPr rtlCol="0" anchor="ctr" lIns="30000" rIns="30000" tIns="0" bIns="0" wrap="square"/>
          <a:lstStyle/>
          <a:p>
            <a:pPr algn="ctr"/>
          </a:p>
        </p:txBody>
      </p:sp>
      <p:sp>
        <p:nvSpPr>
          <p:cNvPr id="191" name="TextBox 190"/>
          <p:cNvSpPr txBox="1"/>
          <p:nvPr/>
        </p:nvSpPr>
        <p:spPr>
          <a:xfrm>
            <a:off x="5482000" y="1615000"/>
            <a:ext cx="730000" cy="265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780" b="1" i="0">
                <a:solidFill>
                  <a:srgbClr val="1A1A1A"/>
                </a:solidFill>
                <a:latin typeface="Noto Sans KR"/>
                <a:ea typeface="Noto Sans KR"/>
                <a:cs typeface="Noto Sans KR"/>
              </a:rPr>
              <a:t>Product Tank</a:t>
            </a:r>
          </a:p>
          <a:p>
            <a:pPr algn="ctr">
              <a:spcAft>
                <a:spcPts val="0"/>
              </a:spcAft>
            </a:pPr>
            <a:r>
              <a:rPr sz="630" b="0" i="0">
                <a:solidFill>
                  <a:srgbClr val="7F7F7F"/>
                </a:solidFill>
                <a:latin typeface="Noto Sans KR"/>
                <a:ea typeface="Noto Sans KR"/>
                <a:cs typeface="Noto Sans KR"/>
              </a:rPr>
              <a:t>PQC 합격 후 이송</a:t>
            </a:r>
          </a:p>
        </p:txBody>
      </p:sp>
      <p:cxnSp>
        <p:nvCxnSpPr>
          <p:cNvPr id="192" name="Connector 191"/>
          <p:cNvCxnSpPr/>
          <p:nvPr/>
        </p:nvCxnSpPr>
        <p:spPr>
          <a:xfrm>
            <a:off x="817000" y="1310000"/>
            <a:ext cx="490000" cy="0"/>
          </a:xfrm>
          <a:prstGeom prst="line">
            <a:avLst/>
          </a:prstGeom>
          <a:ln w="15875">
            <a:solidFill>
              <a:srgbClr val="1A1A1A"/>
            </a:solidFill>
            <a:tailEnd type="triangle" w="med" len="med"/>
          </a:ln>
        </p:spPr>
      </p:cxnSp>
      <p:cxnSp>
        <p:nvCxnSpPr>
          <p:cNvPr id="193" name="Connector 192"/>
          <p:cNvCxnSpPr/>
          <p:nvPr/>
        </p:nvCxnSpPr>
        <p:spPr>
          <a:xfrm>
            <a:off x="1807000" y="1310000"/>
            <a:ext cx="535000" cy="0"/>
          </a:xfrm>
          <a:prstGeom prst="line">
            <a:avLst/>
          </a:prstGeom>
          <a:ln w="15875">
            <a:solidFill>
              <a:srgbClr val="1A1A1A"/>
            </a:solidFill>
            <a:tailEnd type="triangle" w="med" len="med"/>
          </a:ln>
        </p:spPr>
      </p:cxnSp>
      <p:cxnSp>
        <p:nvCxnSpPr>
          <p:cNvPr id="194" name="Connector 193"/>
          <p:cNvCxnSpPr/>
          <p:nvPr/>
        </p:nvCxnSpPr>
        <p:spPr>
          <a:xfrm>
            <a:off x="2612000" y="1310000"/>
            <a:ext cx="900000" cy="0"/>
          </a:xfrm>
          <a:prstGeom prst="line">
            <a:avLst/>
          </a:prstGeom>
          <a:ln w="15875">
            <a:solidFill>
              <a:srgbClr val="1A1A1A"/>
            </a:solidFill>
            <a:tailEnd type="triangle" w="med" len="med"/>
          </a:ln>
        </p:spPr>
      </p:cxnSp>
      <p:cxnSp>
        <p:nvCxnSpPr>
          <p:cNvPr id="195" name="Connector 194"/>
          <p:cNvCxnSpPr/>
          <p:nvPr/>
        </p:nvCxnSpPr>
        <p:spPr>
          <a:xfrm>
            <a:off x="3892000" y="1310000"/>
            <a:ext cx="755000" cy="0"/>
          </a:xfrm>
          <a:prstGeom prst="line">
            <a:avLst/>
          </a:prstGeom>
          <a:ln w="15875">
            <a:solidFill>
              <a:srgbClr val="1A1A1A"/>
            </a:solidFill>
            <a:tailEnd type="triangle" w="med" len="med"/>
          </a:ln>
        </p:spPr>
      </p:cxnSp>
      <p:cxnSp>
        <p:nvCxnSpPr>
          <p:cNvPr id="196" name="Connector 195"/>
          <p:cNvCxnSpPr/>
          <p:nvPr/>
        </p:nvCxnSpPr>
        <p:spPr>
          <a:xfrm>
            <a:off x="5147000" y="1310000"/>
            <a:ext cx="500000" cy="0"/>
          </a:xfrm>
          <a:prstGeom prst="line">
            <a:avLst/>
          </a:prstGeom>
          <a:ln w="15875">
            <a:solidFill>
              <a:srgbClr val="1A1A1A"/>
            </a:solidFill>
            <a:tailEnd type="triangle" w="med" len="med"/>
          </a:ln>
        </p:spPr>
      </p:cxnSp>
      <p:sp>
        <p:nvSpPr>
          <p:cNvPr id="197" name="Rounded Rectangle 196"/>
          <p:cNvSpPr/>
          <p:nvPr/>
        </p:nvSpPr>
        <p:spPr>
          <a:xfrm>
            <a:off x="387000" y="1915000"/>
            <a:ext cx="500000" cy="150000"/>
          </a:xfrm>
          <a:prstGeom prst="roundRect">
            <a:avLst>
              <a:gd name="adj" fmla="val 30000"/>
            </a:avLst>
          </a:prstGeom>
          <a:solidFill>
            <a:srgbClr val="E2EFD9"/>
          </a:solidFill>
          <a:ln w="9525">
            <a:solidFill>
              <a:srgbClr val="548235"/>
            </a:solidFill>
          </a:ln>
        </p:spPr>
        <p:txBody>
          <a:bodyPr rtlCol="0" anchor="ctr" lIns="30000" rIns="30000" tIns="0" bIns="0" wrap="square"/>
          <a:lstStyle/>
          <a:p>
            <a:pPr algn="ctr"/>
            <a:r>
              <a:rPr sz="650" b="1" i="0">
                <a:solidFill>
                  <a:srgbClr val="385723"/>
                </a:solidFill>
                <a:latin typeface="Noto Sans KR"/>
                <a:ea typeface="Noto Sans KR"/>
                <a:cs typeface="Noto Sans KR"/>
              </a:rPr>
              <a:t>–</a:t>
            </a:r>
          </a:p>
        </p:txBody>
      </p:sp>
      <p:sp>
        <p:nvSpPr>
          <p:cNvPr id="198" name="Rounded Rectangle 197"/>
          <p:cNvSpPr/>
          <p:nvPr/>
        </p:nvSpPr>
        <p:spPr>
          <a:xfrm>
            <a:off x="1307000" y="1915000"/>
            <a:ext cx="500000" cy="150000"/>
          </a:xfrm>
          <a:prstGeom prst="roundRect">
            <a:avLst>
              <a:gd name="adj" fmla="val 30000"/>
            </a:avLst>
          </a:prstGeom>
          <a:solidFill>
            <a:srgbClr val="E2EFD9"/>
          </a:solidFill>
          <a:ln w="9525">
            <a:solidFill>
              <a:srgbClr val="548235"/>
            </a:solidFill>
          </a:ln>
        </p:spPr>
        <p:txBody>
          <a:bodyPr rtlCol="0" anchor="ctr" lIns="30000" rIns="30000" tIns="0" bIns="0" wrap="square"/>
          <a:lstStyle/>
          <a:p>
            <a:pPr algn="ctr"/>
            <a:r>
              <a:rPr sz="650" b="1" i="0">
                <a:solidFill>
                  <a:srgbClr val="385723"/>
                </a:solidFill>
                <a:latin typeface="Noto Sans KR"/>
                <a:ea typeface="Noto Sans KR"/>
                <a:cs typeface="Noto Sans KR"/>
              </a:rPr>
              <a:t>2 h</a:t>
            </a:r>
          </a:p>
        </p:txBody>
      </p:sp>
      <p:sp>
        <p:nvSpPr>
          <p:cNvPr id="199" name="Rounded Rectangle 198"/>
          <p:cNvSpPr/>
          <p:nvPr/>
        </p:nvSpPr>
        <p:spPr>
          <a:xfrm>
            <a:off x="2197000" y="1915000"/>
            <a:ext cx="560000" cy="150000"/>
          </a:xfrm>
          <a:prstGeom prst="roundRect">
            <a:avLst>
              <a:gd name="adj" fmla="val 30000"/>
            </a:avLst>
          </a:prstGeom>
          <a:solidFill>
            <a:srgbClr val="E2EFD9"/>
          </a:solidFill>
          <a:ln w="9525">
            <a:solidFill>
              <a:srgbClr val="548235"/>
            </a:solidFill>
          </a:ln>
        </p:spPr>
        <p:txBody>
          <a:bodyPr rtlCol="0" anchor="ctr" lIns="30000" rIns="30000" tIns="0" bIns="0" wrap="square"/>
          <a:lstStyle/>
          <a:p>
            <a:pPr algn="ctr"/>
            <a:r>
              <a:rPr sz="650" b="1" i="0">
                <a:solidFill>
                  <a:srgbClr val="385723"/>
                </a:solidFill>
                <a:latin typeface="Noto Sans KR"/>
                <a:ea typeface="Noto Sans KR"/>
                <a:cs typeface="Noto Sans KR"/>
              </a:rPr>
              <a:t>2 h</a:t>
            </a:r>
          </a:p>
        </p:txBody>
      </p:sp>
      <p:sp>
        <p:nvSpPr>
          <p:cNvPr id="200" name="Rounded Rectangle 199"/>
          <p:cNvSpPr/>
          <p:nvPr/>
        </p:nvSpPr>
        <p:spPr>
          <a:xfrm>
            <a:off x="3227000" y="1915000"/>
            <a:ext cx="950000" cy="150000"/>
          </a:xfrm>
          <a:prstGeom prst="roundRect">
            <a:avLst>
              <a:gd name="adj" fmla="val 30000"/>
            </a:avLst>
          </a:prstGeom>
          <a:solidFill>
            <a:srgbClr val="E2EFD9"/>
          </a:solidFill>
          <a:ln w="9525">
            <a:solidFill>
              <a:srgbClr val="548235"/>
            </a:solidFill>
          </a:ln>
        </p:spPr>
        <p:txBody>
          <a:bodyPr rtlCol="0" anchor="ctr" lIns="30000" rIns="30000" tIns="0" bIns="0" wrap="square"/>
          <a:lstStyle/>
          <a:p>
            <a:pPr algn="ctr"/>
            <a:r>
              <a:rPr sz="650" b="1" i="0">
                <a:solidFill>
                  <a:srgbClr val="385723"/>
                </a:solidFill>
                <a:latin typeface="Noto Sans KR"/>
                <a:ea typeface="Noto Sans KR"/>
                <a:cs typeface="Noto Sans KR"/>
              </a:rPr>
              <a:t>정제 45 h/Batch</a:t>
            </a:r>
          </a:p>
        </p:txBody>
      </p:sp>
      <p:sp>
        <p:nvSpPr>
          <p:cNvPr id="201" name="Rounded Rectangle 200"/>
          <p:cNvSpPr/>
          <p:nvPr/>
        </p:nvSpPr>
        <p:spPr>
          <a:xfrm>
            <a:off x="4626864" y="1915000"/>
            <a:ext cx="1554480" cy="150000"/>
          </a:xfrm>
          <a:prstGeom prst="roundRect">
            <a:avLst>
              <a:gd name="adj" fmla="val 30000"/>
            </a:avLst>
          </a:prstGeom>
          <a:solidFill>
            <a:srgbClr val="E2EFD9"/>
          </a:solidFill>
          <a:ln w="9525">
            <a:solidFill>
              <a:srgbClr val="548235"/>
            </a:solidFill>
          </a:ln>
        </p:spPr>
        <p:txBody>
          <a:bodyPr rtlCol="0" anchor="ctr" lIns="30000" rIns="30000" tIns="0" bIns="0" wrap="square"/>
          <a:lstStyle/>
          <a:p>
            <a:pPr algn="ctr"/>
            <a:r>
              <a:rPr sz="650" b="1" i="0">
                <a:solidFill>
                  <a:srgbClr val="385723"/>
                </a:solidFill>
                <a:latin typeface="Noto Sans KR"/>
                <a:ea typeface="Noto Sans KR"/>
                <a:cs typeface="Noto Sans KR"/>
              </a:rPr>
              <a:t>PQC + 제품 이송 합계 6 h</a:t>
            </a:r>
          </a:p>
        </p:txBody>
      </p:sp>
      <p:sp>
        <p:nvSpPr>
          <p:cNvPr id="203" name="Rounded Rectangle 202"/>
          <p:cNvSpPr/>
          <p:nvPr/>
        </p:nvSpPr>
        <p:spPr>
          <a:xfrm>
            <a:off x="357000" y="2640000"/>
            <a:ext cx="520000" cy="260000"/>
          </a:xfrm>
          <a:prstGeom prst="roundRect">
            <a:avLst>
              <a:gd name="adj" fmla="val 20000"/>
            </a:avLst>
          </a:prstGeom>
          <a:solidFill>
            <a:srgbClr val="2E75B6"/>
          </a:solidFill>
          <a:ln>
            <a:noFill/>
          </a:ln>
        </p:spPr>
        <p:txBody>
          <a:bodyPr rtlCol="0" anchor="ctr" lIns="30000" rIns="30000" tIns="0" bIns="0" wrap="square"/>
          <a:lstStyle/>
          <a:p>
            <a:pPr algn="ctr"/>
            <a:r>
              <a:rPr sz="900" b="1" i="0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FQC</a:t>
            </a:r>
          </a:p>
        </p:txBody>
      </p:sp>
      <p:sp>
        <p:nvSpPr>
          <p:cNvPr id="204" name="TextBox 203"/>
          <p:cNvSpPr txBox="1"/>
          <p:nvPr/>
        </p:nvSpPr>
        <p:spPr>
          <a:xfrm>
            <a:off x="287000" y="2920000"/>
            <a:ext cx="660000" cy="17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750" b="1" i="0">
                <a:solidFill>
                  <a:srgbClr val="1A1A1A"/>
                </a:solidFill>
                <a:latin typeface="Noto Sans KR"/>
                <a:ea typeface="Noto Sans KR"/>
                <a:cs typeface="Noto Sans KR"/>
              </a:rPr>
              <a:t>제품검사</a:t>
            </a:r>
          </a:p>
        </p:txBody>
      </p:sp>
      <p:sp>
        <p:nvSpPr>
          <p:cNvPr id="205" name="Rounded Rectangle 204"/>
          <p:cNvSpPr/>
          <p:nvPr/>
        </p:nvSpPr>
        <p:spPr>
          <a:xfrm>
            <a:off x="387000" y="3100000"/>
            <a:ext cx="460000" cy="150000"/>
          </a:xfrm>
          <a:prstGeom prst="roundRect">
            <a:avLst>
              <a:gd name="adj" fmla="val 30000"/>
            </a:avLst>
          </a:prstGeom>
          <a:solidFill>
            <a:srgbClr val="E2EFD9"/>
          </a:solidFill>
          <a:ln w="9525">
            <a:solidFill>
              <a:srgbClr val="548235"/>
            </a:solidFill>
          </a:ln>
        </p:spPr>
        <p:txBody>
          <a:bodyPr rtlCol="0" anchor="ctr" lIns="30000" rIns="30000" tIns="0" bIns="0" wrap="square"/>
          <a:lstStyle/>
          <a:p>
            <a:pPr algn="ctr"/>
            <a:r>
              <a:rPr sz="650" b="1" i="0">
                <a:solidFill>
                  <a:srgbClr val="385723"/>
                </a:solidFill>
                <a:latin typeface="Noto Sans KR"/>
                <a:ea typeface="Noto Sans KR"/>
                <a:cs typeface="Noto Sans KR"/>
              </a:rPr>
              <a:t>2 h</a:t>
            </a:r>
          </a:p>
        </p:txBody>
      </p:sp>
      <p:cxnSp>
        <p:nvCxnSpPr>
          <p:cNvPr id="206" name="Connector 205"/>
          <p:cNvCxnSpPr/>
          <p:nvPr/>
        </p:nvCxnSpPr>
        <p:spPr>
          <a:xfrm>
            <a:off x="877000" y="2770000"/>
            <a:ext cx="240000" cy="0"/>
          </a:xfrm>
          <a:prstGeom prst="line">
            <a:avLst/>
          </a:prstGeom>
          <a:ln w="15875">
            <a:solidFill>
              <a:srgbClr val="1A1A1A"/>
            </a:solidFill>
          </a:ln>
        </p:spPr>
      </p:cxnSp>
      <p:cxnSp>
        <p:nvCxnSpPr>
          <p:cNvPr id="207" name="Connector 206"/>
          <p:cNvCxnSpPr/>
          <p:nvPr/>
        </p:nvCxnSpPr>
        <p:spPr>
          <a:xfrm>
            <a:off x="1117000" y="2510000"/>
            <a:ext cx="0" cy="520000"/>
          </a:xfrm>
          <a:prstGeom prst="line">
            <a:avLst/>
          </a:prstGeom>
          <a:ln w="15875">
            <a:solidFill>
              <a:srgbClr val="1A1A1A"/>
            </a:solidFill>
          </a:ln>
        </p:spPr>
      </p:cxnSp>
      <p:cxnSp>
        <p:nvCxnSpPr>
          <p:cNvPr id="208" name="Connector 207"/>
          <p:cNvCxnSpPr/>
          <p:nvPr/>
        </p:nvCxnSpPr>
        <p:spPr>
          <a:xfrm>
            <a:off x="1117000" y="2510000"/>
            <a:ext cx="170000" cy="0"/>
          </a:xfrm>
          <a:prstGeom prst="line">
            <a:avLst/>
          </a:prstGeom>
          <a:ln w="15875">
            <a:solidFill>
              <a:srgbClr val="1A1A1A"/>
            </a:solidFill>
            <a:tailEnd type="triangle" w="med" len="med"/>
          </a:ln>
        </p:spPr>
      </p:cxnSp>
      <p:cxnSp>
        <p:nvCxnSpPr>
          <p:cNvPr id="209" name="Connector 208"/>
          <p:cNvCxnSpPr/>
          <p:nvPr/>
        </p:nvCxnSpPr>
        <p:spPr>
          <a:xfrm>
            <a:off x="1117000" y="3030000"/>
            <a:ext cx="170000" cy="0"/>
          </a:xfrm>
          <a:prstGeom prst="line">
            <a:avLst/>
          </a:prstGeom>
          <a:ln w="15875">
            <a:solidFill>
              <a:srgbClr val="1A1A1A"/>
            </a:solidFill>
            <a:tailEnd type="triangle" w="med" len="med"/>
          </a:ln>
        </p:spPr>
      </p:cxnSp>
      <p:sp>
        <p:nvSpPr>
          <p:cNvPr id="210" name="Rectangle 209"/>
          <p:cNvSpPr/>
          <p:nvPr/>
        </p:nvSpPr>
        <p:spPr>
          <a:xfrm>
            <a:off x="1287000" y="2300000"/>
            <a:ext cx="2250000" cy="420000"/>
          </a:xfrm>
          <a:prstGeom prst="rect">
            <a:avLst/>
          </a:prstGeom>
          <a:solidFill>
            <a:srgbClr val="E2EFD9"/>
          </a:solidFill>
          <a:ln w="15875">
            <a:solidFill>
              <a:srgbClr val="548235"/>
            </a:solidFill>
          </a:ln>
        </p:spPr>
        <p:txBody>
          <a:bodyPr rtlCol="0" anchor="ctr" lIns="30000" rIns="30000" tIns="0" bIns="0" wrap="square"/>
          <a:lstStyle/>
          <a:p>
            <a:pPr algn="ctr"/>
          </a:p>
        </p:txBody>
      </p:sp>
      <p:sp>
        <p:nvSpPr>
          <p:cNvPr id="211" name="Rectangle 210"/>
          <p:cNvSpPr/>
          <p:nvPr/>
        </p:nvSpPr>
        <p:spPr>
          <a:xfrm>
            <a:off x="1287000" y="2300000"/>
            <a:ext cx="45000" cy="420000"/>
          </a:xfrm>
          <a:prstGeom prst="rect">
            <a:avLst/>
          </a:prstGeom>
          <a:solidFill>
            <a:srgbClr val="548235"/>
          </a:solidFill>
          <a:ln>
            <a:noFill/>
          </a:ln>
        </p:spPr>
        <p:txBody>
          <a:bodyPr rtlCol="0" anchor="ctr" lIns="30000" rIns="30000" tIns="0" bIns="0" wrap="square"/>
          <a:lstStyle/>
          <a:p>
            <a:pPr algn="ctr"/>
          </a:p>
        </p:txBody>
      </p:sp>
      <p:sp>
        <p:nvSpPr>
          <p:cNvPr id="212" name="Rounded Rectangle 211"/>
          <p:cNvSpPr/>
          <p:nvPr/>
        </p:nvSpPr>
        <p:spPr>
          <a:xfrm>
            <a:off x="1387000" y="2400000"/>
            <a:ext cx="420000" cy="220000"/>
          </a:xfrm>
          <a:prstGeom prst="roundRect">
            <a:avLst>
              <a:gd name="adj" fmla="val 15000"/>
            </a:avLst>
          </a:prstGeom>
          <a:solidFill>
            <a:srgbClr val="548235"/>
          </a:solidFill>
          <a:ln>
            <a:noFill/>
          </a:ln>
        </p:spPr>
        <p:txBody>
          <a:bodyPr rtlCol="0" anchor="ctr" lIns="30000" rIns="30000" tIns="0" bIns="0" wrap="square"/>
          <a:lstStyle/>
          <a:p>
            <a:pPr algn="ctr"/>
            <a:r>
              <a:rPr sz="700" b="1" i="0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G/B</a:t>
            </a:r>
          </a:p>
        </p:txBody>
      </p:sp>
      <p:sp>
        <p:nvSpPr>
          <p:cNvPr id="213" name="TextBox 212"/>
          <p:cNvSpPr txBox="1"/>
          <p:nvPr/>
        </p:nvSpPr>
        <p:spPr>
          <a:xfrm>
            <a:off x="1867000" y="2310000"/>
            <a:ext cx="1630000" cy="400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760" b="1" i="0">
                <a:solidFill>
                  <a:srgbClr val="1A1A1A"/>
                </a:solidFill>
                <a:latin typeface="Noto Sans KR"/>
                <a:ea typeface="Noto Sans KR"/>
                <a:cs typeface="Noto Sans KR"/>
              </a:rPr>
              <a:t>5 Gal 글로브 박스 충진</a:t>
            </a:r>
          </a:p>
          <a:p>
            <a:pPr algn="l">
              <a:spcAft>
                <a:spcPts val="0"/>
              </a:spcAft>
            </a:pPr>
            <a:r>
              <a:rPr sz="620" b="0" i="0">
                <a:solidFill>
                  <a:srgbClr val="7F7F7F"/>
                </a:solidFill>
                <a:latin typeface="Noto Sans KR"/>
                <a:ea typeface="Noto Sans KR"/>
                <a:cs typeface="Noto Sans KR"/>
              </a:rPr>
              <a:t>20 kg/병 · 필터 포함 · 하이닉스·CXMT</a:t>
            </a:r>
          </a:p>
          <a:p>
            <a:pPr algn="l">
              <a:spcAft>
                <a:spcPts val="0"/>
              </a:spcAft>
            </a:pPr>
            <a:r>
              <a:rPr sz="630" b="1" i="0">
                <a:solidFill>
                  <a:srgbClr val="385723"/>
                </a:solidFill>
                <a:latin typeface="Noto Sans KR"/>
                <a:ea typeface="Noto Sans KR"/>
                <a:cs typeface="Noto Sans KR"/>
              </a:rPr>
              <a:t>2 h/병 · 약 9병 18 h (≈2.25 근무일)</a:t>
            </a:r>
          </a:p>
        </p:txBody>
      </p:sp>
      <p:sp>
        <p:nvSpPr>
          <p:cNvPr id="214" name="Rectangle 213"/>
          <p:cNvSpPr/>
          <p:nvPr/>
        </p:nvSpPr>
        <p:spPr>
          <a:xfrm>
            <a:off x="1287000" y="2820000"/>
            <a:ext cx="2250000" cy="420000"/>
          </a:xfrm>
          <a:prstGeom prst="rect">
            <a:avLst/>
          </a:prstGeom>
          <a:solidFill>
            <a:srgbClr val="FFF3E6"/>
          </a:solidFill>
          <a:ln w="15875">
            <a:solidFill>
              <a:srgbClr val="FF7900"/>
            </a:solidFill>
          </a:ln>
        </p:spPr>
        <p:txBody>
          <a:bodyPr rtlCol="0" anchor="ctr" lIns="30000" rIns="30000" tIns="0" bIns="0" wrap="square"/>
          <a:lstStyle/>
          <a:p>
            <a:pPr algn="ctr"/>
          </a:p>
        </p:txBody>
      </p:sp>
      <p:sp>
        <p:nvSpPr>
          <p:cNvPr id="215" name="Rectangle 214"/>
          <p:cNvSpPr/>
          <p:nvPr/>
        </p:nvSpPr>
        <p:spPr>
          <a:xfrm>
            <a:off x="1287000" y="2820000"/>
            <a:ext cx="45000" cy="420000"/>
          </a:xfrm>
          <a:prstGeom prst="rect">
            <a:avLst/>
          </a:prstGeom>
          <a:solidFill>
            <a:srgbClr val="FF7900"/>
          </a:solidFill>
          <a:ln>
            <a:noFill/>
          </a:ln>
        </p:spPr>
        <p:txBody>
          <a:bodyPr rtlCol="0" anchor="ctr" lIns="30000" rIns="30000" tIns="0" bIns="0" wrap="square"/>
          <a:lstStyle/>
          <a:p>
            <a:pPr algn="ctr"/>
          </a:p>
        </p:txBody>
      </p:sp>
      <p:sp>
        <p:nvSpPr>
          <p:cNvPr id="216" name="Rounded Rectangle 215"/>
          <p:cNvSpPr/>
          <p:nvPr/>
        </p:nvSpPr>
        <p:spPr>
          <a:xfrm>
            <a:off x="1387000" y="2920000"/>
            <a:ext cx="420000" cy="220000"/>
          </a:xfrm>
          <a:prstGeom prst="roundRect">
            <a:avLst>
              <a:gd name="adj" fmla="val 15000"/>
            </a:avLst>
          </a:prstGeom>
          <a:solidFill>
            <a:srgbClr val="FF7900"/>
          </a:solidFill>
          <a:ln>
            <a:noFill/>
          </a:ln>
        </p:spPr>
        <p:txBody>
          <a:bodyPr rtlCol="0" anchor="ctr" lIns="30000" rIns="30000" tIns="0" bIns="0" wrap="square"/>
          <a:lstStyle/>
          <a:p>
            <a:pPr algn="ctr"/>
            <a:r>
              <a:rPr sz="700" b="1" i="0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200 L</a:t>
            </a:r>
          </a:p>
        </p:txBody>
      </p:sp>
      <p:sp>
        <p:nvSpPr>
          <p:cNvPr id="217" name="TextBox 216"/>
          <p:cNvSpPr txBox="1"/>
          <p:nvPr/>
        </p:nvSpPr>
        <p:spPr>
          <a:xfrm>
            <a:off x="1867000" y="2830000"/>
            <a:ext cx="1630000" cy="400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760" b="1" i="0">
                <a:solidFill>
                  <a:srgbClr val="1A1A1A"/>
                </a:solidFill>
                <a:latin typeface="Noto Sans KR"/>
                <a:ea typeface="Noto Sans KR"/>
                <a:cs typeface="Noto Sans KR"/>
              </a:rPr>
              <a:t>200 L 수동 충진</a:t>
            </a:r>
          </a:p>
          <a:p>
            <a:pPr algn="l">
              <a:spcAft>
                <a:spcPts val="0"/>
              </a:spcAft>
            </a:pPr>
            <a:r>
              <a:rPr sz="620" b="0" i="0">
                <a:solidFill>
                  <a:srgbClr val="7F7F7F"/>
                </a:solidFill>
                <a:latin typeface="Noto Sans KR"/>
                <a:ea typeface="Noto Sans KR"/>
                <a:cs typeface="Noto Sans KR"/>
              </a:rPr>
              <a:t>이지켐 140 · 한솔 150 kg/용기 · 필터 포함</a:t>
            </a:r>
          </a:p>
          <a:p>
            <a:pPr algn="l">
              <a:spcAft>
                <a:spcPts val="0"/>
              </a:spcAft>
            </a:pPr>
            <a:r>
              <a:rPr sz="630" b="1" i="0">
                <a:solidFill>
                  <a:srgbClr val="385723"/>
                </a:solidFill>
                <a:latin typeface="Noto Sans KR"/>
                <a:ea typeface="Noto Sans KR"/>
                <a:cs typeface="Noto Sans KR"/>
              </a:rPr>
              <a:t>이지켐 8 h/용기 · 한솔 시간 확인</a:t>
            </a:r>
          </a:p>
        </p:txBody>
      </p:sp>
      <p:sp>
        <p:nvSpPr>
          <p:cNvPr id="218" name="Rounded Rectangle 217"/>
          <p:cNvSpPr/>
          <p:nvPr/>
        </p:nvSpPr>
        <p:spPr>
          <a:xfrm>
            <a:off x="3637000" y="2380000"/>
            <a:ext cx="460000" cy="260000"/>
          </a:xfrm>
          <a:prstGeom prst="roundRect">
            <a:avLst>
              <a:gd name="adj" fmla="val 20000"/>
            </a:avLst>
          </a:prstGeom>
          <a:solidFill>
            <a:srgbClr val="2E75B6"/>
          </a:solidFill>
          <a:ln>
            <a:noFill/>
          </a:ln>
        </p:spPr>
        <p:txBody>
          <a:bodyPr rtlCol="0" anchor="ctr" lIns="30000" rIns="30000" tIns="0" bIns="0" wrap="square"/>
          <a:lstStyle/>
          <a:p>
            <a:pPr algn="ctr"/>
            <a:r>
              <a:rPr sz="900" b="1" i="0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OQC</a:t>
            </a:r>
          </a:p>
        </p:txBody>
      </p:sp>
      <p:cxnSp>
        <p:nvCxnSpPr>
          <p:cNvPr id="219" name="Connector 218"/>
          <p:cNvCxnSpPr/>
          <p:nvPr/>
        </p:nvCxnSpPr>
        <p:spPr>
          <a:xfrm>
            <a:off x="3537000" y="2510000"/>
            <a:ext cx="100000" cy="0"/>
          </a:xfrm>
          <a:prstGeom prst="line">
            <a:avLst/>
          </a:prstGeom>
          <a:ln w="15875">
            <a:solidFill>
              <a:srgbClr val="1A1A1A"/>
            </a:solidFill>
            <a:tailEnd type="triangle" w="med" len="med"/>
          </a:ln>
        </p:spPr>
      </p:cxnSp>
      <p:cxnSp>
        <p:nvCxnSpPr>
          <p:cNvPr id="220" name="Connector 219"/>
          <p:cNvCxnSpPr/>
          <p:nvPr/>
        </p:nvCxnSpPr>
        <p:spPr>
          <a:xfrm>
            <a:off x="4097000" y="2510000"/>
            <a:ext cx="280000" cy="0"/>
          </a:xfrm>
          <a:prstGeom prst="line">
            <a:avLst/>
          </a:prstGeom>
          <a:ln w="15875">
            <a:solidFill>
              <a:srgbClr val="1A1A1A"/>
            </a:solidFill>
            <a:tailEnd type="triangle" w="med" len="med"/>
          </a:ln>
        </p:spPr>
      </p:cxnSp>
      <p:sp>
        <p:nvSpPr>
          <p:cNvPr id="221" name="Rectangle 220"/>
          <p:cNvSpPr/>
          <p:nvPr/>
        </p:nvSpPr>
        <p:spPr>
          <a:xfrm>
            <a:off x="4377000" y="2300000"/>
            <a:ext cx="2003000" cy="420000"/>
          </a:xfrm>
          <a:prstGeom prst="rect">
            <a:avLst/>
          </a:prstGeom>
          <a:solidFill>
            <a:srgbClr val="D9D9D9"/>
          </a:solidFill>
          <a:ln w="12700">
            <a:solidFill>
              <a:srgbClr val="404040"/>
            </a:solidFill>
          </a:ln>
        </p:spPr>
        <p:txBody>
          <a:bodyPr rtlCol="0" anchor="ctr" lIns="30000" rIns="30000" tIns="0" bIns="0" wrap="square"/>
          <a:lstStyle/>
          <a:p>
            <a:pPr algn="ctr"/>
          </a:p>
        </p:txBody>
      </p:sp>
      <p:sp>
        <p:nvSpPr>
          <p:cNvPr id="222" name="TextBox 221"/>
          <p:cNvSpPr txBox="1"/>
          <p:nvPr/>
        </p:nvSpPr>
        <p:spPr>
          <a:xfrm>
            <a:off x="4437000" y="2300000"/>
            <a:ext cx="1923000" cy="420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750" b="1" i="0">
                <a:solidFill>
                  <a:srgbClr val="1A1A1A"/>
                </a:solidFill>
                <a:latin typeface="Noto Sans KR"/>
                <a:ea typeface="Noto Sans KR"/>
                <a:cs typeface="Noto Sans KR"/>
              </a:rPr>
              <a:t>출하 </a:t>
            </a:r>
            <a:r>
              <a:rPr sz="700" b="0" i="0">
                <a:solidFill>
                  <a:srgbClr val="EB002C"/>
                </a:solidFill>
                <a:latin typeface="Noto Sans KR"/>
                <a:ea typeface="Noto Sans KR"/>
                <a:cs typeface="Noto Sans KR"/>
              </a:rPr>
              <a:t>■</a:t>
            </a:r>
            <a:r>
              <a:rPr sz="750" b="1" i="0">
                <a:solidFill>
                  <a:srgbClr val="1A1A1A"/>
                </a:solidFill>
                <a:latin typeface="Noto Sans KR"/>
                <a:ea typeface="Noto Sans KR"/>
                <a:cs typeface="Noto Sans KR"/>
              </a:rPr>
              <a:t> SK하이닉스  </a:t>
            </a:r>
            <a:r>
              <a:rPr sz="700" b="0" i="0">
                <a:solidFill>
                  <a:srgbClr val="1B8A95"/>
                </a:solidFill>
                <a:latin typeface="Noto Sans KR"/>
                <a:ea typeface="Noto Sans KR"/>
                <a:cs typeface="Noto Sans KR"/>
              </a:rPr>
              <a:t>■</a:t>
            </a:r>
            <a:r>
              <a:rPr sz="750" b="1" i="0">
                <a:solidFill>
                  <a:srgbClr val="1A1A1A"/>
                </a:solidFill>
                <a:latin typeface="Noto Sans KR"/>
                <a:ea typeface="Noto Sans KR"/>
                <a:cs typeface="Noto Sans KR"/>
              </a:rPr>
              <a:t> CXMT</a:t>
            </a:r>
          </a:p>
        </p:txBody>
      </p:sp>
      <p:sp>
        <p:nvSpPr>
          <p:cNvPr id="223" name="Rounded Rectangle 222"/>
          <p:cNvSpPr/>
          <p:nvPr/>
        </p:nvSpPr>
        <p:spPr>
          <a:xfrm>
            <a:off x="3637000" y="2900000"/>
            <a:ext cx="460000" cy="260000"/>
          </a:xfrm>
          <a:prstGeom prst="roundRect">
            <a:avLst>
              <a:gd name="adj" fmla="val 20000"/>
            </a:avLst>
          </a:prstGeom>
          <a:solidFill>
            <a:srgbClr val="2E75B6"/>
          </a:solidFill>
          <a:ln>
            <a:noFill/>
          </a:ln>
        </p:spPr>
        <p:txBody>
          <a:bodyPr rtlCol="0" anchor="ctr" lIns="30000" rIns="30000" tIns="0" bIns="0" wrap="square"/>
          <a:lstStyle/>
          <a:p>
            <a:pPr algn="ctr"/>
            <a:r>
              <a:rPr sz="900" b="1" i="0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OQC</a:t>
            </a:r>
          </a:p>
        </p:txBody>
      </p:sp>
      <p:cxnSp>
        <p:nvCxnSpPr>
          <p:cNvPr id="224" name="Connector 223"/>
          <p:cNvCxnSpPr/>
          <p:nvPr/>
        </p:nvCxnSpPr>
        <p:spPr>
          <a:xfrm>
            <a:off x="3537000" y="3030000"/>
            <a:ext cx="100000" cy="0"/>
          </a:xfrm>
          <a:prstGeom prst="line">
            <a:avLst/>
          </a:prstGeom>
          <a:ln w="15875">
            <a:solidFill>
              <a:srgbClr val="1A1A1A"/>
            </a:solidFill>
            <a:tailEnd type="triangle" w="med" len="med"/>
          </a:ln>
        </p:spPr>
      </p:cxnSp>
      <p:cxnSp>
        <p:nvCxnSpPr>
          <p:cNvPr id="225" name="Connector 224"/>
          <p:cNvCxnSpPr/>
          <p:nvPr/>
        </p:nvCxnSpPr>
        <p:spPr>
          <a:xfrm>
            <a:off x="4097000" y="3030000"/>
            <a:ext cx="280000" cy="0"/>
          </a:xfrm>
          <a:prstGeom prst="line">
            <a:avLst/>
          </a:prstGeom>
          <a:ln w="15875">
            <a:solidFill>
              <a:srgbClr val="1A1A1A"/>
            </a:solidFill>
            <a:tailEnd type="triangle" w="med" len="med"/>
          </a:ln>
        </p:spPr>
      </p:cxnSp>
      <p:sp>
        <p:nvSpPr>
          <p:cNvPr id="226" name="Rectangle 225"/>
          <p:cNvSpPr/>
          <p:nvPr/>
        </p:nvSpPr>
        <p:spPr>
          <a:xfrm>
            <a:off x="4377000" y="2820000"/>
            <a:ext cx="2003000" cy="420000"/>
          </a:xfrm>
          <a:prstGeom prst="rect">
            <a:avLst/>
          </a:prstGeom>
          <a:solidFill>
            <a:srgbClr val="D9D9D9"/>
          </a:solidFill>
          <a:ln w="12700">
            <a:solidFill>
              <a:srgbClr val="404040"/>
            </a:solidFill>
          </a:ln>
        </p:spPr>
        <p:txBody>
          <a:bodyPr rtlCol="0" anchor="ctr" lIns="30000" rIns="30000" tIns="0" bIns="0" wrap="square"/>
          <a:lstStyle/>
          <a:p>
            <a:pPr algn="ctr"/>
          </a:p>
        </p:txBody>
      </p:sp>
      <p:sp>
        <p:nvSpPr>
          <p:cNvPr id="227" name="TextBox 226"/>
          <p:cNvSpPr txBox="1"/>
          <p:nvPr/>
        </p:nvSpPr>
        <p:spPr>
          <a:xfrm>
            <a:off x="4437000" y="2820000"/>
            <a:ext cx="1923000" cy="420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750" b="1" i="0">
                <a:solidFill>
                  <a:srgbClr val="1A1A1A"/>
                </a:solidFill>
                <a:latin typeface="Noto Sans KR"/>
                <a:ea typeface="Noto Sans KR"/>
                <a:cs typeface="Noto Sans KR"/>
              </a:rPr>
              <a:t>출하 </a:t>
            </a:r>
            <a:r>
              <a:rPr sz="700" b="0" i="0">
                <a:solidFill>
                  <a:srgbClr val="FF7900"/>
                </a:solidFill>
                <a:latin typeface="Noto Sans KR"/>
                <a:ea typeface="Noto Sans KR"/>
                <a:cs typeface="Noto Sans KR"/>
              </a:rPr>
              <a:t>■</a:t>
            </a:r>
            <a:r>
              <a:rPr sz="750" b="1" i="0">
                <a:solidFill>
                  <a:srgbClr val="1A1A1A"/>
                </a:solidFill>
                <a:latin typeface="Noto Sans KR"/>
                <a:ea typeface="Noto Sans KR"/>
                <a:cs typeface="Noto Sans KR"/>
              </a:rPr>
              <a:t> 이지켐  </a:t>
            </a:r>
            <a:r>
              <a:rPr sz="750" b="1" i="0">
                <a:solidFill>
                  <a:srgbClr val="7030A0"/>
                </a:solidFill>
                <a:latin typeface="Noto Sans KR"/>
                <a:ea typeface="Noto Sans KR"/>
                <a:cs typeface="Noto Sans KR"/>
              </a:rPr>
              <a:t>■</a:t>
            </a:r>
            <a:r>
              <a:rPr sz="750" b="1" i="0">
                <a:solidFill>
                  <a:srgbClr val="1A1A1A"/>
                </a:solidFill>
                <a:latin typeface="Noto Sans KR"/>
                <a:ea typeface="Noto Sans KR"/>
                <a:cs typeface="Noto Sans KR"/>
              </a:rPr>
              <a:t> 한솔('27~)</a:t>
            </a:r>
          </a:p>
        </p:txBody>
      </p:sp>
      <p:sp>
        <p:nvSpPr>
          <p:cNvPr id="228" name="TextBox 227"/>
          <p:cNvSpPr txBox="1"/>
          <p:nvPr/>
        </p:nvSpPr>
        <p:spPr>
          <a:xfrm>
            <a:off x="3566160" y="3250000"/>
            <a:ext cx="2834640" cy="15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630" b="1" i="0">
                <a:solidFill>
                  <a:srgbClr val="385723"/>
                </a:solidFill>
                <a:latin typeface="Noto Sans KR"/>
                <a:ea typeface="Noto Sans KR"/>
                <a:cs typeface="Noto Sans KR"/>
              </a:rPr>
              <a:t>OQC·출하 : 5 Gal 9병 2 h · 200 L 1용기 2 h (운송 별도)</a:t>
            </a:r>
          </a:p>
        </p:txBody>
      </p:sp>
      <p:cxnSp>
        <p:nvCxnSpPr>
          <p:cNvPr id="229" name="Connector 228"/>
          <p:cNvCxnSpPr/>
          <p:nvPr/>
        </p:nvCxnSpPr>
        <p:spPr>
          <a:xfrm>
            <a:off x="5847000" y="2065000"/>
            <a:ext cx="0" cy="165000"/>
          </a:xfrm>
          <a:prstGeom prst="line">
            <a:avLst/>
          </a:prstGeom>
          <a:ln w="15875">
            <a:solidFill>
              <a:srgbClr val="1A1A1A"/>
            </a:solidFill>
          </a:ln>
        </p:spPr>
      </p:cxnSp>
      <p:cxnSp>
        <p:nvCxnSpPr>
          <p:cNvPr id="230" name="Connector 229"/>
          <p:cNvCxnSpPr/>
          <p:nvPr/>
        </p:nvCxnSpPr>
        <p:spPr>
          <a:xfrm flipH="1">
            <a:off x="617000" y="2230000"/>
            <a:ext cx="5230000" cy="0"/>
          </a:xfrm>
          <a:prstGeom prst="line">
            <a:avLst/>
          </a:prstGeom>
          <a:ln w="15875">
            <a:solidFill>
              <a:srgbClr val="1A1A1A"/>
            </a:solidFill>
          </a:ln>
        </p:spPr>
      </p:cxnSp>
      <p:cxnSp>
        <p:nvCxnSpPr>
          <p:cNvPr id="231" name="Connector 230"/>
          <p:cNvCxnSpPr/>
          <p:nvPr/>
        </p:nvCxnSpPr>
        <p:spPr>
          <a:xfrm>
            <a:off x="617000" y="2230000"/>
            <a:ext cx="0" cy="410000"/>
          </a:xfrm>
          <a:prstGeom prst="line">
            <a:avLst/>
          </a:prstGeom>
          <a:ln w="15875">
            <a:solidFill>
              <a:srgbClr val="1A1A1A"/>
            </a:solidFill>
            <a:tailEnd type="triangle" w="med" len="med"/>
          </a:ln>
        </p:spPr>
      </p:cxnSp>
      <p:cxnSp>
        <p:nvCxnSpPr>
          <p:cNvPr id="232" name="Connector 231"/>
          <p:cNvCxnSpPr/>
          <p:nvPr/>
        </p:nvCxnSpPr>
        <p:spPr>
          <a:xfrm flipV="1">
            <a:off x="4897000" y="975000"/>
            <a:ext cx="0" cy="205000"/>
          </a:xfrm>
          <a:prstGeom prst="line">
            <a:avLst/>
          </a:prstGeom>
          <a:ln w="12700">
            <a:solidFill>
              <a:srgbClr val="E00000"/>
            </a:solidFill>
            <a:prstDash val="dash"/>
          </a:ln>
        </p:spPr>
      </p:cxnSp>
      <p:cxnSp>
        <p:nvCxnSpPr>
          <p:cNvPr id="233" name="Connector 232"/>
          <p:cNvCxnSpPr/>
          <p:nvPr/>
        </p:nvCxnSpPr>
        <p:spPr>
          <a:xfrm flipH="1">
            <a:off x="3702000" y="975000"/>
            <a:ext cx="1195000" cy="0"/>
          </a:xfrm>
          <a:prstGeom prst="line">
            <a:avLst/>
          </a:prstGeom>
          <a:ln w="12700">
            <a:solidFill>
              <a:srgbClr val="E00000"/>
            </a:solidFill>
            <a:prstDash val="dash"/>
          </a:ln>
        </p:spPr>
      </p:cxnSp>
      <p:cxnSp>
        <p:nvCxnSpPr>
          <p:cNvPr id="234" name="Connector 233"/>
          <p:cNvCxnSpPr/>
          <p:nvPr/>
        </p:nvCxnSpPr>
        <p:spPr>
          <a:xfrm>
            <a:off x="3702000" y="975000"/>
            <a:ext cx="0" cy="85000"/>
          </a:xfrm>
          <a:prstGeom prst="line">
            <a:avLst/>
          </a:prstGeom>
          <a:ln w="12700">
            <a:solidFill>
              <a:srgbClr val="E00000"/>
            </a:solidFill>
            <a:prstDash val="dash"/>
            <a:tailEnd type="triangle" w="med" len="med"/>
          </a:ln>
        </p:spPr>
      </p:cxnSp>
      <p:sp>
        <p:nvSpPr>
          <p:cNvPr id="235" name="TextBox 234"/>
          <p:cNvSpPr txBox="1"/>
          <p:nvPr/>
        </p:nvSpPr>
        <p:spPr>
          <a:xfrm>
            <a:off x="4927000" y="955000"/>
            <a:ext cx="1100000" cy="13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630" b="1" i="0">
                <a:solidFill>
                  <a:srgbClr val="E00000"/>
                </a:solidFill>
                <a:latin typeface="Noto Sans KR"/>
                <a:ea typeface="Noto Sans KR"/>
                <a:cs typeface="Noto Sans KR"/>
              </a:rPr>
              <a:t>PQC NG → 정제 복귀</a:t>
            </a:r>
          </a:p>
        </p:txBody>
      </p:sp>
      <p:cxnSp>
        <p:nvCxnSpPr>
          <p:cNvPr id="236" name="Connector 235"/>
          <p:cNvCxnSpPr/>
          <p:nvPr/>
        </p:nvCxnSpPr>
        <p:spPr>
          <a:xfrm flipV="1">
            <a:off x="797000" y="2300000"/>
            <a:ext cx="0" cy="340000"/>
          </a:xfrm>
          <a:prstGeom prst="line">
            <a:avLst/>
          </a:prstGeom>
          <a:ln w="12700">
            <a:solidFill>
              <a:srgbClr val="E00000"/>
            </a:solidFill>
            <a:prstDash val="dash"/>
          </a:ln>
        </p:spPr>
      </p:cxnSp>
      <p:cxnSp>
        <p:nvCxnSpPr>
          <p:cNvPr id="237" name="Connector 236"/>
          <p:cNvCxnSpPr/>
          <p:nvPr/>
        </p:nvCxnSpPr>
        <p:spPr>
          <a:xfrm>
            <a:off x="797000" y="2300000"/>
            <a:ext cx="3155000" cy="0"/>
          </a:xfrm>
          <a:prstGeom prst="line">
            <a:avLst/>
          </a:prstGeom>
          <a:ln w="12700">
            <a:solidFill>
              <a:srgbClr val="E00000"/>
            </a:solidFill>
            <a:prstDash val="dash"/>
          </a:ln>
        </p:spPr>
      </p:cxnSp>
      <p:cxnSp>
        <p:nvCxnSpPr>
          <p:cNvPr id="238" name="Connector 237"/>
          <p:cNvCxnSpPr/>
          <p:nvPr/>
        </p:nvCxnSpPr>
        <p:spPr>
          <a:xfrm flipV="1">
            <a:off x="3952000" y="1910000"/>
            <a:ext cx="0" cy="390000"/>
          </a:xfrm>
          <a:prstGeom prst="line">
            <a:avLst/>
          </a:prstGeom>
          <a:ln w="12700">
            <a:solidFill>
              <a:srgbClr val="E00000"/>
            </a:solidFill>
            <a:prstDash val="dash"/>
            <a:tailEnd type="triangle" w="med" len="med"/>
          </a:ln>
        </p:spPr>
      </p:cxnSp>
      <p:sp>
        <p:nvSpPr>
          <p:cNvPr id="239" name="TextBox 238"/>
          <p:cNvSpPr txBox="1"/>
          <p:nvPr/>
        </p:nvSpPr>
        <p:spPr>
          <a:xfrm>
            <a:off x="4002000" y="2150000"/>
            <a:ext cx="1400000" cy="13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630" b="1" i="0">
                <a:solidFill>
                  <a:srgbClr val="E00000"/>
                </a:solidFill>
                <a:latin typeface="Noto Sans KR"/>
                <a:ea typeface="Noto Sans KR"/>
                <a:cs typeface="Noto Sans KR"/>
              </a:rPr>
              <a:t>FQC NG → 정제 복귀 (조건 확인)</a:t>
            </a:r>
          </a:p>
        </p:txBody>
      </p:sp>
      <p:sp>
        <p:nvSpPr>
          <p:cNvPr id="240" name="Rectangle 239"/>
          <p:cNvSpPr/>
          <p:nvPr/>
        </p:nvSpPr>
        <p:spPr>
          <a:xfrm>
            <a:off x="6480000" y="1010000"/>
            <a:ext cx="2377000" cy="2250000"/>
          </a:xfrm>
          <a:prstGeom prst="rect">
            <a:avLst/>
          </a:prstGeom>
          <a:solidFill>
            <a:srgbClr val="F5F6F8"/>
          </a:solidFill>
          <a:ln>
            <a:noFill/>
          </a:ln>
        </p:spPr>
        <p:txBody>
          <a:bodyPr rtlCol="0" anchor="ctr" lIns="30000" rIns="30000" tIns="0" bIns="0" wrap="square"/>
          <a:lstStyle/>
          <a:p>
            <a:pPr algn="ctr"/>
          </a:p>
        </p:txBody>
      </p:sp>
      <p:sp>
        <p:nvSpPr>
          <p:cNvPr id="241" name="TextBox 240"/>
          <p:cNvSpPr txBox="1"/>
          <p:nvPr/>
        </p:nvSpPr>
        <p:spPr>
          <a:xfrm>
            <a:off x="6570000" y="1070000"/>
            <a:ext cx="2197000" cy="20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1" i="0">
                <a:solidFill>
                  <a:srgbClr val="1A1A1A"/>
                </a:solidFill>
                <a:latin typeface="Noto Sans KR"/>
                <a:ea typeface="Noto Sans KR"/>
                <a:cs typeface="Noto Sans KR"/>
              </a:rPr>
              <a:t>As-is 운영 조건</a:t>
            </a:r>
          </a:p>
        </p:txBody>
      </p:sp>
      <p:sp>
        <p:nvSpPr>
          <p:cNvPr id="242" name="Rectangle 241"/>
          <p:cNvSpPr/>
          <p:nvPr/>
        </p:nvSpPr>
        <p:spPr>
          <a:xfrm>
            <a:off x="6570000" y="1375000"/>
            <a:ext cx="65000" cy="150000"/>
          </a:xfrm>
          <a:prstGeom prst="rect">
            <a:avLst/>
          </a:prstGeom>
          <a:solidFill>
            <a:srgbClr val="FF7900"/>
          </a:solidFill>
          <a:ln>
            <a:noFill/>
          </a:ln>
        </p:spPr>
        <p:txBody>
          <a:bodyPr rtlCol="0" anchor="ctr" lIns="30000" rIns="30000" tIns="0" bIns="0" wrap="square"/>
          <a:lstStyle/>
          <a:p>
            <a:pPr algn="ctr"/>
          </a:p>
        </p:txBody>
      </p:sp>
      <p:sp>
        <p:nvSpPr>
          <p:cNvPr id="243" name="TextBox 242"/>
          <p:cNvSpPr txBox="1"/>
          <p:nvPr/>
        </p:nvSpPr>
        <p:spPr>
          <a:xfrm>
            <a:off x="6690000" y="1330000"/>
            <a:ext cx="2117000" cy="240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700" b="0" i="0">
                <a:solidFill>
                  <a:srgbClr val="3F3F3F"/>
                </a:solidFill>
                <a:latin typeface="Noto Sans KR"/>
                <a:ea typeface="Noto Sans KR"/>
                <a:cs typeface="Noto Sans KR"/>
              </a:rPr>
              <a:t>정제기 1대 — 4개 고객 공동 (전용 설비 없음)</a:t>
            </a:r>
          </a:p>
        </p:txBody>
      </p:sp>
      <p:sp>
        <p:nvSpPr>
          <p:cNvPr id="244" name="Rectangle 243"/>
          <p:cNvSpPr/>
          <p:nvPr/>
        </p:nvSpPr>
        <p:spPr>
          <a:xfrm>
            <a:off x="6570000" y="1635000"/>
            <a:ext cx="65000" cy="150000"/>
          </a:xfrm>
          <a:prstGeom prst="rect">
            <a:avLst/>
          </a:prstGeom>
          <a:solidFill>
            <a:srgbClr val="EB002C"/>
          </a:solidFill>
          <a:ln>
            <a:noFill/>
          </a:ln>
        </p:spPr>
        <p:txBody>
          <a:bodyPr rtlCol="0" anchor="ctr" lIns="30000" rIns="30000" tIns="0" bIns="0" wrap="square"/>
          <a:lstStyle/>
          <a:p>
            <a:pPr algn="ctr"/>
          </a:p>
        </p:txBody>
      </p:sp>
      <p:sp>
        <p:nvSpPr>
          <p:cNvPr id="245" name="TextBox 244"/>
          <p:cNvSpPr txBox="1"/>
          <p:nvPr/>
        </p:nvSpPr>
        <p:spPr>
          <a:xfrm>
            <a:off x="6690000" y="1590000"/>
            <a:ext cx="2117000" cy="240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700" b="0" i="0">
                <a:solidFill>
                  <a:srgbClr val="3F3F3F"/>
                </a:solidFill>
                <a:latin typeface="Noto Sans KR"/>
                <a:ea typeface="Noto Sans KR"/>
                <a:cs typeface="Noto Sans KR"/>
              </a:rPr>
              <a:t>정제 · 충진 병렬 : 충진 중 다음 Batch 정제</a:t>
            </a:r>
          </a:p>
        </p:txBody>
      </p:sp>
      <p:sp>
        <p:nvSpPr>
          <p:cNvPr id="246" name="Rectangle 245"/>
          <p:cNvSpPr/>
          <p:nvPr/>
        </p:nvSpPr>
        <p:spPr>
          <a:xfrm>
            <a:off x="6570000" y="1895000"/>
            <a:ext cx="65000" cy="150000"/>
          </a:xfrm>
          <a:prstGeom prst="rect">
            <a:avLst/>
          </a:prstGeom>
          <a:solidFill>
            <a:srgbClr val="404040"/>
          </a:solidFill>
          <a:ln>
            <a:noFill/>
          </a:ln>
        </p:spPr>
        <p:txBody>
          <a:bodyPr rtlCol="0" anchor="ctr" lIns="30000" rIns="30000" tIns="0" bIns="0" wrap="square"/>
          <a:lstStyle/>
          <a:p>
            <a:pPr algn="ctr"/>
          </a:p>
        </p:txBody>
      </p:sp>
      <p:sp>
        <p:nvSpPr>
          <p:cNvPr id="247" name="TextBox 246"/>
          <p:cNvSpPr txBox="1"/>
          <p:nvPr/>
        </p:nvSpPr>
        <p:spPr>
          <a:xfrm>
            <a:off x="6690000" y="1850000"/>
            <a:ext cx="2117000" cy="240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700" b="0" i="0">
                <a:solidFill>
                  <a:srgbClr val="3F3F3F"/>
                </a:solidFill>
                <a:latin typeface="Noto Sans KR"/>
                <a:ea typeface="Noto Sans KR"/>
                <a:cs typeface="Noto Sans KR"/>
              </a:rPr>
              <a:t>103℃ · 정제 45 h · 충진 전 57 h · 190 kg/Batch</a:t>
            </a:r>
          </a:p>
        </p:txBody>
      </p:sp>
      <p:sp>
        <p:nvSpPr>
          <p:cNvPr id="248" name="Rectangle 247"/>
          <p:cNvSpPr/>
          <p:nvPr/>
        </p:nvSpPr>
        <p:spPr>
          <a:xfrm>
            <a:off x="6570000" y="2155000"/>
            <a:ext cx="65000" cy="150000"/>
          </a:xfrm>
          <a:prstGeom prst="rect">
            <a:avLst/>
          </a:prstGeom>
          <a:solidFill>
            <a:srgbClr val="548235"/>
          </a:solidFill>
          <a:ln>
            <a:noFill/>
          </a:ln>
        </p:spPr>
        <p:txBody>
          <a:bodyPr rtlCol="0" anchor="ctr" lIns="30000" rIns="30000" tIns="0" bIns="0" wrap="square"/>
          <a:lstStyle/>
          <a:p>
            <a:pPr algn="ctr"/>
          </a:p>
        </p:txBody>
      </p:sp>
      <p:sp>
        <p:nvSpPr>
          <p:cNvPr id="249" name="TextBox 248"/>
          <p:cNvSpPr txBox="1"/>
          <p:nvPr/>
        </p:nvSpPr>
        <p:spPr>
          <a:xfrm>
            <a:off x="6690000" y="2110000"/>
            <a:ext cx="2117000" cy="240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700" b="0" i="0">
                <a:solidFill>
                  <a:srgbClr val="3F3F3F"/>
                </a:solidFill>
                <a:latin typeface="Noto Sans KR"/>
                <a:ea typeface="Noto Sans KR"/>
                <a:cs typeface="Noto Sans KR"/>
              </a:rPr>
              <a:t>5 Gal 20 kg/병 — 글로브 박스</a:t>
            </a:r>
          </a:p>
        </p:txBody>
      </p:sp>
      <p:sp>
        <p:nvSpPr>
          <p:cNvPr id="250" name="Rectangle 249"/>
          <p:cNvSpPr/>
          <p:nvPr/>
        </p:nvSpPr>
        <p:spPr>
          <a:xfrm>
            <a:off x="6570000" y="2415000"/>
            <a:ext cx="65000" cy="150000"/>
          </a:xfrm>
          <a:prstGeom prst="rect">
            <a:avLst/>
          </a:prstGeom>
          <a:solidFill>
            <a:srgbClr val="FF7900"/>
          </a:solidFill>
          <a:ln>
            <a:noFill/>
          </a:ln>
        </p:spPr>
        <p:txBody>
          <a:bodyPr rtlCol="0" anchor="ctr" lIns="30000" rIns="30000" tIns="0" bIns="0" wrap="square"/>
          <a:lstStyle/>
          <a:p>
            <a:pPr algn="ctr"/>
          </a:p>
        </p:txBody>
      </p:sp>
      <p:sp>
        <p:nvSpPr>
          <p:cNvPr id="251" name="TextBox 250"/>
          <p:cNvSpPr txBox="1"/>
          <p:nvPr/>
        </p:nvSpPr>
        <p:spPr>
          <a:xfrm>
            <a:off x="6690000" y="2370000"/>
            <a:ext cx="2117000" cy="240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700" b="0" i="0">
                <a:solidFill>
                  <a:srgbClr val="3F3F3F"/>
                </a:solidFill>
                <a:latin typeface="Noto Sans KR"/>
                <a:ea typeface="Noto Sans KR"/>
                <a:cs typeface="Noto Sans KR"/>
              </a:rPr>
              <a:t>200 L 이지켐 140 · 한솔 150 kg — 수동</a:t>
            </a:r>
          </a:p>
        </p:txBody>
      </p:sp>
      <p:sp>
        <p:nvSpPr>
          <p:cNvPr id="252" name="Rounded Rectangle 251"/>
          <p:cNvSpPr/>
          <p:nvPr/>
        </p:nvSpPr>
        <p:spPr>
          <a:xfrm>
            <a:off x="6570000" y="2950000"/>
            <a:ext cx="380000" cy="130000"/>
          </a:xfrm>
          <a:prstGeom prst="roundRect">
            <a:avLst/>
          </a:prstGeom>
          <a:solidFill>
            <a:srgbClr val="E2EFD9"/>
          </a:solidFill>
          <a:ln w="9525">
            <a:solidFill>
              <a:srgbClr val="548235"/>
            </a:solidFill>
          </a:ln>
        </p:spPr>
        <p:txBody>
          <a:bodyPr rtlCol="0" anchor="ctr" lIns="30000" rIns="30000" tIns="0" bIns="0" wrap="square"/>
          <a:lstStyle/>
          <a:p>
            <a:pPr algn="ctr"/>
          </a:p>
        </p:txBody>
      </p:sp>
      <p:sp>
        <p:nvSpPr>
          <p:cNvPr id="253" name="TextBox 252"/>
          <p:cNvSpPr txBox="1"/>
          <p:nvPr/>
        </p:nvSpPr>
        <p:spPr>
          <a:xfrm>
            <a:off x="7000000" y="2930000"/>
            <a:ext cx="800000" cy="170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650" b="0" i="0">
                <a:solidFill>
                  <a:srgbClr val="3F3F3F"/>
                </a:solidFill>
                <a:latin typeface="Noto Sans KR"/>
                <a:ea typeface="Noto Sans KR"/>
                <a:cs typeface="Noto Sans KR"/>
              </a:rPr>
              <a:t>제공 시간</a:t>
            </a:r>
          </a:p>
        </p:txBody>
      </p:sp>
      <p:sp>
        <p:nvSpPr>
          <p:cNvPr id="254" name="Rounded Rectangle 253"/>
          <p:cNvSpPr/>
          <p:nvPr/>
        </p:nvSpPr>
        <p:spPr>
          <a:xfrm>
            <a:off x="7730000" y="2950000"/>
            <a:ext cx="380000" cy="130000"/>
          </a:xfrm>
          <a:prstGeom prst="roundRect">
            <a:avLst/>
          </a:prstGeom>
          <a:solidFill>
            <a:srgbClr val="FFF2CC"/>
          </a:solidFill>
          <a:ln w="9525">
            <a:solidFill>
              <a:srgbClr val="BF9000"/>
            </a:solidFill>
          </a:ln>
        </p:spPr>
        <p:txBody>
          <a:bodyPr rtlCol="0" anchor="ctr" lIns="30000" rIns="30000" tIns="0" bIns="0" wrap="square"/>
          <a:lstStyle/>
          <a:p>
            <a:pPr algn="ctr"/>
          </a:p>
        </p:txBody>
      </p:sp>
      <p:sp>
        <p:nvSpPr>
          <p:cNvPr id="255" name="TextBox 254"/>
          <p:cNvSpPr txBox="1"/>
          <p:nvPr/>
        </p:nvSpPr>
        <p:spPr>
          <a:xfrm>
            <a:off x="8160000" y="2930000"/>
            <a:ext cx="700000" cy="170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650" b="0" i="0">
                <a:solidFill>
                  <a:srgbClr val="3F3F3F"/>
                </a:solidFill>
                <a:latin typeface="Noto Sans KR"/>
                <a:ea typeface="Noto Sans KR"/>
                <a:cs typeface="Noto Sans KR"/>
              </a:rPr>
              <a:t>미확인</a:t>
            </a:r>
          </a:p>
        </p:txBody>
      </p:sp>
      <p:cxnSp>
        <p:nvCxnSpPr>
          <p:cNvPr id="256" name="Connector 255"/>
          <p:cNvCxnSpPr/>
          <p:nvPr/>
        </p:nvCxnSpPr>
        <p:spPr>
          <a:xfrm>
            <a:off x="6570000" y="3180000"/>
            <a:ext cx="260000" cy="0"/>
          </a:xfrm>
          <a:prstGeom prst="line">
            <a:avLst/>
          </a:prstGeom>
          <a:ln w="12700">
            <a:solidFill>
              <a:srgbClr val="E00000"/>
            </a:solidFill>
            <a:prstDash val="dash"/>
          </a:ln>
        </p:spPr>
      </p:cxnSp>
      <p:sp>
        <p:nvSpPr>
          <p:cNvPr id="257" name="TextBox 256"/>
          <p:cNvSpPr txBox="1"/>
          <p:nvPr/>
        </p:nvSpPr>
        <p:spPr>
          <a:xfrm>
            <a:off x="6880000" y="3105000"/>
            <a:ext cx="1500000" cy="15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650" b="0" i="0">
                <a:solidFill>
                  <a:srgbClr val="3F3F3F"/>
                </a:solidFill>
                <a:latin typeface="Noto Sans KR"/>
                <a:ea typeface="Noto Sans KR"/>
                <a:cs typeface="Noto Sans KR"/>
              </a:rPr>
              <a:t>부적합 복귀 (조건 확인)</a:t>
            </a:r>
          </a:p>
        </p:txBody>
      </p:sp>
      <p:sp>
        <p:nvSpPr>
          <p:cNvPr id="258" name="Rectangle 257"/>
          <p:cNvSpPr/>
          <p:nvPr/>
        </p:nvSpPr>
        <p:spPr>
          <a:xfrm>
            <a:off x="287000" y="3430000"/>
            <a:ext cx="50000" cy="165000"/>
          </a:xfrm>
          <a:prstGeom prst="rect">
            <a:avLst/>
          </a:prstGeom>
          <a:solidFill>
            <a:srgbClr val="EB002C"/>
          </a:solidFill>
          <a:ln>
            <a:noFill/>
          </a:ln>
        </p:spPr>
        <p:txBody>
          <a:bodyPr rtlCol="0" anchor="ctr" lIns="30000" rIns="30000" tIns="0" bIns="0" wrap="square"/>
          <a:lstStyle/>
          <a:p>
            <a:pPr algn="ctr"/>
          </a:p>
        </p:txBody>
      </p:sp>
      <p:sp>
        <p:nvSpPr>
          <p:cNvPr id="259" name="TextBox 258"/>
          <p:cNvSpPr txBox="1"/>
          <p:nvPr/>
        </p:nvSpPr>
        <p:spPr>
          <a:xfrm>
            <a:off x="397000" y="3400000"/>
            <a:ext cx="8000000" cy="22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1" i="0">
                <a:solidFill>
                  <a:srgbClr val="1A1A1A"/>
                </a:solidFill>
                <a:latin typeface="Noto Sans KR"/>
                <a:ea typeface="Noto Sans KR"/>
                <a:cs typeface="Noto Sans KR"/>
              </a:rPr>
              <a:t>① 한 Batch 확인 공정시간 — 단순 합계</a:t>
            </a:r>
            <a:r>
              <a:rPr sz="700" b="0" i="0">
                <a:solidFill>
                  <a:srgbClr val="7F7F7F"/>
                </a:solidFill>
                <a:latin typeface="Noto Sans KR"/>
                <a:ea typeface="Noto Sans KR"/>
                <a:cs typeface="Noto Sans KR"/>
              </a:rPr>
              <a:t>   달력 납기 · 다음 Batch 투입 간격 아님</a:t>
            </a:r>
          </a:p>
        </p:txBody>
      </p:sp>
      <p:sp>
        <p:nvSpPr>
          <p:cNvPr id="260" name="Rectangle 259"/>
          <p:cNvSpPr/>
          <p:nvPr/>
        </p:nvSpPr>
        <p:spPr>
          <a:xfrm>
            <a:off x="5537000" y="3455000"/>
            <a:ext cx="150000" cy="100000"/>
          </a:xfrm>
          <a:prstGeom prst="rect">
            <a:avLst/>
          </a:prstGeom>
          <a:solidFill>
            <a:srgbClr val="FDEDF0"/>
          </a:solidFill>
          <a:ln w="12700">
            <a:solidFill>
              <a:srgbClr val="EB002C"/>
            </a:solidFill>
          </a:ln>
        </p:spPr>
        <p:txBody>
          <a:bodyPr rtlCol="0" anchor="ctr" lIns="30000" rIns="30000" tIns="0" bIns="0" wrap="square"/>
          <a:lstStyle/>
          <a:p>
            <a:pPr algn="ctr"/>
          </a:p>
        </p:txBody>
      </p:sp>
      <p:sp>
        <p:nvSpPr>
          <p:cNvPr id="261" name="TextBox 260"/>
          <p:cNvSpPr txBox="1"/>
          <p:nvPr/>
        </p:nvSpPr>
        <p:spPr>
          <a:xfrm>
            <a:off x="5727000" y="3430000"/>
            <a:ext cx="700000" cy="15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650" b="0" i="0">
                <a:solidFill>
                  <a:srgbClr val="3F3F3F"/>
                </a:solidFill>
                <a:latin typeface="Noto Sans KR"/>
                <a:ea typeface="Noto Sans KR"/>
                <a:cs typeface="Noto Sans KR"/>
              </a:rPr>
              <a:t>확정</a:t>
            </a:r>
          </a:p>
        </p:txBody>
      </p:sp>
      <p:sp>
        <p:nvSpPr>
          <p:cNvPr id="262" name="Rectangle 261"/>
          <p:cNvSpPr/>
          <p:nvPr/>
        </p:nvSpPr>
        <p:spPr>
          <a:xfrm>
            <a:off x="6077000" y="3455000"/>
            <a:ext cx="150000" cy="100000"/>
          </a:xfrm>
          <a:prstGeom prst="rect">
            <a:avLst/>
          </a:prstGeom>
          <a:solidFill>
            <a:srgbClr val="EAF1FA"/>
          </a:solidFill>
          <a:ln w="12700">
            <a:solidFill>
              <a:srgbClr val="2E75B6"/>
            </a:solidFill>
          </a:ln>
        </p:spPr>
        <p:txBody>
          <a:bodyPr rtlCol="0" anchor="ctr" lIns="30000" rIns="30000" tIns="0" bIns="0" wrap="square"/>
          <a:lstStyle/>
          <a:p>
            <a:pPr algn="ctr"/>
          </a:p>
        </p:txBody>
      </p:sp>
      <p:sp>
        <p:nvSpPr>
          <p:cNvPr id="263" name="TextBox 262"/>
          <p:cNvSpPr txBox="1"/>
          <p:nvPr/>
        </p:nvSpPr>
        <p:spPr>
          <a:xfrm>
            <a:off x="6267000" y="3430000"/>
            <a:ext cx="700000" cy="15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650" b="0" i="0">
                <a:solidFill>
                  <a:srgbClr val="3F3F3F"/>
                </a:solidFill>
                <a:latin typeface="Noto Sans KR"/>
                <a:ea typeface="Noto Sans KR"/>
                <a:cs typeface="Noto Sans KR"/>
              </a:rPr>
              <a:t>계획·제시</a:t>
            </a:r>
          </a:p>
        </p:txBody>
      </p:sp>
      <p:sp>
        <p:nvSpPr>
          <p:cNvPr id="264" name="Rectangle 263"/>
          <p:cNvSpPr/>
          <p:nvPr/>
        </p:nvSpPr>
        <p:spPr>
          <a:xfrm>
            <a:off x="6842000" y="3455000"/>
            <a:ext cx="150000" cy="100000"/>
          </a:xfrm>
          <a:prstGeom prst="rect">
            <a:avLst/>
          </a:prstGeom>
          <a:solidFill>
            <a:srgbClr val="FFF8E7"/>
          </a:solidFill>
          <a:ln w="12700">
            <a:solidFill>
              <a:srgbClr val="BF9000"/>
            </a:solidFill>
          </a:ln>
        </p:spPr>
        <p:txBody>
          <a:bodyPr rtlCol="0" anchor="ctr" lIns="30000" rIns="30000" tIns="0" bIns="0" wrap="square"/>
          <a:lstStyle/>
          <a:p>
            <a:pPr algn="ctr"/>
          </a:p>
        </p:txBody>
      </p:sp>
      <p:sp>
        <p:nvSpPr>
          <p:cNvPr id="265" name="TextBox 264"/>
          <p:cNvSpPr txBox="1"/>
          <p:nvPr/>
        </p:nvSpPr>
        <p:spPr>
          <a:xfrm>
            <a:off x="7032000" y="3430000"/>
            <a:ext cx="700000" cy="15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650" b="0" i="0">
                <a:solidFill>
                  <a:srgbClr val="3F3F3F"/>
                </a:solidFill>
                <a:latin typeface="Noto Sans KR"/>
                <a:ea typeface="Noto Sans KR"/>
                <a:cs typeface="Noto Sans KR"/>
              </a:rPr>
              <a:t>추정</a:t>
            </a:r>
          </a:p>
        </p:txBody>
      </p:sp>
      <p:sp>
        <p:nvSpPr>
          <p:cNvPr id="266" name="Rectangle 265"/>
          <p:cNvSpPr/>
          <p:nvPr/>
        </p:nvSpPr>
        <p:spPr>
          <a:xfrm>
            <a:off x="7382000" y="3455000"/>
            <a:ext cx="150000" cy="10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7F7F7F"/>
            </a:solidFill>
            <a:prstDash val="dash"/>
          </a:ln>
        </p:spPr>
        <p:txBody>
          <a:bodyPr rtlCol="0" anchor="ctr" lIns="30000" rIns="30000" tIns="0" bIns="0" wrap="square"/>
          <a:lstStyle/>
          <a:p>
            <a:pPr algn="ctr"/>
          </a:p>
        </p:txBody>
      </p:sp>
      <p:sp>
        <p:nvSpPr>
          <p:cNvPr id="267" name="TextBox 266"/>
          <p:cNvSpPr txBox="1"/>
          <p:nvPr/>
        </p:nvSpPr>
        <p:spPr>
          <a:xfrm>
            <a:off x="7572000" y="3430000"/>
            <a:ext cx="700000" cy="15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650" b="0" i="0">
                <a:solidFill>
                  <a:srgbClr val="3F3F3F"/>
                </a:solidFill>
                <a:latin typeface="Noto Sans KR"/>
                <a:ea typeface="Noto Sans KR"/>
                <a:cs typeface="Noto Sans KR"/>
              </a:rPr>
              <a:t>환산 참고</a:t>
            </a:r>
          </a:p>
        </p:txBody>
      </p:sp>
      <p:sp>
        <p:nvSpPr>
          <p:cNvPr id="268" name="Rectangle 267"/>
          <p:cNvSpPr/>
          <p:nvPr/>
        </p:nvSpPr>
        <p:spPr>
          <a:xfrm>
            <a:off x="8147000" y="3455000"/>
            <a:ext cx="150000" cy="100000"/>
          </a:xfrm>
          <a:prstGeom prst="rect">
            <a:avLst/>
          </a:prstGeom>
          <a:solidFill>
            <a:srgbClr val="FBE5D6"/>
          </a:solidFill>
          <a:ln w="12700">
            <a:solidFill>
              <a:srgbClr val="ED7D31"/>
            </a:solidFill>
            <a:prstDash val="dash"/>
          </a:ln>
        </p:spPr>
        <p:txBody>
          <a:bodyPr rtlCol="0" anchor="ctr" lIns="30000" rIns="30000" tIns="0" bIns="0" wrap="square"/>
          <a:lstStyle/>
          <a:p>
            <a:pPr algn="ctr"/>
          </a:p>
        </p:txBody>
      </p:sp>
      <p:sp>
        <p:nvSpPr>
          <p:cNvPr id="269" name="TextBox 268"/>
          <p:cNvSpPr txBox="1"/>
          <p:nvPr/>
        </p:nvSpPr>
        <p:spPr>
          <a:xfrm>
            <a:off x="8337000" y="3430000"/>
            <a:ext cx="700000" cy="15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650" b="0" i="0">
                <a:solidFill>
                  <a:srgbClr val="3F3F3F"/>
                </a:solidFill>
                <a:latin typeface="Noto Sans KR"/>
                <a:ea typeface="Noto Sans KR"/>
                <a:cs typeface="Noto Sans KR"/>
              </a:rPr>
              <a:t>검토안</a:t>
            </a:r>
          </a:p>
        </p:txBody>
      </p:sp>
      <p:sp>
        <p:nvSpPr>
          <p:cNvPr id="270" name="TextBox 269"/>
          <p:cNvSpPr txBox="1"/>
          <p:nvPr/>
        </p:nvSpPr>
        <p:spPr>
          <a:xfrm>
            <a:off x="287000" y="3680000"/>
            <a:ext cx="1300000" cy="250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780" b="1" i="0">
                <a:solidFill>
                  <a:srgbClr val="1A1A1A"/>
                </a:solidFill>
                <a:latin typeface="Noto Sans KR"/>
                <a:ea typeface="Noto Sans KR"/>
                <a:cs typeface="Noto Sans KR"/>
              </a:rPr>
              <a:t>5 Gal 약 9병</a:t>
            </a:r>
          </a:p>
        </p:txBody>
      </p:sp>
      <p:sp>
        <p:nvSpPr>
          <p:cNvPr id="271" name="Rectangle 270"/>
          <p:cNvSpPr/>
          <p:nvPr/>
        </p:nvSpPr>
        <p:spPr>
          <a:xfrm>
            <a:off x="1636776" y="3700000"/>
            <a:ext cx="131224" cy="210000"/>
          </a:xfrm>
          <a:prstGeom prst="rect">
            <a:avLst/>
          </a:prstGeom>
          <a:solidFill>
            <a:srgbClr val="2E75B6"/>
          </a:solidFill>
          <a:ln w="6350">
            <a:solidFill>
              <a:srgbClr val="FFFFFF"/>
            </a:solidFill>
          </a:ln>
        </p:spPr>
        <p:txBody>
          <a:bodyPr rtlCol="0" anchor="ctr" lIns="30000" rIns="30000" tIns="0" bIns="0" wrap="square"/>
          <a:lstStyle/>
          <a:p>
            <a:pPr algn="ctr"/>
          </a:p>
        </p:txBody>
      </p:sp>
      <p:sp>
        <p:nvSpPr>
          <p:cNvPr id="272" name="Rectangle 271"/>
          <p:cNvSpPr/>
          <p:nvPr/>
        </p:nvSpPr>
        <p:spPr>
          <a:xfrm>
            <a:off x="1899224" y="3700000"/>
            <a:ext cx="2952549" cy="210000"/>
          </a:xfrm>
          <a:prstGeom prst="rect">
            <a:avLst/>
          </a:prstGeom>
          <a:solidFill>
            <a:srgbClr val="FF7900"/>
          </a:solidFill>
          <a:ln w="6350">
            <a:solidFill>
              <a:srgbClr val="FFFFFF"/>
            </a:solidFill>
          </a:ln>
        </p:spPr>
        <p:txBody>
          <a:bodyPr rtlCol="0" anchor="ctr" lIns="30000" rIns="30000" tIns="0" bIns="0" wrap="square"/>
          <a:lstStyle/>
          <a:p>
            <a:pPr algn="ctr"/>
            <a:r>
              <a:rPr sz="630" b="1" i="0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정제 45 h</a:t>
            </a:r>
          </a:p>
        </p:txBody>
      </p:sp>
      <p:sp>
        <p:nvSpPr>
          <p:cNvPr id="273" name="Rectangle 272"/>
          <p:cNvSpPr/>
          <p:nvPr/>
        </p:nvSpPr>
        <p:spPr>
          <a:xfrm>
            <a:off x="5245447" y="3700000"/>
            <a:ext cx="131224" cy="210000"/>
          </a:xfrm>
          <a:prstGeom prst="rect">
            <a:avLst/>
          </a:prstGeom>
          <a:solidFill>
            <a:srgbClr val="2E75B6"/>
          </a:solidFill>
          <a:ln w="6350">
            <a:solidFill>
              <a:srgbClr val="FFFFFF"/>
            </a:solidFill>
          </a:ln>
        </p:spPr>
        <p:txBody>
          <a:bodyPr rtlCol="0" anchor="ctr" lIns="30000" rIns="30000" tIns="0" bIns="0" wrap="square"/>
          <a:lstStyle/>
          <a:p>
            <a:pPr algn="ctr"/>
          </a:p>
        </p:txBody>
      </p:sp>
      <p:sp>
        <p:nvSpPr>
          <p:cNvPr id="274" name="Rectangle 273"/>
          <p:cNvSpPr/>
          <p:nvPr/>
        </p:nvSpPr>
        <p:spPr>
          <a:xfrm>
            <a:off x="5376672" y="3700000"/>
            <a:ext cx="1181019" cy="210000"/>
          </a:xfrm>
          <a:prstGeom prst="rect">
            <a:avLst/>
          </a:prstGeom>
          <a:solidFill>
            <a:srgbClr val="548235"/>
          </a:solidFill>
          <a:ln w="6350">
            <a:solidFill>
              <a:srgbClr val="FFFFFF"/>
            </a:solidFill>
          </a:ln>
        </p:spPr>
        <p:txBody>
          <a:bodyPr rtlCol="0" anchor="ctr" lIns="30000" rIns="30000" tIns="0" bIns="0" wrap="square"/>
          <a:lstStyle/>
          <a:p>
            <a:pPr algn="ctr"/>
            <a:r>
              <a:rPr sz="630" b="1" i="0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충진 18 h</a:t>
            </a:r>
          </a:p>
        </p:txBody>
      </p:sp>
      <p:sp>
        <p:nvSpPr>
          <p:cNvPr id="275" name="Rectangle 274"/>
          <p:cNvSpPr/>
          <p:nvPr/>
        </p:nvSpPr>
        <p:spPr>
          <a:xfrm>
            <a:off x="6557691" y="3700000"/>
            <a:ext cx="131224" cy="210000"/>
          </a:xfrm>
          <a:prstGeom prst="rect">
            <a:avLst/>
          </a:prstGeom>
          <a:solidFill>
            <a:srgbClr val="404040"/>
          </a:solidFill>
          <a:ln w="6350">
            <a:solidFill>
              <a:srgbClr val="FFFFFF"/>
            </a:solidFill>
          </a:ln>
        </p:spPr>
        <p:txBody>
          <a:bodyPr rtlCol="0" anchor="ctr" lIns="30000" rIns="30000" tIns="0" bIns="0" wrap="square"/>
          <a:lstStyle/>
          <a:p>
            <a:pPr algn="ctr"/>
          </a:p>
        </p:txBody>
      </p:sp>
      <p:sp>
        <p:nvSpPr>
          <p:cNvPr id="276" name="Rectangle 275"/>
          <p:cNvSpPr/>
          <p:nvPr/>
        </p:nvSpPr>
        <p:spPr>
          <a:xfrm>
            <a:off x="6698060" y="3700000"/>
            <a:ext cx="502920" cy="210000"/>
          </a:xfrm>
          <a:prstGeom prst="rect">
            <a:avLst/>
          </a:prstGeom>
          <a:solidFill>
            <a:srgbClr val="FFF2CC"/>
          </a:solidFill>
          <a:ln w="9525">
            <a:solidFill>
              <a:srgbClr val="BF9000"/>
            </a:solidFill>
            <a:prstDash val="dash"/>
          </a:ln>
        </p:spPr>
        <p:txBody>
          <a:bodyPr rtlCol="0" anchor="ctr" lIns="30000" rIns="30000" tIns="0" bIns="0" wrap="square"/>
          <a:lstStyle/>
          <a:p>
            <a:pPr algn="ctr"/>
            <a:r>
              <a:rPr sz="600" b="0" i="0">
                <a:solidFill>
                  <a:srgbClr val="7F6000"/>
                </a:solidFill>
                <a:latin typeface="Noto Sans KR"/>
                <a:ea typeface="Noto Sans KR"/>
                <a:cs typeface="Noto Sans KR"/>
              </a:rPr>
              <a:t>미확인</a:t>
            </a:r>
          </a:p>
        </p:txBody>
      </p:sp>
      <p:sp>
        <p:nvSpPr>
          <p:cNvPr id="277" name="TextBox 276"/>
          <p:cNvSpPr txBox="1"/>
          <p:nvPr/>
        </p:nvSpPr>
        <p:spPr>
          <a:xfrm>
            <a:off x="7255844" y="3680000"/>
            <a:ext cx="1500000" cy="250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 i="0">
                <a:solidFill>
                  <a:srgbClr val="1A1A1A"/>
                </a:solidFill>
                <a:latin typeface="Noto Sans KR"/>
                <a:ea typeface="Noto Sans KR"/>
                <a:cs typeface="Noto Sans KR"/>
              </a:rPr>
              <a:t>77 h</a:t>
            </a:r>
            <a:r>
              <a:rPr sz="700" b="0" i="0">
                <a:solidFill>
                  <a:srgbClr val="7F7F7F"/>
                </a:solidFill>
                <a:latin typeface="Noto Sans KR"/>
                <a:ea typeface="Noto Sans KR"/>
                <a:cs typeface="Noto Sans KR"/>
              </a:rPr>
              <a:t> + 미확인</a:t>
            </a:r>
          </a:p>
        </p:txBody>
      </p:sp>
      <p:sp>
        <p:nvSpPr>
          <p:cNvPr id="278" name="TextBox 277"/>
          <p:cNvSpPr txBox="1"/>
          <p:nvPr/>
        </p:nvSpPr>
        <p:spPr>
          <a:xfrm>
            <a:off x="287000" y="4010000"/>
            <a:ext cx="1300000" cy="250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780" b="1" i="0">
                <a:solidFill>
                  <a:srgbClr val="1A1A1A"/>
                </a:solidFill>
                <a:latin typeface="Noto Sans KR"/>
                <a:ea typeface="Noto Sans KR"/>
                <a:cs typeface="Noto Sans KR"/>
              </a:rPr>
              <a:t>이지켐 200 L 1용기</a:t>
            </a:r>
          </a:p>
        </p:txBody>
      </p:sp>
      <p:sp>
        <p:nvSpPr>
          <p:cNvPr id="279" name="Rectangle 278"/>
          <p:cNvSpPr/>
          <p:nvPr/>
        </p:nvSpPr>
        <p:spPr>
          <a:xfrm>
            <a:off x="1636776" y="4030000"/>
            <a:ext cx="131224" cy="210000"/>
          </a:xfrm>
          <a:prstGeom prst="rect">
            <a:avLst/>
          </a:prstGeom>
          <a:solidFill>
            <a:srgbClr val="2E75B6"/>
          </a:solidFill>
          <a:ln w="6350">
            <a:solidFill>
              <a:srgbClr val="FFFFFF"/>
            </a:solidFill>
          </a:ln>
        </p:spPr>
        <p:txBody>
          <a:bodyPr rtlCol="0" anchor="ctr" lIns="30000" rIns="30000" tIns="0" bIns="0" wrap="square"/>
          <a:lstStyle/>
          <a:p>
            <a:pPr algn="ctr"/>
          </a:p>
        </p:txBody>
      </p:sp>
      <p:sp>
        <p:nvSpPr>
          <p:cNvPr id="280" name="Rectangle 279"/>
          <p:cNvSpPr/>
          <p:nvPr/>
        </p:nvSpPr>
        <p:spPr>
          <a:xfrm>
            <a:off x="1899224" y="4030000"/>
            <a:ext cx="2952549" cy="210000"/>
          </a:xfrm>
          <a:prstGeom prst="rect">
            <a:avLst/>
          </a:prstGeom>
          <a:solidFill>
            <a:srgbClr val="FF7900"/>
          </a:solidFill>
          <a:ln w="6350">
            <a:solidFill>
              <a:srgbClr val="FFFFFF"/>
            </a:solidFill>
          </a:ln>
        </p:spPr>
        <p:txBody>
          <a:bodyPr rtlCol="0" anchor="ctr" lIns="30000" rIns="30000" tIns="0" bIns="0" wrap="square"/>
          <a:lstStyle/>
          <a:p>
            <a:pPr algn="ctr"/>
            <a:r>
              <a:rPr sz="630" b="1" i="0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정제 45 h</a:t>
            </a:r>
          </a:p>
        </p:txBody>
      </p:sp>
      <p:sp>
        <p:nvSpPr>
          <p:cNvPr id="281" name="Rectangle 280"/>
          <p:cNvSpPr/>
          <p:nvPr/>
        </p:nvSpPr>
        <p:spPr>
          <a:xfrm>
            <a:off x="5245447" y="4030000"/>
            <a:ext cx="131224" cy="210000"/>
          </a:xfrm>
          <a:prstGeom prst="rect">
            <a:avLst/>
          </a:prstGeom>
          <a:solidFill>
            <a:srgbClr val="2E75B6"/>
          </a:solidFill>
          <a:ln w="6350">
            <a:solidFill>
              <a:srgbClr val="FFFFFF"/>
            </a:solidFill>
          </a:ln>
        </p:spPr>
        <p:txBody>
          <a:bodyPr rtlCol="0" anchor="ctr" lIns="30000" rIns="30000" tIns="0" bIns="0" wrap="square"/>
          <a:lstStyle/>
          <a:p>
            <a:pPr algn="ctr"/>
          </a:p>
        </p:txBody>
      </p:sp>
      <p:sp>
        <p:nvSpPr>
          <p:cNvPr id="282" name="Rectangle 281"/>
          <p:cNvSpPr/>
          <p:nvPr/>
        </p:nvSpPr>
        <p:spPr>
          <a:xfrm>
            <a:off x="5376672" y="4030000"/>
            <a:ext cx="524897" cy="210000"/>
          </a:xfrm>
          <a:prstGeom prst="rect">
            <a:avLst/>
          </a:prstGeom>
          <a:solidFill>
            <a:srgbClr val="FF7900"/>
          </a:solidFill>
          <a:ln w="6350">
            <a:solidFill>
              <a:srgbClr val="FFFFFF"/>
            </a:solidFill>
          </a:ln>
        </p:spPr>
        <p:txBody>
          <a:bodyPr rtlCol="0" anchor="ctr" lIns="30000" rIns="30000" tIns="0" bIns="0" wrap="square"/>
          <a:lstStyle/>
          <a:p>
            <a:pPr algn="ctr"/>
            <a:r>
              <a:rPr sz="630" b="1" i="0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충진 8 h</a:t>
            </a:r>
          </a:p>
        </p:txBody>
      </p:sp>
      <p:sp>
        <p:nvSpPr>
          <p:cNvPr id="283" name="Rectangle 282"/>
          <p:cNvSpPr/>
          <p:nvPr/>
        </p:nvSpPr>
        <p:spPr>
          <a:xfrm>
            <a:off x="5901569" y="4030000"/>
            <a:ext cx="131224" cy="210000"/>
          </a:xfrm>
          <a:prstGeom prst="rect">
            <a:avLst/>
          </a:prstGeom>
          <a:solidFill>
            <a:srgbClr val="404040"/>
          </a:solidFill>
          <a:ln w="6350">
            <a:solidFill>
              <a:srgbClr val="FFFFFF"/>
            </a:solidFill>
          </a:ln>
        </p:spPr>
        <p:txBody>
          <a:bodyPr rtlCol="0" anchor="ctr" lIns="30000" rIns="30000" tIns="0" bIns="0" wrap="square"/>
          <a:lstStyle/>
          <a:p>
            <a:pPr algn="ctr"/>
          </a:p>
        </p:txBody>
      </p:sp>
      <p:sp>
        <p:nvSpPr>
          <p:cNvPr id="284" name="Rectangle 283"/>
          <p:cNvSpPr/>
          <p:nvPr/>
        </p:nvSpPr>
        <p:spPr>
          <a:xfrm>
            <a:off x="6041938" y="4030000"/>
            <a:ext cx="502920" cy="210000"/>
          </a:xfrm>
          <a:prstGeom prst="rect">
            <a:avLst/>
          </a:prstGeom>
          <a:solidFill>
            <a:srgbClr val="FFF2CC"/>
          </a:solidFill>
          <a:ln w="9525">
            <a:solidFill>
              <a:srgbClr val="BF9000"/>
            </a:solidFill>
            <a:prstDash val="dash"/>
          </a:ln>
        </p:spPr>
        <p:txBody>
          <a:bodyPr rtlCol="0" anchor="ctr" lIns="30000" rIns="30000" tIns="0" bIns="0" wrap="square"/>
          <a:lstStyle/>
          <a:p>
            <a:pPr algn="ctr"/>
            <a:r>
              <a:rPr sz="600" b="0" i="0">
                <a:solidFill>
                  <a:srgbClr val="7F6000"/>
                </a:solidFill>
                <a:latin typeface="Noto Sans KR"/>
                <a:ea typeface="Noto Sans KR"/>
                <a:cs typeface="Noto Sans KR"/>
              </a:rPr>
              <a:t>미확인</a:t>
            </a:r>
          </a:p>
        </p:txBody>
      </p:sp>
      <p:sp>
        <p:nvSpPr>
          <p:cNvPr id="285" name="TextBox 284"/>
          <p:cNvSpPr txBox="1"/>
          <p:nvPr/>
        </p:nvSpPr>
        <p:spPr>
          <a:xfrm>
            <a:off x="6599722" y="4010000"/>
            <a:ext cx="1500000" cy="250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 i="0">
                <a:solidFill>
                  <a:srgbClr val="1A1A1A"/>
                </a:solidFill>
                <a:latin typeface="Noto Sans KR"/>
                <a:ea typeface="Noto Sans KR"/>
                <a:cs typeface="Noto Sans KR"/>
              </a:rPr>
              <a:t>67 h</a:t>
            </a:r>
            <a:r>
              <a:rPr sz="700" b="0" i="0">
                <a:solidFill>
                  <a:srgbClr val="7F7F7F"/>
                </a:solidFill>
                <a:latin typeface="Noto Sans KR"/>
                <a:ea typeface="Noto Sans KR"/>
                <a:cs typeface="Noto Sans KR"/>
              </a:rPr>
              <a:t> + 미확인</a:t>
            </a:r>
          </a:p>
        </p:txBody>
      </p:sp>
      <p:sp>
        <p:nvSpPr>
          <p:cNvPr id="286" name="TextBox 285"/>
          <p:cNvSpPr txBox="1"/>
          <p:nvPr/>
        </p:nvSpPr>
        <p:spPr>
          <a:xfrm>
            <a:off x="287000" y="4350000"/>
            <a:ext cx="8570000" cy="15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650" b="0" i="0">
                <a:solidFill>
                  <a:srgbClr val="7F7F7F"/>
                </a:solidFill>
                <a:latin typeface="Noto Sans KR"/>
                <a:ea typeface="Noto Sans KR"/>
                <a:cs typeface="Noto Sans KR"/>
              </a:rPr>
              <a:t>※ IQC 2 + 준비·투입 2 + 정제 45 + PQC·이송 6 + FQC 2 = 57 h (중복 가산 없음) · OQC 2 h · 77 h·67 h는 확인시간 단순 합계 — 실제 달력 납기 아님 · 미확인: 대기·세척·전환·한솔 충진</a:t>
            </a:r>
          </a:p>
        </p:txBody>
      </p:sp>
      <p:sp>
        <p:nvSpPr>
          <p:cNvPr id="287" name="Rectangle 286"/>
          <p:cNvSpPr/>
          <p:nvPr/>
        </p:nvSpPr>
        <p:spPr>
          <a:xfrm>
            <a:off x="287000" y="4550000"/>
            <a:ext cx="50000" cy="165000"/>
          </a:xfrm>
          <a:prstGeom prst="rect">
            <a:avLst/>
          </a:prstGeom>
          <a:solidFill>
            <a:srgbClr val="EB002C"/>
          </a:solidFill>
          <a:ln>
            <a:noFill/>
          </a:ln>
        </p:spPr>
        <p:txBody>
          <a:bodyPr rtlCol="0" anchor="ctr" lIns="30000" rIns="30000" tIns="0" bIns="0" wrap="square"/>
          <a:lstStyle/>
          <a:p>
            <a:pPr algn="ctr"/>
          </a:p>
        </p:txBody>
      </p:sp>
      <p:sp>
        <p:nvSpPr>
          <p:cNvPr id="288" name="TextBox 287"/>
          <p:cNvSpPr txBox="1"/>
          <p:nvPr/>
        </p:nvSpPr>
        <p:spPr>
          <a:xfrm>
            <a:off x="397000" y="4520000"/>
            <a:ext cx="8000000" cy="22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1" i="0">
                <a:solidFill>
                  <a:srgbClr val="1A1A1A"/>
                </a:solidFill>
                <a:latin typeface="Noto Sans KR"/>
                <a:ea typeface="Noto Sans KR"/>
                <a:cs typeface="Noto Sans KR"/>
              </a:rPr>
              <a:t>② 11월 운전 예시 — 정제기 1대 월 11 Batch (과거 최대)</a:t>
            </a:r>
            <a:r>
              <a:rPr sz="700" b="0" i="0">
                <a:solidFill>
                  <a:srgbClr val="7F7F7F"/>
                </a:solidFill>
                <a:latin typeface="Noto Sans KR"/>
                <a:ea typeface="Noto Sans KR"/>
                <a:cs typeface="Noto Sans KR"/>
              </a:rPr>
              <a:t>   간격 65.5 h = 720÷11 (구성 확인)</a:t>
            </a:r>
          </a:p>
        </p:txBody>
      </p:sp>
      <p:sp>
        <p:nvSpPr>
          <p:cNvPr id="289" name="Rectangle 288"/>
          <p:cNvSpPr/>
          <p:nvPr/>
        </p:nvSpPr>
        <p:spPr>
          <a:xfrm>
            <a:off x="1167000" y="4770000"/>
            <a:ext cx="256333" cy="84500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rtlCol="0" anchor="ctr" lIns="30000" rIns="30000" tIns="0" bIns="0" wrap="square"/>
          <a:lstStyle/>
          <a:p>
            <a:pPr algn="ctr"/>
          </a:p>
        </p:txBody>
      </p:sp>
      <p:sp>
        <p:nvSpPr>
          <p:cNvPr id="290" name="TextBox 289"/>
          <p:cNvSpPr txBox="1"/>
          <p:nvPr/>
        </p:nvSpPr>
        <p:spPr>
          <a:xfrm>
            <a:off x="1167000" y="4770000"/>
            <a:ext cx="256333" cy="140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650" b="1" i="0">
                <a:solidFill>
                  <a:srgbClr val="EB002C"/>
                </a:solidFill>
                <a:latin typeface="Noto Sans KR"/>
                <a:ea typeface="Noto Sans KR"/>
                <a:cs typeface="Noto Sans KR"/>
              </a:rPr>
              <a:t>1</a:t>
            </a:r>
          </a:p>
        </p:txBody>
      </p:sp>
      <p:sp>
        <p:nvSpPr>
          <p:cNvPr id="291" name="TextBox 290"/>
          <p:cNvSpPr txBox="1"/>
          <p:nvPr/>
        </p:nvSpPr>
        <p:spPr>
          <a:xfrm>
            <a:off x="1167000" y="4910000"/>
            <a:ext cx="256333" cy="115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550" b="0" i="0">
                <a:solidFill>
                  <a:srgbClr val="EB002C"/>
                </a:solidFill>
                <a:latin typeface="Noto Sans KR"/>
                <a:ea typeface="Noto Sans KR"/>
                <a:cs typeface="Noto Sans KR"/>
              </a:rPr>
              <a:t>일</a:t>
            </a:r>
          </a:p>
        </p:txBody>
      </p:sp>
      <p:sp>
        <p:nvSpPr>
          <p:cNvPr id="292" name="TextBox 291"/>
          <p:cNvSpPr txBox="1"/>
          <p:nvPr/>
        </p:nvSpPr>
        <p:spPr>
          <a:xfrm>
            <a:off x="1423333" y="4770000"/>
            <a:ext cx="256333" cy="140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650" b="1" i="0">
                <a:solidFill>
                  <a:srgbClr val="1A1A1A"/>
                </a:solidFill>
                <a:latin typeface="Noto Sans KR"/>
                <a:ea typeface="Noto Sans KR"/>
                <a:cs typeface="Noto Sans KR"/>
              </a:rPr>
              <a:t>2</a:t>
            </a:r>
          </a:p>
        </p:txBody>
      </p:sp>
      <p:sp>
        <p:nvSpPr>
          <p:cNvPr id="293" name="TextBox 292"/>
          <p:cNvSpPr txBox="1"/>
          <p:nvPr/>
        </p:nvSpPr>
        <p:spPr>
          <a:xfrm>
            <a:off x="1423333" y="4910000"/>
            <a:ext cx="256333" cy="115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550" b="0" i="0">
                <a:solidFill>
                  <a:srgbClr val="7F7F7F"/>
                </a:solidFill>
                <a:latin typeface="Noto Sans KR"/>
                <a:ea typeface="Noto Sans KR"/>
                <a:cs typeface="Noto Sans KR"/>
              </a:rPr>
              <a:t>월</a:t>
            </a:r>
          </a:p>
        </p:txBody>
      </p:sp>
      <p:sp>
        <p:nvSpPr>
          <p:cNvPr id="294" name="TextBox 293"/>
          <p:cNvSpPr txBox="1"/>
          <p:nvPr/>
        </p:nvSpPr>
        <p:spPr>
          <a:xfrm>
            <a:off x="1679666" y="4770000"/>
            <a:ext cx="256333" cy="140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650" b="1" i="0">
                <a:solidFill>
                  <a:srgbClr val="1A1A1A"/>
                </a:solidFill>
                <a:latin typeface="Noto Sans KR"/>
                <a:ea typeface="Noto Sans KR"/>
                <a:cs typeface="Noto Sans KR"/>
              </a:rPr>
              <a:t>3</a:t>
            </a:r>
          </a:p>
        </p:txBody>
      </p:sp>
      <p:sp>
        <p:nvSpPr>
          <p:cNvPr id="295" name="TextBox 294"/>
          <p:cNvSpPr txBox="1"/>
          <p:nvPr/>
        </p:nvSpPr>
        <p:spPr>
          <a:xfrm>
            <a:off x="1679666" y="4910000"/>
            <a:ext cx="256333" cy="115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550" b="0" i="0">
                <a:solidFill>
                  <a:srgbClr val="7F7F7F"/>
                </a:solidFill>
                <a:latin typeface="Noto Sans KR"/>
                <a:ea typeface="Noto Sans KR"/>
                <a:cs typeface="Noto Sans KR"/>
              </a:rPr>
              <a:t>화</a:t>
            </a:r>
          </a:p>
        </p:txBody>
      </p:sp>
      <p:sp>
        <p:nvSpPr>
          <p:cNvPr id="296" name="TextBox 295"/>
          <p:cNvSpPr txBox="1"/>
          <p:nvPr/>
        </p:nvSpPr>
        <p:spPr>
          <a:xfrm>
            <a:off x="1936000" y="4770000"/>
            <a:ext cx="256333" cy="140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650" b="1" i="0">
                <a:solidFill>
                  <a:srgbClr val="1A1A1A"/>
                </a:solidFill>
                <a:latin typeface="Noto Sans KR"/>
                <a:ea typeface="Noto Sans KR"/>
                <a:cs typeface="Noto Sans KR"/>
              </a:rPr>
              <a:t>4</a:t>
            </a:r>
          </a:p>
        </p:txBody>
      </p:sp>
      <p:sp>
        <p:nvSpPr>
          <p:cNvPr id="297" name="TextBox 296"/>
          <p:cNvSpPr txBox="1"/>
          <p:nvPr/>
        </p:nvSpPr>
        <p:spPr>
          <a:xfrm>
            <a:off x="1936000" y="4910000"/>
            <a:ext cx="256333" cy="115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550" b="0" i="0">
                <a:solidFill>
                  <a:srgbClr val="7F7F7F"/>
                </a:solidFill>
                <a:latin typeface="Noto Sans KR"/>
                <a:ea typeface="Noto Sans KR"/>
                <a:cs typeface="Noto Sans KR"/>
              </a:rPr>
              <a:t>수</a:t>
            </a:r>
          </a:p>
        </p:txBody>
      </p:sp>
      <p:sp>
        <p:nvSpPr>
          <p:cNvPr id="298" name="TextBox 297"/>
          <p:cNvSpPr txBox="1"/>
          <p:nvPr/>
        </p:nvSpPr>
        <p:spPr>
          <a:xfrm>
            <a:off x="2192333" y="4770000"/>
            <a:ext cx="256333" cy="140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650" b="1" i="0">
                <a:solidFill>
                  <a:srgbClr val="1A1A1A"/>
                </a:solidFill>
                <a:latin typeface="Noto Sans KR"/>
                <a:ea typeface="Noto Sans KR"/>
                <a:cs typeface="Noto Sans KR"/>
              </a:rPr>
              <a:t>5</a:t>
            </a:r>
          </a:p>
        </p:txBody>
      </p:sp>
      <p:sp>
        <p:nvSpPr>
          <p:cNvPr id="299" name="TextBox 298"/>
          <p:cNvSpPr txBox="1"/>
          <p:nvPr/>
        </p:nvSpPr>
        <p:spPr>
          <a:xfrm>
            <a:off x="2192333" y="4910000"/>
            <a:ext cx="256333" cy="115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550" b="0" i="0">
                <a:solidFill>
                  <a:srgbClr val="7F7F7F"/>
                </a:solidFill>
                <a:latin typeface="Noto Sans KR"/>
                <a:ea typeface="Noto Sans KR"/>
                <a:cs typeface="Noto Sans KR"/>
              </a:rPr>
              <a:t>목</a:t>
            </a:r>
          </a:p>
        </p:txBody>
      </p:sp>
      <p:sp>
        <p:nvSpPr>
          <p:cNvPr id="300" name="TextBox 299"/>
          <p:cNvSpPr txBox="1"/>
          <p:nvPr/>
        </p:nvSpPr>
        <p:spPr>
          <a:xfrm>
            <a:off x="2448666" y="4770000"/>
            <a:ext cx="256333" cy="140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650" b="1" i="0">
                <a:solidFill>
                  <a:srgbClr val="1A1A1A"/>
                </a:solidFill>
                <a:latin typeface="Noto Sans KR"/>
                <a:ea typeface="Noto Sans KR"/>
                <a:cs typeface="Noto Sans KR"/>
              </a:rPr>
              <a:t>6</a:t>
            </a:r>
          </a:p>
        </p:txBody>
      </p:sp>
      <p:sp>
        <p:nvSpPr>
          <p:cNvPr id="301" name="TextBox 300"/>
          <p:cNvSpPr txBox="1"/>
          <p:nvPr/>
        </p:nvSpPr>
        <p:spPr>
          <a:xfrm>
            <a:off x="2448666" y="4910000"/>
            <a:ext cx="256333" cy="115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550" b="0" i="0">
                <a:solidFill>
                  <a:srgbClr val="7F7F7F"/>
                </a:solidFill>
                <a:latin typeface="Noto Sans KR"/>
                <a:ea typeface="Noto Sans KR"/>
                <a:cs typeface="Noto Sans KR"/>
              </a:rPr>
              <a:t>금</a:t>
            </a:r>
          </a:p>
        </p:txBody>
      </p:sp>
      <p:sp>
        <p:nvSpPr>
          <p:cNvPr id="302" name="Rectangle 301"/>
          <p:cNvSpPr/>
          <p:nvPr/>
        </p:nvSpPr>
        <p:spPr>
          <a:xfrm>
            <a:off x="2705000" y="4770000"/>
            <a:ext cx="256333" cy="84500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rtlCol="0" anchor="ctr" lIns="30000" rIns="30000" tIns="0" bIns="0" wrap="square"/>
          <a:lstStyle/>
          <a:p>
            <a:pPr algn="ctr"/>
          </a:p>
        </p:txBody>
      </p:sp>
      <p:sp>
        <p:nvSpPr>
          <p:cNvPr id="303" name="TextBox 302"/>
          <p:cNvSpPr txBox="1"/>
          <p:nvPr/>
        </p:nvSpPr>
        <p:spPr>
          <a:xfrm>
            <a:off x="2705000" y="4770000"/>
            <a:ext cx="256333" cy="140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650" b="1" i="0">
                <a:solidFill>
                  <a:srgbClr val="1A1A1A"/>
                </a:solidFill>
                <a:latin typeface="Noto Sans KR"/>
                <a:ea typeface="Noto Sans KR"/>
                <a:cs typeface="Noto Sans KR"/>
              </a:rPr>
              <a:t>7</a:t>
            </a:r>
          </a:p>
        </p:txBody>
      </p:sp>
      <p:sp>
        <p:nvSpPr>
          <p:cNvPr id="304" name="TextBox 303"/>
          <p:cNvSpPr txBox="1"/>
          <p:nvPr/>
        </p:nvSpPr>
        <p:spPr>
          <a:xfrm>
            <a:off x="2705000" y="4910000"/>
            <a:ext cx="256333" cy="115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550" b="0" i="0">
                <a:solidFill>
                  <a:srgbClr val="7F7F7F"/>
                </a:solidFill>
                <a:latin typeface="Noto Sans KR"/>
                <a:ea typeface="Noto Sans KR"/>
                <a:cs typeface="Noto Sans KR"/>
              </a:rPr>
              <a:t>토</a:t>
            </a:r>
          </a:p>
        </p:txBody>
      </p:sp>
      <p:sp>
        <p:nvSpPr>
          <p:cNvPr id="305" name="Rectangle 304"/>
          <p:cNvSpPr/>
          <p:nvPr/>
        </p:nvSpPr>
        <p:spPr>
          <a:xfrm>
            <a:off x="2961333" y="4770000"/>
            <a:ext cx="256333" cy="84500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rtlCol="0" anchor="ctr" lIns="30000" rIns="30000" tIns="0" bIns="0" wrap="square"/>
          <a:lstStyle/>
          <a:p>
            <a:pPr algn="ctr"/>
          </a:p>
        </p:txBody>
      </p:sp>
      <p:sp>
        <p:nvSpPr>
          <p:cNvPr id="306" name="TextBox 305"/>
          <p:cNvSpPr txBox="1"/>
          <p:nvPr/>
        </p:nvSpPr>
        <p:spPr>
          <a:xfrm>
            <a:off x="2961333" y="4770000"/>
            <a:ext cx="256333" cy="140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650" b="1" i="0">
                <a:solidFill>
                  <a:srgbClr val="EB002C"/>
                </a:solidFill>
                <a:latin typeface="Noto Sans KR"/>
                <a:ea typeface="Noto Sans KR"/>
                <a:cs typeface="Noto Sans KR"/>
              </a:rPr>
              <a:t>8</a:t>
            </a:r>
          </a:p>
        </p:txBody>
      </p:sp>
      <p:sp>
        <p:nvSpPr>
          <p:cNvPr id="307" name="TextBox 306"/>
          <p:cNvSpPr txBox="1"/>
          <p:nvPr/>
        </p:nvSpPr>
        <p:spPr>
          <a:xfrm>
            <a:off x="2961333" y="4910000"/>
            <a:ext cx="256333" cy="115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550" b="0" i="0">
                <a:solidFill>
                  <a:srgbClr val="EB002C"/>
                </a:solidFill>
                <a:latin typeface="Noto Sans KR"/>
                <a:ea typeface="Noto Sans KR"/>
                <a:cs typeface="Noto Sans KR"/>
              </a:rPr>
              <a:t>일</a:t>
            </a:r>
          </a:p>
        </p:txBody>
      </p:sp>
      <p:sp>
        <p:nvSpPr>
          <p:cNvPr id="308" name="TextBox 307"/>
          <p:cNvSpPr txBox="1"/>
          <p:nvPr/>
        </p:nvSpPr>
        <p:spPr>
          <a:xfrm>
            <a:off x="3217666" y="4770000"/>
            <a:ext cx="256333" cy="140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650" b="1" i="0">
                <a:solidFill>
                  <a:srgbClr val="1A1A1A"/>
                </a:solidFill>
                <a:latin typeface="Noto Sans KR"/>
                <a:ea typeface="Noto Sans KR"/>
                <a:cs typeface="Noto Sans KR"/>
              </a:rPr>
              <a:t>9</a:t>
            </a:r>
          </a:p>
        </p:txBody>
      </p:sp>
      <p:sp>
        <p:nvSpPr>
          <p:cNvPr id="309" name="TextBox 308"/>
          <p:cNvSpPr txBox="1"/>
          <p:nvPr/>
        </p:nvSpPr>
        <p:spPr>
          <a:xfrm>
            <a:off x="3217666" y="4910000"/>
            <a:ext cx="256333" cy="115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550" b="0" i="0">
                <a:solidFill>
                  <a:srgbClr val="7F7F7F"/>
                </a:solidFill>
                <a:latin typeface="Noto Sans KR"/>
                <a:ea typeface="Noto Sans KR"/>
                <a:cs typeface="Noto Sans KR"/>
              </a:rPr>
              <a:t>월</a:t>
            </a:r>
          </a:p>
        </p:txBody>
      </p:sp>
      <p:sp>
        <p:nvSpPr>
          <p:cNvPr id="310" name="TextBox 309"/>
          <p:cNvSpPr txBox="1"/>
          <p:nvPr/>
        </p:nvSpPr>
        <p:spPr>
          <a:xfrm>
            <a:off x="3474000" y="4770000"/>
            <a:ext cx="256333" cy="140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650" b="1" i="0">
                <a:solidFill>
                  <a:srgbClr val="1A1A1A"/>
                </a:solidFill>
                <a:latin typeface="Noto Sans KR"/>
                <a:ea typeface="Noto Sans KR"/>
                <a:cs typeface="Noto Sans KR"/>
              </a:rPr>
              <a:t>10</a:t>
            </a:r>
          </a:p>
        </p:txBody>
      </p:sp>
      <p:sp>
        <p:nvSpPr>
          <p:cNvPr id="311" name="TextBox 310"/>
          <p:cNvSpPr txBox="1"/>
          <p:nvPr/>
        </p:nvSpPr>
        <p:spPr>
          <a:xfrm>
            <a:off x="3474000" y="4910000"/>
            <a:ext cx="256333" cy="115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550" b="0" i="0">
                <a:solidFill>
                  <a:srgbClr val="7F7F7F"/>
                </a:solidFill>
                <a:latin typeface="Noto Sans KR"/>
                <a:ea typeface="Noto Sans KR"/>
                <a:cs typeface="Noto Sans KR"/>
              </a:rPr>
              <a:t>화</a:t>
            </a:r>
          </a:p>
        </p:txBody>
      </p:sp>
      <p:sp>
        <p:nvSpPr>
          <p:cNvPr id="312" name="TextBox 311"/>
          <p:cNvSpPr txBox="1"/>
          <p:nvPr/>
        </p:nvSpPr>
        <p:spPr>
          <a:xfrm>
            <a:off x="3730333" y="4770000"/>
            <a:ext cx="256333" cy="140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650" b="1" i="0">
                <a:solidFill>
                  <a:srgbClr val="1A1A1A"/>
                </a:solidFill>
                <a:latin typeface="Noto Sans KR"/>
                <a:ea typeface="Noto Sans KR"/>
                <a:cs typeface="Noto Sans KR"/>
              </a:rPr>
              <a:t>11</a:t>
            </a:r>
          </a:p>
        </p:txBody>
      </p:sp>
      <p:sp>
        <p:nvSpPr>
          <p:cNvPr id="313" name="TextBox 312"/>
          <p:cNvSpPr txBox="1"/>
          <p:nvPr/>
        </p:nvSpPr>
        <p:spPr>
          <a:xfrm>
            <a:off x="3730333" y="4910000"/>
            <a:ext cx="256333" cy="115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550" b="0" i="0">
                <a:solidFill>
                  <a:srgbClr val="7F7F7F"/>
                </a:solidFill>
                <a:latin typeface="Noto Sans KR"/>
                <a:ea typeface="Noto Sans KR"/>
                <a:cs typeface="Noto Sans KR"/>
              </a:rPr>
              <a:t>수</a:t>
            </a:r>
          </a:p>
        </p:txBody>
      </p:sp>
      <p:sp>
        <p:nvSpPr>
          <p:cNvPr id="314" name="TextBox 313"/>
          <p:cNvSpPr txBox="1"/>
          <p:nvPr/>
        </p:nvSpPr>
        <p:spPr>
          <a:xfrm>
            <a:off x="3986666" y="4770000"/>
            <a:ext cx="256333" cy="140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650" b="1" i="0">
                <a:solidFill>
                  <a:srgbClr val="1A1A1A"/>
                </a:solidFill>
                <a:latin typeface="Noto Sans KR"/>
                <a:ea typeface="Noto Sans KR"/>
                <a:cs typeface="Noto Sans KR"/>
              </a:rPr>
              <a:t>12</a:t>
            </a:r>
          </a:p>
        </p:txBody>
      </p:sp>
      <p:sp>
        <p:nvSpPr>
          <p:cNvPr id="315" name="TextBox 314"/>
          <p:cNvSpPr txBox="1"/>
          <p:nvPr/>
        </p:nvSpPr>
        <p:spPr>
          <a:xfrm>
            <a:off x="3986666" y="4910000"/>
            <a:ext cx="256333" cy="115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550" b="0" i="0">
                <a:solidFill>
                  <a:srgbClr val="7F7F7F"/>
                </a:solidFill>
                <a:latin typeface="Noto Sans KR"/>
                <a:ea typeface="Noto Sans KR"/>
                <a:cs typeface="Noto Sans KR"/>
              </a:rPr>
              <a:t>목</a:t>
            </a:r>
          </a:p>
        </p:txBody>
      </p:sp>
      <p:sp>
        <p:nvSpPr>
          <p:cNvPr id="316" name="TextBox 315"/>
          <p:cNvSpPr txBox="1"/>
          <p:nvPr/>
        </p:nvSpPr>
        <p:spPr>
          <a:xfrm>
            <a:off x="4243000" y="4770000"/>
            <a:ext cx="256333" cy="140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650" b="1" i="0">
                <a:solidFill>
                  <a:srgbClr val="1A1A1A"/>
                </a:solidFill>
                <a:latin typeface="Noto Sans KR"/>
                <a:ea typeface="Noto Sans KR"/>
                <a:cs typeface="Noto Sans KR"/>
              </a:rPr>
              <a:t>13</a:t>
            </a:r>
          </a:p>
        </p:txBody>
      </p:sp>
      <p:sp>
        <p:nvSpPr>
          <p:cNvPr id="317" name="TextBox 316"/>
          <p:cNvSpPr txBox="1"/>
          <p:nvPr/>
        </p:nvSpPr>
        <p:spPr>
          <a:xfrm>
            <a:off x="4243000" y="4910000"/>
            <a:ext cx="256333" cy="115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550" b="0" i="0">
                <a:solidFill>
                  <a:srgbClr val="7F7F7F"/>
                </a:solidFill>
                <a:latin typeface="Noto Sans KR"/>
                <a:ea typeface="Noto Sans KR"/>
                <a:cs typeface="Noto Sans KR"/>
              </a:rPr>
              <a:t>금</a:t>
            </a:r>
          </a:p>
        </p:txBody>
      </p:sp>
      <p:sp>
        <p:nvSpPr>
          <p:cNvPr id="318" name="Rectangle 317"/>
          <p:cNvSpPr/>
          <p:nvPr/>
        </p:nvSpPr>
        <p:spPr>
          <a:xfrm>
            <a:off x="4499333" y="4770000"/>
            <a:ext cx="256333" cy="84500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rtlCol="0" anchor="ctr" lIns="30000" rIns="30000" tIns="0" bIns="0" wrap="square"/>
          <a:lstStyle/>
          <a:p>
            <a:pPr algn="ctr"/>
          </a:p>
        </p:txBody>
      </p:sp>
      <p:sp>
        <p:nvSpPr>
          <p:cNvPr id="319" name="TextBox 318"/>
          <p:cNvSpPr txBox="1"/>
          <p:nvPr/>
        </p:nvSpPr>
        <p:spPr>
          <a:xfrm>
            <a:off x="4499333" y="4770000"/>
            <a:ext cx="256333" cy="140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650" b="1" i="0">
                <a:solidFill>
                  <a:srgbClr val="1A1A1A"/>
                </a:solidFill>
                <a:latin typeface="Noto Sans KR"/>
                <a:ea typeface="Noto Sans KR"/>
                <a:cs typeface="Noto Sans KR"/>
              </a:rPr>
              <a:t>14</a:t>
            </a:r>
          </a:p>
        </p:txBody>
      </p:sp>
      <p:sp>
        <p:nvSpPr>
          <p:cNvPr id="320" name="TextBox 319"/>
          <p:cNvSpPr txBox="1"/>
          <p:nvPr/>
        </p:nvSpPr>
        <p:spPr>
          <a:xfrm>
            <a:off x="4499333" y="4910000"/>
            <a:ext cx="256333" cy="115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550" b="0" i="0">
                <a:solidFill>
                  <a:srgbClr val="7F7F7F"/>
                </a:solidFill>
                <a:latin typeface="Noto Sans KR"/>
                <a:ea typeface="Noto Sans KR"/>
                <a:cs typeface="Noto Sans KR"/>
              </a:rPr>
              <a:t>토</a:t>
            </a:r>
          </a:p>
        </p:txBody>
      </p:sp>
      <p:sp>
        <p:nvSpPr>
          <p:cNvPr id="321" name="Rectangle 320"/>
          <p:cNvSpPr/>
          <p:nvPr/>
        </p:nvSpPr>
        <p:spPr>
          <a:xfrm>
            <a:off x="4755666" y="4770000"/>
            <a:ext cx="256333" cy="84500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rtlCol="0" anchor="ctr" lIns="30000" rIns="30000" tIns="0" bIns="0" wrap="square"/>
          <a:lstStyle/>
          <a:p>
            <a:pPr algn="ctr"/>
          </a:p>
        </p:txBody>
      </p:sp>
      <p:sp>
        <p:nvSpPr>
          <p:cNvPr id="322" name="TextBox 321"/>
          <p:cNvSpPr txBox="1"/>
          <p:nvPr/>
        </p:nvSpPr>
        <p:spPr>
          <a:xfrm>
            <a:off x="4755666" y="4770000"/>
            <a:ext cx="256333" cy="140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650" b="1" i="0">
                <a:solidFill>
                  <a:srgbClr val="EB002C"/>
                </a:solidFill>
                <a:latin typeface="Noto Sans KR"/>
                <a:ea typeface="Noto Sans KR"/>
                <a:cs typeface="Noto Sans KR"/>
              </a:rPr>
              <a:t>15</a:t>
            </a:r>
          </a:p>
        </p:txBody>
      </p:sp>
      <p:sp>
        <p:nvSpPr>
          <p:cNvPr id="323" name="TextBox 322"/>
          <p:cNvSpPr txBox="1"/>
          <p:nvPr/>
        </p:nvSpPr>
        <p:spPr>
          <a:xfrm>
            <a:off x="4755666" y="4910000"/>
            <a:ext cx="256333" cy="115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550" b="0" i="0">
                <a:solidFill>
                  <a:srgbClr val="EB002C"/>
                </a:solidFill>
                <a:latin typeface="Noto Sans KR"/>
                <a:ea typeface="Noto Sans KR"/>
                <a:cs typeface="Noto Sans KR"/>
              </a:rPr>
              <a:t>일</a:t>
            </a:r>
          </a:p>
        </p:txBody>
      </p:sp>
      <p:sp>
        <p:nvSpPr>
          <p:cNvPr id="324" name="TextBox 323"/>
          <p:cNvSpPr txBox="1"/>
          <p:nvPr/>
        </p:nvSpPr>
        <p:spPr>
          <a:xfrm>
            <a:off x="5012000" y="4770000"/>
            <a:ext cx="256333" cy="140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650" b="1" i="0">
                <a:solidFill>
                  <a:srgbClr val="1A1A1A"/>
                </a:solidFill>
                <a:latin typeface="Noto Sans KR"/>
                <a:ea typeface="Noto Sans KR"/>
                <a:cs typeface="Noto Sans KR"/>
              </a:rPr>
              <a:t>16</a:t>
            </a:r>
          </a:p>
        </p:txBody>
      </p:sp>
      <p:sp>
        <p:nvSpPr>
          <p:cNvPr id="325" name="TextBox 324"/>
          <p:cNvSpPr txBox="1"/>
          <p:nvPr/>
        </p:nvSpPr>
        <p:spPr>
          <a:xfrm>
            <a:off x="5012000" y="4910000"/>
            <a:ext cx="256333" cy="115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550" b="0" i="0">
                <a:solidFill>
                  <a:srgbClr val="7F7F7F"/>
                </a:solidFill>
                <a:latin typeface="Noto Sans KR"/>
                <a:ea typeface="Noto Sans KR"/>
                <a:cs typeface="Noto Sans KR"/>
              </a:rPr>
              <a:t>월</a:t>
            </a:r>
          </a:p>
        </p:txBody>
      </p:sp>
      <p:sp>
        <p:nvSpPr>
          <p:cNvPr id="326" name="TextBox 325"/>
          <p:cNvSpPr txBox="1"/>
          <p:nvPr/>
        </p:nvSpPr>
        <p:spPr>
          <a:xfrm>
            <a:off x="5268333" y="4770000"/>
            <a:ext cx="256333" cy="140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650" b="1" i="0">
                <a:solidFill>
                  <a:srgbClr val="1A1A1A"/>
                </a:solidFill>
                <a:latin typeface="Noto Sans KR"/>
                <a:ea typeface="Noto Sans KR"/>
                <a:cs typeface="Noto Sans KR"/>
              </a:rPr>
              <a:t>17</a:t>
            </a:r>
          </a:p>
        </p:txBody>
      </p:sp>
      <p:sp>
        <p:nvSpPr>
          <p:cNvPr id="327" name="TextBox 326"/>
          <p:cNvSpPr txBox="1"/>
          <p:nvPr/>
        </p:nvSpPr>
        <p:spPr>
          <a:xfrm>
            <a:off x="5268333" y="4910000"/>
            <a:ext cx="256333" cy="115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550" b="0" i="0">
                <a:solidFill>
                  <a:srgbClr val="7F7F7F"/>
                </a:solidFill>
                <a:latin typeface="Noto Sans KR"/>
                <a:ea typeface="Noto Sans KR"/>
                <a:cs typeface="Noto Sans KR"/>
              </a:rPr>
              <a:t>화</a:t>
            </a:r>
          </a:p>
        </p:txBody>
      </p:sp>
      <p:sp>
        <p:nvSpPr>
          <p:cNvPr id="328" name="TextBox 327"/>
          <p:cNvSpPr txBox="1"/>
          <p:nvPr/>
        </p:nvSpPr>
        <p:spPr>
          <a:xfrm>
            <a:off x="5524666" y="4770000"/>
            <a:ext cx="256333" cy="140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650" b="1" i="0">
                <a:solidFill>
                  <a:srgbClr val="1A1A1A"/>
                </a:solidFill>
                <a:latin typeface="Noto Sans KR"/>
                <a:ea typeface="Noto Sans KR"/>
                <a:cs typeface="Noto Sans KR"/>
              </a:rPr>
              <a:t>18</a:t>
            </a:r>
          </a:p>
        </p:txBody>
      </p:sp>
      <p:sp>
        <p:nvSpPr>
          <p:cNvPr id="329" name="TextBox 328"/>
          <p:cNvSpPr txBox="1"/>
          <p:nvPr/>
        </p:nvSpPr>
        <p:spPr>
          <a:xfrm>
            <a:off x="5524666" y="4910000"/>
            <a:ext cx="256333" cy="115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550" b="0" i="0">
                <a:solidFill>
                  <a:srgbClr val="7F7F7F"/>
                </a:solidFill>
                <a:latin typeface="Noto Sans KR"/>
                <a:ea typeface="Noto Sans KR"/>
                <a:cs typeface="Noto Sans KR"/>
              </a:rPr>
              <a:t>수</a:t>
            </a:r>
          </a:p>
        </p:txBody>
      </p:sp>
      <p:sp>
        <p:nvSpPr>
          <p:cNvPr id="330" name="TextBox 329"/>
          <p:cNvSpPr txBox="1"/>
          <p:nvPr/>
        </p:nvSpPr>
        <p:spPr>
          <a:xfrm>
            <a:off x="5781000" y="4770000"/>
            <a:ext cx="256333" cy="140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650" b="1" i="0">
                <a:solidFill>
                  <a:srgbClr val="1A1A1A"/>
                </a:solidFill>
                <a:latin typeface="Noto Sans KR"/>
                <a:ea typeface="Noto Sans KR"/>
                <a:cs typeface="Noto Sans KR"/>
              </a:rPr>
              <a:t>19</a:t>
            </a:r>
          </a:p>
        </p:txBody>
      </p:sp>
      <p:sp>
        <p:nvSpPr>
          <p:cNvPr id="331" name="TextBox 330"/>
          <p:cNvSpPr txBox="1"/>
          <p:nvPr/>
        </p:nvSpPr>
        <p:spPr>
          <a:xfrm>
            <a:off x="5781000" y="4910000"/>
            <a:ext cx="256333" cy="115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550" b="0" i="0">
                <a:solidFill>
                  <a:srgbClr val="7F7F7F"/>
                </a:solidFill>
                <a:latin typeface="Noto Sans KR"/>
                <a:ea typeface="Noto Sans KR"/>
                <a:cs typeface="Noto Sans KR"/>
              </a:rPr>
              <a:t>목</a:t>
            </a:r>
          </a:p>
        </p:txBody>
      </p:sp>
      <p:sp>
        <p:nvSpPr>
          <p:cNvPr id="332" name="TextBox 331"/>
          <p:cNvSpPr txBox="1"/>
          <p:nvPr/>
        </p:nvSpPr>
        <p:spPr>
          <a:xfrm>
            <a:off x="6037333" y="4770000"/>
            <a:ext cx="256333" cy="140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650" b="1" i="0">
                <a:solidFill>
                  <a:srgbClr val="1A1A1A"/>
                </a:solidFill>
                <a:latin typeface="Noto Sans KR"/>
                <a:ea typeface="Noto Sans KR"/>
                <a:cs typeface="Noto Sans KR"/>
              </a:rPr>
              <a:t>20</a:t>
            </a:r>
          </a:p>
        </p:txBody>
      </p:sp>
      <p:sp>
        <p:nvSpPr>
          <p:cNvPr id="333" name="TextBox 332"/>
          <p:cNvSpPr txBox="1"/>
          <p:nvPr/>
        </p:nvSpPr>
        <p:spPr>
          <a:xfrm>
            <a:off x="6037333" y="4910000"/>
            <a:ext cx="256333" cy="115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550" b="0" i="0">
                <a:solidFill>
                  <a:srgbClr val="7F7F7F"/>
                </a:solidFill>
                <a:latin typeface="Noto Sans KR"/>
                <a:ea typeface="Noto Sans KR"/>
                <a:cs typeface="Noto Sans KR"/>
              </a:rPr>
              <a:t>금</a:t>
            </a:r>
          </a:p>
        </p:txBody>
      </p:sp>
      <p:sp>
        <p:nvSpPr>
          <p:cNvPr id="334" name="Rectangle 333"/>
          <p:cNvSpPr/>
          <p:nvPr/>
        </p:nvSpPr>
        <p:spPr>
          <a:xfrm>
            <a:off x="6293666" y="4770000"/>
            <a:ext cx="256333" cy="84500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rtlCol="0" anchor="ctr" lIns="30000" rIns="30000" tIns="0" bIns="0" wrap="square"/>
          <a:lstStyle/>
          <a:p>
            <a:pPr algn="ctr"/>
          </a:p>
        </p:txBody>
      </p:sp>
      <p:sp>
        <p:nvSpPr>
          <p:cNvPr id="335" name="TextBox 334"/>
          <p:cNvSpPr txBox="1"/>
          <p:nvPr/>
        </p:nvSpPr>
        <p:spPr>
          <a:xfrm>
            <a:off x="6293666" y="4770000"/>
            <a:ext cx="256333" cy="140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650" b="1" i="0">
                <a:solidFill>
                  <a:srgbClr val="1A1A1A"/>
                </a:solidFill>
                <a:latin typeface="Noto Sans KR"/>
                <a:ea typeface="Noto Sans KR"/>
                <a:cs typeface="Noto Sans KR"/>
              </a:rPr>
              <a:t>21</a:t>
            </a:r>
          </a:p>
        </p:txBody>
      </p:sp>
      <p:sp>
        <p:nvSpPr>
          <p:cNvPr id="336" name="TextBox 335"/>
          <p:cNvSpPr txBox="1"/>
          <p:nvPr/>
        </p:nvSpPr>
        <p:spPr>
          <a:xfrm>
            <a:off x="6293666" y="4910000"/>
            <a:ext cx="256333" cy="115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550" b="0" i="0">
                <a:solidFill>
                  <a:srgbClr val="7F7F7F"/>
                </a:solidFill>
                <a:latin typeface="Noto Sans KR"/>
                <a:ea typeface="Noto Sans KR"/>
                <a:cs typeface="Noto Sans KR"/>
              </a:rPr>
              <a:t>토</a:t>
            </a:r>
          </a:p>
        </p:txBody>
      </p:sp>
      <p:sp>
        <p:nvSpPr>
          <p:cNvPr id="337" name="Rectangle 336"/>
          <p:cNvSpPr/>
          <p:nvPr/>
        </p:nvSpPr>
        <p:spPr>
          <a:xfrm>
            <a:off x="6550000" y="4770000"/>
            <a:ext cx="256333" cy="84500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rtlCol="0" anchor="ctr" lIns="30000" rIns="30000" tIns="0" bIns="0" wrap="square"/>
          <a:lstStyle/>
          <a:p>
            <a:pPr algn="ctr"/>
          </a:p>
        </p:txBody>
      </p:sp>
      <p:sp>
        <p:nvSpPr>
          <p:cNvPr id="338" name="TextBox 337"/>
          <p:cNvSpPr txBox="1"/>
          <p:nvPr/>
        </p:nvSpPr>
        <p:spPr>
          <a:xfrm>
            <a:off x="6550000" y="4770000"/>
            <a:ext cx="256333" cy="140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650" b="1" i="0">
                <a:solidFill>
                  <a:srgbClr val="EB002C"/>
                </a:solidFill>
                <a:latin typeface="Noto Sans KR"/>
                <a:ea typeface="Noto Sans KR"/>
                <a:cs typeface="Noto Sans KR"/>
              </a:rPr>
              <a:t>22</a:t>
            </a:r>
          </a:p>
        </p:txBody>
      </p:sp>
      <p:sp>
        <p:nvSpPr>
          <p:cNvPr id="339" name="TextBox 338"/>
          <p:cNvSpPr txBox="1"/>
          <p:nvPr/>
        </p:nvSpPr>
        <p:spPr>
          <a:xfrm>
            <a:off x="6550000" y="4910000"/>
            <a:ext cx="256333" cy="115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550" b="0" i="0">
                <a:solidFill>
                  <a:srgbClr val="EB002C"/>
                </a:solidFill>
                <a:latin typeface="Noto Sans KR"/>
                <a:ea typeface="Noto Sans KR"/>
                <a:cs typeface="Noto Sans KR"/>
              </a:rPr>
              <a:t>일</a:t>
            </a:r>
          </a:p>
        </p:txBody>
      </p:sp>
      <p:sp>
        <p:nvSpPr>
          <p:cNvPr id="340" name="TextBox 339"/>
          <p:cNvSpPr txBox="1"/>
          <p:nvPr/>
        </p:nvSpPr>
        <p:spPr>
          <a:xfrm>
            <a:off x="6806333" y="4770000"/>
            <a:ext cx="256333" cy="140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650" b="1" i="0">
                <a:solidFill>
                  <a:srgbClr val="1A1A1A"/>
                </a:solidFill>
                <a:latin typeface="Noto Sans KR"/>
                <a:ea typeface="Noto Sans KR"/>
                <a:cs typeface="Noto Sans KR"/>
              </a:rPr>
              <a:t>23</a:t>
            </a:r>
          </a:p>
        </p:txBody>
      </p:sp>
      <p:sp>
        <p:nvSpPr>
          <p:cNvPr id="341" name="TextBox 340"/>
          <p:cNvSpPr txBox="1"/>
          <p:nvPr/>
        </p:nvSpPr>
        <p:spPr>
          <a:xfrm>
            <a:off x="6806333" y="4910000"/>
            <a:ext cx="256333" cy="115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550" b="0" i="0">
                <a:solidFill>
                  <a:srgbClr val="7F7F7F"/>
                </a:solidFill>
                <a:latin typeface="Noto Sans KR"/>
                <a:ea typeface="Noto Sans KR"/>
                <a:cs typeface="Noto Sans KR"/>
              </a:rPr>
              <a:t>월</a:t>
            </a:r>
          </a:p>
        </p:txBody>
      </p:sp>
      <p:sp>
        <p:nvSpPr>
          <p:cNvPr id="342" name="TextBox 341"/>
          <p:cNvSpPr txBox="1"/>
          <p:nvPr/>
        </p:nvSpPr>
        <p:spPr>
          <a:xfrm>
            <a:off x="7062666" y="4770000"/>
            <a:ext cx="256333" cy="140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650" b="1" i="0">
                <a:solidFill>
                  <a:srgbClr val="1A1A1A"/>
                </a:solidFill>
                <a:latin typeface="Noto Sans KR"/>
                <a:ea typeface="Noto Sans KR"/>
                <a:cs typeface="Noto Sans KR"/>
              </a:rPr>
              <a:t>24</a:t>
            </a:r>
          </a:p>
        </p:txBody>
      </p:sp>
      <p:sp>
        <p:nvSpPr>
          <p:cNvPr id="343" name="TextBox 342"/>
          <p:cNvSpPr txBox="1"/>
          <p:nvPr/>
        </p:nvSpPr>
        <p:spPr>
          <a:xfrm>
            <a:off x="7062666" y="4910000"/>
            <a:ext cx="256333" cy="115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550" b="0" i="0">
                <a:solidFill>
                  <a:srgbClr val="7F7F7F"/>
                </a:solidFill>
                <a:latin typeface="Noto Sans KR"/>
                <a:ea typeface="Noto Sans KR"/>
                <a:cs typeface="Noto Sans KR"/>
              </a:rPr>
              <a:t>화</a:t>
            </a:r>
          </a:p>
        </p:txBody>
      </p:sp>
      <p:sp>
        <p:nvSpPr>
          <p:cNvPr id="344" name="TextBox 343"/>
          <p:cNvSpPr txBox="1"/>
          <p:nvPr/>
        </p:nvSpPr>
        <p:spPr>
          <a:xfrm>
            <a:off x="7319000" y="4770000"/>
            <a:ext cx="256333" cy="140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650" b="1" i="0">
                <a:solidFill>
                  <a:srgbClr val="1A1A1A"/>
                </a:solidFill>
                <a:latin typeface="Noto Sans KR"/>
                <a:ea typeface="Noto Sans KR"/>
                <a:cs typeface="Noto Sans KR"/>
              </a:rPr>
              <a:t>25</a:t>
            </a:r>
          </a:p>
        </p:txBody>
      </p:sp>
      <p:sp>
        <p:nvSpPr>
          <p:cNvPr id="345" name="TextBox 344"/>
          <p:cNvSpPr txBox="1"/>
          <p:nvPr/>
        </p:nvSpPr>
        <p:spPr>
          <a:xfrm>
            <a:off x="7319000" y="4910000"/>
            <a:ext cx="256333" cy="115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550" b="0" i="0">
                <a:solidFill>
                  <a:srgbClr val="7F7F7F"/>
                </a:solidFill>
                <a:latin typeface="Noto Sans KR"/>
                <a:ea typeface="Noto Sans KR"/>
                <a:cs typeface="Noto Sans KR"/>
              </a:rPr>
              <a:t>수</a:t>
            </a:r>
          </a:p>
        </p:txBody>
      </p:sp>
      <p:sp>
        <p:nvSpPr>
          <p:cNvPr id="346" name="TextBox 345"/>
          <p:cNvSpPr txBox="1"/>
          <p:nvPr/>
        </p:nvSpPr>
        <p:spPr>
          <a:xfrm>
            <a:off x="7575333" y="4770000"/>
            <a:ext cx="256333" cy="140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650" b="1" i="0">
                <a:solidFill>
                  <a:srgbClr val="1A1A1A"/>
                </a:solidFill>
                <a:latin typeface="Noto Sans KR"/>
                <a:ea typeface="Noto Sans KR"/>
                <a:cs typeface="Noto Sans KR"/>
              </a:rPr>
              <a:t>26</a:t>
            </a:r>
          </a:p>
        </p:txBody>
      </p:sp>
      <p:sp>
        <p:nvSpPr>
          <p:cNvPr id="347" name="TextBox 346"/>
          <p:cNvSpPr txBox="1"/>
          <p:nvPr/>
        </p:nvSpPr>
        <p:spPr>
          <a:xfrm>
            <a:off x="7575333" y="4910000"/>
            <a:ext cx="256333" cy="115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550" b="0" i="0">
                <a:solidFill>
                  <a:srgbClr val="7F7F7F"/>
                </a:solidFill>
                <a:latin typeface="Noto Sans KR"/>
                <a:ea typeface="Noto Sans KR"/>
                <a:cs typeface="Noto Sans KR"/>
              </a:rPr>
              <a:t>목</a:t>
            </a:r>
          </a:p>
        </p:txBody>
      </p:sp>
      <p:sp>
        <p:nvSpPr>
          <p:cNvPr id="348" name="TextBox 347"/>
          <p:cNvSpPr txBox="1"/>
          <p:nvPr/>
        </p:nvSpPr>
        <p:spPr>
          <a:xfrm>
            <a:off x="7831666" y="4770000"/>
            <a:ext cx="256333" cy="140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650" b="1" i="0">
                <a:solidFill>
                  <a:srgbClr val="1A1A1A"/>
                </a:solidFill>
                <a:latin typeface="Noto Sans KR"/>
                <a:ea typeface="Noto Sans KR"/>
                <a:cs typeface="Noto Sans KR"/>
              </a:rPr>
              <a:t>27</a:t>
            </a:r>
          </a:p>
        </p:txBody>
      </p:sp>
      <p:sp>
        <p:nvSpPr>
          <p:cNvPr id="349" name="TextBox 348"/>
          <p:cNvSpPr txBox="1"/>
          <p:nvPr/>
        </p:nvSpPr>
        <p:spPr>
          <a:xfrm>
            <a:off x="7831666" y="4910000"/>
            <a:ext cx="256333" cy="115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550" b="0" i="0">
                <a:solidFill>
                  <a:srgbClr val="7F7F7F"/>
                </a:solidFill>
                <a:latin typeface="Noto Sans KR"/>
                <a:ea typeface="Noto Sans KR"/>
                <a:cs typeface="Noto Sans KR"/>
              </a:rPr>
              <a:t>금</a:t>
            </a:r>
          </a:p>
        </p:txBody>
      </p:sp>
      <p:sp>
        <p:nvSpPr>
          <p:cNvPr id="350" name="Rectangle 349"/>
          <p:cNvSpPr/>
          <p:nvPr/>
        </p:nvSpPr>
        <p:spPr>
          <a:xfrm>
            <a:off x="8088000" y="4770000"/>
            <a:ext cx="256333" cy="84500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rtlCol="0" anchor="ctr" lIns="30000" rIns="30000" tIns="0" bIns="0" wrap="square"/>
          <a:lstStyle/>
          <a:p>
            <a:pPr algn="ctr"/>
          </a:p>
        </p:txBody>
      </p:sp>
      <p:sp>
        <p:nvSpPr>
          <p:cNvPr id="351" name="TextBox 350"/>
          <p:cNvSpPr txBox="1"/>
          <p:nvPr/>
        </p:nvSpPr>
        <p:spPr>
          <a:xfrm>
            <a:off x="8088000" y="4770000"/>
            <a:ext cx="256333" cy="140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650" b="1" i="0">
                <a:solidFill>
                  <a:srgbClr val="1A1A1A"/>
                </a:solidFill>
                <a:latin typeface="Noto Sans KR"/>
                <a:ea typeface="Noto Sans KR"/>
                <a:cs typeface="Noto Sans KR"/>
              </a:rPr>
              <a:t>28</a:t>
            </a:r>
          </a:p>
        </p:txBody>
      </p:sp>
      <p:sp>
        <p:nvSpPr>
          <p:cNvPr id="352" name="TextBox 351"/>
          <p:cNvSpPr txBox="1"/>
          <p:nvPr/>
        </p:nvSpPr>
        <p:spPr>
          <a:xfrm>
            <a:off x="8088000" y="4910000"/>
            <a:ext cx="256333" cy="115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550" b="0" i="0">
                <a:solidFill>
                  <a:srgbClr val="7F7F7F"/>
                </a:solidFill>
                <a:latin typeface="Noto Sans KR"/>
                <a:ea typeface="Noto Sans KR"/>
                <a:cs typeface="Noto Sans KR"/>
              </a:rPr>
              <a:t>토</a:t>
            </a:r>
          </a:p>
        </p:txBody>
      </p:sp>
      <p:sp>
        <p:nvSpPr>
          <p:cNvPr id="353" name="Rectangle 352"/>
          <p:cNvSpPr/>
          <p:nvPr/>
        </p:nvSpPr>
        <p:spPr>
          <a:xfrm>
            <a:off x="8344333" y="4770000"/>
            <a:ext cx="256333" cy="84500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rtlCol="0" anchor="ctr" lIns="30000" rIns="30000" tIns="0" bIns="0" wrap="square"/>
          <a:lstStyle/>
          <a:p>
            <a:pPr algn="ctr"/>
          </a:p>
        </p:txBody>
      </p:sp>
      <p:sp>
        <p:nvSpPr>
          <p:cNvPr id="354" name="TextBox 353"/>
          <p:cNvSpPr txBox="1"/>
          <p:nvPr/>
        </p:nvSpPr>
        <p:spPr>
          <a:xfrm>
            <a:off x="8344333" y="4770000"/>
            <a:ext cx="256333" cy="140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650" b="1" i="0">
                <a:solidFill>
                  <a:srgbClr val="EB002C"/>
                </a:solidFill>
                <a:latin typeface="Noto Sans KR"/>
                <a:ea typeface="Noto Sans KR"/>
                <a:cs typeface="Noto Sans KR"/>
              </a:rPr>
              <a:t>29</a:t>
            </a:r>
          </a:p>
        </p:txBody>
      </p:sp>
      <p:sp>
        <p:nvSpPr>
          <p:cNvPr id="355" name="TextBox 354"/>
          <p:cNvSpPr txBox="1"/>
          <p:nvPr/>
        </p:nvSpPr>
        <p:spPr>
          <a:xfrm>
            <a:off x="8344333" y="4910000"/>
            <a:ext cx="256333" cy="115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550" b="0" i="0">
                <a:solidFill>
                  <a:srgbClr val="EB002C"/>
                </a:solidFill>
                <a:latin typeface="Noto Sans KR"/>
                <a:ea typeface="Noto Sans KR"/>
                <a:cs typeface="Noto Sans KR"/>
              </a:rPr>
              <a:t>일</a:t>
            </a:r>
          </a:p>
        </p:txBody>
      </p:sp>
      <p:sp>
        <p:nvSpPr>
          <p:cNvPr id="356" name="TextBox 355"/>
          <p:cNvSpPr txBox="1"/>
          <p:nvPr/>
        </p:nvSpPr>
        <p:spPr>
          <a:xfrm>
            <a:off x="8600666" y="4770000"/>
            <a:ext cx="256333" cy="140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650" b="1" i="0">
                <a:solidFill>
                  <a:srgbClr val="1A1A1A"/>
                </a:solidFill>
                <a:latin typeface="Noto Sans KR"/>
                <a:ea typeface="Noto Sans KR"/>
                <a:cs typeface="Noto Sans KR"/>
              </a:rPr>
              <a:t>30</a:t>
            </a:r>
          </a:p>
        </p:txBody>
      </p:sp>
      <p:sp>
        <p:nvSpPr>
          <p:cNvPr id="357" name="TextBox 356"/>
          <p:cNvSpPr txBox="1"/>
          <p:nvPr/>
        </p:nvSpPr>
        <p:spPr>
          <a:xfrm>
            <a:off x="8600666" y="4910000"/>
            <a:ext cx="256333" cy="115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550" b="0" i="0">
                <a:solidFill>
                  <a:srgbClr val="7F7F7F"/>
                </a:solidFill>
                <a:latin typeface="Noto Sans KR"/>
                <a:ea typeface="Noto Sans KR"/>
                <a:cs typeface="Noto Sans KR"/>
              </a:rPr>
              <a:t>월</a:t>
            </a:r>
          </a:p>
        </p:txBody>
      </p:sp>
      <p:cxnSp>
        <p:nvCxnSpPr>
          <p:cNvPr id="358" name="Connector 357"/>
          <p:cNvCxnSpPr/>
          <p:nvPr/>
        </p:nvCxnSpPr>
        <p:spPr>
          <a:xfrm>
            <a:off x="1167000" y="5025000"/>
            <a:ext cx="0" cy="590000"/>
          </a:xfrm>
          <a:prstGeom prst="line">
            <a:avLst/>
          </a:prstGeom>
          <a:ln w="5080">
            <a:solidFill>
              <a:srgbClr val="D9D9D9"/>
            </a:solidFill>
          </a:ln>
        </p:spPr>
      </p:cxnSp>
      <p:cxnSp>
        <p:nvCxnSpPr>
          <p:cNvPr id="359" name="Connector 358"/>
          <p:cNvCxnSpPr/>
          <p:nvPr/>
        </p:nvCxnSpPr>
        <p:spPr>
          <a:xfrm>
            <a:off x="1423333" y="5025000"/>
            <a:ext cx="0" cy="590000"/>
          </a:xfrm>
          <a:prstGeom prst="line">
            <a:avLst/>
          </a:prstGeom>
          <a:ln w="5080">
            <a:solidFill>
              <a:srgbClr val="D9D9D9"/>
            </a:solidFill>
          </a:ln>
        </p:spPr>
      </p:cxnSp>
      <p:cxnSp>
        <p:nvCxnSpPr>
          <p:cNvPr id="360" name="Connector 359"/>
          <p:cNvCxnSpPr/>
          <p:nvPr/>
        </p:nvCxnSpPr>
        <p:spPr>
          <a:xfrm>
            <a:off x="1679666" y="5025000"/>
            <a:ext cx="0" cy="590000"/>
          </a:xfrm>
          <a:prstGeom prst="line">
            <a:avLst/>
          </a:prstGeom>
          <a:ln w="5080">
            <a:solidFill>
              <a:srgbClr val="D9D9D9"/>
            </a:solidFill>
          </a:ln>
        </p:spPr>
      </p:cxnSp>
      <p:cxnSp>
        <p:nvCxnSpPr>
          <p:cNvPr id="361" name="Connector 360"/>
          <p:cNvCxnSpPr/>
          <p:nvPr/>
        </p:nvCxnSpPr>
        <p:spPr>
          <a:xfrm>
            <a:off x="1936000" y="5025000"/>
            <a:ext cx="0" cy="590000"/>
          </a:xfrm>
          <a:prstGeom prst="line">
            <a:avLst/>
          </a:prstGeom>
          <a:ln w="5080">
            <a:solidFill>
              <a:srgbClr val="D9D9D9"/>
            </a:solidFill>
          </a:ln>
        </p:spPr>
      </p:cxnSp>
      <p:cxnSp>
        <p:nvCxnSpPr>
          <p:cNvPr id="362" name="Connector 361"/>
          <p:cNvCxnSpPr/>
          <p:nvPr/>
        </p:nvCxnSpPr>
        <p:spPr>
          <a:xfrm>
            <a:off x="2192333" y="5025000"/>
            <a:ext cx="0" cy="590000"/>
          </a:xfrm>
          <a:prstGeom prst="line">
            <a:avLst/>
          </a:prstGeom>
          <a:ln w="5080">
            <a:solidFill>
              <a:srgbClr val="D9D9D9"/>
            </a:solidFill>
          </a:ln>
        </p:spPr>
      </p:cxnSp>
      <p:cxnSp>
        <p:nvCxnSpPr>
          <p:cNvPr id="363" name="Connector 362"/>
          <p:cNvCxnSpPr/>
          <p:nvPr/>
        </p:nvCxnSpPr>
        <p:spPr>
          <a:xfrm>
            <a:off x="2448666" y="5025000"/>
            <a:ext cx="0" cy="590000"/>
          </a:xfrm>
          <a:prstGeom prst="line">
            <a:avLst/>
          </a:prstGeom>
          <a:ln w="5080">
            <a:solidFill>
              <a:srgbClr val="D9D9D9"/>
            </a:solidFill>
          </a:ln>
        </p:spPr>
      </p:cxnSp>
      <p:cxnSp>
        <p:nvCxnSpPr>
          <p:cNvPr id="364" name="Connector 363"/>
          <p:cNvCxnSpPr/>
          <p:nvPr/>
        </p:nvCxnSpPr>
        <p:spPr>
          <a:xfrm>
            <a:off x="2705000" y="5025000"/>
            <a:ext cx="0" cy="590000"/>
          </a:xfrm>
          <a:prstGeom prst="line">
            <a:avLst/>
          </a:prstGeom>
          <a:ln w="5080">
            <a:solidFill>
              <a:srgbClr val="D9D9D9"/>
            </a:solidFill>
          </a:ln>
        </p:spPr>
      </p:cxnSp>
      <p:cxnSp>
        <p:nvCxnSpPr>
          <p:cNvPr id="365" name="Connector 364"/>
          <p:cNvCxnSpPr/>
          <p:nvPr/>
        </p:nvCxnSpPr>
        <p:spPr>
          <a:xfrm>
            <a:off x="2961333" y="5025000"/>
            <a:ext cx="0" cy="590000"/>
          </a:xfrm>
          <a:prstGeom prst="line">
            <a:avLst/>
          </a:prstGeom>
          <a:ln w="5080">
            <a:solidFill>
              <a:srgbClr val="D9D9D9"/>
            </a:solidFill>
          </a:ln>
        </p:spPr>
      </p:cxnSp>
      <p:cxnSp>
        <p:nvCxnSpPr>
          <p:cNvPr id="366" name="Connector 365"/>
          <p:cNvCxnSpPr/>
          <p:nvPr/>
        </p:nvCxnSpPr>
        <p:spPr>
          <a:xfrm>
            <a:off x="3217666" y="5025000"/>
            <a:ext cx="0" cy="590000"/>
          </a:xfrm>
          <a:prstGeom prst="line">
            <a:avLst/>
          </a:prstGeom>
          <a:ln w="5080">
            <a:solidFill>
              <a:srgbClr val="D9D9D9"/>
            </a:solidFill>
          </a:ln>
        </p:spPr>
      </p:cxnSp>
      <p:cxnSp>
        <p:nvCxnSpPr>
          <p:cNvPr id="367" name="Connector 366"/>
          <p:cNvCxnSpPr/>
          <p:nvPr/>
        </p:nvCxnSpPr>
        <p:spPr>
          <a:xfrm>
            <a:off x="3474000" y="5025000"/>
            <a:ext cx="0" cy="590000"/>
          </a:xfrm>
          <a:prstGeom prst="line">
            <a:avLst/>
          </a:prstGeom>
          <a:ln w="5080">
            <a:solidFill>
              <a:srgbClr val="D9D9D9"/>
            </a:solidFill>
          </a:ln>
        </p:spPr>
      </p:cxnSp>
      <p:cxnSp>
        <p:nvCxnSpPr>
          <p:cNvPr id="368" name="Connector 367"/>
          <p:cNvCxnSpPr/>
          <p:nvPr/>
        </p:nvCxnSpPr>
        <p:spPr>
          <a:xfrm>
            <a:off x="3730333" y="5025000"/>
            <a:ext cx="0" cy="590000"/>
          </a:xfrm>
          <a:prstGeom prst="line">
            <a:avLst/>
          </a:prstGeom>
          <a:ln w="5080">
            <a:solidFill>
              <a:srgbClr val="D9D9D9"/>
            </a:solidFill>
          </a:ln>
        </p:spPr>
      </p:cxnSp>
      <p:cxnSp>
        <p:nvCxnSpPr>
          <p:cNvPr id="369" name="Connector 368"/>
          <p:cNvCxnSpPr/>
          <p:nvPr/>
        </p:nvCxnSpPr>
        <p:spPr>
          <a:xfrm>
            <a:off x="3986666" y="5025000"/>
            <a:ext cx="0" cy="590000"/>
          </a:xfrm>
          <a:prstGeom prst="line">
            <a:avLst/>
          </a:prstGeom>
          <a:ln w="5080">
            <a:solidFill>
              <a:srgbClr val="D9D9D9"/>
            </a:solidFill>
          </a:ln>
        </p:spPr>
      </p:cxnSp>
      <p:cxnSp>
        <p:nvCxnSpPr>
          <p:cNvPr id="370" name="Connector 369"/>
          <p:cNvCxnSpPr/>
          <p:nvPr/>
        </p:nvCxnSpPr>
        <p:spPr>
          <a:xfrm>
            <a:off x="4243000" y="5025000"/>
            <a:ext cx="0" cy="590000"/>
          </a:xfrm>
          <a:prstGeom prst="line">
            <a:avLst/>
          </a:prstGeom>
          <a:ln w="5080">
            <a:solidFill>
              <a:srgbClr val="D9D9D9"/>
            </a:solidFill>
          </a:ln>
        </p:spPr>
      </p:cxnSp>
      <p:cxnSp>
        <p:nvCxnSpPr>
          <p:cNvPr id="371" name="Connector 370"/>
          <p:cNvCxnSpPr/>
          <p:nvPr/>
        </p:nvCxnSpPr>
        <p:spPr>
          <a:xfrm>
            <a:off x="4499333" y="5025000"/>
            <a:ext cx="0" cy="590000"/>
          </a:xfrm>
          <a:prstGeom prst="line">
            <a:avLst/>
          </a:prstGeom>
          <a:ln w="5080">
            <a:solidFill>
              <a:srgbClr val="D9D9D9"/>
            </a:solidFill>
          </a:ln>
        </p:spPr>
      </p:cxnSp>
      <p:cxnSp>
        <p:nvCxnSpPr>
          <p:cNvPr id="372" name="Connector 371"/>
          <p:cNvCxnSpPr/>
          <p:nvPr/>
        </p:nvCxnSpPr>
        <p:spPr>
          <a:xfrm>
            <a:off x="4755666" y="5025000"/>
            <a:ext cx="0" cy="590000"/>
          </a:xfrm>
          <a:prstGeom prst="line">
            <a:avLst/>
          </a:prstGeom>
          <a:ln w="5080">
            <a:solidFill>
              <a:srgbClr val="D9D9D9"/>
            </a:solidFill>
          </a:ln>
        </p:spPr>
      </p:cxnSp>
      <p:cxnSp>
        <p:nvCxnSpPr>
          <p:cNvPr id="373" name="Connector 372"/>
          <p:cNvCxnSpPr/>
          <p:nvPr/>
        </p:nvCxnSpPr>
        <p:spPr>
          <a:xfrm>
            <a:off x="5012000" y="5025000"/>
            <a:ext cx="0" cy="590000"/>
          </a:xfrm>
          <a:prstGeom prst="line">
            <a:avLst/>
          </a:prstGeom>
          <a:ln w="5080">
            <a:solidFill>
              <a:srgbClr val="D9D9D9"/>
            </a:solidFill>
          </a:ln>
        </p:spPr>
      </p:cxnSp>
      <p:cxnSp>
        <p:nvCxnSpPr>
          <p:cNvPr id="374" name="Connector 373"/>
          <p:cNvCxnSpPr/>
          <p:nvPr/>
        </p:nvCxnSpPr>
        <p:spPr>
          <a:xfrm>
            <a:off x="5268333" y="5025000"/>
            <a:ext cx="0" cy="590000"/>
          </a:xfrm>
          <a:prstGeom prst="line">
            <a:avLst/>
          </a:prstGeom>
          <a:ln w="5080">
            <a:solidFill>
              <a:srgbClr val="D9D9D9"/>
            </a:solidFill>
          </a:ln>
        </p:spPr>
      </p:cxnSp>
      <p:cxnSp>
        <p:nvCxnSpPr>
          <p:cNvPr id="375" name="Connector 374"/>
          <p:cNvCxnSpPr/>
          <p:nvPr/>
        </p:nvCxnSpPr>
        <p:spPr>
          <a:xfrm>
            <a:off x="5524666" y="5025000"/>
            <a:ext cx="0" cy="590000"/>
          </a:xfrm>
          <a:prstGeom prst="line">
            <a:avLst/>
          </a:prstGeom>
          <a:ln w="5080">
            <a:solidFill>
              <a:srgbClr val="D9D9D9"/>
            </a:solidFill>
          </a:ln>
        </p:spPr>
      </p:cxnSp>
      <p:cxnSp>
        <p:nvCxnSpPr>
          <p:cNvPr id="376" name="Connector 375"/>
          <p:cNvCxnSpPr/>
          <p:nvPr/>
        </p:nvCxnSpPr>
        <p:spPr>
          <a:xfrm>
            <a:off x="5781000" y="5025000"/>
            <a:ext cx="0" cy="590000"/>
          </a:xfrm>
          <a:prstGeom prst="line">
            <a:avLst/>
          </a:prstGeom>
          <a:ln w="5080">
            <a:solidFill>
              <a:srgbClr val="D9D9D9"/>
            </a:solidFill>
          </a:ln>
        </p:spPr>
      </p:cxnSp>
      <p:cxnSp>
        <p:nvCxnSpPr>
          <p:cNvPr id="377" name="Connector 376"/>
          <p:cNvCxnSpPr/>
          <p:nvPr/>
        </p:nvCxnSpPr>
        <p:spPr>
          <a:xfrm>
            <a:off x="6037333" y="5025000"/>
            <a:ext cx="0" cy="590000"/>
          </a:xfrm>
          <a:prstGeom prst="line">
            <a:avLst/>
          </a:prstGeom>
          <a:ln w="5080">
            <a:solidFill>
              <a:srgbClr val="D9D9D9"/>
            </a:solidFill>
          </a:ln>
        </p:spPr>
      </p:cxnSp>
      <p:cxnSp>
        <p:nvCxnSpPr>
          <p:cNvPr id="378" name="Connector 377"/>
          <p:cNvCxnSpPr/>
          <p:nvPr/>
        </p:nvCxnSpPr>
        <p:spPr>
          <a:xfrm>
            <a:off x="6293666" y="5025000"/>
            <a:ext cx="0" cy="590000"/>
          </a:xfrm>
          <a:prstGeom prst="line">
            <a:avLst/>
          </a:prstGeom>
          <a:ln w="5080">
            <a:solidFill>
              <a:srgbClr val="D9D9D9"/>
            </a:solidFill>
          </a:ln>
        </p:spPr>
      </p:cxnSp>
      <p:cxnSp>
        <p:nvCxnSpPr>
          <p:cNvPr id="379" name="Connector 378"/>
          <p:cNvCxnSpPr/>
          <p:nvPr/>
        </p:nvCxnSpPr>
        <p:spPr>
          <a:xfrm>
            <a:off x="6550000" y="5025000"/>
            <a:ext cx="0" cy="590000"/>
          </a:xfrm>
          <a:prstGeom prst="line">
            <a:avLst/>
          </a:prstGeom>
          <a:ln w="5080">
            <a:solidFill>
              <a:srgbClr val="D9D9D9"/>
            </a:solidFill>
          </a:ln>
        </p:spPr>
      </p:cxnSp>
      <p:cxnSp>
        <p:nvCxnSpPr>
          <p:cNvPr id="380" name="Connector 379"/>
          <p:cNvCxnSpPr/>
          <p:nvPr/>
        </p:nvCxnSpPr>
        <p:spPr>
          <a:xfrm>
            <a:off x="6806333" y="5025000"/>
            <a:ext cx="0" cy="590000"/>
          </a:xfrm>
          <a:prstGeom prst="line">
            <a:avLst/>
          </a:prstGeom>
          <a:ln w="5080">
            <a:solidFill>
              <a:srgbClr val="D9D9D9"/>
            </a:solidFill>
          </a:ln>
        </p:spPr>
      </p:cxnSp>
      <p:cxnSp>
        <p:nvCxnSpPr>
          <p:cNvPr id="381" name="Connector 380"/>
          <p:cNvCxnSpPr/>
          <p:nvPr/>
        </p:nvCxnSpPr>
        <p:spPr>
          <a:xfrm>
            <a:off x="7062666" y="5025000"/>
            <a:ext cx="0" cy="590000"/>
          </a:xfrm>
          <a:prstGeom prst="line">
            <a:avLst/>
          </a:prstGeom>
          <a:ln w="5080">
            <a:solidFill>
              <a:srgbClr val="D9D9D9"/>
            </a:solidFill>
          </a:ln>
        </p:spPr>
      </p:cxnSp>
      <p:cxnSp>
        <p:nvCxnSpPr>
          <p:cNvPr id="382" name="Connector 381"/>
          <p:cNvCxnSpPr/>
          <p:nvPr/>
        </p:nvCxnSpPr>
        <p:spPr>
          <a:xfrm>
            <a:off x="7319000" y="5025000"/>
            <a:ext cx="0" cy="590000"/>
          </a:xfrm>
          <a:prstGeom prst="line">
            <a:avLst/>
          </a:prstGeom>
          <a:ln w="5080">
            <a:solidFill>
              <a:srgbClr val="D9D9D9"/>
            </a:solidFill>
          </a:ln>
        </p:spPr>
      </p:cxnSp>
      <p:cxnSp>
        <p:nvCxnSpPr>
          <p:cNvPr id="383" name="Connector 382"/>
          <p:cNvCxnSpPr/>
          <p:nvPr/>
        </p:nvCxnSpPr>
        <p:spPr>
          <a:xfrm>
            <a:off x="7575333" y="5025000"/>
            <a:ext cx="0" cy="590000"/>
          </a:xfrm>
          <a:prstGeom prst="line">
            <a:avLst/>
          </a:prstGeom>
          <a:ln w="5080">
            <a:solidFill>
              <a:srgbClr val="D9D9D9"/>
            </a:solidFill>
          </a:ln>
        </p:spPr>
      </p:cxnSp>
      <p:cxnSp>
        <p:nvCxnSpPr>
          <p:cNvPr id="384" name="Connector 383"/>
          <p:cNvCxnSpPr/>
          <p:nvPr/>
        </p:nvCxnSpPr>
        <p:spPr>
          <a:xfrm>
            <a:off x="7831666" y="5025000"/>
            <a:ext cx="0" cy="590000"/>
          </a:xfrm>
          <a:prstGeom prst="line">
            <a:avLst/>
          </a:prstGeom>
          <a:ln w="5080">
            <a:solidFill>
              <a:srgbClr val="D9D9D9"/>
            </a:solidFill>
          </a:ln>
        </p:spPr>
      </p:cxnSp>
      <p:cxnSp>
        <p:nvCxnSpPr>
          <p:cNvPr id="385" name="Connector 384"/>
          <p:cNvCxnSpPr/>
          <p:nvPr/>
        </p:nvCxnSpPr>
        <p:spPr>
          <a:xfrm>
            <a:off x="8088000" y="5025000"/>
            <a:ext cx="0" cy="590000"/>
          </a:xfrm>
          <a:prstGeom prst="line">
            <a:avLst/>
          </a:prstGeom>
          <a:ln w="5080">
            <a:solidFill>
              <a:srgbClr val="D9D9D9"/>
            </a:solidFill>
          </a:ln>
        </p:spPr>
      </p:cxnSp>
      <p:cxnSp>
        <p:nvCxnSpPr>
          <p:cNvPr id="386" name="Connector 385"/>
          <p:cNvCxnSpPr/>
          <p:nvPr/>
        </p:nvCxnSpPr>
        <p:spPr>
          <a:xfrm>
            <a:off x="8344333" y="5025000"/>
            <a:ext cx="0" cy="590000"/>
          </a:xfrm>
          <a:prstGeom prst="line">
            <a:avLst/>
          </a:prstGeom>
          <a:ln w="5080">
            <a:solidFill>
              <a:srgbClr val="D9D9D9"/>
            </a:solidFill>
          </a:ln>
        </p:spPr>
      </p:cxnSp>
      <p:cxnSp>
        <p:nvCxnSpPr>
          <p:cNvPr id="387" name="Connector 386"/>
          <p:cNvCxnSpPr/>
          <p:nvPr/>
        </p:nvCxnSpPr>
        <p:spPr>
          <a:xfrm>
            <a:off x="8600666" y="5025000"/>
            <a:ext cx="0" cy="590000"/>
          </a:xfrm>
          <a:prstGeom prst="line">
            <a:avLst/>
          </a:prstGeom>
          <a:ln w="5080">
            <a:solidFill>
              <a:srgbClr val="D9D9D9"/>
            </a:solidFill>
          </a:ln>
        </p:spPr>
      </p:cxnSp>
      <p:cxnSp>
        <p:nvCxnSpPr>
          <p:cNvPr id="388" name="Connector 387"/>
          <p:cNvCxnSpPr/>
          <p:nvPr/>
        </p:nvCxnSpPr>
        <p:spPr>
          <a:xfrm>
            <a:off x="8857000" y="5025000"/>
            <a:ext cx="0" cy="590000"/>
          </a:xfrm>
          <a:prstGeom prst="line">
            <a:avLst/>
          </a:prstGeom>
          <a:ln w="5080">
            <a:solidFill>
              <a:srgbClr val="D9D9D9"/>
            </a:solidFill>
          </a:ln>
        </p:spPr>
      </p:cxnSp>
      <p:cxnSp>
        <p:nvCxnSpPr>
          <p:cNvPr id="389" name="Connector 388"/>
          <p:cNvCxnSpPr/>
          <p:nvPr/>
        </p:nvCxnSpPr>
        <p:spPr>
          <a:xfrm>
            <a:off x="1167000" y="5025000"/>
            <a:ext cx="7690000" cy="0"/>
          </a:xfrm>
          <a:prstGeom prst="line">
            <a:avLst/>
          </a:prstGeom>
          <a:ln w="6350">
            <a:solidFill>
              <a:srgbClr val="BFBFBF"/>
            </a:solidFill>
          </a:ln>
        </p:spPr>
      </p:cxnSp>
      <p:cxnSp>
        <p:nvCxnSpPr>
          <p:cNvPr id="390" name="Connector 389"/>
          <p:cNvCxnSpPr/>
          <p:nvPr/>
        </p:nvCxnSpPr>
        <p:spPr>
          <a:xfrm>
            <a:off x="1167000" y="5615000"/>
            <a:ext cx="7690000" cy="0"/>
          </a:xfrm>
          <a:prstGeom prst="line">
            <a:avLst/>
          </a:prstGeom>
          <a:ln w="6350">
            <a:solidFill>
              <a:srgbClr val="BFBFBF"/>
            </a:solidFill>
          </a:ln>
        </p:spPr>
      </p:cxnSp>
      <p:sp>
        <p:nvSpPr>
          <p:cNvPr id="391" name="TextBox 390"/>
          <p:cNvSpPr txBox="1"/>
          <p:nvPr/>
        </p:nvSpPr>
        <p:spPr>
          <a:xfrm>
            <a:off x="287000" y="4770000"/>
            <a:ext cx="850000" cy="140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650" b="1" i="0">
                <a:solidFill>
                  <a:srgbClr val="1A1A1A"/>
                </a:solidFill>
                <a:latin typeface="Noto Sans KR"/>
                <a:ea typeface="Noto Sans KR"/>
                <a:cs typeface="Noto Sans KR"/>
              </a:rPr>
              <a:t>11월 (2026)</a:t>
            </a:r>
          </a:p>
        </p:txBody>
      </p:sp>
      <p:sp>
        <p:nvSpPr>
          <p:cNvPr id="392" name="TextBox 391"/>
          <p:cNvSpPr txBox="1"/>
          <p:nvPr/>
        </p:nvSpPr>
        <p:spPr>
          <a:xfrm>
            <a:off x="287000" y="4910000"/>
            <a:ext cx="850000" cy="115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580" b="0" i="0">
                <a:solidFill>
                  <a:srgbClr val="7F7F7F"/>
                </a:solidFill>
                <a:latin typeface="Noto Sans KR"/>
                <a:ea typeface="Noto Sans KR"/>
                <a:cs typeface="Noto Sans KR"/>
              </a:rPr>
              <a:t>24 h 연속 · 720 h</a:t>
            </a:r>
          </a:p>
        </p:txBody>
      </p:sp>
      <p:sp>
        <p:nvSpPr>
          <p:cNvPr id="393" name="TextBox 392"/>
          <p:cNvSpPr txBox="1"/>
          <p:nvPr/>
        </p:nvSpPr>
        <p:spPr>
          <a:xfrm>
            <a:off x="287000" y="5025000"/>
            <a:ext cx="850000" cy="250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650" b="1" i="0">
                <a:solidFill>
                  <a:srgbClr val="1A1A1A"/>
                </a:solidFill>
                <a:latin typeface="Noto Sans KR"/>
                <a:ea typeface="Noto Sans KR"/>
                <a:cs typeface="Noto Sans KR"/>
              </a:rPr>
              <a:t>정제기 1대</a:t>
            </a:r>
          </a:p>
        </p:txBody>
      </p:sp>
      <p:sp>
        <p:nvSpPr>
          <p:cNvPr id="394" name="TextBox 393"/>
          <p:cNvSpPr txBox="1"/>
          <p:nvPr/>
        </p:nvSpPr>
        <p:spPr>
          <a:xfrm>
            <a:off x="287000" y="5275000"/>
            <a:ext cx="850000" cy="190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650" b="1" i="0">
                <a:solidFill>
                  <a:srgbClr val="1A1A1A"/>
                </a:solidFill>
                <a:latin typeface="Noto Sans KR"/>
                <a:ea typeface="Noto Sans KR"/>
                <a:cs typeface="Noto Sans KR"/>
              </a:rPr>
              <a:t>FQC·충진·OQC</a:t>
            </a:r>
          </a:p>
        </p:txBody>
      </p:sp>
      <p:sp>
        <p:nvSpPr>
          <p:cNvPr id="395" name="TextBox 394"/>
          <p:cNvSpPr txBox="1"/>
          <p:nvPr/>
        </p:nvSpPr>
        <p:spPr>
          <a:xfrm>
            <a:off x="287000" y="5465000"/>
            <a:ext cx="850000" cy="150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650" b="1" i="0">
                <a:solidFill>
                  <a:srgbClr val="1A1A1A"/>
                </a:solidFill>
                <a:latin typeface="Noto Sans KR"/>
                <a:ea typeface="Noto Sans KR"/>
                <a:cs typeface="Noto Sans KR"/>
              </a:rPr>
              <a:t>누적 생산 kg</a:t>
            </a:r>
          </a:p>
        </p:txBody>
      </p:sp>
      <p:sp>
        <p:nvSpPr>
          <p:cNvPr id="396" name="Rectangle 395"/>
          <p:cNvSpPr/>
          <p:nvPr/>
        </p:nvSpPr>
        <p:spPr>
          <a:xfrm>
            <a:off x="1191768" y="5055000"/>
            <a:ext cx="501396" cy="190000"/>
          </a:xfrm>
          <a:prstGeom prst="rect">
            <a:avLst/>
          </a:prstGeom>
          <a:solidFill>
            <a:srgbClr val="FF7900"/>
          </a:solidFill>
          <a:ln w="6350">
            <a:solidFill>
              <a:srgbClr val="FFFFFF"/>
            </a:solidFill>
          </a:ln>
        </p:spPr>
        <p:txBody>
          <a:bodyPr rtlCol="0" anchor="ctr" lIns="30000" rIns="30000" tIns="0" bIns="0" wrap="square"/>
          <a:lstStyle/>
          <a:p>
            <a:pPr algn="ctr"/>
            <a:r>
              <a:rPr sz="630" b="1" i="0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B1</a:t>
            </a:r>
          </a:p>
        </p:txBody>
      </p:sp>
      <p:sp>
        <p:nvSpPr>
          <p:cNvPr id="397" name="Rectangle 396"/>
          <p:cNvSpPr/>
          <p:nvPr/>
        </p:nvSpPr>
        <p:spPr>
          <a:xfrm>
            <a:off x="1693164" y="5085000"/>
            <a:ext cx="64008" cy="130000"/>
          </a:xfrm>
          <a:prstGeom prst="rect">
            <a:avLst/>
          </a:prstGeom>
          <a:solidFill>
            <a:srgbClr val="9DC3E6"/>
          </a:solidFill>
          <a:ln w="5080">
            <a:solidFill>
              <a:srgbClr val="BF9000"/>
            </a:solidFill>
            <a:prstDash val="dash"/>
          </a:ln>
        </p:spPr>
        <p:txBody>
          <a:bodyPr rtlCol="0" anchor="ctr" lIns="30000" rIns="30000" tIns="0" bIns="0" wrap="square"/>
          <a:lstStyle/>
          <a:p>
            <a:pPr algn="ctr"/>
          </a:p>
        </p:txBody>
      </p:sp>
      <p:sp>
        <p:nvSpPr>
          <p:cNvPr id="398" name="Rectangle 397"/>
          <p:cNvSpPr/>
          <p:nvPr/>
        </p:nvSpPr>
        <p:spPr>
          <a:xfrm>
            <a:off x="1757172" y="5310000"/>
            <a:ext cx="234696" cy="120000"/>
          </a:xfrm>
          <a:prstGeom prst="rect">
            <a:avLst/>
          </a:prstGeom>
          <a:solidFill>
            <a:srgbClr val="548235"/>
          </a:solidFill>
          <a:ln>
            <a:noFill/>
          </a:ln>
        </p:spPr>
        <p:txBody>
          <a:bodyPr rtlCol="0" anchor="ctr" lIns="30000" rIns="30000" tIns="0" bIns="0" wrap="square"/>
          <a:lstStyle/>
          <a:p>
            <a:pPr algn="ctr"/>
          </a:p>
        </p:txBody>
      </p:sp>
      <p:sp>
        <p:nvSpPr>
          <p:cNvPr id="399" name="TextBox 398"/>
          <p:cNvSpPr txBox="1"/>
          <p:nvPr/>
        </p:nvSpPr>
        <p:spPr>
          <a:xfrm>
            <a:off x="1555791" y="5465000"/>
            <a:ext cx="440000" cy="150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540" b="1" i="0">
                <a:solidFill>
                  <a:srgbClr val="2E75B6"/>
                </a:solidFill>
                <a:latin typeface="Noto Sans KR"/>
                <a:ea typeface="Noto Sans KR"/>
                <a:cs typeface="Noto Sans KR"/>
              </a:rPr>
              <a:t>190</a:t>
            </a:r>
          </a:p>
        </p:txBody>
      </p:sp>
      <p:sp>
        <p:nvSpPr>
          <p:cNvPr id="400" name="Rectangle 399"/>
          <p:cNvSpPr/>
          <p:nvPr/>
        </p:nvSpPr>
        <p:spPr>
          <a:xfrm>
            <a:off x="1890037" y="5055000"/>
            <a:ext cx="501396" cy="190000"/>
          </a:xfrm>
          <a:prstGeom prst="rect">
            <a:avLst/>
          </a:prstGeom>
          <a:solidFill>
            <a:srgbClr val="FF7900"/>
          </a:solidFill>
          <a:ln w="6350">
            <a:solidFill>
              <a:srgbClr val="FFFFFF"/>
            </a:solidFill>
          </a:ln>
        </p:spPr>
        <p:txBody>
          <a:bodyPr rtlCol="0" anchor="ctr" lIns="30000" rIns="30000" tIns="0" bIns="0" wrap="square"/>
          <a:lstStyle/>
          <a:p>
            <a:pPr algn="ctr"/>
            <a:r>
              <a:rPr sz="630" b="1" i="0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B2</a:t>
            </a:r>
          </a:p>
        </p:txBody>
      </p:sp>
      <p:sp>
        <p:nvSpPr>
          <p:cNvPr id="401" name="Rectangle 400"/>
          <p:cNvSpPr/>
          <p:nvPr/>
        </p:nvSpPr>
        <p:spPr>
          <a:xfrm>
            <a:off x="2391433" y="5085000"/>
            <a:ext cx="64008" cy="130000"/>
          </a:xfrm>
          <a:prstGeom prst="rect">
            <a:avLst/>
          </a:prstGeom>
          <a:solidFill>
            <a:srgbClr val="9DC3E6"/>
          </a:solidFill>
          <a:ln w="5080">
            <a:solidFill>
              <a:srgbClr val="BF9000"/>
            </a:solidFill>
            <a:prstDash val="dash"/>
          </a:ln>
        </p:spPr>
        <p:txBody>
          <a:bodyPr rtlCol="0" anchor="ctr" lIns="30000" rIns="30000" tIns="0" bIns="0" wrap="square"/>
          <a:lstStyle/>
          <a:p>
            <a:pPr algn="ctr"/>
          </a:p>
        </p:txBody>
      </p:sp>
      <p:sp>
        <p:nvSpPr>
          <p:cNvPr id="402" name="Rectangle 401"/>
          <p:cNvSpPr/>
          <p:nvPr/>
        </p:nvSpPr>
        <p:spPr>
          <a:xfrm>
            <a:off x="2455441" y="5310000"/>
            <a:ext cx="234695" cy="120000"/>
          </a:xfrm>
          <a:prstGeom prst="rect">
            <a:avLst/>
          </a:prstGeom>
          <a:solidFill>
            <a:srgbClr val="548235"/>
          </a:solidFill>
          <a:ln>
            <a:noFill/>
          </a:ln>
        </p:spPr>
        <p:txBody>
          <a:bodyPr rtlCol="0" anchor="ctr" lIns="30000" rIns="30000" tIns="0" bIns="0" wrap="square"/>
          <a:lstStyle/>
          <a:p>
            <a:pPr algn="ctr"/>
          </a:p>
        </p:txBody>
      </p:sp>
      <p:sp>
        <p:nvSpPr>
          <p:cNvPr id="403" name="TextBox 402"/>
          <p:cNvSpPr txBox="1"/>
          <p:nvPr/>
        </p:nvSpPr>
        <p:spPr>
          <a:xfrm>
            <a:off x="2254882" y="5465000"/>
            <a:ext cx="440000" cy="150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540" b="1" i="0">
                <a:solidFill>
                  <a:srgbClr val="2E75B6"/>
                </a:solidFill>
                <a:latin typeface="Noto Sans KR"/>
                <a:ea typeface="Noto Sans KR"/>
                <a:cs typeface="Noto Sans KR"/>
              </a:rPr>
              <a:t>380</a:t>
            </a:r>
          </a:p>
        </p:txBody>
      </p:sp>
      <p:sp>
        <p:nvSpPr>
          <p:cNvPr id="404" name="Rectangle 403"/>
          <p:cNvSpPr/>
          <p:nvPr/>
        </p:nvSpPr>
        <p:spPr>
          <a:xfrm>
            <a:off x="2588306" y="5055000"/>
            <a:ext cx="501396" cy="190000"/>
          </a:xfrm>
          <a:prstGeom prst="rect">
            <a:avLst/>
          </a:prstGeom>
          <a:solidFill>
            <a:srgbClr val="FF7900"/>
          </a:solidFill>
          <a:ln w="6350">
            <a:solidFill>
              <a:srgbClr val="FFFFFF"/>
            </a:solidFill>
          </a:ln>
        </p:spPr>
        <p:txBody>
          <a:bodyPr rtlCol="0" anchor="ctr" lIns="30000" rIns="30000" tIns="0" bIns="0" wrap="square"/>
          <a:lstStyle/>
          <a:p>
            <a:pPr algn="ctr"/>
            <a:r>
              <a:rPr sz="630" b="1" i="0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B3</a:t>
            </a:r>
          </a:p>
        </p:txBody>
      </p:sp>
      <p:sp>
        <p:nvSpPr>
          <p:cNvPr id="405" name="Rectangle 404"/>
          <p:cNvSpPr/>
          <p:nvPr/>
        </p:nvSpPr>
        <p:spPr>
          <a:xfrm>
            <a:off x="3089702" y="5085000"/>
            <a:ext cx="64008" cy="130000"/>
          </a:xfrm>
          <a:prstGeom prst="rect">
            <a:avLst/>
          </a:prstGeom>
          <a:solidFill>
            <a:srgbClr val="9DC3E6"/>
          </a:solidFill>
          <a:ln w="5080">
            <a:solidFill>
              <a:srgbClr val="BF9000"/>
            </a:solidFill>
            <a:prstDash val="dash"/>
          </a:ln>
        </p:spPr>
        <p:txBody>
          <a:bodyPr rtlCol="0" anchor="ctr" lIns="30000" rIns="30000" tIns="0" bIns="0" wrap="square"/>
          <a:lstStyle/>
          <a:p>
            <a:pPr algn="ctr"/>
          </a:p>
        </p:txBody>
      </p:sp>
      <p:sp>
        <p:nvSpPr>
          <p:cNvPr id="406" name="Rectangle 405"/>
          <p:cNvSpPr/>
          <p:nvPr/>
        </p:nvSpPr>
        <p:spPr>
          <a:xfrm>
            <a:off x="3153710" y="5310000"/>
            <a:ext cx="234696" cy="120000"/>
          </a:xfrm>
          <a:prstGeom prst="rect">
            <a:avLst/>
          </a:prstGeom>
          <a:solidFill>
            <a:srgbClr val="548235"/>
          </a:solidFill>
          <a:ln>
            <a:noFill/>
          </a:ln>
        </p:spPr>
        <p:txBody>
          <a:bodyPr rtlCol="0" anchor="ctr" lIns="30000" rIns="30000" tIns="0" bIns="0" wrap="square"/>
          <a:lstStyle/>
          <a:p>
            <a:pPr algn="ctr"/>
          </a:p>
        </p:txBody>
      </p:sp>
      <p:sp>
        <p:nvSpPr>
          <p:cNvPr id="407" name="TextBox 406"/>
          <p:cNvSpPr txBox="1"/>
          <p:nvPr/>
        </p:nvSpPr>
        <p:spPr>
          <a:xfrm>
            <a:off x="2953973" y="5465000"/>
            <a:ext cx="440000" cy="150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540" b="1" i="0">
                <a:solidFill>
                  <a:srgbClr val="2E75B6"/>
                </a:solidFill>
                <a:latin typeface="Noto Sans KR"/>
                <a:ea typeface="Noto Sans KR"/>
                <a:cs typeface="Noto Sans KR"/>
              </a:rPr>
              <a:t>570</a:t>
            </a:r>
          </a:p>
        </p:txBody>
      </p:sp>
      <p:sp>
        <p:nvSpPr>
          <p:cNvPr id="408" name="Rectangle 407"/>
          <p:cNvSpPr/>
          <p:nvPr/>
        </p:nvSpPr>
        <p:spPr>
          <a:xfrm>
            <a:off x="3286575" y="5055000"/>
            <a:ext cx="501396" cy="190000"/>
          </a:xfrm>
          <a:prstGeom prst="rect">
            <a:avLst/>
          </a:prstGeom>
          <a:solidFill>
            <a:srgbClr val="FF7900"/>
          </a:solidFill>
          <a:ln w="6350">
            <a:solidFill>
              <a:srgbClr val="FFFFFF"/>
            </a:solidFill>
          </a:ln>
        </p:spPr>
        <p:txBody>
          <a:bodyPr rtlCol="0" anchor="ctr" lIns="30000" rIns="30000" tIns="0" bIns="0" wrap="square"/>
          <a:lstStyle/>
          <a:p>
            <a:pPr algn="ctr"/>
            <a:r>
              <a:rPr sz="630" b="1" i="0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B4</a:t>
            </a:r>
          </a:p>
        </p:txBody>
      </p:sp>
      <p:sp>
        <p:nvSpPr>
          <p:cNvPr id="409" name="Rectangle 408"/>
          <p:cNvSpPr/>
          <p:nvPr/>
        </p:nvSpPr>
        <p:spPr>
          <a:xfrm>
            <a:off x="3787971" y="5085000"/>
            <a:ext cx="64008" cy="130000"/>
          </a:xfrm>
          <a:prstGeom prst="rect">
            <a:avLst/>
          </a:prstGeom>
          <a:solidFill>
            <a:srgbClr val="9DC3E6"/>
          </a:solidFill>
          <a:ln w="5080">
            <a:solidFill>
              <a:srgbClr val="BF9000"/>
            </a:solidFill>
            <a:prstDash val="dash"/>
          </a:ln>
        </p:spPr>
        <p:txBody>
          <a:bodyPr rtlCol="0" anchor="ctr" lIns="30000" rIns="30000" tIns="0" bIns="0" wrap="square"/>
          <a:lstStyle/>
          <a:p>
            <a:pPr algn="ctr"/>
          </a:p>
        </p:txBody>
      </p:sp>
      <p:sp>
        <p:nvSpPr>
          <p:cNvPr id="410" name="Rectangle 409"/>
          <p:cNvSpPr/>
          <p:nvPr/>
        </p:nvSpPr>
        <p:spPr>
          <a:xfrm>
            <a:off x="3851979" y="5310000"/>
            <a:ext cx="234696" cy="120000"/>
          </a:xfrm>
          <a:prstGeom prst="rect">
            <a:avLst/>
          </a:prstGeom>
          <a:solidFill>
            <a:srgbClr val="548235"/>
          </a:solidFill>
          <a:ln>
            <a:noFill/>
          </a:ln>
        </p:spPr>
        <p:txBody>
          <a:bodyPr rtlCol="0" anchor="ctr" lIns="30000" rIns="30000" tIns="0" bIns="0" wrap="square"/>
          <a:lstStyle/>
          <a:p>
            <a:pPr algn="ctr"/>
          </a:p>
        </p:txBody>
      </p:sp>
      <p:sp>
        <p:nvSpPr>
          <p:cNvPr id="411" name="TextBox 410"/>
          <p:cNvSpPr txBox="1"/>
          <p:nvPr/>
        </p:nvSpPr>
        <p:spPr>
          <a:xfrm>
            <a:off x="3653064" y="5465000"/>
            <a:ext cx="440000" cy="150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540" b="1" i="0">
                <a:solidFill>
                  <a:srgbClr val="2E75B6"/>
                </a:solidFill>
                <a:latin typeface="Noto Sans KR"/>
                <a:ea typeface="Noto Sans KR"/>
                <a:cs typeface="Noto Sans KR"/>
              </a:rPr>
              <a:t>760</a:t>
            </a:r>
          </a:p>
        </p:txBody>
      </p:sp>
      <p:sp>
        <p:nvSpPr>
          <p:cNvPr id="412" name="Rectangle 411"/>
          <p:cNvSpPr/>
          <p:nvPr/>
        </p:nvSpPr>
        <p:spPr>
          <a:xfrm>
            <a:off x="3984844" y="5055000"/>
            <a:ext cx="501396" cy="190000"/>
          </a:xfrm>
          <a:prstGeom prst="rect">
            <a:avLst/>
          </a:prstGeom>
          <a:solidFill>
            <a:srgbClr val="FF7900"/>
          </a:solidFill>
          <a:ln w="6350">
            <a:solidFill>
              <a:srgbClr val="FFFFFF"/>
            </a:solidFill>
          </a:ln>
        </p:spPr>
        <p:txBody>
          <a:bodyPr rtlCol="0" anchor="ctr" lIns="30000" rIns="30000" tIns="0" bIns="0" wrap="square"/>
          <a:lstStyle/>
          <a:p>
            <a:pPr algn="ctr"/>
            <a:r>
              <a:rPr sz="630" b="1" i="0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B5</a:t>
            </a:r>
          </a:p>
        </p:txBody>
      </p:sp>
      <p:sp>
        <p:nvSpPr>
          <p:cNvPr id="413" name="Rectangle 412"/>
          <p:cNvSpPr/>
          <p:nvPr/>
        </p:nvSpPr>
        <p:spPr>
          <a:xfrm>
            <a:off x="4486240" y="5085000"/>
            <a:ext cx="64008" cy="130000"/>
          </a:xfrm>
          <a:prstGeom prst="rect">
            <a:avLst/>
          </a:prstGeom>
          <a:solidFill>
            <a:srgbClr val="9DC3E6"/>
          </a:solidFill>
          <a:ln w="5080">
            <a:solidFill>
              <a:srgbClr val="BF9000"/>
            </a:solidFill>
            <a:prstDash val="dash"/>
          </a:ln>
        </p:spPr>
        <p:txBody>
          <a:bodyPr rtlCol="0" anchor="ctr" lIns="30000" rIns="30000" tIns="0" bIns="0" wrap="square"/>
          <a:lstStyle/>
          <a:p>
            <a:pPr algn="ctr"/>
          </a:p>
        </p:txBody>
      </p:sp>
      <p:sp>
        <p:nvSpPr>
          <p:cNvPr id="414" name="Rectangle 413"/>
          <p:cNvSpPr/>
          <p:nvPr/>
        </p:nvSpPr>
        <p:spPr>
          <a:xfrm>
            <a:off x="4550248" y="5310000"/>
            <a:ext cx="234696" cy="120000"/>
          </a:xfrm>
          <a:prstGeom prst="rect">
            <a:avLst/>
          </a:prstGeom>
          <a:solidFill>
            <a:srgbClr val="548235"/>
          </a:solidFill>
          <a:ln>
            <a:noFill/>
          </a:ln>
        </p:spPr>
        <p:txBody>
          <a:bodyPr rtlCol="0" anchor="ctr" lIns="30000" rIns="30000" tIns="0" bIns="0" wrap="square"/>
          <a:lstStyle/>
          <a:p>
            <a:pPr algn="ctr"/>
          </a:p>
        </p:txBody>
      </p:sp>
      <p:sp>
        <p:nvSpPr>
          <p:cNvPr id="415" name="TextBox 414"/>
          <p:cNvSpPr txBox="1"/>
          <p:nvPr/>
        </p:nvSpPr>
        <p:spPr>
          <a:xfrm>
            <a:off x="4352155" y="5465000"/>
            <a:ext cx="440000" cy="150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540" b="1" i="0">
                <a:solidFill>
                  <a:srgbClr val="2E75B6"/>
                </a:solidFill>
                <a:latin typeface="Noto Sans KR"/>
                <a:ea typeface="Noto Sans KR"/>
                <a:cs typeface="Noto Sans KR"/>
              </a:rPr>
              <a:t>950</a:t>
            </a:r>
          </a:p>
        </p:txBody>
      </p:sp>
      <p:sp>
        <p:nvSpPr>
          <p:cNvPr id="416" name="Rectangle 415"/>
          <p:cNvSpPr/>
          <p:nvPr/>
        </p:nvSpPr>
        <p:spPr>
          <a:xfrm>
            <a:off x="4683113" y="5055000"/>
            <a:ext cx="501396" cy="190000"/>
          </a:xfrm>
          <a:prstGeom prst="rect">
            <a:avLst/>
          </a:prstGeom>
          <a:solidFill>
            <a:srgbClr val="FF7900"/>
          </a:solidFill>
          <a:ln w="6350">
            <a:solidFill>
              <a:srgbClr val="FFFFFF"/>
            </a:solidFill>
          </a:ln>
        </p:spPr>
        <p:txBody>
          <a:bodyPr rtlCol="0" anchor="ctr" lIns="30000" rIns="30000" tIns="0" bIns="0" wrap="square"/>
          <a:lstStyle/>
          <a:p>
            <a:pPr algn="ctr"/>
            <a:r>
              <a:rPr sz="630" b="1" i="0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B6</a:t>
            </a:r>
          </a:p>
        </p:txBody>
      </p:sp>
      <p:sp>
        <p:nvSpPr>
          <p:cNvPr id="417" name="Rectangle 416"/>
          <p:cNvSpPr/>
          <p:nvPr/>
        </p:nvSpPr>
        <p:spPr>
          <a:xfrm>
            <a:off x="5184509" y="5085000"/>
            <a:ext cx="64008" cy="130000"/>
          </a:xfrm>
          <a:prstGeom prst="rect">
            <a:avLst/>
          </a:prstGeom>
          <a:solidFill>
            <a:srgbClr val="9DC3E6"/>
          </a:solidFill>
          <a:ln w="5080">
            <a:solidFill>
              <a:srgbClr val="BF9000"/>
            </a:solidFill>
            <a:prstDash val="dash"/>
          </a:ln>
        </p:spPr>
        <p:txBody>
          <a:bodyPr rtlCol="0" anchor="ctr" lIns="30000" rIns="30000" tIns="0" bIns="0" wrap="square"/>
          <a:lstStyle/>
          <a:p>
            <a:pPr algn="ctr"/>
          </a:p>
        </p:txBody>
      </p:sp>
      <p:sp>
        <p:nvSpPr>
          <p:cNvPr id="418" name="Rectangle 417"/>
          <p:cNvSpPr/>
          <p:nvPr/>
        </p:nvSpPr>
        <p:spPr>
          <a:xfrm>
            <a:off x="5248517" y="5310000"/>
            <a:ext cx="234696" cy="120000"/>
          </a:xfrm>
          <a:prstGeom prst="rect">
            <a:avLst/>
          </a:prstGeom>
          <a:solidFill>
            <a:srgbClr val="548235"/>
          </a:solidFill>
          <a:ln>
            <a:noFill/>
          </a:ln>
        </p:spPr>
        <p:txBody>
          <a:bodyPr rtlCol="0" anchor="ctr" lIns="30000" rIns="30000" tIns="0" bIns="0" wrap="square"/>
          <a:lstStyle/>
          <a:p>
            <a:pPr algn="ctr"/>
          </a:p>
        </p:txBody>
      </p:sp>
      <p:sp>
        <p:nvSpPr>
          <p:cNvPr id="419" name="TextBox 418"/>
          <p:cNvSpPr txBox="1"/>
          <p:nvPr/>
        </p:nvSpPr>
        <p:spPr>
          <a:xfrm>
            <a:off x="5051246" y="5465000"/>
            <a:ext cx="440000" cy="150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540" b="1" i="0">
                <a:solidFill>
                  <a:srgbClr val="2E75B6"/>
                </a:solidFill>
                <a:latin typeface="Noto Sans KR"/>
                <a:ea typeface="Noto Sans KR"/>
                <a:cs typeface="Noto Sans KR"/>
              </a:rPr>
              <a:t>1,140</a:t>
            </a:r>
          </a:p>
        </p:txBody>
      </p:sp>
      <p:sp>
        <p:nvSpPr>
          <p:cNvPr id="420" name="Rectangle 419"/>
          <p:cNvSpPr/>
          <p:nvPr/>
        </p:nvSpPr>
        <p:spPr>
          <a:xfrm>
            <a:off x="5381382" y="5055000"/>
            <a:ext cx="501396" cy="190000"/>
          </a:xfrm>
          <a:prstGeom prst="rect">
            <a:avLst/>
          </a:prstGeom>
          <a:solidFill>
            <a:srgbClr val="FF7900"/>
          </a:solidFill>
          <a:ln w="6350">
            <a:solidFill>
              <a:srgbClr val="FFFFFF"/>
            </a:solidFill>
          </a:ln>
        </p:spPr>
        <p:txBody>
          <a:bodyPr rtlCol="0" anchor="ctr" lIns="30000" rIns="30000" tIns="0" bIns="0" wrap="square"/>
          <a:lstStyle/>
          <a:p>
            <a:pPr algn="ctr"/>
            <a:r>
              <a:rPr sz="630" b="1" i="0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B7</a:t>
            </a:r>
          </a:p>
        </p:txBody>
      </p:sp>
      <p:sp>
        <p:nvSpPr>
          <p:cNvPr id="421" name="Rectangle 420"/>
          <p:cNvSpPr/>
          <p:nvPr/>
        </p:nvSpPr>
        <p:spPr>
          <a:xfrm>
            <a:off x="5882778" y="5085000"/>
            <a:ext cx="64008" cy="130000"/>
          </a:xfrm>
          <a:prstGeom prst="rect">
            <a:avLst/>
          </a:prstGeom>
          <a:solidFill>
            <a:srgbClr val="9DC3E6"/>
          </a:solidFill>
          <a:ln w="5080">
            <a:solidFill>
              <a:srgbClr val="BF9000"/>
            </a:solidFill>
            <a:prstDash val="dash"/>
          </a:ln>
        </p:spPr>
        <p:txBody>
          <a:bodyPr rtlCol="0" anchor="ctr" lIns="30000" rIns="30000" tIns="0" bIns="0" wrap="square"/>
          <a:lstStyle/>
          <a:p>
            <a:pPr algn="ctr"/>
          </a:p>
        </p:txBody>
      </p:sp>
      <p:sp>
        <p:nvSpPr>
          <p:cNvPr id="422" name="Rectangle 421"/>
          <p:cNvSpPr/>
          <p:nvPr/>
        </p:nvSpPr>
        <p:spPr>
          <a:xfrm>
            <a:off x="5946786" y="5310000"/>
            <a:ext cx="234696" cy="120000"/>
          </a:xfrm>
          <a:prstGeom prst="rect">
            <a:avLst/>
          </a:prstGeom>
          <a:solidFill>
            <a:srgbClr val="548235"/>
          </a:solidFill>
          <a:ln>
            <a:noFill/>
          </a:ln>
        </p:spPr>
        <p:txBody>
          <a:bodyPr rtlCol="0" anchor="ctr" lIns="30000" rIns="30000" tIns="0" bIns="0" wrap="square"/>
          <a:lstStyle/>
          <a:p>
            <a:pPr algn="ctr"/>
          </a:p>
        </p:txBody>
      </p:sp>
      <p:sp>
        <p:nvSpPr>
          <p:cNvPr id="423" name="TextBox 422"/>
          <p:cNvSpPr txBox="1"/>
          <p:nvPr/>
        </p:nvSpPr>
        <p:spPr>
          <a:xfrm>
            <a:off x="5750337" y="5465000"/>
            <a:ext cx="440000" cy="150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540" b="1" i="0">
                <a:solidFill>
                  <a:srgbClr val="2E75B6"/>
                </a:solidFill>
                <a:latin typeface="Noto Sans KR"/>
                <a:ea typeface="Noto Sans KR"/>
                <a:cs typeface="Noto Sans KR"/>
              </a:rPr>
              <a:t>1,330</a:t>
            </a:r>
          </a:p>
        </p:txBody>
      </p:sp>
      <p:sp>
        <p:nvSpPr>
          <p:cNvPr id="424" name="Rectangle 423"/>
          <p:cNvSpPr/>
          <p:nvPr/>
        </p:nvSpPr>
        <p:spPr>
          <a:xfrm>
            <a:off x="6079651" y="5055000"/>
            <a:ext cx="501396" cy="190000"/>
          </a:xfrm>
          <a:prstGeom prst="rect">
            <a:avLst/>
          </a:prstGeom>
          <a:solidFill>
            <a:srgbClr val="FF7900"/>
          </a:solidFill>
          <a:ln w="6350">
            <a:solidFill>
              <a:srgbClr val="FFFFFF"/>
            </a:solidFill>
          </a:ln>
        </p:spPr>
        <p:txBody>
          <a:bodyPr rtlCol="0" anchor="ctr" lIns="30000" rIns="30000" tIns="0" bIns="0" wrap="square"/>
          <a:lstStyle/>
          <a:p>
            <a:pPr algn="ctr"/>
            <a:r>
              <a:rPr sz="630" b="1" i="0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B8</a:t>
            </a:r>
          </a:p>
        </p:txBody>
      </p:sp>
      <p:sp>
        <p:nvSpPr>
          <p:cNvPr id="425" name="Rectangle 424"/>
          <p:cNvSpPr/>
          <p:nvPr/>
        </p:nvSpPr>
        <p:spPr>
          <a:xfrm>
            <a:off x="6581047" y="5085000"/>
            <a:ext cx="64008" cy="130000"/>
          </a:xfrm>
          <a:prstGeom prst="rect">
            <a:avLst/>
          </a:prstGeom>
          <a:solidFill>
            <a:srgbClr val="9DC3E6"/>
          </a:solidFill>
          <a:ln w="5080">
            <a:solidFill>
              <a:srgbClr val="BF9000"/>
            </a:solidFill>
            <a:prstDash val="dash"/>
          </a:ln>
        </p:spPr>
        <p:txBody>
          <a:bodyPr rtlCol="0" anchor="ctr" lIns="30000" rIns="30000" tIns="0" bIns="0" wrap="square"/>
          <a:lstStyle/>
          <a:p>
            <a:pPr algn="ctr"/>
          </a:p>
        </p:txBody>
      </p:sp>
      <p:sp>
        <p:nvSpPr>
          <p:cNvPr id="426" name="Rectangle 425"/>
          <p:cNvSpPr/>
          <p:nvPr/>
        </p:nvSpPr>
        <p:spPr>
          <a:xfrm>
            <a:off x="6645055" y="5310000"/>
            <a:ext cx="234696" cy="120000"/>
          </a:xfrm>
          <a:prstGeom prst="rect">
            <a:avLst/>
          </a:prstGeom>
          <a:solidFill>
            <a:srgbClr val="548235"/>
          </a:solidFill>
          <a:ln>
            <a:noFill/>
          </a:ln>
        </p:spPr>
        <p:txBody>
          <a:bodyPr rtlCol="0" anchor="ctr" lIns="30000" rIns="30000" tIns="0" bIns="0" wrap="square"/>
          <a:lstStyle/>
          <a:p>
            <a:pPr algn="ctr"/>
          </a:p>
        </p:txBody>
      </p:sp>
      <p:sp>
        <p:nvSpPr>
          <p:cNvPr id="427" name="TextBox 426"/>
          <p:cNvSpPr txBox="1"/>
          <p:nvPr/>
        </p:nvSpPr>
        <p:spPr>
          <a:xfrm>
            <a:off x="6449428" y="5465000"/>
            <a:ext cx="440000" cy="150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540" b="1" i="0">
                <a:solidFill>
                  <a:srgbClr val="2E75B6"/>
                </a:solidFill>
                <a:latin typeface="Noto Sans KR"/>
                <a:ea typeface="Noto Sans KR"/>
                <a:cs typeface="Noto Sans KR"/>
              </a:rPr>
              <a:t>1,520</a:t>
            </a:r>
          </a:p>
        </p:txBody>
      </p:sp>
      <p:sp>
        <p:nvSpPr>
          <p:cNvPr id="428" name="Rectangle 427"/>
          <p:cNvSpPr/>
          <p:nvPr/>
        </p:nvSpPr>
        <p:spPr>
          <a:xfrm>
            <a:off x="6777920" y="5055000"/>
            <a:ext cx="501396" cy="190000"/>
          </a:xfrm>
          <a:prstGeom prst="rect">
            <a:avLst/>
          </a:prstGeom>
          <a:solidFill>
            <a:srgbClr val="FF7900"/>
          </a:solidFill>
          <a:ln w="6350">
            <a:solidFill>
              <a:srgbClr val="FFFFFF"/>
            </a:solidFill>
          </a:ln>
        </p:spPr>
        <p:txBody>
          <a:bodyPr rtlCol="0" anchor="ctr" lIns="30000" rIns="30000" tIns="0" bIns="0" wrap="square"/>
          <a:lstStyle/>
          <a:p>
            <a:pPr algn="ctr"/>
            <a:r>
              <a:rPr sz="630" b="1" i="0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B9</a:t>
            </a:r>
          </a:p>
        </p:txBody>
      </p:sp>
      <p:sp>
        <p:nvSpPr>
          <p:cNvPr id="429" name="Rectangle 428"/>
          <p:cNvSpPr/>
          <p:nvPr/>
        </p:nvSpPr>
        <p:spPr>
          <a:xfrm>
            <a:off x="7279316" y="5085000"/>
            <a:ext cx="64008" cy="130000"/>
          </a:xfrm>
          <a:prstGeom prst="rect">
            <a:avLst/>
          </a:prstGeom>
          <a:solidFill>
            <a:srgbClr val="9DC3E6"/>
          </a:solidFill>
          <a:ln w="5080">
            <a:solidFill>
              <a:srgbClr val="BF9000"/>
            </a:solidFill>
            <a:prstDash val="dash"/>
          </a:ln>
        </p:spPr>
        <p:txBody>
          <a:bodyPr rtlCol="0" anchor="ctr" lIns="30000" rIns="30000" tIns="0" bIns="0" wrap="square"/>
          <a:lstStyle/>
          <a:p>
            <a:pPr algn="ctr"/>
          </a:p>
        </p:txBody>
      </p:sp>
      <p:sp>
        <p:nvSpPr>
          <p:cNvPr id="430" name="Rectangle 429"/>
          <p:cNvSpPr/>
          <p:nvPr/>
        </p:nvSpPr>
        <p:spPr>
          <a:xfrm>
            <a:off x="7343324" y="5310000"/>
            <a:ext cx="234696" cy="120000"/>
          </a:xfrm>
          <a:prstGeom prst="rect">
            <a:avLst/>
          </a:prstGeom>
          <a:solidFill>
            <a:srgbClr val="548235"/>
          </a:solidFill>
          <a:ln>
            <a:noFill/>
          </a:ln>
        </p:spPr>
        <p:txBody>
          <a:bodyPr rtlCol="0" anchor="ctr" lIns="30000" rIns="30000" tIns="0" bIns="0" wrap="square"/>
          <a:lstStyle/>
          <a:p>
            <a:pPr algn="ctr"/>
          </a:p>
        </p:txBody>
      </p:sp>
      <p:sp>
        <p:nvSpPr>
          <p:cNvPr id="431" name="TextBox 430"/>
          <p:cNvSpPr txBox="1"/>
          <p:nvPr/>
        </p:nvSpPr>
        <p:spPr>
          <a:xfrm>
            <a:off x="7148518" y="5465000"/>
            <a:ext cx="440000" cy="150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540" b="1" i="0">
                <a:solidFill>
                  <a:srgbClr val="2E75B6"/>
                </a:solidFill>
                <a:latin typeface="Noto Sans KR"/>
                <a:ea typeface="Noto Sans KR"/>
                <a:cs typeface="Noto Sans KR"/>
              </a:rPr>
              <a:t>1,710</a:t>
            </a:r>
          </a:p>
        </p:txBody>
      </p:sp>
      <p:sp>
        <p:nvSpPr>
          <p:cNvPr id="432" name="Rectangle 431"/>
          <p:cNvSpPr/>
          <p:nvPr/>
        </p:nvSpPr>
        <p:spPr>
          <a:xfrm>
            <a:off x="7476189" y="5055000"/>
            <a:ext cx="501396" cy="190000"/>
          </a:xfrm>
          <a:prstGeom prst="rect">
            <a:avLst/>
          </a:prstGeom>
          <a:solidFill>
            <a:srgbClr val="FF7900"/>
          </a:solidFill>
          <a:ln w="6350">
            <a:solidFill>
              <a:srgbClr val="FFFFFF"/>
            </a:solidFill>
          </a:ln>
        </p:spPr>
        <p:txBody>
          <a:bodyPr rtlCol="0" anchor="ctr" lIns="30000" rIns="30000" tIns="0" bIns="0" wrap="square"/>
          <a:lstStyle/>
          <a:p>
            <a:pPr algn="ctr"/>
            <a:r>
              <a:rPr sz="630" b="1" i="0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B10</a:t>
            </a:r>
          </a:p>
        </p:txBody>
      </p:sp>
      <p:sp>
        <p:nvSpPr>
          <p:cNvPr id="433" name="Rectangle 432"/>
          <p:cNvSpPr/>
          <p:nvPr/>
        </p:nvSpPr>
        <p:spPr>
          <a:xfrm>
            <a:off x="7977585" y="5085000"/>
            <a:ext cx="64008" cy="130000"/>
          </a:xfrm>
          <a:prstGeom prst="rect">
            <a:avLst/>
          </a:prstGeom>
          <a:solidFill>
            <a:srgbClr val="9DC3E6"/>
          </a:solidFill>
          <a:ln w="5080">
            <a:solidFill>
              <a:srgbClr val="BF9000"/>
            </a:solidFill>
            <a:prstDash val="dash"/>
          </a:ln>
        </p:spPr>
        <p:txBody>
          <a:bodyPr rtlCol="0" anchor="ctr" lIns="30000" rIns="30000" tIns="0" bIns="0" wrap="square"/>
          <a:lstStyle/>
          <a:p>
            <a:pPr algn="ctr"/>
          </a:p>
        </p:txBody>
      </p:sp>
      <p:sp>
        <p:nvSpPr>
          <p:cNvPr id="434" name="Rectangle 433"/>
          <p:cNvSpPr/>
          <p:nvPr/>
        </p:nvSpPr>
        <p:spPr>
          <a:xfrm>
            <a:off x="8041593" y="5310000"/>
            <a:ext cx="234696" cy="120000"/>
          </a:xfrm>
          <a:prstGeom prst="rect">
            <a:avLst/>
          </a:prstGeom>
          <a:solidFill>
            <a:srgbClr val="548235"/>
          </a:solidFill>
          <a:ln>
            <a:noFill/>
          </a:ln>
        </p:spPr>
        <p:txBody>
          <a:bodyPr rtlCol="0" anchor="ctr" lIns="30000" rIns="30000" tIns="0" bIns="0" wrap="square"/>
          <a:lstStyle/>
          <a:p>
            <a:pPr algn="ctr"/>
          </a:p>
        </p:txBody>
      </p:sp>
      <p:sp>
        <p:nvSpPr>
          <p:cNvPr id="435" name="TextBox 434"/>
          <p:cNvSpPr txBox="1"/>
          <p:nvPr/>
        </p:nvSpPr>
        <p:spPr>
          <a:xfrm>
            <a:off x="7847609" y="5465000"/>
            <a:ext cx="440000" cy="150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540" b="1" i="0">
                <a:solidFill>
                  <a:srgbClr val="2E75B6"/>
                </a:solidFill>
                <a:latin typeface="Noto Sans KR"/>
                <a:ea typeface="Noto Sans KR"/>
                <a:cs typeface="Noto Sans KR"/>
              </a:rPr>
              <a:t>1,900</a:t>
            </a:r>
          </a:p>
        </p:txBody>
      </p:sp>
      <p:sp>
        <p:nvSpPr>
          <p:cNvPr id="436" name="Rectangle 435"/>
          <p:cNvSpPr/>
          <p:nvPr/>
        </p:nvSpPr>
        <p:spPr>
          <a:xfrm>
            <a:off x="8174458" y="5055000"/>
            <a:ext cx="501396" cy="190000"/>
          </a:xfrm>
          <a:prstGeom prst="rect">
            <a:avLst/>
          </a:prstGeom>
          <a:solidFill>
            <a:srgbClr val="FF7900"/>
          </a:solidFill>
          <a:ln w="6350">
            <a:solidFill>
              <a:srgbClr val="FFFFFF"/>
            </a:solidFill>
          </a:ln>
        </p:spPr>
        <p:txBody>
          <a:bodyPr rtlCol="0" anchor="ctr" lIns="30000" rIns="30000" tIns="0" bIns="0" wrap="square"/>
          <a:lstStyle/>
          <a:p>
            <a:pPr algn="ctr"/>
            <a:r>
              <a:rPr sz="630" b="1" i="0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B11</a:t>
            </a:r>
          </a:p>
        </p:txBody>
      </p:sp>
      <p:sp>
        <p:nvSpPr>
          <p:cNvPr id="437" name="Rectangle 436"/>
          <p:cNvSpPr/>
          <p:nvPr/>
        </p:nvSpPr>
        <p:spPr>
          <a:xfrm>
            <a:off x="8675854" y="5085000"/>
            <a:ext cx="64008" cy="130000"/>
          </a:xfrm>
          <a:prstGeom prst="rect">
            <a:avLst/>
          </a:prstGeom>
          <a:solidFill>
            <a:srgbClr val="9DC3E6"/>
          </a:solidFill>
          <a:ln w="5080">
            <a:solidFill>
              <a:srgbClr val="BF9000"/>
            </a:solidFill>
            <a:prstDash val="dash"/>
          </a:ln>
        </p:spPr>
        <p:txBody>
          <a:bodyPr rtlCol="0" anchor="ctr" lIns="30000" rIns="30000" tIns="0" bIns="0" wrap="square"/>
          <a:lstStyle/>
          <a:p>
            <a:pPr algn="ctr"/>
          </a:p>
        </p:txBody>
      </p:sp>
      <p:sp>
        <p:nvSpPr>
          <p:cNvPr id="438" name="Rectangle 437"/>
          <p:cNvSpPr/>
          <p:nvPr/>
        </p:nvSpPr>
        <p:spPr>
          <a:xfrm>
            <a:off x="8739862" y="5310000"/>
            <a:ext cx="111529" cy="120000"/>
          </a:xfrm>
          <a:prstGeom prst="rect">
            <a:avLst/>
          </a:prstGeom>
          <a:solidFill>
            <a:srgbClr val="548235"/>
          </a:solidFill>
          <a:ln>
            <a:noFill/>
          </a:ln>
        </p:spPr>
        <p:txBody>
          <a:bodyPr rtlCol="0" anchor="ctr" lIns="30000" rIns="30000" tIns="0" bIns="0" wrap="square"/>
          <a:lstStyle/>
          <a:p>
            <a:pPr algn="ctr"/>
          </a:p>
        </p:txBody>
      </p:sp>
      <p:sp>
        <p:nvSpPr>
          <p:cNvPr id="439" name="TextBox 438"/>
          <p:cNvSpPr txBox="1"/>
          <p:nvPr/>
        </p:nvSpPr>
        <p:spPr>
          <a:xfrm>
            <a:off x="8546700" y="5465000"/>
            <a:ext cx="440000" cy="150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540" b="1" i="0">
                <a:solidFill>
                  <a:srgbClr val="2E75B6"/>
                </a:solidFill>
                <a:latin typeface="Noto Sans KR"/>
                <a:ea typeface="Noto Sans KR"/>
                <a:cs typeface="Noto Sans KR"/>
              </a:rPr>
              <a:t>2,090</a:t>
            </a:r>
          </a:p>
        </p:txBody>
      </p:sp>
      <p:sp>
        <p:nvSpPr>
          <p:cNvPr id="440" name="Rectangle 439"/>
          <p:cNvSpPr/>
          <p:nvPr/>
        </p:nvSpPr>
        <p:spPr>
          <a:xfrm>
            <a:off x="5989320" y="4560000"/>
            <a:ext cx="150000" cy="100000"/>
          </a:xfrm>
          <a:prstGeom prst="rect">
            <a:avLst/>
          </a:prstGeom>
          <a:solidFill>
            <a:srgbClr val="FF7900"/>
          </a:solidFill>
          <a:ln>
            <a:noFill/>
          </a:ln>
        </p:spPr>
        <p:txBody>
          <a:bodyPr rtlCol="0" anchor="ctr" lIns="30000" rIns="30000" tIns="0" bIns="0" wrap="square"/>
          <a:lstStyle/>
          <a:p>
            <a:pPr algn="ctr"/>
          </a:p>
        </p:txBody>
      </p:sp>
      <p:sp>
        <p:nvSpPr>
          <p:cNvPr id="441" name="TextBox 440"/>
          <p:cNvSpPr txBox="1"/>
          <p:nvPr/>
        </p:nvSpPr>
        <p:spPr>
          <a:xfrm>
            <a:off x="6153912" y="4535000"/>
            <a:ext cx="777240" cy="15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600" b="0" i="0">
                <a:solidFill>
                  <a:srgbClr val="3F3F3F"/>
                </a:solidFill>
                <a:latin typeface="Noto Sans KR"/>
                <a:ea typeface="Noto Sans KR"/>
                <a:cs typeface="Noto Sans KR"/>
              </a:rPr>
              <a:t>준비·정제 47 h</a:t>
            </a:r>
          </a:p>
        </p:txBody>
      </p:sp>
      <p:sp>
        <p:nvSpPr>
          <p:cNvPr id="442" name="Rectangle 441"/>
          <p:cNvSpPr/>
          <p:nvPr/>
        </p:nvSpPr>
        <p:spPr>
          <a:xfrm>
            <a:off x="6931152" y="4560000"/>
            <a:ext cx="150000" cy="100000"/>
          </a:xfrm>
          <a:prstGeom prst="rect">
            <a:avLst/>
          </a:prstGeom>
          <a:solidFill>
            <a:srgbClr val="9DC3E6"/>
          </a:solidFill>
          <a:ln w="6350">
            <a:solidFill>
              <a:srgbClr val="BF9000"/>
            </a:solidFill>
            <a:prstDash val="dash"/>
          </a:ln>
        </p:spPr>
        <p:txBody>
          <a:bodyPr rtlCol="0" anchor="ctr" lIns="30000" rIns="30000" tIns="0" bIns="0" wrap="square"/>
          <a:lstStyle/>
          <a:p>
            <a:pPr algn="ctr"/>
          </a:p>
        </p:txBody>
      </p:sp>
      <p:sp>
        <p:nvSpPr>
          <p:cNvPr id="443" name="TextBox 442"/>
          <p:cNvSpPr txBox="1"/>
          <p:nvPr/>
        </p:nvSpPr>
        <p:spPr>
          <a:xfrm>
            <a:off x="7095744" y="4535000"/>
            <a:ext cx="685800" cy="15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600" b="0" i="0">
                <a:solidFill>
                  <a:srgbClr val="3F3F3F"/>
                </a:solidFill>
                <a:latin typeface="Noto Sans KR"/>
                <a:ea typeface="Noto Sans KR"/>
                <a:cs typeface="Noto Sans KR"/>
              </a:rPr>
              <a:t>PQC·이송 6 h</a:t>
            </a:r>
          </a:p>
        </p:txBody>
      </p:sp>
      <p:sp>
        <p:nvSpPr>
          <p:cNvPr id="444" name="Rectangle 443"/>
          <p:cNvSpPr/>
          <p:nvPr/>
        </p:nvSpPr>
        <p:spPr>
          <a:xfrm>
            <a:off x="7790688" y="4560000"/>
            <a:ext cx="150000" cy="100000"/>
          </a:xfrm>
          <a:prstGeom prst="rect">
            <a:avLst/>
          </a:prstGeom>
          <a:solidFill>
            <a:srgbClr val="548235"/>
          </a:solidFill>
          <a:ln>
            <a:noFill/>
          </a:ln>
        </p:spPr>
        <p:txBody>
          <a:bodyPr rtlCol="0" anchor="ctr" lIns="30000" rIns="30000" tIns="0" bIns="0" wrap="square"/>
          <a:lstStyle/>
          <a:p>
            <a:pPr algn="ctr"/>
          </a:p>
        </p:txBody>
      </p:sp>
      <p:sp>
        <p:nvSpPr>
          <p:cNvPr id="445" name="TextBox 444"/>
          <p:cNvSpPr txBox="1"/>
          <p:nvPr/>
        </p:nvSpPr>
        <p:spPr>
          <a:xfrm>
            <a:off x="7955279" y="4535000"/>
            <a:ext cx="914400" cy="15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600" b="0" i="0">
                <a:solidFill>
                  <a:srgbClr val="3F3F3F"/>
                </a:solidFill>
                <a:latin typeface="Noto Sans KR"/>
                <a:ea typeface="Noto Sans KR"/>
                <a:cs typeface="Noto Sans KR"/>
              </a:rPr>
              <a:t>FQC·충진·OQC 22 h</a:t>
            </a:r>
          </a:p>
        </p:txBody>
      </p:sp>
      <p:sp>
        <p:nvSpPr>
          <p:cNvPr id="446" name="Rectangle 445"/>
          <p:cNvSpPr/>
          <p:nvPr/>
        </p:nvSpPr>
        <p:spPr>
          <a:xfrm>
            <a:off x="287000" y="5665000"/>
            <a:ext cx="2090000" cy="420000"/>
          </a:xfrm>
          <a:prstGeom prst="rect">
            <a:avLst/>
          </a:prstGeom>
          <a:solidFill>
            <a:srgbClr val="FDEDF0"/>
          </a:solidFill>
          <a:ln w="12700">
            <a:solidFill>
              <a:srgbClr val="EB002C"/>
            </a:solidFill>
          </a:ln>
        </p:spPr>
        <p:txBody>
          <a:bodyPr rtlCol="0" anchor="ctr" lIns="30000" rIns="30000" tIns="0" bIns="0" wrap="square"/>
          <a:lstStyle/>
          <a:p>
            <a:pPr algn="ctr"/>
          </a:p>
        </p:txBody>
      </p:sp>
      <p:sp>
        <p:nvSpPr>
          <p:cNvPr id="447" name="TextBox 446"/>
          <p:cNvSpPr txBox="1"/>
          <p:nvPr/>
        </p:nvSpPr>
        <p:spPr>
          <a:xfrm>
            <a:off x="337000" y="5690000"/>
            <a:ext cx="1990000" cy="390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650" b="1" i="0">
                <a:solidFill>
                  <a:srgbClr val="1A1A1A"/>
                </a:solidFill>
                <a:latin typeface="Noto Sans KR"/>
                <a:ea typeface="Noto Sans KR"/>
                <a:cs typeface="Noto Sans KR"/>
              </a:rPr>
              <a:t>과거 최대  </a:t>
            </a:r>
            <a:r>
              <a:rPr sz="900" b="1" i="0">
                <a:solidFill>
                  <a:srgbClr val="EB002C"/>
                </a:solidFill>
                <a:latin typeface="Noto Sans KR"/>
                <a:ea typeface="Noto Sans KR"/>
                <a:cs typeface="Noto Sans KR"/>
              </a:rPr>
              <a:t>11 Batch · 2,090 kg/월</a:t>
            </a:r>
          </a:p>
          <a:p>
            <a:pPr algn="ctr">
              <a:spcAft>
                <a:spcPts val="0"/>
              </a:spcAft>
            </a:pPr>
            <a:r>
              <a:rPr sz="600" b="0" i="0">
                <a:solidFill>
                  <a:srgbClr val="7F7F7F"/>
                </a:solidFill>
                <a:latin typeface="Noto Sans KR"/>
                <a:ea typeface="Noto Sans KR"/>
                <a:cs typeface="Noto Sans KR"/>
              </a:rPr>
              <a:t>매월 11회 반복 참고 25.08톤/년 (11×190×12)</a:t>
            </a:r>
          </a:p>
        </p:txBody>
      </p:sp>
      <p:sp>
        <p:nvSpPr>
          <p:cNvPr id="448" name="Rectangle 447"/>
          <p:cNvSpPr/>
          <p:nvPr/>
        </p:nvSpPr>
        <p:spPr>
          <a:xfrm>
            <a:off x="2447000" y="5665000"/>
            <a:ext cx="2090000" cy="42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7F7F7F"/>
            </a:solidFill>
            <a:prstDash val="dash"/>
          </a:ln>
        </p:spPr>
        <p:txBody>
          <a:bodyPr rtlCol="0" anchor="ctr" lIns="30000" rIns="30000" tIns="0" bIns="0" wrap="square"/>
          <a:lstStyle/>
          <a:p>
            <a:pPr algn="ctr"/>
          </a:p>
        </p:txBody>
      </p:sp>
      <p:sp>
        <p:nvSpPr>
          <p:cNvPr id="449" name="TextBox 448"/>
          <p:cNvSpPr txBox="1"/>
          <p:nvPr/>
        </p:nvSpPr>
        <p:spPr>
          <a:xfrm>
            <a:off x="2497000" y="5690000"/>
            <a:ext cx="1990000" cy="390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650" b="1" i="0">
                <a:solidFill>
                  <a:srgbClr val="1A1A1A"/>
                </a:solidFill>
                <a:latin typeface="Noto Sans KR"/>
                <a:ea typeface="Noto Sans KR"/>
                <a:cs typeface="Noto Sans KR"/>
              </a:rPr>
              <a:t>시간 비교  </a:t>
            </a:r>
            <a:r>
              <a:rPr sz="900" b="1" i="0">
                <a:solidFill>
                  <a:srgbClr val="3F3F3F"/>
                </a:solidFill>
                <a:latin typeface="Noto Sans KR"/>
                <a:ea typeface="Noto Sans KR"/>
                <a:cs typeface="Noto Sans KR"/>
              </a:rPr>
              <a:t>495 h + 225 h = 720 h</a:t>
            </a:r>
          </a:p>
          <a:p>
            <a:pPr algn="ctr">
              <a:spcAft>
                <a:spcPts val="0"/>
              </a:spcAft>
            </a:pPr>
            <a:r>
              <a:rPr sz="600" b="0" i="0">
                <a:solidFill>
                  <a:srgbClr val="7F7F7F"/>
                </a:solidFill>
                <a:latin typeface="Noto Sans KR"/>
                <a:ea typeface="Noto Sans KR"/>
                <a:cs typeface="Noto Sans KR"/>
              </a:rPr>
              <a:t>정제 11×45 + 225 h (점유·전환·대기·보수·월 경계 확인)</a:t>
            </a:r>
          </a:p>
        </p:txBody>
      </p:sp>
      <p:sp>
        <p:nvSpPr>
          <p:cNvPr id="450" name="Rectangle 449"/>
          <p:cNvSpPr/>
          <p:nvPr/>
        </p:nvSpPr>
        <p:spPr>
          <a:xfrm>
            <a:off x="4607000" y="5665000"/>
            <a:ext cx="2090000" cy="420000"/>
          </a:xfrm>
          <a:prstGeom prst="rect">
            <a:avLst/>
          </a:prstGeom>
          <a:solidFill>
            <a:srgbClr val="FFF8E7"/>
          </a:solidFill>
          <a:ln w="12700">
            <a:solidFill>
              <a:srgbClr val="BF9000"/>
            </a:solidFill>
          </a:ln>
        </p:spPr>
        <p:txBody>
          <a:bodyPr rtlCol="0" anchor="ctr" lIns="30000" rIns="30000" tIns="0" bIns="0" wrap="square"/>
          <a:lstStyle/>
          <a:p>
            <a:pPr algn="ctr"/>
          </a:p>
        </p:txBody>
      </p:sp>
      <p:sp>
        <p:nvSpPr>
          <p:cNvPr id="451" name="TextBox 450"/>
          <p:cNvSpPr txBox="1"/>
          <p:nvPr/>
        </p:nvSpPr>
        <p:spPr>
          <a:xfrm>
            <a:off x="4657000" y="5690000"/>
            <a:ext cx="1990000" cy="390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650" b="1" i="0">
                <a:solidFill>
                  <a:srgbClr val="1A1A1A"/>
                </a:solidFill>
                <a:latin typeface="Noto Sans KR"/>
                <a:ea typeface="Noto Sans KR"/>
                <a:cs typeface="Noto Sans KR"/>
              </a:rPr>
              <a:t>이론 (정제만)  </a:t>
            </a:r>
            <a:r>
              <a:rPr sz="900" b="1" i="0">
                <a:solidFill>
                  <a:srgbClr val="7F6000"/>
                </a:solidFill>
                <a:latin typeface="Noto Sans KR"/>
                <a:ea typeface="Noto Sans KR"/>
                <a:cs typeface="Noto Sans KR"/>
              </a:rPr>
              <a:t>720÷45 = 16 Batch</a:t>
            </a:r>
          </a:p>
          <a:p>
            <a:pPr algn="ctr">
              <a:spcAft>
                <a:spcPts val="0"/>
              </a:spcAft>
            </a:pPr>
            <a:r>
              <a:rPr sz="600" b="0" i="0">
                <a:solidFill>
                  <a:srgbClr val="7F7F7F"/>
                </a:solidFill>
                <a:latin typeface="Noto Sans KR"/>
                <a:ea typeface="Noto Sans KR"/>
                <a:cs typeface="Noto Sans KR"/>
              </a:rPr>
              <a:t>3,040 kg/월 · 실제 Capa. 아님 · 관측 67.5 h → 10.7</a:t>
            </a:r>
          </a:p>
        </p:txBody>
      </p:sp>
      <p:sp>
        <p:nvSpPr>
          <p:cNvPr id="452" name="Rectangle 451"/>
          <p:cNvSpPr/>
          <p:nvPr/>
        </p:nvSpPr>
        <p:spPr>
          <a:xfrm>
            <a:off x="6767000" y="5665000"/>
            <a:ext cx="2090000" cy="420000"/>
          </a:xfrm>
          <a:prstGeom prst="rect">
            <a:avLst/>
          </a:prstGeom>
          <a:solidFill>
            <a:srgbClr val="FDEDF0"/>
          </a:solidFill>
          <a:ln w="12700">
            <a:solidFill>
              <a:srgbClr val="EB002C"/>
            </a:solidFill>
          </a:ln>
        </p:spPr>
        <p:txBody>
          <a:bodyPr rtlCol="0" anchor="ctr" lIns="30000" rIns="30000" tIns="0" bIns="0" wrap="square"/>
          <a:lstStyle/>
          <a:p>
            <a:pPr algn="ctr"/>
          </a:p>
        </p:txBody>
      </p:sp>
      <p:sp>
        <p:nvSpPr>
          <p:cNvPr id="453" name="TextBox 452"/>
          <p:cNvSpPr txBox="1"/>
          <p:nvPr/>
        </p:nvSpPr>
        <p:spPr>
          <a:xfrm>
            <a:off x="6817000" y="5690000"/>
            <a:ext cx="1990000" cy="390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650" b="1" i="0">
                <a:solidFill>
                  <a:srgbClr val="1A1A1A"/>
                </a:solidFill>
                <a:latin typeface="Noto Sans KR"/>
                <a:ea typeface="Noto Sans KR"/>
                <a:cs typeface="Noto Sans KR"/>
              </a:rPr>
              <a:t>현재 연간 Capa.  </a:t>
            </a:r>
            <a:r>
              <a:rPr sz="900" b="1" i="0">
                <a:solidFill>
                  <a:srgbClr val="EB002C"/>
                </a:solidFill>
                <a:latin typeface="Noto Sans KR"/>
                <a:ea typeface="Noto Sans KR"/>
                <a:cs typeface="Noto Sans KR"/>
              </a:rPr>
              <a:t>26.2톤 (기준값)</a:t>
            </a:r>
          </a:p>
          <a:p>
            <a:pPr algn="ctr">
              <a:spcAft>
                <a:spcPts val="0"/>
              </a:spcAft>
            </a:pPr>
            <a:r>
              <a:rPr sz="600" b="0" i="0">
                <a:solidFill>
                  <a:srgbClr val="7F7F7F"/>
                </a:solidFill>
                <a:latin typeface="Noto Sans KR"/>
                <a:ea typeface="Noto Sans KR"/>
                <a:cs typeface="Noto Sans KR"/>
              </a:rPr>
              <a:t>26,200÷190 = 137.9 · 138×190 = 26,220 kg · 월 11.49</a:t>
            </a:r>
          </a:p>
        </p:txBody>
      </p:sp>
      <p:sp>
        <p:nvSpPr>
          <p:cNvPr id="454" name="Rectangle 271"/>
          <p:cNvSpPr/>
          <p:nvPr/>
        </p:nvSpPr>
        <p:spPr>
          <a:xfrm>
            <a:off x="1768000" y="3700000"/>
            <a:ext cx="131224" cy="210000"/>
          </a:xfrm>
          <a:prstGeom prst="rect">
            <a:avLst/>
          </a:prstGeom>
          <a:solidFill>
            <a:srgbClr val="F4B183"/>
          </a:solidFill>
          <a:ln w="6350">
            <a:solidFill>
              <a:srgbClr val="FFFFFF"/>
            </a:solidFill>
          </a:ln>
        </p:spPr>
        <p:txBody>
          <a:bodyPr rtlCol="0" anchor="ctr" lIns="30000" rIns="30000" tIns="0" bIns="0" wrap="square"/>
          <a:lstStyle/>
          <a:p>
            <a:pPr algn="ctr"/>
            <a:r>
              <a:rPr sz="630" b="1" i="0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/>
            </a:r>
          </a:p>
        </p:txBody>
      </p:sp>
      <p:sp>
        <p:nvSpPr>
          <p:cNvPr id="455" name="Rectangle 272"/>
          <p:cNvSpPr/>
          <p:nvPr/>
        </p:nvSpPr>
        <p:spPr>
          <a:xfrm>
            <a:off x="4851774" y="3700000"/>
            <a:ext cx="393673" cy="210000"/>
          </a:xfrm>
          <a:prstGeom prst="rect">
            <a:avLst/>
          </a:prstGeom>
          <a:solidFill>
            <a:srgbClr val="9DC3E6"/>
          </a:solidFill>
          <a:ln w="6350">
            <a:solidFill>
              <a:srgbClr val="FFFFFF"/>
            </a:solidFill>
          </a:ln>
        </p:spPr>
        <p:txBody>
          <a:bodyPr rtlCol="0" anchor="ctr" lIns="30000" rIns="30000" tIns="0" bIns="0" wrap="square"/>
          <a:lstStyle/>
          <a:p>
            <a:pPr algn="ctr"/>
          </a:p>
        </p:txBody>
      </p:sp>
      <p:sp>
        <p:nvSpPr>
          <p:cNvPr id="456" name="TextBox 455"/>
          <p:cNvSpPr txBox="1"/>
          <p:nvPr/>
        </p:nvSpPr>
        <p:spPr>
          <a:xfrm>
            <a:off x="4851774" y="3736576"/>
            <a:ext cx="393673" cy="137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480" b="1">
                <a:solidFill>
                  <a:srgbClr val="1F3864"/>
                </a:solidFill>
                <a:latin typeface="Noto Sans KR"/>
                <a:ea typeface="Noto Sans KR"/>
                <a:cs typeface="Noto Sans KR"/>
              </a:rPr>
              <a:t>PQC·이송 6</a:t>
            </a:r>
          </a:p>
        </p:txBody>
      </p:sp>
      <p:sp>
        <p:nvSpPr>
          <p:cNvPr id="457" name="Rectangle 279"/>
          <p:cNvSpPr/>
          <p:nvPr/>
        </p:nvSpPr>
        <p:spPr>
          <a:xfrm>
            <a:off x="1768000" y="4030000"/>
            <a:ext cx="131224" cy="210000"/>
          </a:xfrm>
          <a:prstGeom prst="rect">
            <a:avLst/>
          </a:prstGeom>
          <a:solidFill>
            <a:srgbClr val="F4B183"/>
          </a:solidFill>
          <a:ln w="6350">
            <a:solidFill>
              <a:srgbClr val="FFFFFF"/>
            </a:solidFill>
          </a:ln>
        </p:spPr>
        <p:txBody>
          <a:bodyPr rtlCol="0" anchor="ctr" lIns="30000" rIns="30000" tIns="0" bIns="0" wrap="square"/>
          <a:lstStyle/>
          <a:p>
            <a:pPr algn="ctr"/>
            <a:r>
              <a:rPr sz="630" b="1" i="0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/>
            </a:r>
          </a:p>
        </p:txBody>
      </p:sp>
      <p:sp>
        <p:nvSpPr>
          <p:cNvPr id="458" name="Rectangle 280"/>
          <p:cNvSpPr/>
          <p:nvPr/>
        </p:nvSpPr>
        <p:spPr>
          <a:xfrm>
            <a:off x="4851774" y="4030000"/>
            <a:ext cx="393673" cy="210000"/>
          </a:xfrm>
          <a:prstGeom prst="rect">
            <a:avLst/>
          </a:prstGeom>
          <a:solidFill>
            <a:srgbClr val="9DC3E6"/>
          </a:solidFill>
          <a:ln w="6350">
            <a:solidFill>
              <a:srgbClr val="FFFFFF"/>
            </a:solidFill>
          </a:ln>
        </p:spPr>
        <p:txBody>
          <a:bodyPr rtlCol="0" anchor="ctr" lIns="30000" rIns="30000" tIns="0" bIns="0" wrap="square"/>
          <a:lstStyle/>
          <a:p>
            <a:pPr algn="ctr"/>
          </a:p>
        </p:txBody>
      </p:sp>
      <p:sp>
        <p:nvSpPr>
          <p:cNvPr id="459" name="TextBox 458"/>
          <p:cNvSpPr txBox="1"/>
          <p:nvPr/>
        </p:nvSpPr>
        <p:spPr>
          <a:xfrm>
            <a:off x="4851774" y="4066576"/>
            <a:ext cx="393673" cy="137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480" b="1">
                <a:solidFill>
                  <a:srgbClr val="1F3864"/>
                </a:solidFill>
                <a:latin typeface="Noto Sans KR"/>
                <a:ea typeface="Noto Sans KR"/>
                <a:cs typeface="Noto Sans KR"/>
              </a:rPr>
              <a:t>PQC·이송 6</a:t>
            </a:r>
          </a:p>
        </p:txBody>
      </p:sp>
      <p:sp>
        <p:nvSpPr>
          <p:cNvPr id="460" name="TextBox 459"/>
          <p:cNvSpPr txBox="1"/>
          <p:nvPr/>
        </p:nvSpPr>
        <p:spPr>
          <a:xfrm>
            <a:off x="4965192" y="3593592"/>
            <a:ext cx="822960" cy="1097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550" b="1">
                <a:solidFill>
                  <a:srgbClr val="C00000"/>
                </a:solidFill>
                <a:latin typeface="Noto Sans KR"/>
                <a:ea typeface="Noto Sans KR"/>
                <a:cs typeface="Noto Sans KR"/>
              </a:rPr>
              <a:t>▼ 충진 전 57 h</a:t>
            </a:r>
          </a:p>
        </p:txBody>
      </p:sp>
    </p:spTree>
    <p:extLst>
      <p:ext uri="{BB962C8B-B14F-4D97-AF65-F5344CB8AC3E}">
        <p14:creationId xmlns:p14="http://schemas.microsoft.com/office/powerpoint/2010/main" val="129899069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32BE96E-E472-E164-23F2-95F3E9DCB42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75E2DD2F-BCF5-ECAE-E5D5-3CF0B6E970A6}"/>
              </a:ext>
            </a:extLst>
          </p:cNvPr>
          <p:cNvSpPr txBox="1"/>
          <p:nvPr/>
        </p:nvSpPr>
        <p:spPr>
          <a:xfrm>
            <a:off x="419241" y="188640"/>
            <a:ext cx="7400000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>
            <a:defPPr>
              <a:defRPr lang="ko-KR"/>
            </a:defPPr>
            <a:lvl1pPr algn="ctr">
              <a:defRPr kumimoji="1" sz="2800" b="1">
                <a:solidFill>
                  <a:schemeClr val="tx1">
                    <a:lumMod val="95000"/>
                    <a:lumOff val="5000"/>
                  </a:schemeClr>
                </a:solidFill>
                <a:latin typeface="Noto Sans KR" pitchFamily="2" charset="-127"/>
                <a:ea typeface="Noto Sans KR" pitchFamily="2" charset="-127"/>
              </a:defRPr>
            </a:lvl1pPr>
          </a:lstStyle>
          <a:p>
            <a:pPr algn="l"/>
            <a:r>
              <a:rPr lang="en-US" altLang="ko-KR" sz="1800" dirty="0" b="1">
                <a:gradFill>
                  <a:gsLst>
                    <a:gs pos="0">
                      <a:srgbClr val="FF7900"/>
                    </a:gs>
                    <a:gs pos="67000">
                      <a:srgbClr val="EB002C"/>
                    </a:gs>
                  </a:gsLst>
                  <a:lin ang="5400000" scaled="1"/>
                </a:gradFill>
              </a:rPr>
              <a:t>To-be | 정제기 2대 운영과 투자 계획</a:t>
            </a: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F5E334A9-F66D-C6A4-7BE9-6D50F9536A48}"/>
              </a:ext>
            </a:extLst>
          </p:cNvPr>
          <p:cNvSpPr/>
          <p:nvPr/>
        </p:nvSpPr>
        <p:spPr>
          <a:xfrm>
            <a:off x="243076" y="0"/>
            <a:ext cx="45719" cy="900000"/>
          </a:xfrm>
          <a:prstGeom prst="rect">
            <a:avLst/>
          </a:prstGeom>
          <a:solidFill>
            <a:srgbClr val="EB002C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42E35880-4093-876B-A5F4-41C1E861B78E}"/>
              </a:ext>
            </a:extLst>
          </p:cNvPr>
          <p:cNvSpPr txBox="1"/>
          <p:nvPr/>
        </p:nvSpPr>
        <p:spPr>
          <a:xfrm>
            <a:off x="683568" y="649029"/>
            <a:ext cx="8217356" cy="24622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>
            <a:defPPr>
              <a:defRPr lang="ko-KR"/>
            </a:defPPr>
            <a:lvl1pPr algn="ctr">
              <a:defRPr kumimoji="1" sz="2800" b="1">
                <a:solidFill>
                  <a:schemeClr val="tx1">
                    <a:lumMod val="95000"/>
                    <a:lumOff val="5000"/>
                  </a:schemeClr>
                </a:solidFill>
                <a:latin typeface="Noto Sans KR" pitchFamily="2" charset="-127"/>
                <a:ea typeface="Noto Sans KR" pitchFamily="2" charset="-127"/>
              </a:defRPr>
            </a:lvl1pPr>
          </a:lstStyle>
          <a:p>
            <a:pPr algn="l"/>
            <a:r>
              <a:rPr lang="en-US" altLang="ko-KR" sz="1600" dirty="0"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정제기 1·2 시간차 운전 · 공용 후공정 · '27.7 생산 시작 · 47.2톤/년 (연간 환산)</a:t>
            </a:r>
            <a:endParaRPr lang="en-US" altLang="ko-KR" sz="1600" dirty="0">
              <a:solidFill>
                <a:srgbClr val="FB6306"/>
              </a:solidFill>
              <a:latin typeface="Noto Sans KR" panose="02000503000000020004" pitchFamily="2" charset="-127"/>
              <a:ea typeface="Noto Sans KR" panose="02000503000000020004" pitchFamily="2" charset="-127"/>
              <a:cs typeface="Noto Sans KR" panose="02000503000000020004" pitchFamily="2" charset="-127"/>
            </a:endParaRPr>
          </a:p>
        </p:txBody>
      </p:sp>
      <p:sp>
        <p:nvSpPr>
          <p:cNvPr id="7" name="타원 6">
            <a:extLst>
              <a:ext uri="{FF2B5EF4-FFF2-40B4-BE49-F238E27FC236}">
                <a16:creationId xmlns:a16="http://schemas.microsoft.com/office/drawing/2014/main" id="{8FCEA6BD-DE04-59B4-A8D4-190141D5218B}"/>
              </a:ext>
            </a:extLst>
          </p:cNvPr>
          <p:cNvSpPr>
            <a:spLocks noChangeAspect="1"/>
          </p:cNvSpPr>
          <p:nvPr/>
        </p:nvSpPr>
        <p:spPr>
          <a:xfrm>
            <a:off x="419241" y="682139"/>
            <a:ext cx="180000" cy="180000"/>
          </a:xfrm>
          <a:prstGeom prst="ellipse">
            <a:avLst/>
          </a:prstGeom>
          <a:solidFill>
            <a:srgbClr val="EB002C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 b="1" dirty="0">
                <a:latin typeface="Noto Sans KR" pitchFamily="2" charset="-127"/>
                <a:ea typeface="Noto Sans KR" pitchFamily="2" charset="-127"/>
              </a:rPr>
              <a:t>2</a:t>
            </a:r>
            <a:endParaRPr kumimoji="1" lang="ko-KR" altLang="en-US" sz="1000" b="1" dirty="0">
              <a:latin typeface="Noto Sans KR" pitchFamily="2" charset="-127"/>
              <a:ea typeface="Noto Sans KR" pitchFamily="2" charset="-127"/>
            </a:endParaRPr>
          </a:p>
        </p:txBody>
      </p:sp>
      <p:pic>
        <p:nvPicPr>
          <p:cNvPr id="8" name="그림 7">
            <a:extLst>
              <a:ext uri="{FF2B5EF4-FFF2-40B4-BE49-F238E27FC236}">
                <a16:creationId xmlns:a16="http://schemas.microsoft.com/office/drawing/2014/main" id="{B8A963E8-7BFA-8421-BB5D-9C25023F1E9B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028384" y="165102"/>
            <a:ext cx="872541" cy="372545"/>
          </a:xfrm>
          <a:prstGeom prst="rect">
            <a:avLst/>
          </a:prstGeom>
        </p:spPr>
      </p:pic>
      <p:sp>
        <p:nvSpPr>
          <p:cNvPr id="161" name="직사각형 160">
            <a:extLst>
              <a:ext uri="{FF2B5EF4-FFF2-40B4-BE49-F238E27FC236}">
                <a16:creationId xmlns:a16="http://schemas.microsoft.com/office/drawing/2014/main" id="{93943A90-8311-883B-A173-01407C63CEE4}"/>
              </a:ext>
            </a:extLst>
          </p:cNvPr>
          <p:cNvSpPr/>
          <p:nvPr/>
        </p:nvSpPr>
        <p:spPr>
          <a:xfrm>
            <a:off x="234424" y="6411907"/>
            <a:ext cx="1027462" cy="252555"/>
          </a:xfrm>
          <a:prstGeom prst="rect">
            <a:avLst/>
          </a:prstGeom>
          <a:noFill/>
          <a:ln w="9525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kumimoji="1" lang="en-US" altLang="ko-KR" sz="1100" dirty="0">
                <a:solidFill>
                  <a:schemeClr val="bg1">
                    <a:lumMod val="50000"/>
                  </a:schemeClr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Confidential</a:t>
            </a:r>
            <a:endParaRPr kumimoji="1" lang="ko-KR" altLang="en-US" sz="1100" dirty="0">
              <a:solidFill>
                <a:schemeClr val="bg1">
                  <a:lumMod val="50000"/>
                </a:schemeClr>
              </a:solidFill>
              <a:latin typeface="Noto Sans KR" panose="02000503000000020004" pitchFamily="2" charset="-127"/>
              <a:ea typeface="Noto Sans KR" panose="02000503000000020004" pitchFamily="2" charset="-127"/>
              <a:cs typeface="Noto Sans KR" panose="02000503000000020004" pitchFamily="2" charset="-127"/>
            </a:endParaRPr>
          </a:p>
        </p:txBody>
      </p:sp>
      <p:cxnSp>
        <p:nvCxnSpPr>
          <p:cNvPr id="163" name="직선 연결선[R] 162">
            <a:extLst>
              <a:ext uri="{FF2B5EF4-FFF2-40B4-BE49-F238E27FC236}">
                <a16:creationId xmlns:a16="http://schemas.microsoft.com/office/drawing/2014/main" id="{8DEBABA2-333E-086B-36F6-137958AA3974}"/>
              </a:ext>
            </a:extLst>
          </p:cNvPr>
          <p:cNvCxnSpPr>
            <a:cxnSpLocks/>
          </p:cNvCxnSpPr>
          <p:nvPr/>
        </p:nvCxnSpPr>
        <p:spPr>
          <a:xfrm>
            <a:off x="1442533" y="6538184"/>
            <a:ext cx="7200800" cy="0"/>
          </a:xfrm>
          <a:prstGeom prst="line">
            <a:avLst/>
          </a:prstGeom>
          <a:ln w="6350"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8D53F489-CBFB-4C6F-878D-02975AD51256}"/>
              </a:ext>
            </a:extLst>
          </p:cNvPr>
          <p:cNvSpPr txBox="1"/>
          <p:nvPr/>
        </p:nvSpPr>
        <p:spPr>
          <a:xfrm>
            <a:off x="3972000" y="6461240"/>
            <a:ext cx="1200000" cy="15388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kumimoji="1" lang="en-US" altLang="ko-KR" sz="1000" dirty="0" b="0" i="0">
                <a:solidFill>
                  <a:srgbClr val="7F7F7F"/>
                </a:solidFill>
                <a:latin typeface="Noto Sans KR" panose="02000403000000020004" pitchFamily="2" charset="-127"/>
                <a:ea typeface="Noto Sans KR" panose="02000403000000020004" pitchFamily="2" charset="-127"/>
                <a:cs typeface="Noto Sans KR" panose="02000403000000020004" pitchFamily="2" charset="-127"/>
              </a:rPr>
              <a:t>- 2 -</a:t>
            </a:r>
            <a:endParaRPr kumimoji="1" lang="ko-KR" altLang="en-US" sz="1000" dirty="0">
              <a:solidFill>
                <a:schemeClr val="bg1">
                  <a:lumMod val="50000"/>
                </a:schemeClr>
              </a:solidFill>
              <a:latin typeface="Noto Sans KR" panose="02000403000000020004" pitchFamily="2" charset="-127"/>
              <a:ea typeface="Noto Sans KR" panose="02000403000000020004" pitchFamily="2" charset="-127"/>
              <a:cs typeface="Noto Sans KR" panose="02000403000000020004" pitchFamily="2" charset="-127"/>
            </a:endParaRPr>
          </a:p>
        </p:txBody>
      </p:sp>
      <p:sp>
        <p:nvSpPr>
          <p:cNvPr id="164" name="TextBox 163"/>
          <p:cNvSpPr txBox="1"/>
          <p:nvPr/>
        </p:nvSpPr>
        <p:spPr>
          <a:xfrm>
            <a:off x="5657000" y="6300000"/>
            <a:ext cx="3200000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800" b="0" i="0">
                <a:solidFill>
                  <a:srgbClr val="7F7F7F"/>
                </a:solidFill>
                <a:latin typeface="Noto Sans KR"/>
                <a:ea typeface="Noto Sans KR"/>
                <a:cs typeface="Noto Sans KR"/>
              </a:rPr>
              <a:t>공란 : 담당부서 확인 후 입력</a:t>
            </a:r>
          </a:p>
        </p:txBody>
      </p:sp>
      <p:sp>
        <p:nvSpPr>
          <p:cNvPr id="165" name="Can 164"/>
          <p:cNvSpPr/>
          <p:nvPr/>
        </p:nvSpPr>
        <p:spPr>
          <a:xfrm>
            <a:off x="457000" y="1100000"/>
            <a:ext cx="360000" cy="420000"/>
          </a:xfrm>
          <a:prstGeom prst="can">
            <a:avLst/>
          </a:prstGeom>
          <a:solidFill>
            <a:srgbClr val="EDEDED"/>
          </a:solidFill>
          <a:ln w="15875">
            <a:solidFill>
              <a:srgbClr val="7F7F7F"/>
            </a:solidFill>
          </a:ln>
        </p:spPr>
        <p:txBody>
          <a:bodyPr rtlCol="0" anchor="ctr" lIns="30000" rIns="30000" tIns="0" bIns="0" wrap="square"/>
          <a:lstStyle/>
          <a:p>
            <a:pPr algn="ctr"/>
            <a:r>
              <a:rPr sz="700" b="1" i="0">
                <a:solidFill>
                  <a:srgbClr val="1A1A1A"/>
                </a:solidFill>
                <a:latin typeface="Noto Sans KR"/>
                <a:ea typeface="Noto Sans KR"/>
                <a:cs typeface="Noto Sans KR"/>
              </a:rPr>
              <a:t>Crude</a:t>
            </a:r>
          </a:p>
        </p:txBody>
      </p:sp>
      <p:sp>
        <p:nvSpPr>
          <p:cNvPr id="166" name="Rectangle 165"/>
          <p:cNvSpPr/>
          <p:nvPr/>
        </p:nvSpPr>
        <p:spPr>
          <a:xfrm>
            <a:off x="287000" y="1570000"/>
            <a:ext cx="700000" cy="320000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</p:spPr>
        <p:txBody>
          <a:bodyPr rtlCol="0" anchor="ctr" lIns="30000" rIns="30000" tIns="0" bIns="0" wrap="square"/>
          <a:lstStyle/>
          <a:p>
            <a:pPr algn="ctr"/>
          </a:p>
        </p:txBody>
      </p:sp>
      <p:sp>
        <p:nvSpPr>
          <p:cNvPr id="167" name="Rectangle 166"/>
          <p:cNvSpPr/>
          <p:nvPr/>
        </p:nvSpPr>
        <p:spPr>
          <a:xfrm>
            <a:off x="287000" y="1570000"/>
            <a:ext cx="700000" cy="34000"/>
          </a:xfrm>
          <a:prstGeom prst="rect">
            <a:avLst/>
          </a:prstGeom>
          <a:solidFill>
            <a:srgbClr val="7F7F7F"/>
          </a:solidFill>
          <a:ln>
            <a:noFill/>
          </a:ln>
        </p:spPr>
        <p:txBody>
          <a:bodyPr rtlCol="0" anchor="ctr" lIns="30000" rIns="30000" tIns="0" bIns="0" wrap="square"/>
          <a:lstStyle/>
          <a:p>
            <a:pPr algn="ctr"/>
          </a:p>
        </p:txBody>
      </p:sp>
      <p:sp>
        <p:nvSpPr>
          <p:cNvPr id="168" name="TextBox 167"/>
          <p:cNvSpPr txBox="1"/>
          <p:nvPr/>
        </p:nvSpPr>
        <p:spPr>
          <a:xfrm>
            <a:off x="302000" y="1615000"/>
            <a:ext cx="670000" cy="265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780" b="1" i="0">
                <a:solidFill>
                  <a:srgbClr val="1A1A1A"/>
                </a:solidFill>
                <a:latin typeface="Noto Sans KR"/>
                <a:ea typeface="Noto Sans KR"/>
                <a:cs typeface="Noto Sans KR"/>
              </a:rPr>
              <a:t>원재료 입고</a:t>
            </a:r>
          </a:p>
          <a:p>
            <a:pPr algn="ctr">
              <a:spcAft>
                <a:spcPts val="0"/>
              </a:spcAft>
            </a:pPr>
            <a:r>
              <a:rPr sz="630" b="0" i="0">
                <a:solidFill>
                  <a:srgbClr val="7F7F7F"/>
                </a:solidFill>
                <a:latin typeface="Noto Sans KR"/>
                <a:ea typeface="Noto Sans KR"/>
                <a:cs typeface="Noto Sans KR"/>
              </a:rPr>
              <a:t>Lake Materials</a:t>
            </a:r>
          </a:p>
        </p:txBody>
      </p:sp>
      <p:sp>
        <p:nvSpPr>
          <p:cNvPr id="169" name="Rounded Rectangle 168"/>
          <p:cNvSpPr/>
          <p:nvPr/>
        </p:nvSpPr>
        <p:spPr>
          <a:xfrm>
            <a:off x="1307000" y="1180000"/>
            <a:ext cx="500000" cy="260000"/>
          </a:xfrm>
          <a:prstGeom prst="roundRect">
            <a:avLst>
              <a:gd name="adj" fmla="val 20000"/>
            </a:avLst>
          </a:prstGeom>
          <a:solidFill>
            <a:srgbClr val="2E75B6"/>
          </a:solidFill>
          <a:ln>
            <a:noFill/>
          </a:ln>
        </p:spPr>
        <p:txBody>
          <a:bodyPr rtlCol="0" anchor="ctr" lIns="30000" rIns="30000" tIns="0" bIns="0" wrap="square"/>
          <a:lstStyle/>
          <a:p>
            <a:pPr algn="ctr"/>
            <a:r>
              <a:rPr sz="900" b="1" i="0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IQC</a:t>
            </a:r>
          </a:p>
        </p:txBody>
      </p:sp>
      <p:sp>
        <p:nvSpPr>
          <p:cNvPr id="170" name="Rectangle 169"/>
          <p:cNvSpPr/>
          <p:nvPr/>
        </p:nvSpPr>
        <p:spPr>
          <a:xfrm>
            <a:off x="1237000" y="1570000"/>
            <a:ext cx="640000" cy="320000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</p:spPr>
        <p:txBody>
          <a:bodyPr rtlCol="0" anchor="ctr" lIns="30000" rIns="30000" tIns="0" bIns="0" wrap="square"/>
          <a:lstStyle/>
          <a:p>
            <a:pPr algn="ctr"/>
          </a:p>
        </p:txBody>
      </p:sp>
      <p:sp>
        <p:nvSpPr>
          <p:cNvPr id="171" name="Rectangle 170"/>
          <p:cNvSpPr/>
          <p:nvPr/>
        </p:nvSpPr>
        <p:spPr>
          <a:xfrm>
            <a:off x="1237000" y="1570000"/>
            <a:ext cx="640000" cy="34000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txBody>
          <a:bodyPr rtlCol="0" anchor="ctr" lIns="30000" rIns="30000" tIns="0" bIns="0" wrap="square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1252000" y="1615000"/>
            <a:ext cx="610000" cy="265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780" b="1" i="0">
                <a:solidFill>
                  <a:srgbClr val="1A1A1A"/>
                </a:solidFill>
                <a:latin typeface="Noto Sans KR"/>
                <a:ea typeface="Noto Sans KR"/>
                <a:cs typeface="Noto Sans KR"/>
              </a:rPr>
              <a:t>수입검사</a:t>
            </a:r>
          </a:p>
          <a:p>
            <a:pPr algn="ctr">
              <a:spcAft>
                <a:spcPts val="0"/>
              </a:spcAft>
            </a:pPr>
            <a:r>
              <a:rPr sz="630" b="0" i="0">
                <a:solidFill>
                  <a:srgbClr val="7F7F7F"/>
                </a:solidFill>
                <a:latin typeface="Noto Sans KR"/>
                <a:ea typeface="Noto Sans KR"/>
                <a:cs typeface="Noto Sans KR"/>
              </a:rPr>
              <a:t>NMR·ICP·IC</a:t>
            </a:r>
          </a:p>
        </p:txBody>
      </p:sp>
      <p:sp>
        <p:nvSpPr>
          <p:cNvPr id="173" name="Can 172"/>
          <p:cNvSpPr/>
          <p:nvPr/>
        </p:nvSpPr>
        <p:spPr>
          <a:xfrm>
            <a:off x="2342000" y="1140000"/>
            <a:ext cx="270000" cy="340000"/>
          </a:xfrm>
          <a:prstGeom prst="can">
            <a:avLst/>
          </a:prstGeom>
          <a:solidFill>
            <a:srgbClr val="EDEDED"/>
          </a:solidFill>
          <a:ln w="15875">
            <a:solidFill>
              <a:srgbClr val="7F7F7F"/>
            </a:solidFill>
          </a:ln>
        </p:spPr>
        <p:txBody>
          <a:bodyPr rtlCol="0" anchor="ctr" lIns="30000" rIns="30000" tIns="0" bIns="0" wrap="square"/>
          <a:lstStyle/>
          <a:p>
            <a:pPr algn="ctr"/>
          </a:p>
        </p:txBody>
      </p:sp>
      <p:sp>
        <p:nvSpPr>
          <p:cNvPr id="174" name="Rectangle 173"/>
          <p:cNvSpPr/>
          <p:nvPr/>
        </p:nvSpPr>
        <p:spPr>
          <a:xfrm>
            <a:off x="2127000" y="1570000"/>
            <a:ext cx="700000" cy="320000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</p:spPr>
        <p:txBody>
          <a:bodyPr rtlCol="0" anchor="ctr" lIns="30000" rIns="30000" tIns="0" bIns="0" wrap="square"/>
          <a:lstStyle/>
          <a:p>
            <a:pPr algn="ctr"/>
          </a:p>
        </p:txBody>
      </p:sp>
      <p:sp>
        <p:nvSpPr>
          <p:cNvPr id="175" name="Rectangle 174"/>
          <p:cNvSpPr/>
          <p:nvPr/>
        </p:nvSpPr>
        <p:spPr>
          <a:xfrm>
            <a:off x="2127000" y="1570000"/>
            <a:ext cx="700000" cy="34000"/>
          </a:xfrm>
          <a:prstGeom prst="rect">
            <a:avLst/>
          </a:prstGeom>
          <a:solidFill>
            <a:srgbClr val="FF7900"/>
          </a:solidFill>
          <a:ln>
            <a:noFill/>
          </a:ln>
        </p:spPr>
        <p:txBody>
          <a:bodyPr rtlCol="0" anchor="ctr" lIns="30000" rIns="30000" tIns="0" bIns="0" wrap="square"/>
          <a:lstStyle/>
          <a:p>
            <a:pPr algn="ctr"/>
          </a:p>
        </p:txBody>
      </p:sp>
      <p:sp>
        <p:nvSpPr>
          <p:cNvPr id="176" name="TextBox 175"/>
          <p:cNvSpPr txBox="1"/>
          <p:nvPr/>
        </p:nvSpPr>
        <p:spPr>
          <a:xfrm>
            <a:off x="2142000" y="1615000"/>
            <a:ext cx="670000" cy="265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780" b="1" i="0">
                <a:solidFill>
                  <a:srgbClr val="1A1A1A"/>
                </a:solidFill>
                <a:latin typeface="Noto Sans KR"/>
                <a:ea typeface="Noto Sans KR"/>
                <a:cs typeface="Noto Sans KR"/>
              </a:rPr>
              <a:t>준비 · 투입</a:t>
            </a:r>
          </a:p>
          <a:p>
            <a:pPr algn="ctr">
              <a:spcAft>
                <a:spcPts val="0"/>
              </a:spcAft>
            </a:pPr>
            <a:r>
              <a:rPr sz="630" b="0" i="0">
                <a:solidFill>
                  <a:srgbClr val="7F7F7F"/>
                </a:solidFill>
                <a:latin typeface="Noto Sans KR"/>
                <a:ea typeface="Noto Sans KR"/>
                <a:cs typeface="Noto Sans KR"/>
              </a:rPr>
              <a:t>Canister → 정제기</a:t>
            </a:r>
          </a:p>
        </p:txBody>
      </p:sp>
      <p:sp>
        <p:nvSpPr>
          <p:cNvPr id="177" name="Rectangle 176"/>
          <p:cNvSpPr/>
          <p:nvPr/>
        </p:nvSpPr>
        <p:spPr>
          <a:xfrm>
            <a:off x="3037000" y="1030000"/>
            <a:ext cx="1330000" cy="890000"/>
          </a:xfrm>
          <a:prstGeom prst="rect">
            <a:avLst/>
          </a:prstGeom>
          <a:solidFill>
            <a:srgbClr val="FDEDF0"/>
          </a:solidFill>
          <a:ln w="25400">
            <a:solidFill>
              <a:srgbClr val="EB002C"/>
            </a:solidFill>
          </a:ln>
        </p:spPr>
        <p:txBody>
          <a:bodyPr rtlCol="0" anchor="ctr" lIns="30000" rIns="30000" tIns="0" bIns="0" wrap="square"/>
          <a:lstStyle/>
          <a:p>
            <a:pPr algn="ctr"/>
          </a:p>
        </p:txBody>
      </p:sp>
      <p:sp>
        <p:nvSpPr>
          <p:cNvPr id="178" name="Rectangle 177"/>
          <p:cNvSpPr/>
          <p:nvPr/>
        </p:nvSpPr>
        <p:spPr>
          <a:xfrm>
            <a:off x="3322816" y="1065000"/>
            <a:ext cx="100000" cy="140000"/>
          </a:xfrm>
          <a:prstGeom prst="rect">
            <a:avLst/>
          </a:prstGeom>
          <a:solidFill>
            <a:srgbClr val="BFBFBF"/>
          </a:solidFill>
          <a:ln w="12700">
            <a:solidFill>
              <a:srgbClr val="7F7F7F"/>
            </a:solidFill>
          </a:ln>
        </p:spPr>
        <p:txBody>
          <a:bodyPr rtlCol="0" anchor="ctr" lIns="30000" rIns="30000" tIns="0" bIns="0" wrap="square"/>
          <a:lstStyle/>
          <a:p>
            <a:pPr algn="ctr"/>
          </a:p>
        </p:txBody>
      </p:sp>
      <p:sp>
        <p:nvSpPr>
          <p:cNvPr id="179" name="Round Same Side Corner Rectangle 178"/>
          <p:cNvSpPr/>
          <p:nvPr/>
        </p:nvSpPr>
        <p:spPr>
          <a:xfrm rot="10800000">
            <a:off x="3182816" y="1195000"/>
            <a:ext cx="380000" cy="355000"/>
          </a:xfrm>
          <a:prstGeom prst="round2SameRect">
            <a:avLst>
              <a:gd name="adj1" fmla="val 0"/>
              <a:gd name="adj2" fmla="val 50000"/>
            </a:avLst>
          </a:prstGeom>
          <a:solidFill>
            <a:srgbClr val="A6A6A6"/>
          </a:solidFill>
          <a:ln w="15875">
            <a:solidFill>
              <a:srgbClr val="595959"/>
            </a:solidFill>
          </a:ln>
        </p:spPr>
        <p:txBody>
          <a:bodyPr rtlCol="0" anchor="ctr" lIns="30000" rIns="30000" tIns="0" bIns="0" wrap="square"/>
          <a:lstStyle/>
          <a:p>
            <a:pPr algn="ctr"/>
          </a:p>
        </p:txBody>
      </p:sp>
      <p:sp>
        <p:nvSpPr>
          <p:cNvPr id="180" name="TextBox 179"/>
          <p:cNvSpPr txBox="1"/>
          <p:nvPr/>
        </p:nvSpPr>
        <p:spPr>
          <a:xfrm>
            <a:off x="3182816" y="1260000"/>
            <a:ext cx="380000" cy="200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550" b="1" i="0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정제기1</a:t>
            </a:r>
          </a:p>
        </p:txBody>
      </p:sp>
      <p:sp>
        <p:nvSpPr>
          <p:cNvPr id="181" name="Rectangle 180"/>
          <p:cNvSpPr/>
          <p:nvPr/>
        </p:nvSpPr>
        <p:spPr>
          <a:xfrm>
            <a:off x="3077000" y="1570000"/>
            <a:ext cx="1250000" cy="320000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</p:spPr>
        <p:txBody>
          <a:bodyPr rtlCol="0" anchor="ctr" lIns="30000" rIns="30000" tIns="0" bIns="0" wrap="square"/>
          <a:lstStyle/>
          <a:p>
            <a:pPr algn="ctr"/>
          </a:p>
        </p:txBody>
      </p:sp>
      <p:sp>
        <p:nvSpPr>
          <p:cNvPr id="182" name="Rectangle 181"/>
          <p:cNvSpPr/>
          <p:nvPr/>
        </p:nvSpPr>
        <p:spPr>
          <a:xfrm>
            <a:off x="3077000" y="1570000"/>
            <a:ext cx="1250000" cy="34000"/>
          </a:xfrm>
          <a:prstGeom prst="rect">
            <a:avLst/>
          </a:prstGeom>
          <a:solidFill>
            <a:srgbClr val="EB002C"/>
          </a:solidFill>
          <a:ln>
            <a:noFill/>
          </a:ln>
        </p:spPr>
        <p:txBody>
          <a:bodyPr rtlCol="0" anchor="ctr" lIns="30000" rIns="30000" tIns="0" bIns="0" wrap="square"/>
          <a:lstStyle/>
          <a:p>
            <a:pPr algn="ctr"/>
          </a:p>
        </p:txBody>
      </p:sp>
      <p:sp>
        <p:nvSpPr>
          <p:cNvPr id="183" name="TextBox 182"/>
          <p:cNvSpPr txBox="1"/>
          <p:nvPr/>
        </p:nvSpPr>
        <p:spPr>
          <a:xfrm>
            <a:off x="3092000" y="1615000"/>
            <a:ext cx="1220000" cy="265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780" b="1" i="0">
                <a:solidFill>
                  <a:srgbClr val="EB002C"/>
                </a:solidFill>
                <a:latin typeface="Noto Sans KR"/>
                <a:ea typeface="Noto Sans KR"/>
                <a:cs typeface="Noto Sans KR"/>
              </a:rPr>
              <a:t>정제기 1·2 · 시간차 병행</a:t>
            </a:r>
          </a:p>
          <a:p>
            <a:pPr algn="ctr">
              <a:spcAft>
                <a:spcPts val="0"/>
              </a:spcAft>
            </a:pPr>
            <a:r>
              <a:rPr sz="630" b="0" i="0">
                <a:solidFill>
                  <a:srgbClr val="7F7F7F"/>
                </a:solidFill>
                <a:latin typeface="Noto Sans KR"/>
                <a:ea typeface="Noto Sans KR"/>
                <a:cs typeface="Noto Sans KR"/>
              </a:rPr>
              <a:t>4개 고객 공용 배정 (전용 없음)</a:t>
            </a:r>
          </a:p>
        </p:txBody>
      </p:sp>
      <p:sp>
        <p:nvSpPr>
          <p:cNvPr id="184" name="Rounded Rectangle 183"/>
          <p:cNvSpPr/>
          <p:nvPr/>
        </p:nvSpPr>
        <p:spPr>
          <a:xfrm>
            <a:off x="4647000" y="1180000"/>
            <a:ext cx="500000" cy="260000"/>
          </a:xfrm>
          <a:prstGeom prst="roundRect">
            <a:avLst>
              <a:gd name="adj" fmla="val 20000"/>
            </a:avLst>
          </a:prstGeom>
          <a:solidFill>
            <a:srgbClr val="2E75B6"/>
          </a:solidFill>
          <a:ln>
            <a:noFill/>
          </a:ln>
        </p:spPr>
        <p:txBody>
          <a:bodyPr rtlCol="0" anchor="ctr" lIns="30000" rIns="30000" tIns="0" bIns="0" wrap="square"/>
          <a:lstStyle/>
          <a:p>
            <a:pPr algn="ctr"/>
            <a:r>
              <a:rPr sz="900" b="1" i="0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PQC</a:t>
            </a:r>
          </a:p>
        </p:txBody>
      </p:sp>
      <p:sp>
        <p:nvSpPr>
          <p:cNvPr id="185" name="Rectangle 184"/>
          <p:cNvSpPr/>
          <p:nvPr/>
        </p:nvSpPr>
        <p:spPr>
          <a:xfrm>
            <a:off x="4577000" y="1570000"/>
            <a:ext cx="640000" cy="320000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</p:spPr>
        <p:txBody>
          <a:bodyPr rtlCol="0" anchor="ctr" lIns="30000" rIns="30000" tIns="0" bIns="0" wrap="square"/>
          <a:lstStyle/>
          <a:p>
            <a:pPr algn="ctr"/>
          </a:p>
        </p:txBody>
      </p:sp>
      <p:sp>
        <p:nvSpPr>
          <p:cNvPr id="186" name="Rectangle 185"/>
          <p:cNvSpPr/>
          <p:nvPr/>
        </p:nvSpPr>
        <p:spPr>
          <a:xfrm>
            <a:off x="4577000" y="1570000"/>
            <a:ext cx="640000" cy="34000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txBody>
          <a:bodyPr rtlCol="0" anchor="ctr" lIns="30000" rIns="30000" tIns="0" bIns="0" wrap="square"/>
          <a:lstStyle/>
          <a:p>
            <a:pPr algn="ctr"/>
          </a:p>
        </p:txBody>
      </p:sp>
      <p:sp>
        <p:nvSpPr>
          <p:cNvPr id="187" name="TextBox 186"/>
          <p:cNvSpPr txBox="1"/>
          <p:nvPr/>
        </p:nvSpPr>
        <p:spPr>
          <a:xfrm>
            <a:off x="4592000" y="1615000"/>
            <a:ext cx="610000" cy="265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780" b="1" i="0">
                <a:solidFill>
                  <a:srgbClr val="1A1A1A"/>
                </a:solidFill>
                <a:latin typeface="Noto Sans KR"/>
                <a:ea typeface="Noto Sans KR"/>
                <a:cs typeface="Noto Sans KR"/>
              </a:rPr>
              <a:t>공정검사</a:t>
            </a:r>
          </a:p>
          <a:p>
            <a:pPr algn="ctr">
              <a:spcAft>
                <a:spcPts val="0"/>
              </a:spcAft>
            </a:pPr>
            <a:r>
              <a:rPr sz="630" b="0" i="0">
                <a:solidFill>
                  <a:srgbClr val="7F7F7F"/>
                </a:solidFill>
                <a:latin typeface="Noto Sans KR"/>
                <a:ea typeface="Noto Sans KR"/>
                <a:cs typeface="Noto Sans KR"/>
              </a:rPr>
              <a:t>NMR</a:t>
            </a:r>
          </a:p>
        </p:txBody>
      </p:sp>
      <p:sp>
        <p:nvSpPr>
          <p:cNvPr id="188" name="Can 187"/>
          <p:cNvSpPr/>
          <p:nvPr/>
        </p:nvSpPr>
        <p:spPr>
          <a:xfrm>
            <a:off x="5647000" y="1100000"/>
            <a:ext cx="400000" cy="420000"/>
          </a:xfrm>
          <a:prstGeom prst="can">
            <a:avLst/>
          </a:prstGeom>
          <a:solidFill>
            <a:srgbClr val="FFE3CC"/>
          </a:solidFill>
          <a:ln w="15875">
            <a:solidFill>
              <a:srgbClr val="FF7900"/>
            </a:solidFill>
          </a:ln>
        </p:spPr>
        <p:txBody>
          <a:bodyPr rtlCol="0" anchor="ctr" lIns="30000" rIns="30000" tIns="0" bIns="0" wrap="square"/>
          <a:lstStyle/>
          <a:p>
            <a:pPr algn="ctr"/>
            <a:r>
              <a:rPr sz="650" b="1" i="0">
                <a:solidFill>
                  <a:srgbClr val="1A1A1A"/>
                </a:solidFill>
                <a:latin typeface="Noto Sans KR"/>
                <a:ea typeface="Noto Sans KR"/>
                <a:cs typeface="Noto Sans KR"/>
              </a:rPr>
              <a:t>Product</a:t>
            </a:r>
          </a:p>
        </p:txBody>
      </p:sp>
      <p:sp>
        <p:nvSpPr>
          <p:cNvPr id="189" name="Rectangle 188"/>
          <p:cNvSpPr/>
          <p:nvPr/>
        </p:nvSpPr>
        <p:spPr>
          <a:xfrm>
            <a:off x="5467000" y="1570000"/>
            <a:ext cx="760000" cy="320000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</p:spPr>
        <p:txBody>
          <a:bodyPr rtlCol="0" anchor="ctr" lIns="30000" rIns="30000" tIns="0" bIns="0" wrap="square"/>
          <a:lstStyle/>
          <a:p>
            <a:pPr algn="ctr"/>
          </a:p>
        </p:txBody>
      </p:sp>
      <p:sp>
        <p:nvSpPr>
          <p:cNvPr id="190" name="Rectangle 189"/>
          <p:cNvSpPr/>
          <p:nvPr/>
        </p:nvSpPr>
        <p:spPr>
          <a:xfrm>
            <a:off x="5467000" y="1570000"/>
            <a:ext cx="760000" cy="34000"/>
          </a:xfrm>
          <a:prstGeom prst="rect">
            <a:avLst/>
          </a:prstGeom>
          <a:solidFill>
            <a:srgbClr val="FF7900"/>
          </a:solidFill>
          <a:ln>
            <a:noFill/>
          </a:ln>
        </p:spPr>
        <p:txBody>
          <a:bodyPr rtlCol="0" anchor="ctr" lIns="30000" rIns="30000" tIns="0" bIns="0" wrap="square"/>
          <a:lstStyle/>
          <a:p>
            <a:pPr algn="ctr"/>
          </a:p>
        </p:txBody>
      </p:sp>
      <p:sp>
        <p:nvSpPr>
          <p:cNvPr id="191" name="TextBox 190"/>
          <p:cNvSpPr txBox="1"/>
          <p:nvPr/>
        </p:nvSpPr>
        <p:spPr>
          <a:xfrm>
            <a:off x="5482000" y="1615000"/>
            <a:ext cx="730000" cy="265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780" b="1" i="0">
                <a:solidFill>
                  <a:srgbClr val="1A1A1A"/>
                </a:solidFill>
                <a:latin typeface="Noto Sans KR"/>
                <a:ea typeface="Noto Sans KR"/>
                <a:cs typeface="Noto Sans KR"/>
              </a:rPr>
              <a:t>Product Tank</a:t>
            </a:r>
          </a:p>
          <a:p>
            <a:pPr algn="ctr">
              <a:spcAft>
                <a:spcPts val="0"/>
              </a:spcAft>
            </a:pPr>
            <a:r>
              <a:rPr sz="630" b="0" i="0">
                <a:solidFill>
                  <a:srgbClr val="7F7F7F"/>
                </a:solidFill>
                <a:latin typeface="Noto Sans KR"/>
                <a:ea typeface="Noto Sans KR"/>
                <a:cs typeface="Noto Sans KR"/>
              </a:rPr>
              <a:t>PQC 합격 후 이송</a:t>
            </a:r>
          </a:p>
        </p:txBody>
      </p:sp>
      <p:cxnSp>
        <p:nvCxnSpPr>
          <p:cNvPr id="192" name="Connector 191"/>
          <p:cNvCxnSpPr/>
          <p:nvPr/>
        </p:nvCxnSpPr>
        <p:spPr>
          <a:xfrm>
            <a:off x="817000" y="1310000"/>
            <a:ext cx="490000" cy="0"/>
          </a:xfrm>
          <a:prstGeom prst="line">
            <a:avLst/>
          </a:prstGeom>
          <a:ln w="15875">
            <a:solidFill>
              <a:srgbClr val="1A1A1A"/>
            </a:solidFill>
            <a:tailEnd type="triangle" w="med" len="med"/>
          </a:ln>
        </p:spPr>
      </p:cxnSp>
      <p:cxnSp>
        <p:nvCxnSpPr>
          <p:cNvPr id="193" name="Connector 192"/>
          <p:cNvCxnSpPr/>
          <p:nvPr/>
        </p:nvCxnSpPr>
        <p:spPr>
          <a:xfrm>
            <a:off x="1807000" y="1310000"/>
            <a:ext cx="535000" cy="0"/>
          </a:xfrm>
          <a:prstGeom prst="line">
            <a:avLst/>
          </a:prstGeom>
          <a:ln w="15875">
            <a:solidFill>
              <a:srgbClr val="1A1A1A"/>
            </a:solidFill>
            <a:tailEnd type="triangle" w="med" len="med"/>
          </a:ln>
        </p:spPr>
      </p:cxnSp>
      <p:cxnSp>
        <p:nvCxnSpPr>
          <p:cNvPr id="194" name="Connector 193"/>
          <p:cNvCxnSpPr/>
          <p:nvPr/>
        </p:nvCxnSpPr>
        <p:spPr>
          <a:xfrm>
            <a:off x="2612000" y="1310000"/>
            <a:ext cx="566928" cy="0"/>
          </a:xfrm>
          <a:prstGeom prst="line">
            <a:avLst/>
          </a:prstGeom>
          <a:ln w="15875">
            <a:solidFill>
              <a:srgbClr val="1A1A1A"/>
            </a:solidFill>
            <a:tailEnd type="triangle" w="med" len="med"/>
          </a:ln>
        </p:spPr>
      </p:cxnSp>
      <p:cxnSp>
        <p:nvCxnSpPr>
          <p:cNvPr id="195" name="Connector 194"/>
          <p:cNvCxnSpPr/>
          <p:nvPr/>
        </p:nvCxnSpPr>
        <p:spPr>
          <a:xfrm>
            <a:off x="4206240" y="1310000"/>
            <a:ext cx="440760" cy="0"/>
          </a:xfrm>
          <a:prstGeom prst="line">
            <a:avLst/>
          </a:prstGeom>
          <a:ln w="15875">
            <a:solidFill>
              <a:srgbClr val="1A1A1A"/>
            </a:solidFill>
            <a:tailEnd type="triangle" w="med" len="med"/>
          </a:ln>
        </p:spPr>
      </p:cxnSp>
      <p:cxnSp>
        <p:nvCxnSpPr>
          <p:cNvPr id="196" name="Connector 195"/>
          <p:cNvCxnSpPr/>
          <p:nvPr/>
        </p:nvCxnSpPr>
        <p:spPr>
          <a:xfrm>
            <a:off x="5147000" y="1310000"/>
            <a:ext cx="500000" cy="0"/>
          </a:xfrm>
          <a:prstGeom prst="line">
            <a:avLst/>
          </a:prstGeom>
          <a:ln w="15875">
            <a:solidFill>
              <a:srgbClr val="1A1A1A"/>
            </a:solidFill>
            <a:tailEnd type="triangle" w="med" len="med"/>
          </a:ln>
        </p:spPr>
      </p:cxnSp>
      <p:sp>
        <p:nvSpPr>
          <p:cNvPr id="197" name="Rounded Rectangle 196"/>
          <p:cNvSpPr/>
          <p:nvPr/>
        </p:nvSpPr>
        <p:spPr>
          <a:xfrm>
            <a:off x="387000" y="1915000"/>
            <a:ext cx="500000" cy="150000"/>
          </a:xfrm>
          <a:prstGeom prst="roundRect">
            <a:avLst>
              <a:gd name="adj" fmla="val 30000"/>
            </a:avLst>
          </a:prstGeom>
          <a:solidFill>
            <a:srgbClr val="E2EFD9"/>
          </a:solidFill>
          <a:ln w="9525">
            <a:solidFill>
              <a:srgbClr val="548235"/>
            </a:solidFill>
          </a:ln>
        </p:spPr>
        <p:txBody>
          <a:bodyPr rtlCol="0" anchor="ctr" lIns="30000" rIns="30000" tIns="0" bIns="0" wrap="square"/>
          <a:lstStyle/>
          <a:p>
            <a:pPr algn="ctr"/>
            <a:r>
              <a:rPr sz="650" b="1" i="0">
                <a:solidFill>
                  <a:srgbClr val="385723"/>
                </a:solidFill>
                <a:latin typeface="Noto Sans KR"/>
                <a:ea typeface="Noto Sans KR"/>
                <a:cs typeface="Noto Sans KR"/>
              </a:rPr>
              <a:t>–</a:t>
            </a:r>
          </a:p>
        </p:txBody>
      </p:sp>
      <p:sp>
        <p:nvSpPr>
          <p:cNvPr id="198" name="Rounded Rectangle 197"/>
          <p:cNvSpPr/>
          <p:nvPr/>
        </p:nvSpPr>
        <p:spPr>
          <a:xfrm>
            <a:off x="1307000" y="1915000"/>
            <a:ext cx="500000" cy="150000"/>
          </a:xfrm>
          <a:prstGeom prst="roundRect">
            <a:avLst>
              <a:gd name="adj" fmla="val 30000"/>
            </a:avLst>
          </a:prstGeom>
          <a:solidFill>
            <a:srgbClr val="E2EFD9"/>
          </a:solidFill>
          <a:ln w="9525">
            <a:solidFill>
              <a:srgbClr val="548235"/>
            </a:solidFill>
          </a:ln>
        </p:spPr>
        <p:txBody>
          <a:bodyPr rtlCol="0" anchor="ctr" lIns="30000" rIns="30000" tIns="0" bIns="0" wrap="square"/>
          <a:lstStyle/>
          <a:p>
            <a:pPr algn="ctr"/>
            <a:r>
              <a:rPr sz="650" b="1" i="0">
                <a:solidFill>
                  <a:srgbClr val="385723"/>
                </a:solidFill>
                <a:latin typeface="Noto Sans KR"/>
                <a:ea typeface="Noto Sans KR"/>
                <a:cs typeface="Noto Sans KR"/>
              </a:rPr>
              <a:t>2 h</a:t>
            </a:r>
          </a:p>
        </p:txBody>
      </p:sp>
      <p:sp>
        <p:nvSpPr>
          <p:cNvPr id="199" name="Rounded Rectangle 198"/>
          <p:cNvSpPr/>
          <p:nvPr/>
        </p:nvSpPr>
        <p:spPr>
          <a:xfrm>
            <a:off x="2197000" y="1915000"/>
            <a:ext cx="560000" cy="150000"/>
          </a:xfrm>
          <a:prstGeom prst="roundRect">
            <a:avLst>
              <a:gd name="adj" fmla="val 30000"/>
            </a:avLst>
          </a:prstGeom>
          <a:solidFill>
            <a:srgbClr val="E2EFD9"/>
          </a:solidFill>
          <a:ln w="9525">
            <a:solidFill>
              <a:srgbClr val="548235"/>
            </a:solidFill>
          </a:ln>
        </p:spPr>
        <p:txBody>
          <a:bodyPr rtlCol="0" anchor="ctr" lIns="30000" rIns="30000" tIns="0" bIns="0" wrap="square"/>
          <a:lstStyle/>
          <a:p>
            <a:pPr algn="ctr"/>
            <a:r>
              <a:rPr sz="650" b="1" i="0">
                <a:solidFill>
                  <a:srgbClr val="385723"/>
                </a:solidFill>
                <a:latin typeface="Noto Sans KR"/>
                <a:ea typeface="Noto Sans KR"/>
                <a:cs typeface="Noto Sans KR"/>
              </a:rPr>
              <a:t>2 h</a:t>
            </a:r>
          </a:p>
        </p:txBody>
      </p:sp>
      <p:sp>
        <p:nvSpPr>
          <p:cNvPr id="200" name="Rounded Rectangle 199"/>
          <p:cNvSpPr/>
          <p:nvPr/>
        </p:nvSpPr>
        <p:spPr>
          <a:xfrm>
            <a:off x="3136392" y="1915000"/>
            <a:ext cx="1133856" cy="150000"/>
          </a:xfrm>
          <a:prstGeom prst="roundRect">
            <a:avLst>
              <a:gd name="adj" fmla="val 30000"/>
            </a:avLst>
          </a:prstGeom>
          <a:solidFill>
            <a:srgbClr val="E2EFD9"/>
          </a:solidFill>
          <a:ln w="9525">
            <a:solidFill>
              <a:srgbClr val="548235"/>
            </a:solidFill>
          </a:ln>
        </p:spPr>
        <p:txBody>
          <a:bodyPr rtlCol="0" anchor="ctr" lIns="30000" rIns="30000" tIns="0" bIns="0" wrap="square"/>
          <a:lstStyle/>
          <a:p>
            <a:pPr algn="ctr"/>
            <a:r>
              <a:rPr sz="650" b="1" i="0">
                <a:solidFill>
                  <a:srgbClr val="385723"/>
                </a:solidFill>
                <a:latin typeface="Noto Sans KR"/>
                <a:ea typeface="Noto Sans KR"/>
                <a:cs typeface="Noto Sans KR"/>
              </a:rPr>
              <a:t>정제 45 h (설비별)</a:t>
            </a:r>
          </a:p>
        </p:txBody>
      </p:sp>
      <p:sp>
        <p:nvSpPr>
          <p:cNvPr id="201" name="Rounded Rectangle 200"/>
          <p:cNvSpPr/>
          <p:nvPr/>
        </p:nvSpPr>
        <p:spPr>
          <a:xfrm>
            <a:off x="4626864" y="1915000"/>
            <a:ext cx="1554480" cy="150000"/>
          </a:xfrm>
          <a:prstGeom prst="roundRect">
            <a:avLst>
              <a:gd name="adj" fmla="val 30000"/>
            </a:avLst>
          </a:prstGeom>
          <a:solidFill>
            <a:srgbClr val="E2EFD9"/>
          </a:solidFill>
          <a:ln w="9525">
            <a:solidFill>
              <a:srgbClr val="548235"/>
            </a:solidFill>
          </a:ln>
        </p:spPr>
        <p:txBody>
          <a:bodyPr rtlCol="0" anchor="ctr" lIns="30000" rIns="30000" tIns="0" bIns="0" wrap="square"/>
          <a:lstStyle/>
          <a:p>
            <a:pPr algn="ctr"/>
            <a:r>
              <a:rPr sz="650" b="1" i="0">
                <a:solidFill>
                  <a:srgbClr val="385723"/>
                </a:solidFill>
                <a:latin typeface="Noto Sans KR"/>
                <a:ea typeface="Noto Sans KR"/>
                <a:cs typeface="Noto Sans KR"/>
              </a:rPr>
              <a:t>PQC + 제품 이송 합계 6 h</a:t>
            </a:r>
          </a:p>
        </p:txBody>
      </p:sp>
      <p:sp>
        <p:nvSpPr>
          <p:cNvPr id="203" name="Rounded Rectangle 202"/>
          <p:cNvSpPr/>
          <p:nvPr/>
        </p:nvSpPr>
        <p:spPr>
          <a:xfrm>
            <a:off x="357000" y="2640000"/>
            <a:ext cx="520000" cy="260000"/>
          </a:xfrm>
          <a:prstGeom prst="roundRect">
            <a:avLst>
              <a:gd name="adj" fmla="val 20000"/>
            </a:avLst>
          </a:prstGeom>
          <a:solidFill>
            <a:srgbClr val="2E75B6"/>
          </a:solidFill>
          <a:ln>
            <a:noFill/>
          </a:ln>
        </p:spPr>
        <p:txBody>
          <a:bodyPr rtlCol="0" anchor="ctr" lIns="30000" rIns="30000" tIns="0" bIns="0" wrap="square"/>
          <a:lstStyle/>
          <a:p>
            <a:pPr algn="ctr"/>
            <a:r>
              <a:rPr sz="900" b="1" i="0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FQC</a:t>
            </a:r>
          </a:p>
        </p:txBody>
      </p:sp>
      <p:sp>
        <p:nvSpPr>
          <p:cNvPr id="204" name="TextBox 203"/>
          <p:cNvSpPr txBox="1"/>
          <p:nvPr/>
        </p:nvSpPr>
        <p:spPr>
          <a:xfrm>
            <a:off x="287000" y="2920000"/>
            <a:ext cx="660000" cy="17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750" b="1" i="0">
                <a:solidFill>
                  <a:srgbClr val="1A1A1A"/>
                </a:solidFill>
                <a:latin typeface="Noto Sans KR"/>
                <a:ea typeface="Noto Sans KR"/>
                <a:cs typeface="Noto Sans KR"/>
              </a:rPr>
              <a:t>제품검사</a:t>
            </a:r>
          </a:p>
        </p:txBody>
      </p:sp>
      <p:sp>
        <p:nvSpPr>
          <p:cNvPr id="205" name="Rounded Rectangle 204"/>
          <p:cNvSpPr/>
          <p:nvPr/>
        </p:nvSpPr>
        <p:spPr>
          <a:xfrm>
            <a:off x="387000" y="3100000"/>
            <a:ext cx="460000" cy="150000"/>
          </a:xfrm>
          <a:prstGeom prst="roundRect">
            <a:avLst>
              <a:gd name="adj" fmla="val 30000"/>
            </a:avLst>
          </a:prstGeom>
          <a:solidFill>
            <a:srgbClr val="E2EFD9"/>
          </a:solidFill>
          <a:ln w="9525">
            <a:solidFill>
              <a:srgbClr val="548235"/>
            </a:solidFill>
          </a:ln>
        </p:spPr>
        <p:txBody>
          <a:bodyPr rtlCol="0" anchor="ctr" lIns="30000" rIns="30000" tIns="0" bIns="0" wrap="square"/>
          <a:lstStyle/>
          <a:p>
            <a:pPr algn="ctr"/>
            <a:r>
              <a:rPr sz="650" b="1" i="0">
                <a:solidFill>
                  <a:srgbClr val="385723"/>
                </a:solidFill>
                <a:latin typeface="Noto Sans KR"/>
                <a:ea typeface="Noto Sans KR"/>
                <a:cs typeface="Noto Sans KR"/>
              </a:rPr>
              <a:t>2 h</a:t>
            </a:r>
          </a:p>
        </p:txBody>
      </p:sp>
      <p:cxnSp>
        <p:nvCxnSpPr>
          <p:cNvPr id="206" name="Connector 205"/>
          <p:cNvCxnSpPr/>
          <p:nvPr/>
        </p:nvCxnSpPr>
        <p:spPr>
          <a:xfrm>
            <a:off x="877000" y="2770000"/>
            <a:ext cx="240000" cy="0"/>
          </a:xfrm>
          <a:prstGeom prst="line">
            <a:avLst/>
          </a:prstGeom>
          <a:ln w="15875">
            <a:solidFill>
              <a:srgbClr val="1A1A1A"/>
            </a:solidFill>
          </a:ln>
        </p:spPr>
      </p:cxnSp>
      <p:cxnSp>
        <p:nvCxnSpPr>
          <p:cNvPr id="207" name="Connector 206"/>
          <p:cNvCxnSpPr/>
          <p:nvPr/>
        </p:nvCxnSpPr>
        <p:spPr>
          <a:xfrm>
            <a:off x="1117000" y="2510000"/>
            <a:ext cx="0" cy="520000"/>
          </a:xfrm>
          <a:prstGeom prst="line">
            <a:avLst/>
          </a:prstGeom>
          <a:ln w="15875">
            <a:solidFill>
              <a:srgbClr val="1A1A1A"/>
            </a:solidFill>
          </a:ln>
        </p:spPr>
      </p:cxnSp>
      <p:cxnSp>
        <p:nvCxnSpPr>
          <p:cNvPr id="208" name="Connector 207"/>
          <p:cNvCxnSpPr/>
          <p:nvPr/>
        </p:nvCxnSpPr>
        <p:spPr>
          <a:xfrm>
            <a:off x="1117000" y="2510000"/>
            <a:ext cx="170000" cy="0"/>
          </a:xfrm>
          <a:prstGeom prst="line">
            <a:avLst/>
          </a:prstGeom>
          <a:ln w="15875">
            <a:solidFill>
              <a:srgbClr val="1A1A1A"/>
            </a:solidFill>
            <a:tailEnd type="triangle" w="med" len="med"/>
          </a:ln>
        </p:spPr>
      </p:cxnSp>
      <p:cxnSp>
        <p:nvCxnSpPr>
          <p:cNvPr id="209" name="Connector 208"/>
          <p:cNvCxnSpPr/>
          <p:nvPr/>
        </p:nvCxnSpPr>
        <p:spPr>
          <a:xfrm>
            <a:off x="1117000" y="3030000"/>
            <a:ext cx="170000" cy="0"/>
          </a:xfrm>
          <a:prstGeom prst="line">
            <a:avLst/>
          </a:prstGeom>
          <a:ln w="15875">
            <a:solidFill>
              <a:srgbClr val="1A1A1A"/>
            </a:solidFill>
            <a:tailEnd type="triangle" w="med" len="med"/>
          </a:ln>
        </p:spPr>
      </p:cxnSp>
      <p:sp>
        <p:nvSpPr>
          <p:cNvPr id="210" name="Rectangle 209"/>
          <p:cNvSpPr/>
          <p:nvPr/>
        </p:nvSpPr>
        <p:spPr>
          <a:xfrm>
            <a:off x="1287000" y="2300000"/>
            <a:ext cx="2250000" cy="420000"/>
          </a:xfrm>
          <a:prstGeom prst="rect">
            <a:avLst/>
          </a:prstGeom>
          <a:solidFill>
            <a:srgbClr val="E2EFD9"/>
          </a:solidFill>
          <a:ln w="15875">
            <a:solidFill>
              <a:srgbClr val="548235"/>
            </a:solidFill>
          </a:ln>
        </p:spPr>
        <p:txBody>
          <a:bodyPr rtlCol="0" anchor="ctr" lIns="30000" rIns="30000" tIns="0" bIns="0" wrap="square"/>
          <a:lstStyle/>
          <a:p>
            <a:pPr algn="ctr"/>
          </a:p>
        </p:txBody>
      </p:sp>
      <p:sp>
        <p:nvSpPr>
          <p:cNvPr id="211" name="Rectangle 210"/>
          <p:cNvSpPr/>
          <p:nvPr/>
        </p:nvSpPr>
        <p:spPr>
          <a:xfrm>
            <a:off x="1287000" y="2300000"/>
            <a:ext cx="45000" cy="420000"/>
          </a:xfrm>
          <a:prstGeom prst="rect">
            <a:avLst/>
          </a:prstGeom>
          <a:solidFill>
            <a:srgbClr val="548235"/>
          </a:solidFill>
          <a:ln>
            <a:noFill/>
          </a:ln>
        </p:spPr>
        <p:txBody>
          <a:bodyPr rtlCol="0" anchor="ctr" lIns="30000" rIns="30000" tIns="0" bIns="0" wrap="square"/>
          <a:lstStyle/>
          <a:p>
            <a:pPr algn="ctr"/>
          </a:p>
        </p:txBody>
      </p:sp>
      <p:sp>
        <p:nvSpPr>
          <p:cNvPr id="212" name="Rounded Rectangle 211"/>
          <p:cNvSpPr/>
          <p:nvPr/>
        </p:nvSpPr>
        <p:spPr>
          <a:xfrm>
            <a:off x="1387000" y="2400000"/>
            <a:ext cx="420000" cy="220000"/>
          </a:xfrm>
          <a:prstGeom prst="roundRect">
            <a:avLst>
              <a:gd name="adj" fmla="val 15000"/>
            </a:avLst>
          </a:prstGeom>
          <a:solidFill>
            <a:srgbClr val="548235"/>
          </a:solidFill>
          <a:ln>
            <a:noFill/>
          </a:ln>
        </p:spPr>
        <p:txBody>
          <a:bodyPr rtlCol="0" anchor="ctr" lIns="30000" rIns="30000" tIns="0" bIns="0" wrap="square"/>
          <a:lstStyle/>
          <a:p>
            <a:pPr algn="ctr"/>
            <a:r>
              <a:rPr sz="700" b="1" i="0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G/B</a:t>
            </a:r>
          </a:p>
        </p:txBody>
      </p:sp>
      <p:sp>
        <p:nvSpPr>
          <p:cNvPr id="213" name="TextBox 212"/>
          <p:cNvSpPr txBox="1"/>
          <p:nvPr/>
        </p:nvSpPr>
        <p:spPr>
          <a:xfrm>
            <a:off x="1867000" y="2310000"/>
            <a:ext cx="1630000" cy="400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760" b="1" i="0">
                <a:solidFill>
                  <a:srgbClr val="1A1A1A"/>
                </a:solidFill>
                <a:latin typeface="Noto Sans KR"/>
                <a:ea typeface="Noto Sans KR"/>
                <a:cs typeface="Noto Sans KR"/>
              </a:rPr>
              <a:t>5 Gal 글로브 박스 충진 (유지)</a:t>
            </a:r>
          </a:p>
          <a:p>
            <a:pPr algn="l">
              <a:spcAft>
                <a:spcPts val="0"/>
              </a:spcAft>
            </a:pPr>
            <a:r>
              <a:rPr sz="620" b="0" i="0">
                <a:solidFill>
                  <a:srgbClr val="7F7F7F"/>
                </a:solidFill>
                <a:latin typeface="Noto Sans KR"/>
                <a:ea typeface="Noto Sans KR"/>
                <a:cs typeface="Noto Sans KR"/>
              </a:rPr>
              <a:t>20 kg/병 · 필터 포함 · ARS 미적용</a:t>
            </a:r>
          </a:p>
          <a:p>
            <a:pPr algn="l">
              <a:spcAft>
                <a:spcPts val="0"/>
              </a:spcAft>
            </a:pPr>
            <a:r>
              <a:rPr sz="630" b="1" i="0">
                <a:solidFill>
                  <a:srgbClr val="385723"/>
                </a:solidFill>
                <a:latin typeface="Noto Sans KR"/>
                <a:ea typeface="Noto Sans KR"/>
                <a:cs typeface="Noto Sans KR"/>
              </a:rPr>
              <a:t>2 h/병 · 약 9병 18 h</a:t>
            </a:r>
          </a:p>
        </p:txBody>
      </p:sp>
      <p:sp>
        <p:nvSpPr>
          <p:cNvPr id="214" name="Rectangle 213"/>
          <p:cNvSpPr/>
          <p:nvPr/>
        </p:nvSpPr>
        <p:spPr>
          <a:xfrm>
            <a:off x="1287000" y="2820000"/>
            <a:ext cx="2250000" cy="420000"/>
          </a:xfrm>
          <a:prstGeom prst="rect">
            <a:avLst/>
          </a:prstGeom>
          <a:solidFill>
            <a:srgbClr val="EFE6F7"/>
          </a:solidFill>
          <a:ln w="15875">
            <a:solidFill>
              <a:srgbClr val="7030A0"/>
            </a:solidFill>
          </a:ln>
        </p:spPr>
        <p:txBody>
          <a:bodyPr rtlCol="0" anchor="ctr" lIns="30000" rIns="30000" tIns="0" bIns="0" wrap="square"/>
          <a:lstStyle/>
          <a:p>
            <a:pPr algn="ctr"/>
          </a:p>
        </p:txBody>
      </p:sp>
      <p:sp>
        <p:nvSpPr>
          <p:cNvPr id="215" name="Rectangle 214"/>
          <p:cNvSpPr/>
          <p:nvPr/>
        </p:nvSpPr>
        <p:spPr>
          <a:xfrm>
            <a:off x="1287000" y="2820000"/>
            <a:ext cx="45000" cy="420000"/>
          </a:xfrm>
          <a:prstGeom prst="rect">
            <a:avLst/>
          </a:prstGeom>
          <a:solidFill>
            <a:srgbClr val="7030A0"/>
          </a:solidFill>
          <a:ln>
            <a:noFill/>
          </a:ln>
        </p:spPr>
        <p:txBody>
          <a:bodyPr rtlCol="0" anchor="ctr" lIns="30000" rIns="30000" tIns="0" bIns="0" wrap="square"/>
          <a:lstStyle/>
          <a:p>
            <a:pPr algn="ctr"/>
          </a:p>
        </p:txBody>
      </p:sp>
      <p:sp>
        <p:nvSpPr>
          <p:cNvPr id="216" name="Rounded Rectangle 215"/>
          <p:cNvSpPr/>
          <p:nvPr/>
        </p:nvSpPr>
        <p:spPr>
          <a:xfrm>
            <a:off x="1387000" y="2920000"/>
            <a:ext cx="420000" cy="220000"/>
          </a:xfrm>
          <a:prstGeom prst="roundRect">
            <a:avLst>
              <a:gd name="adj" fmla="val 15000"/>
            </a:avLst>
          </a:prstGeom>
          <a:solidFill>
            <a:srgbClr val="7030A0"/>
          </a:solidFill>
          <a:ln>
            <a:noFill/>
          </a:ln>
        </p:spPr>
        <p:txBody>
          <a:bodyPr rtlCol="0" anchor="ctr" lIns="30000" rIns="30000" tIns="0" bIns="0" wrap="square"/>
          <a:lstStyle/>
          <a:p>
            <a:pPr algn="ctr"/>
            <a:r>
              <a:rPr sz="700" b="1" i="0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ARS</a:t>
            </a:r>
          </a:p>
        </p:txBody>
      </p:sp>
      <p:sp>
        <p:nvSpPr>
          <p:cNvPr id="217" name="TextBox 216"/>
          <p:cNvSpPr txBox="1"/>
          <p:nvPr/>
        </p:nvSpPr>
        <p:spPr>
          <a:xfrm>
            <a:off x="1867000" y="2830000"/>
            <a:ext cx="1630000" cy="400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760" b="1" i="0">
                <a:solidFill>
                  <a:srgbClr val="1A1A1A"/>
                </a:solidFill>
                <a:latin typeface="Noto Sans KR"/>
                <a:ea typeface="Noto Sans KR"/>
                <a:cs typeface="Noto Sans KR"/>
              </a:rPr>
              <a:t>200 L 수동 → ARS 자동 충진</a:t>
            </a:r>
          </a:p>
          <a:p>
            <a:pPr algn="l">
              <a:spcAft>
                <a:spcPts val="0"/>
              </a:spcAft>
            </a:pPr>
            <a:r>
              <a:rPr sz="620" b="0" i="0">
                <a:solidFill>
                  <a:srgbClr val="7F7F7F"/>
                </a:solidFill>
                <a:latin typeface="Noto Sans KR"/>
                <a:ea typeface="Noto Sans KR"/>
                <a:cs typeface="Noto Sans KR"/>
              </a:rPr>
              <a:t>이지켐 140 kg (전환 월 확인) · 한솔 150 kg</a:t>
            </a:r>
          </a:p>
          <a:p>
            <a:pPr algn="l">
              <a:spcAft>
                <a:spcPts val="0"/>
              </a:spcAft>
            </a:pPr>
            <a:r>
              <a:rPr sz="630" b="1" i="0">
                <a:solidFill>
                  <a:srgbClr val="385723"/>
                </a:solidFill>
                <a:latin typeface="Noto Sans KR"/>
                <a:ea typeface="Noto Sans KR"/>
                <a:cs typeface="Noto Sans KR"/>
              </a:rPr>
              <a:t>한솔 '27.1~6 수동 · '27.7~ ARS · 시간 확인</a:t>
            </a:r>
          </a:p>
        </p:txBody>
      </p:sp>
      <p:sp>
        <p:nvSpPr>
          <p:cNvPr id="218" name="Rounded Rectangle 217"/>
          <p:cNvSpPr/>
          <p:nvPr/>
        </p:nvSpPr>
        <p:spPr>
          <a:xfrm>
            <a:off x="3637000" y="2380000"/>
            <a:ext cx="460000" cy="260000"/>
          </a:xfrm>
          <a:prstGeom prst="roundRect">
            <a:avLst>
              <a:gd name="adj" fmla="val 20000"/>
            </a:avLst>
          </a:prstGeom>
          <a:solidFill>
            <a:srgbClr val="2E75B6"/>
          </a:solidFill>
          <a:ln>
            <a:noFill/>
          </a:ln>
        </p:spPr>
        <p:txBody>
          <a:bodyPr rtlCol="0" anchor="ctr" lIns="30000" rIns="30000" tIns="0" bIns="0" wrap="square"/>
          <a:lstStyle/>
          <a:p>
            <a:pPr algn="ctr"/>
            <a:r>
              <a:rPr sz="900" b="1" i="0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OQC</a:t>
            </a:r>
          </a:p>
        </p:txBody>
      </p:sp>
      <p:cxnSp>
        <p:nvCxnSpPr>
          <p:cNvPr id="219" name="Connector 218"/>
          <p:cNvCxnSpPr/>
          <p:nvPr/>
        </p:nvCxnSpPr>
        <p:spPr>
          <a:xfrm>
            <a:off x="3537000" y="2510000"/>
            <a:ext cx="100000" cy="0"/>
          </a:xfrm>
          <a:prstGeom prst="line">
            <a:avLst/>
          </a:prstGeom>
          <a:ln w="15875">
            <a:solidFill>
              <a:srgbClr val="1A1A1A"/>
            </a:solidFill>
            <a:tailEnd type="triangle" w="med" len="med"/>
          </a:ln>
        </p:spPr>
      </p:cxnSp>
      <p:cxnSp>
        <p:nvCxnSpPr>
          <p:cNvPr id="220" name="Connector 219"/>
          <p:cNvCxnSpPr/>
          <p:nvPr/>
        </p:nvCxnSpPr>
        <p:spPr>
          <a:xfrm>
            <a:off x="4097000" y="2510000"/>
            <a:ext cx="280000" cy="0"/>
          </a:xfrm>
          <a:prstGeom prst="line">
            <a:avLst/>
          </a:prstGeom>
          <a:ln w="15875">
            <a:solidFill>
              <a:srgbClr val="1A1A1A"/>
            </a:solidFill>
            <a:tailEnd type="triangle" w="med" len="med"/>
          </a:ln>
        </p:spPr>
      </p:cxnSp>
      <p:sp>
        <p:nvSpPr>
          <p:cNvPr id="221" name="Rectangle 220"/>
          <p:cNvSpPr/>
          <p:nvPr/>
        </p:nvSpPr>
        <p:spPr>
          <a:xfrm>
            <a:off x="4377000" y="2300000"/>
            <a:ext cx="2003000" cy="420000"/>
          </a:xfrm>
          <a:prstGeom prst="rect">
            <a:avLst/>
          </a:prstGeom>
          <a:solidFill>
            <a:srgbClr val="D9D9D9"/>
          </a:solidFill>
          <a:ln w="12700">
            <a:solidFill>
              <a:srgbClr val="404040"/>
            </a:solidFill>
          </a:ln>
        </p:spPr>
        <p:txBody>
          <a:bodyPr rtlCol="0" anchor="ctr" lIns="30000" rIns="30000" tIns="0" bIns="0" wrap="square"/>
          <a:lstStyle/>
          <a:p>
            <a:pPr algn="ctr"/>
          </a:p>
        </p:txBody>
      </p:sp>
      <p:sp>
        <p:nvSpPr>
          <p:cNvPr id="222" name="TextBox 221"/>
          <p:cNvSpPr txBox="1"/>
          <p:nvPr/>
        </p:nvSpPr>
        <p:spPr>
          <a:xfrm>
            <a:off x="4437000" y="2300000"/>
            <a:ext cx="1923000" cy="420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750" b="1" i="0">
                <a:solidFill>
                  <a:srgbClr val="1A1A1A"/>
                </a:solidFill>
                <a:latin typeface="Noto Sans KR"/>
                <a:ea typeface="Noto Sans KR"/>
                <a:cs typeface="Noto Sans KR"/>
              </a:rPr>
              <a:t>출하 </a:t>
            </a:r>
            <a:r>
              <a:rPr sz="700" b="0" i="0">
                <a:solidFill>
                  <a:srgbClr val="EB002C"/>
                </a:solidFill>
                <a:latin typeface="Noto Sans KR"/>
                <a:ea typeface="Noto Sans KR"/>
                <a:cs typeface="Noto Sans KR"/>
              </a:rPr>
              <a:t>■</a:t>
            </a:r>
            <a:r>
              <a:rPr sz="750" b="1" i="0">
                <a:solidFill>
                  <a:srgbClr val="1A1A1A"/>
                </a:solidFill>
                <a:latin typeface="Noto Sans KR"/>
                <a:ea typeface="Noto Sans KR"/>
                <a:cs typeface="Noto Sans KR"/>
              </a:rPr>
              <a:t> SK하이닉스  </a:t>
            </a:r>
            <a:r>
              <a:rPr sz="700" b="0" i="0">
                <a:solidFill>
                  <a:srgbClr val="1B8A95"/>
                </a:solidFill>
                <a:latin typeface="Noto Sans KR"/>
                <a:ea typeface="Noto Sans KR"/>
                <a:cs typeface="Noto Sans KR"/>
              </a:rPr>
              <a:t>■</a:t>
            </a:r>
            <a:r>
              <a:rPr sz="750" b="1" i="0">
                <a:solidFill>
                  <a:srgbClr val="1A1A1A"/>
                </a:solidFill>
                <a:latin typeface="Noto Sans KR"/>
                <a:ea typeface="Noto Sans KR"/>
                <a:cs typeface="Noto Sans KR"/>
              </a:rPr>
              <a:t> CXMT</a:t>
            </a:r>
          </a:p>
        </p:txBody>
      </p:sp>
      <p:sp>
        <p:nvSpPr>
          <p:cNvPr id="223" name="Rounded Rectangle 222"/>
          <p:cNvSpPr/>
          <p:nvPr/>
        </p:nvSpPr>
        <p:spPr>
          <a:xfrm>
            <a:off x="3637000" y="2900000"/>
            <a:ext cx="460000" cy="260000"/>
          </a:xfrm>
          <a:prstGeom prst="roundRect">
            <a:avLst>
              <a:gd name="adj" fmla="val 20000"/>
            </a:avLst>
          </a:prstGeom>
          <a:solidFill>
            <a:srgbClr val="2E75B6"/>
          </a:solidFill>
          <a:ln>
            <a:noFill/>
          </a:ln>
        </p:spPr>
        <p:txBody>
          <a:bodyPr rtlCol="0" anchor="ctr" lIns="30000" rIns="30000" tIns="0" bIns="0" wrap="square"/>
          <a:lstStyle/>
          <a:p>
            <a:pPr algn="ctr"/>
            <a:r>
              <a:rPr sz="900" b="1" i="0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OQC</a:t>
            </a:r>
          </a:p>
        </p:txBody>
      </p:sp>
      <p:cxnSp>
        <p:nvCxnSpPr>
          <p:cNvPr id="224" name="Connector 223"/>
          <p:cNvCxnSpPr/>
          <p:nvPr/>
        </p:nvCxnSpPr>
        <p:spPr>
          <a:xfrm>
            <a:off x="3537000" y="3030000"/>
            <a:ext cx="100000" cy="0"/>
          </a:xfrm>
          <a:prstGeom prst="line">
            <a:avLst/>
          </a:prstGeom>
          <a:ln w="15875">
            <a:solidFill>
              <a:srgbClr val="1A1A1A"/>
            </a:solidFill>
            <a:tailEnd type="triangle" w="med" len="med"/>
          </a:ln>
        </p:spPr>
      </p:cxnSp>
      <p:cxnSp>
        <p:nvCxnSpPr>
          <p:cNvPr id="225" name="Connector 224"/>
          <p:cNvCxnSpPr/>
          <p:nvPr/>
        </p:nvCxnSpPr>
        <p:spPr>
          <a:xfrm>
            <a:off x="4097000" y="3030000"/>
            <a:ext cx="280000" cy="0"/>
          </a:xfrm>
          <a:prstGeom prst="line">
            <a:avLst/>
          </a:prstGeom>
          <a:ln w="15875">
            <a:solidFill>
              <a:srgbClr val="1A1A1A"/>
            </a:solidFill>
            <a:tailEnd type="triangle" w="med" len="med"/>
          </a:ln>
        </p:spPr>
      </p:cxnSp>
      <p:sp>
        <p:nvSpPr>
          <p:cNvPr id="226" name="Rectangle 225"/>
          <p:cNvSpPr/>
          <p:nvPr/>
        </p:nvSpPr>
        <p:spPr>
          <a:xfrm>
            <a:off x="4377000" y="2820000"/>
            <a:ext cx="2003000" cy="420000"/>
          </a:xfrm>
          <a:prstGeom prst="rect">
            <a:avLst/>
          </a:prstGeom>
          <a:solidFill>
            <a:srgbClr val="D9D9D9"/>
          </a:solidFill>
          <a:ln w="12700">
            <a:solidFill>
              <a:srgbClr val="404040"/>
            </a:solidFill>
          </a:ln>
        </p:spPr>
        <p:txBody>
          <a:bodyPr rtlCol="0" anchor="ctr" lIns="30000" rIns="30000" tIns="0" bIns="0" wrap="square"/>
          <a:lstStyle/>
          <a:p>
            <a:pPr algn="ctr"/>
          </a:p>
        </p:txBody>
      </p:sp>
      <p:sp>
        <p:nvSpPr>
          <p:cNvPr id="227" name="TextBox 226"/>
          <p:cNvSpPr txBox="1"/>
          <p:nvPr/>
        </p:nvSpPr>
        <p:spPr>
          <a:xfrm>
            <a:off x="4437000" y="2820000"/>
            <a:ext cx="1923000" cy="420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750" b="1" i="0">
                <a:solidFill>
                  <a:srgbClr val="1A1A1A"/>
                </a:solidFill>
                <a:latin typeface="Noto Sans KR"/>
                <a:ea typeface="Noto Sans KR"/>
                <a:cs typeface="Noto Sans KR"/>
              </a:rPr>
              <a:t>출하 </a:t>
            </a:r>
            <a:r>
              <a:rPr sz="700" b="0" i="0">
                <a:solidFill>
                  <a:srgbClr val="FF7900"/>
                </a:solidFill>
                <a:latin typeface="Noto Sans KR"/>
                <a:ea typeface="Noto Sans KR"/>
                <a:cs typeface="Noto Sans KR"/>
              </a:rPr>
              <a:t>■</a:t>
            </a:r>
            <a:r>
              <a:rPr sz="750" b="1" i="0">
                <a:solidFill>
                  <a:srgbClr val="1A1A1A"/>
                </a:solidFill>
                <a:latin typeface="Noto Sans KR"/>
                <a:ea typeface="Noto Sans KR"/>
                <a:cs typeface="Noto Sans KR"/>
              </a:rPr>
              <a:t> 이지켐  </a:t>
            </a:r>
            <a:r>
              <a:rPr sz="750" b="1" i="0">
                <a:solidFill>
                  <a:srgbClr val="7030A0"/>
                </a:solidFill>
                <a:latin typeface="Noto Sans KR"/>
                <a:ea typeface="Noto Sans KR"/>
                <a:cs typeface="Noto Sans KR"/>
              </a:rPr>
              <a:t>■</a:t>
            </a:r>
            <a:r>
              <a:rPr sz="750" b="1" i="0">
                <a:solidFill>
                  <a:srgbClr val="1A1A1A"/>
                </a:solidFill>
                <a:latin typeface="Noto Sans KR"/>
                <a:ea typeface="Noto Sans KR"/>
                <a:cs typeface="Noto Sans KR"/>
              </a:rPr>
              <a:t> 한솔</a:t>
            </a:r>
          </a:p>
        </p:txBody>
      </p:sp>
      <p:sp>
        <p:nvSpPr>
          <p:cNvPr id="228" name="TextBox 227"/>
          <p:cNvSpPr txBox="1"/>
          <p:nvPr/>
        </p:nvSpPr>
        <p:spPr>
          <a:xfrm>
            <a:off x="3566160" y="3250000"/>
            <a:ext cx="2834640" cy="15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630" b="1" i="0">
                <a:solidFill>
                  <a:srgbClr val="385723"/>
                </a:solidFill>
                <a:latin typeface="Noto Sans KR"/>
                <a:ea typeface="Noto Sans KR"/>
                <a:cs typeface="Noto Sans KR"/>
              </a:rPr>
              <a:t>OQC·출하 : 5 Gal 9병 2 h · 200 L 1용기 2 h (운송 별도)</a:t>
            </a:r>
          </a:p>
        </p:txBody>
      </p:sp>
      <p:cxnSp>
        <p:nvCxnSpPr>
          <p:cNvPr id="229" name="Connector 228"/>
          <p:cNvCxnSpPr/>
          <p:nvPr/>
        </p:nvCxnSpPr>
        <p:spPr>
          <a:xfrm>
            <a:off x="5847000" y="2065000"/>
            <a:ext cx="0" cy="165000"/>
          </a:xfrm>
          <a:prstGeom prst="line">
            <a:avLst/>
          </a:prstGeom>
          <a:ln w="15875">
            <a:solidFill>
              <a:srgbClr val="1A1A1A"/>
            </a:solidFill>
          </a:ln>
        </p:spPr>
      </p:cxnSp>
      <p:cxnSp>
        <p:nvCxnSpPr>
          <p:cNvPr id="230" name="Connector 229"/>
          <p:cNvCxnSpPr/>
          <p:nvPr/>
        </p:nvCxnSpPr>
        <p:spPr>
          <a:xfrm flipH="1">
            <a:off x="617000" y="2230000"/>
            <a:ext cx="5230000" cy="0"/>
          </a:xfrm>
          <a:prstGeom prst="line">
            <a:avLst/>
          </a:prstGeom>
          <a:ln w="15875">
            <a:solidFill>
              <a:srgbClr val="1A1A1A"/>
            </a:solidFill>
          </a:ln>
        </p:spPr>
      </p:cxnSp>
      <p:cxnSp>
        <p:nvCxnSpPr>
          <p:cNvPr id="231" name="Connector 230"/>
          <p:cNvCxnSpPr/>
          <p:nvPr/>
        </p:nvCxnSpPr>
        <p:spPr>
          <a:xfrm>
            <a:off x="617000" y="2230000"/>
            <a:ext cx="0" cy="410000"/>
          </a:xfrm>
          <a:prstGeom prst="line">
            <a:avLst/>
          </a:prstGeom>
          <a:ln w="15875">
            <a:solidFill>
              <a:srgbClr val="1A1A1A"/>
            </a:solidFill>
            <a:tailEnd type="triangle" w="med" len="med"/>
          </a:ln>
        </p:spPr>
      </p:cxnSp>
      <p:cxnSp>
        <p:nvCxnSpPr>
          <p:cNvPr id="232" name="Connector 231"/>
          <p:cNvCxnSpPr/>
          <p:nvPr/>
        </p:nvCxnSpPr>
        <p:spPr>
          <a:xfrm flipV="1">
            <a:off x="4897000" y="975000"/>
            <a:ext cx="0" cy="205000"/>
          </a:xfrm>
          <a:prstGeom prst="line">
            <a:avLst/>
          </a:prstGeom>
          <a:ln w="12700">
            <a:solidFill>
              <a:srgbClr val="E00000"/>
            </a:solidFill>
            <a:prstDash val="dash"/>
          </a:ln>
        </p:spPr>
      </p:cxnSp>
      <p:cxnSp>
        <p:nvCxnSpPr>
          <p:cNvPr id="233" name="Connector 232"/>
          <p:cNvCxnSpPr/>
          <p:nvPr/>
        </p:nvCxnSpPr>
        <p:spPr>
          <a:xfrm flipH="1">
            <a:off x="3702000" y="975000"/>
            <a:ext cx="1195000" cy="0"/>
          </a:xfrm>
          <a:prstGeom prst="line">
            <a:avLst/>
          </a:prstGeom>
          <a:ln w="12700">
            <a:solidFill>
              <a:srgbClr val="E00000"/>
            </a:solidFill>
            <a:prstDash val="dash"/>
          </a:ln>
        </p:spPr>
      </p:cxnSp>
      <p:cxnSp>
        <p:nvCxnSpPr>
          <p:cNvPr id="234" name="Connector 233"/>
          <p:cNvCxnSpPr/>
          <p:nvPr/>
        </p:nvCxnSpPr>
        <p:spPr>
          <a:xfrm>
            <a:off x="3702000" y="975000"/>
            <a:ext cx="0" cy="85000"/>
          </a:xfrm>
          <a:prstGeom prst="line">
            <a:avLst/>
          </a:prstGeom>
          <a:ln w="12700">
            <a:solidFill>
              <a:srgbClr val="E00000"/>
            </a:solidFill>
            <a:prstDash val="dash"/>
            <a:tailEnd type="triangle" w="med" len="med"/>
          </a:ln>
        </p:spPr>
      </p:cxnSp>
      <p:sp>
        <p:nvSpPr>
          <p:cNvPr id="235" name="TextBox 234"/>
          <p:cNvSpPr txBox="1"/>
          <p:nvPr/>
        </p:nvSpPr>
        <p:spPr>
          <a:xfrm>
            <a:off x="4927000" y="955000"/>
            <a:ext cx="1100000" cy="13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630" b="1" i="0">
                <a:solidFill>
                  <a:srgbClr val="E00000"/>
                </a:solidFill>
                <a:latin typeface="Noto Sans KR"/>
                <a:ea typeface="Noto Sans KR"/>
                <a:cs typeface="Noto Sans KR"/>
              </a:rPr>
              <a:t>PQC NG → 정제 복귀</a:t>
            </a:r>
          </a:p>
        </p:txBody>
      </p:sp>
      <p:cxnSp>
        <p:nvCxnSpPr>
          <p:cNvPr id="236" name="Connector 235"/>
          <p:cNvCxnSpPr/>
          <p:nvPr/>
        </p:nvCxnSpPr>
        <p:spPr>
          <a:xfrm flipV="1">
            <a:off x="797000" y="2300000"/>
            <a:ext cx="0" cy="340000"/>
          </a:xfrm>
          <a:prstGeom prst="line">
            <a:avLst/>
          </a:prstGeom>
          <a:ln w="12700">
            <a:solidFill>
              <a:srgbClr val="E00000"/>
            </a:solidFill>
            <a:prstDash val="dash"/>
          </a:ln>
        </p:spPr>
      </p:cxnSp>
      <p:cxnSp>
        <p:nvCxnSpPr>
          <p:cNvPr id="237" name="Connector 236"/>
          <p:cNvCxnSpPr/>
          <p:nvPr/>
        </p:nvCxnSpPr>
        <p:spPr>
          <a:xfrm>
            <a:off x="797000" y="2300000"/>
            <a:ext cx="3155000" cy="0"/>
          </a:xfrm>
          <a:prstGeom prst="line">
            <a:avLst/>
          </a:prstGeom>
          <a:ln w="12700">
            <a:solidFill>
              <a:srgbClr val="E00000"/>
            </a:solidFill>
            <a:prstDash val="dash"/>
          </a:ln>
        </p:spPr>
      </p:cxnSp>
      <p:cxnSp>
        <p:nvCxnSpPr>
          <p:cNvPr id="238" name="Connector 237"/>
          <p:cNvCxnSpPr/>
          <p:nvPr/>
        </p:nvCxnSpPr>
        <p:spPr>
          <a:xfrm flipV="1">
            <a:off x="3952000" y="1910000"/>
            <a:ext cx="0" cy="390000"/>
          </a:xfrm>
          <a:prstGeom prst="line">
            <a:avLst/>
          </a:prstGeom>
          <a:ln w="12700">
            <a:solidFill>
              <a:srgbClr val="E00000"/>
            </a:solidFill>
            <a:prstDash val="dash"/>
            <a:tailEnd type="triangle" w="med" len="med"/>
          </a:ln>
        </p:spPr>
      </p:cxnSp>
      <p:sp>
        <p:nvSpPr>
          <p:cNvPr id="239" name="TextBox 238"/>
          <p:cNvSpPr txBox="1"/>
          <p:nvPr/>
        </p:nvSpPr>
        <p:spPr>
          <a:xfrm>
            <a:off x="4002000" y="2150000"/>
            <a:ext cx="1400000" cy="13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630" b="1" i="0">
                <a:solidFill>
                  <a:srgbClr val="E00000"/>
                </a:solidFill>
                <a:latin typeface="Noto Sans KR"/>
                <a:ea typeface="Noto Sans KR"/>
                <a:cs typeface="Noto Sans KR"/>
              </a:rPr>
              <a:t>FQC NG → 정제 복귀 (조건 확인)</a:t>
            </a:r>
          </a:p>
        </p:txBody>
      </p:sp>
      <p:sp>
        <p:nvSpPr>
          <p:cNvPr id="240" name="Rectangle 239"/>
          <p:cNvSpPr/>
          <p:nvPr/>
        </p:nvSpPr>
        <p:spPr>
          <a:xfrm>
            <a:off x="6480000" y="1010000"/>
            <a:ext cx="2377000" cy="2250000"/>
          </a:xfrm>
          <a:prstGeom prst="rect">
            <a:avLst/>
          </a:prstGeom>
          <a:solidFill>
            <a:srgbClr val="F5F6F8"/>
          </a:solidFill>
          <a:ln>
            <a:noFill/>
          </a:ln>
        </p:spPr>
        <p:txBody>
          <a:bodyPr rtlCol="0" anchor="ctr" lIns="30000" rIns="30000" tIns="0" bIns="0" wrap="square"/>
          <a:lstStyle/>
          <a:p>
            <a:pPr algn="ctr"/>
          </a:p>
        </p:txBody>
      </p:sp>
      <p:sp>
        <p:nvSpPr>
          <p:cNvPr id="241" name="TextBox 240"/>
          <p:cNvSpPr txBox="1"/>
          <p:nvPr/>
        </p:nvSpPr>
        <p:spPr>
          <a:xfrm>
            <a:off x="6570000" y="1070000"/>
            <a:ext cx="2197000" cy="20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1" i="0">
                <a:solidFill>
                  <a:srgbClr val="1A1A1A"/>
                </a:solidFill>
                <a:latin typeface="Noto Sans KR"/>
                <a:ea typeface="Noto Sans KR"/>
                <a:cs typeface="Noto Sans KR"/>
              </a:rPr>
              <a:t>개선 영향 구간</a:t>
            </a:r>
          </a:p>
        </p:txBody>
      </p:sp>
      <p:sp>
        <p:nvSpPr>
          <p:cNvPr id="242" name="Rounded Rectangle 241"/>
          <p:cNvSpPr/>
          <p:nvPr/>
        </p:nvSpPr>
        <p:spPr>
          <a:xfrm>
            <a:off x="6570000" y="1360000"/>
            <a:ext cx="540000" cy="190000"/>
          </a:xfrm>
          <a:prstGeom prst="roundRect">
            <a:avLst>
              <a:gd name="adj" fmla="val 30000"/>
            </a:avLst>
          </a:prstGeom>
          <a:solidFill>
            <a:srgbClr val="EB002C"/>
          </a:solidFill>
          <a:ln>
            <a:noFill/>
          </a:ln>
        </p:spPr>
        <p:txBody>
          <a:bodyPr rtlCol="0" anchor="ctr" lIns="30000" rIns="30000" tIns="0" bIns="0" wrap="square"/>
          <a:lstStyle/>
          <a:p>
            <a:pPr algn="ctr"/>
            <a:r>
              <a:rPr sz="600" b="1" i="0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정제기 2대</a:t>
            </a:r>
          </a:p>
        </p:txBody>
      </p:sp>
      <p:sp>
        <p:nvSpPr>
          <p:cNvPr id="243" name="TextBox 242"/>
          <p:cNvSpPr txBox="1"/>
          <p:nvPr/>
        </p:nvSpPr>
        <p:spPr>
          <a:xfrm>
            <a:off x="7170000" y="1340000"/>
            <a:ext cx="1617000" cy="3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720" b="1" i="0">
                <a:solidFill>
                  <a:srgbClr val="1A1A1A"/>
                </a:solidFill>
                <a:latin typeface="Noto Sans KR"/>
                <a:ea typeface="Noto Sans KR"/>
                <a:cs typeface="Noto Sans KR"/>
              </a:rPr>
              <a:t>정제기 1·2 시간차 병행 · '27.7 생산</a:t>
            </a:r>
          </a:p>
          <a:p>
            <a:pPr algn="l">
              <a:spcAft>
                <a:spcPts val="0"/>
              </a:spcAft>
            </a:pPr>
            <a:r>
              <a:rPr sz="650" b="0" i="0">
                <a:solidFill>
                  <a:srgbClr val="7F7F7F"/>
                </a:solidFill>
                <a:latin typeface="Noto Sans KR"/>
                <a:ea typeface="Noto Sans KR"/>
                <a:cs typeface="Noto Sans KR"/>
              </a:rPr>
              <a:t>+21톤/년 (12개월 환산) · 단순 2배 아님</a:t>
            </a:r>
          </a:p>
        </p:txBody>
      </p:sp>
      <p:sp>
        <p:nvSpPr>
          <p:cNvPr id="244" name="Rounded Rectangle 243"/>
          <p:cNvSpPr/>
          <p:nvPr/>
        </p:nvSpPr>
        <p:spPr>
          <a:xfrm>
            <a:off x="6570000" y="1780000"/>
            <a:ext cx="540000" cy="190000"/>
          </a:xfrm>
          <a:prstGeom prst="roundRect">
            <a:avLst>
              <a:gd name="adj" fmla="val 30000"/>
            </a:avLst>
          </a:prstGeom>
          <a:solidFill>
            <a:srgbClr val="7030A0"/>
          </a:solidFill>
          <a:ln>
            <a:noFill/>
          </a:ln>
        </p:spPr>
        <p:txBody>
          <a:bodyPr rtlCol="0" anchor="ctr" lIns="30000" rIns="30000" tIns="0" bIns="0" wrap="square"/>
          <a:lstStyle/>
          <a:p>
            <a:pPr algn="ctr"/>
            <a:r>
              <a:rPr sz="730" b="1" i="0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ARS</a:t>
            </a:r>
          </a:p>
        </p:txBody>
      </p:sp>
      <p:sp>
        <p:nvSpPr>
          <p:cNvPr id="245" name="TextBox 244"/>
          <p:cNvSpPr txBox="1"/>
          <p:nvPr/>
        </p:nvSpPr>
        <p:spPr>
          <a:xfrm>
            <a:off x="7170000" y="1760000"/>
            <a:ext cx="1617000" cy="3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720" b="1" i="0">
                <a:solidFill>
                  <a:srgbClr val="1A1A1A"/>
                </a:solidFill>
                <a:latin typeface="Noto Sans KR"/>
                <a:ea typeface="Noto Sans KR"/>
                <a:cs typeface="Noto Sans KR"/>
              </a:rPr>
              <a:t>200 L · '26 설치 → 한솔 '27.7~</a:t>
            </a:r>
          </a:p>
          <a:p>
            <a:pPr algn="l">
              <a:spcAft>
                <a:spcPts val="0"/>
              </a:spcAft>
            </a:pPr>
            <a:r>
              <a:rPr sz="650" b="0" i="0">
                <a:solidFill>
                  <a:srgbClr val="7F7F7F"/>
                </a:solidFill>
                <a:latin typeface="Noto Sans KR"/>
                <a:ea typeface="Noto Sans KR"/>
                <a:cs typeface="Noto Sans KR"/>
              </a:rPr>
              <a:t>이지켐 전환 월 확인 · Capa. 가산 없음</a:t>
            </a:r>
          </a:p>
        </p:txBody>
      </p:sp>
      <p:sp>
        <p:nvSpPr>
          <p:cNvPr id="246" name="Rounded Rectangle 245"/>
          <p:cNvSpPr/>
          <p:nvPr/>
        </p:nvSpPr>
        <p:spPr>
          <a:xfrm>
            <a:off x="6570000" y="2200000"/>
            <a:ext cx="540000" cy="190000"/>
          </a:xfrm>
          <a:prstGeom prst="roundRect">
            <a:avLst>
              <a:gd name="adj" fmla="val 30000"/>
            </a:avLst>
          </a:prstGeom>
          <a:solidFill>
            <a:srgbClr val="548235"/>
          </a:solidFill>
          <a:ln>
            <a:noFill/>
          </a:ln>
        </p:spPr>
        <p:txBody>
          <a:bodyPr rtlCol="0" anchor="ctr" lIns="30000" rIns="30000" tIns="0" bIns="0" wrap="square"/>
          <a:lstStyle/>
          <a:p>
            <a:pPr algn="ctr"/>
            <a:r>
              <a:rPr sz="730" b="1" i="0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유지</a:t>
            </a:r>
          </a:p>
        </p:txBody>
      </p:sp>
      <p:sp>
        <p:nvSpPr>
          <p:cNvPr id="247" name="TextBox 246"/>
          <p:cNvSpPr txBox="1"/>
          <p:nvPr/>
        </p:nvSpPr>
        <p:spPr>
          <a:xfrm>
            <a:off x="7170000" y="2180000"/>
            <a:ext cx="1617000" cy="3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720" b="1" i="0">
                <a:solidFill>
                  <a:srgbClr val="1A1A1A"/>
                </a:solidFill>
                <a:latin typeface="Noto Sans KR"/>
                <a:ea typeface="Noto Sans KR"/>
                <a:cs typeface="Noto Sans KR"/>
              </a:rPr>
              <a:t>5 Gal 글로브 박스 · 2 h/병</a:t>
            </a:r>
          </a:p>
          <a:p>
            <a:pPr algn="l">
              <a:spcAft>
                <a:spcPts val="0"/>
              </a:spcAft>
            </a:pPr>
            <a:r>
              <a:rPr sz="650" b="0" i="0">
                <a:solidFill>
                  <a:srgbClr val="7F7F7F"/>
                </a:solidFill>
                <a:latin typeface="Noto Sans KR"/>
                <a:ea typeface="Noto Sans KR"/>
                <a:cs typeface="Noto Sans KR"/>
              </a:rPr>
              <a:t>하이닉스 · CXMT · ARS 미적용</a:t>
            </a:r>
          </a:p>
        </p:txBody>
      </p:sp>
      <p:sp>
        <p:nvSpPr>
          <p:cNvPr id="248" name="TextBox 247"/>
          <p:cNvSpPr txBox="1"/>
          <p:nvPr/>
        </p:nvSpPr>
        <p:spPr>
          <a:xfrm>
            <a:off x="6570000" y="2600000"/>
            <a:ext cx="2197000" cy="40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680" b="0" i="0">
                <a:solidFill>
                  <a:srgbClr val="3F3F3F"/>
                </a:solidFill>
                <a:latin typeface="Noto Sans KR"/>
                <a:ea typeface="Noto Sans KR"/>
                <a:cs typeface="Noto Sans KR"/>
              </a:rPr>
              <a:t>· 정제 45 h → 22.5 h 단축 아님 (설비 2대)</a:t>
            </a:r>
          </a:p>
          <a:p>
            <a:pPr algn="l">
              <a:spcAft>
                <a:spcPts val="0"/>
              </a:spcAft>
            </a:pPr>
            <a:r>
              <a:rPr sz="680" b="0" i="0">
                <a:solidFill>
                  <a:srgbClr val="3F3F3F"/>
                </a:solidFill>
                <a:latin typeface="Noto Sans KR"/>
                <a:ea typeface="Noto Sans KR"/>
                <a:cs typeface="Noto Sans KR"/>
              </a:rPr>
              <a:t>· 공용 후공정(검사·Tank·충진) 병목 검토</a:t>
            </a:r>
          </a:p>
        </p:txBody>
      </p:sp>
      <p:sp>
        <p:nvSpPr>
          <p:cNvPr id="249" name="Rounded Rectangle 248"/>
          <p:cNvSpPr/>
          <p:nvPr/>
        </p:nvSpPr>
        <p:spPr>
          <a:xfrm>
            <a:off x="6570000" y="2950000"/>
            <a:ext cx="380000" cy="130000"/>
          </a:xfrm>
          <a:prstGeom prst="roundRect">
            <a:avLst/>
          </a:prstGeom>
          <a:solidFill>
            <a:srgbClr val="E2EFD9"/>
          </a:solidFill>
          <a:ln w="9525">
            <a:solidFill>
              <a:srgbClr val="548235"/>
            </a:solidFill>
          </a:ln>
        </p:spPr>
        <p:txBody>
          <a:bodyPr rtlCol="0" anchor="ctr" lIns="30000" rIns="30000" tIns="0" bIns="0" wrap="square"/>
          <a:lstStyle/>
          <a:p>
            <a:pPr algn="ctr"/>
          </a:p>
        </p:txBody>
      </p:sp>
      <p:sp>
        <p:nvSpPr>
          <p:cNvPr id="250" name="TextBox 249"/>
          <p:cNvSpPr txBox="1"/>
          <p:nvPr/>
        </p:nvSpPr>
        <p:spPr>
          <a:xfrm>
            <a:off x="7000000" y="2930000"/>
            <a:ext cx="800000" cy="170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650" b="0" i="0">
                <a:solidFill>
                  <a:srgbClr val="3F3F3F"/>
                </a:solidFill>
                <a:latin typeface="Noto Sans KR"/>
                <a:ea typeface="Noto Sans KR"/>
                <a:cs typeface="Noto Sans KR"/>
              </a:rPr>
              <a:t>제공 시간</a:t>
            </a:r>
          </a:p>
        </p:txBody>
      </p:sp>
      <p:sp>
        <p:nvSpPr>
          <p:cNvPr id="251" name="Rounded Rectangle 250"/>
          <p:cNvSpPr/>
          <p:nvPr/>
        </p:nvSpPr>
        <p:spPr>
          <a:xfrm>
            <a:off x="7730000" y="2950000"/>
            <a:ext cx="380000" cy="130000"/>
          </a:xfrm>
          <a:prstGeom prst="roundRect">
            <a:avLst/>
          </a:prstGeom>
          <a:solidFill>
            <a:srgbClr val="FFF2CC"/>
          </a:solidFill>
          <a:ln w="9525">
            <a:solidFill>
              <a:srgbClr val="BF9000"/>
            </a:solidFill>
          </a:ln>
        </p:spPr>
        <p:txBody>
          <a:bodyPr rtlCol="0" anchor="ctr" lIns="30000" rIns="30000" tIns="0" bIns="0" wrap="square"/>
          <a:lstStyle/>
          <a:p>
            <a:pPr algn="ctr"/>
          </a:p>
        </p:txBody>
      </p:sp>
      <p:sp>
        <p:nvSpPr>
          <p:cNvPr id="252" name="TextBox 251"/>
          <p:cNvSpPr txBox="1"/>
          <p:nvPr/>
        </p:nvSpPr>
        <p:spPr>
          <a:xfrm>
            <a:off x="8160000" y="2930000"/>
            <a:ext cx="700000" cy="170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650" b="0" i="0">
                <a:solidFill>
                  <a:srgbClr val="3F3F3F"/>
                </a:solidFill>
                <a:latin typeface="Noto Sans KR"/>
                <a:ea typeface="Noto Sans KR"/>
                <a:cs typeface="Noto Sans KR"/>
              </a:rPr>
              <a:t>미확인</a:t>
            </a:r>
          </a:p>
        </p:txBody>
      </p:sp>
      <p:cxnSp>
        <p:nvCxnSpPr>
          <p:cNvPr id="253" name="Connector 252"/>
          <p:cNvCxnSpPr/>
          <p:nvPr/>
        </p:nvCxnSpPr>
        <p:spPr>
          <a:xfrm>
            <a:off x="6570000" y="3180000"/>
            <a:ext cx="260000" cy="0"/>
          </a:xfrm>
          <a:prstGeom prst="line">
            <a:avLst/>
          </a:prstGeom>
          <a:ln w="12700">
            <a:solidFill>
              <a:srgbClr val="E00000"/>
            </a:solidFill>
            <a:prstDash val="dash"/>
          </a:ln>
        </p:spPr>
      </p:cxnSp>
      <p:sp>
        <p:nvSpPr>
          <p:cNvPr id="254" name="TextBox 253"/>
          <p:cNvSpPr txBox="1"/>
          <p:nvPr/>
        </p:nvSpPr>
        <p:spPr>
          <a:xfrm>
            <a:off x="6880000" y="3105000"/>
            <a:ext cx="1500000" cy="15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650" b="0" i="0">
                <a:solidFill>
                  <a:srgbClr val="3F3F3F"/>
                </a:solidFill>
                <a:latin typeface="Noto Sans KR"/>
                <a:ea typeface="Noto Sans KR"/>
                <a:cs typeface="Noto Sans KR"/>
              </a:rPr>
              <a:t>부적합 복귀 (조건 확인)</a:t>
            </a:r>
          </a:p>
        </p:txBody>
      </p:sp>
      <p:sp>
        <p:nvSpPr>
          <p:cNvPr id="255" name="Rectangle 254"/>
          <p:cNvSpPr/>
          <p:nvPr/>
        </p:nvSpPr>
        <p:spPr>
          <a:xfrm>
            <a:off x="287000" y="3430000"/>
            <a:ext cx="50000" cy="165000"/>
          </a:xfrm>
          <a:prstGeom prst="rect">
            <a:avLst/>
          </a:prstGeom>
          <a:solidFill>
            <a:srgbClr val="EB002C"/>
          </a:solidFill>
          <a:ln>
            <a:noFill/>
          </a:ln>
        </p:spPr>
        <p:txBody>
          <a:bodyPr rtlCol="0" anchor="ctr" lIns="30000" rIns="30000" tIns="0" bIns="0" wrap="square"/>
          <a:lstStyle/>
          <a:p>
            <a:pPr algn="ctr"/>
          </a:p>
        </p:txBody>
      </p:sp>
      <p:sp>
        <p:nvSpPr>
          <p:cNvPr id="256" name="TextBox 255"/>
          <p:cNvSpPr txBox="1"/>
          <p:nvPr/>
        </p:nvSpPr>
        <p:spPr>
          <a:xfrm>
            <a:off x="397000" y="3400000"/>
            <a:ext cx="8000000" cy="22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1" i="0">
                <a:solidFill>
                  <a:srgbClr val="1A1A1A"/>
                </a:solidFill>
                <a:latin typeface="Noto Sans KR"/>
                <a:ea typeface="Noto Sans KR"/>
                <a:cs typeface="Noto Sans KR"/>
              </a:rPr>
              <a:t>① 투자 · 운영 일정</a:t>
            </a:r>
            <a:r>
              <a:rPr sz="700" b="0" i="0">
                <a:solidFill>
                  <a:srgbClr val="7F7F7F"/>
                </a:solidFill>
                <a:latin typeface="Noto Sans KR"/>
                <a:ea typeface="Noto Sans KR"/>
                <a:cs typeface="Noto Sans KR"/>
              </a:rPr>
              <a:t>   '27.6까지 정제기 1대 · 26.2톤/년 → '27.7부터 정제기 2대 · 47.2톤/년 (연간 환산)</a:t>
            </a:r>
          </a:p>
        </p:txBody>
      </p:sp>
      <p:graphicFrame>
        <p:nvGraphicFramePr>
          <p:cNvPr id="257" name="Table 256"/>
          <p:cNvGraphicFramePr>
            <a:graphicFrameLocks noGrp="1"/>
          </p:cNvGraphicFramePr>
          <p:nvPr/>
        </p:nvGraphicFramePr>
        <p:xfrm>
          <a:off x="287000" y="3620000"/>
          <a:ext cx="8569988" cy="8950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700000"/>
                <a:gridCol w="381666"/>
                <a:gridCol w="381666"/>
                <a:gridCol w="381666"/>
                <a:gridCol w="381666"/>
                <a:gridCol w="381666"/>
                <a:gridCol w="381666"/>
                <a:gridCol w="381666"/>
                <a:gridCol w="381666"/>
                <a:gridCol w="381666"/>
                <a:gridCol w="381666"/>
                <a:gridCol w="381666"/>
                <a:gridCol w="381666"/>
                <a:gridCol w="381666"/>
                <a:gridCol w="381666"/>
                <a:gridCol w="381666"/>
                <a:gridCol w="381666"/>
                <a:gridCol w="381666"/>
                <a:gridCol w="381666"/>
              </a:tblGrid>
              <a:tr h="150000">
                <a:tc rowSpan="2">
                  <a:txBody>
                    <a:bodyPr/>
                    <a:lstStyle/>
                    <a:p>
                      <a:pPr algn="l"/>
                      <a:r>
                        <a:rPr sz="680" b="1" i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구분</a:t>
                      </a:r>
                      <a:endParaRPr sz="680"/>
                    </a:p>
                  </a:txBody>
                  <a:tcPr anchor="ctr" marL="45000" marR="45000" marT="15000" marB="15000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1A1A1A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5F6F8"/>
                    </a:solidFill>
                  </a:tcPr>
                </a:tc>
                <a:tc gridSpan="12">
                  <a:txBody>
                    <a:bodyPr/>
                    <a:lstStyle/>
                    <a:p>
                      <a:pPr algn="ctr"/>
                      <a:r>
                        <a:rPr sz="700" b="1" i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2027년</a:t>
                      </a:r>
                      <a:endParaRPr sz="700"/>
                    </a:p>
                  </a:txBody>
                  <a:tcPr anchor="ctr" marL="45000" marR="45000" marT="15000" marB="15000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1A1A1A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5F6F8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6">
                  <a:txBody>
                    <a:bodyPr/>
                    <a:lstStyle/>
                    <a:p>
                      <a:pPr algn="ctr"/>
                      <a:r>
                        <a:rPr sz="700" b="1" i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2028년</a:t>
                      </a:r>
                      <a:endParaRPr sz="700"/>
                    </a:p>
                  </a:txBody>
                  <a:tcPr anchor="ctr" marL="45000" marR="45000" marT="15000" marB="15000">
                    <a:lnL w="6350">
                      <a:solidFill>
                        <a:srgbClr val="BFBFBF"/>
                      </a:solidFill>
                    </a:lnL>
                    <a:lnR w="0">
                      <a:noFill/>
                    </a:lnR>
                    <a:lnT w="12700">
                      <a:solidFill>
                        <a:srgbClr val="1A1A1A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EDEDED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145000">
                <a:tc vMerge="1">
                  <a:txBody>
                    <a:bodyPr/>
                    <a:lstStyle/>
                    <a:p>
                      <a:pPr algn="ctr"/>
                      <a:r>
                        <a:rPr sz="600" b="0" i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 </a:t>
                      </a:r>
                      <a:endParaRPr sz="600"/>
                    </a:p>
                  </a:txBody>
                  <a:tcPr anchor="ctr" marL="45000" marR="45000" marT="15000" marB="150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30" b="1" i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</a:t>
                      </a:r>
                      <a:endParaRPr sz="630"/>
                    </a:p>
                  </a:txBody>
                  <a:tcPr anchor="ctr" marL="45000" marR="45000" marT="15000" marB="150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30" b="1" i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</a:t>
                      </a:r>
                      <a:endParaRPr sz="630"/>
                    </a:p>
                  </a:txBody>
                  <a:tcPr anchor="ctr" marL="45000" marR="45000" marT="15000" marB="150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30" b="1" i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</a:t>
                      </a:r>
                      <a:endParaRPr sz="630"/>
                    </a:p>
                  </a:txBody>
                  <a:tcPr anchor="ctr" marL="45000" marR="45000" marT="15000" marB="150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30" b="1" i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4</a:t>
                      </a:r>
                      <a:endParaRPr sz="630"/>
                    </a:p>
                  </a:txBody>
                  <a:tcPr anchor="ctr" marL="45000" marR="45000" marT="15000" marB="150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30" b="1" i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5</a:t>
                      </a:r>
                      <a:endParaRPr sz="630"/>
                    </a:p>
                  </a:txBody>
                  <a:tcPr anchor="ctr" marL="45000" marR="45000" marT="15000" marB="150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30" b="1" i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6</a:t>
                      </a:r>
                      <a:endParaRPr sz="630"/>
                    </a:p>
                  </a:txBody>
                  <a:tcPr anchor="ctr" marL="45000" marR="45000" marT="15000" marB="150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30" b="1" i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7</a:t>
                      </a:r>
                      <a:endParaRPr sz="630"/>
                    </a:p>
                  </a:txBody>
                  <a:tcPr anchor="ctr" marL="45000" marR="45000" marT="15000" marB="150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30" b="1" i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8</a:t>
                      </a:r>
                      <a:endParaRPr sz="630"/>
                    </a:p>
                  </a:txBody>
                  <a:tcPr anchor="ctr" marL="45000" marR="45000" marT="15000" marB="150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30" b="1" i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9</a:t>
                      </a:r>
                      <a:endParaRPr sz="630"/>
                    </a:p>
                  </a:txBody>
                  <a:tcPr anchor="ctr" marL="45000" marR="45000" marT="15000" marB="150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30" b="1" i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10</a:t>
                      </a:r>
                      <a:endParaRPr sz="630"/>
                    </a:p>
                  </a:txBody>
                  <a:tcPr anchor="ctr" marL="45000" marR="45000" marT="15000" marB="150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30" b="1" i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11</a:t>
                      </a:r>
                      <a:endParaRPr sz="630"/>
                    </a:p>
                  </a:txBody>
                  <a:tcPr anchor="ctr" marL="45000" marR="45000" marT="15000" marB="150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30" b="1" i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12</a:t>
                      </a:r>
                      <a:endParaRPr sz="630"/>
                    </a:p>
                  </a:txBody>
                  <a:tcPr anchor="ctr" marL="45000" marR="45000" marT="15000" marB="150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30" b="1" i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</a:t>
                      </a:r>
                      <a:endParaRPr sz="630"/>
                    </a:p>
                  </a:txBody>
                  <a:tcPr anchor="ctr" marL="45000" marR="45000" marT="15000" marB="15000">
                    <a:lnL w="6350">
                      <a:solidFill>
                        <a:srgbClr val="BFBFBF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DEDE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30" b="1" i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</a:t>
                      </a:r>
                      <a:endParaRPr sz="630"/>
                    </a:p>
                  </a:txBody>
                  <a:tcPr anchor="ctr" marL="45000" marR="45000" marT="15000" marB="150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DEDE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30" b="1" i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</a:t>
                      </a:r>
                      <a:endParaRPr sz="630"/>
                    </a:p>
                  </a:txBody>
                  <a:tcPr anchor="ctr" marL="45000" marR="45000" marT="15000" marB="150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DEDE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30" b="1" i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4</a:t>
                      </a:r>
                      <a:endParaRPr sz="630"/>
                    </a:p>
                  </a:txBody>
                  <a:tcPr anchor="ctr" marL="45000" marR="45000" marT="15000" marB="150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DEDE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30" b="1" i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5</a:t>
                      </a:r>
                      <a:endParaRPr sz="630"/>
                    </a:p>
                  </a:txBody>
                  <a:tcPr anchor="ctr" marL="45000" marR="45000" marT="15000" marB="150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DEDE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30" b="1" i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6</a:t>
                      </a:r>
                      <a:endParaRPr sz="630"/>
                    </a:p>
                  </a:txBody>
                  <a:tcPr anchor="ctr" marL="45000" marR="45000" marT="15000" marB="150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DEDED"/>
                    </a:solidFill>
                  </a:tcPr>
                </a:tc>
              </a:tr>
              <a:tr h="150000">
                <a:tc>
                  <a:txBody>
                    <a:bodyPr/>
                    <a:lstStyle/>
                    <a:p>
                      <a:pPr algn="l"/>
                      <a:r>
                        <a:rPr sz="630" b="0" i="0">
                          <a:solidFill>
                            <a:srgbClr val="EB00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■ </a:t>
                      </a:r>
                      <a:r>
                        <a:rPr sz="680" b="1" i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리플럭스 공사</a:t>
                      </a:r>
                      <a:endParaRPr sz="630"/>
                    </a:p>
                  </a:txBody>
                  <a:tcPr anchor="ctr" marL="45000" marR="45000" marT="15000" marB="150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0" i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 </a:t>
                      </a:r>
                      <a:endParaRPr sz="600"/>
                    </a:p>
                  </a:txBody>
                  <a:tcPr anchor="ctr" marL="45000" marR="45000" marT="15000" marB="150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 gridSpan="4">
                  <a:txBody>
                    <a:bodyPr/>
                    <a:lstStyle/>
                    <a:p>
                      <a:pPr algn="ctr"/>
                      <a:r>
                        <a:rPr sz="630" b="1" i="0">
                          <a:solidFill>
                            <a:srgbClr val="EB00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공사 (2~5월) · 공사 중 가동 여부 확인</a:t>
                      </a:r>
                      <a:endParaRPr sz="630"/>
                    </a:p>
                  </a:txBody>
                  <a:tcPr anchor="ctr" marL="45000" marR="45000" marT="15000" marB="1500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8C9D2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0" i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 </a:t>
                      </a:r>
                      <a:endParaRPr sz="600"/>
                    </a:p>
                  </a:txBody>
                  <a:tcPr anchor="ctr" marL="45000" marR="45000" marT="15000" marB="1500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0" i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 </a:t>
                      </a:r>
                      <a:endParaRPr sz="600"/>
                    </a:p>
                  </a:txBody>
                  <a:tcPr anchor="ctr" marL="45000" marR="45000" marT="15000" marB="1500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0" i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 </a:t>
                      </a:r>
                      <a:endParaRPr sz="600"/>
                    </a:p>
                  </a:txBody>
                  <a:tcPr anchor="ctr" marL="45000" marR="45000" marT="15000" marB="1500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0" i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 </a:t>
                      </a:r>
                      <a:endParaRPr sz="600"/>
                    </a:p>
                  </a:txBody>
                  <a:tcPr anchor="ctr" marL="45000" marR="45000" marT="15000" marB="1500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0" i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 </a:t>
                      </a:r>
                      <a:endParaRPr sz="600"/>
                    </a:p>
                  </a:txBody>
                  <a:tcPr anchor="ctr" marL="45000" marR="45000" marT="15000" marB="1500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0" i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 </a:t>
                      </a:r>
                      <a:endParaRPr sz="600"/>
                    </a:p>
                  </a:txBody>
                  <a:tcPr anchor="ctr" marL="45000" marR="45000" marT="15000" marB="1500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0" i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 </a:t>
                      </a:r>
                      <a:endParaRPr sz="600"/>
                    </a:p>
                  </a:txBody>
                  <a:tcPr anchor="ctr" marL="45000" marR="45000" marT="15000" marB="1500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0" i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 </a:t>
                      </a:r>
                      <a:endParaRPr sz="600"/>
                    </a:p>
                  </a:txBody>
                  <a:tcPr anchor="ctr" marL="45000" marR="45000" marT="15000" marB="15000">
                    <a:lnL w="6350">
                      <a:solidFill>
                        <a:srgbClr val="BFBFBF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0" i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 </a:t>
                      </a:r>
                      <a:endParaRPr sz="600"/>
                    </a:p>
                  </a:txBody>
                  <a:tcPr anchor="ctr" marL="45000" marR="45000" marT="15000" marB="1500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0" i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 </a:t>
                      </a:r>
                      <a:endParaRPr sz="600"/>
                    </a:p>
                  </a:txBody>
                  <a:tcPr anchor="ctr" marL="45000" marR="45000" marT="15000" marB="1500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0" i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 </a:t>
                      </a:r>
                      <a:endParaRPr sz="600"/>
                    </a:p>
                  </a:txBody>
                  <a:tcPr anchor="ctr" marL="45000" marR="45000" marT="15000" marB="1500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0" i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 </a:t>
                      </a:r>
                      <a:endParaRPr sz="600"/>
                    </a:p>
                  </a:txBody>
                  <a:tcPr anchor="ctr" marL="45000" marR="45000" marT="15000" marB="1500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0" i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 </a:t>
                      </a:r>
                      <a:endParaRPr sz="600"/>
                    </a:p>
                  </a:txBody>
                  <a:tcPr anchor="ctr" marL="45000" marR="45000" marT="15000" marB="1500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150000">
                <a:tc>
                  <a:txBody>
                    <a:bodyPr/>
                    <a:lstStyle/>
                    <a:p>
                      <a:pPr algn="l"/>
                      <a:r>
                        <a:rPr sz="630" b="0" i="0">
                          <a:solidFill>
                            <a:srgbClr val="EB00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■ </a:t>
                      </a:r>
                      <a:r>
                        <a:rPr sz="680" b="1" i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시운전</a:t>
                      </a:r>
                      <a:endParaRPr sz="630"/>
                    </a:p>
                  </a:txBody>
                  <a:tcPr anchor="ctr" marL="45000" marR="45000" marT="15000" marB="150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0" i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 </a:t>
                      </a:r>
                      <a:endParaRPr sz="600"/>
                    </a:p>
                  </a:txBody>
                  <a:tcPr anchor="ctr" marL="45000" marR="45000" marT="15000" marB="150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0" i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 </a:t>
                      </a:r>
                      <a:endParaRPr sz="600"/>
                    </a:p>
                  </a:txBody>
                  <a:tcPr anchor="ctr" marL="45000" marR="45000" marT="15000" marB="1500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0" i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 </a:t>
                      </a:r>
                      <a:endParaRPr sz="600"/>
                    </a:p>
                  </a:txBody>
                  <a:tcPr anchor="ctr" marL="45000" marR="45000" marT="15000" marB="1500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0" i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 </a:t>
                      </a:r>
                      <a:endParaRPr sz="600"/>
                    </a:p>
                  </a:txBody>
                  <a:tcPr anchor="ctr" marL="45000" marR="45000" marT="15000" marB="1500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0" i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 </a:t>
                      </a:r>
                      <a:endParaRPr sz="600"/>
                    </a:p>
                  </a:txBody>
                  <a:tcPr anchor="ctr" marL="45000" marR="45000" marT="15000" marB="1500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30" b="1" i="0">
                          <a:solidFill>
                            <a:srgbClr val="EB00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시운전</a:t>
                      </a:r>
                      <a:endParaRPr sz="630"/>
                    </a:p>
                  </a:txBody>
                  <a:tcPr anchor="ctr" marL="45000" marR="45000" marT="15000" marB="1500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29CA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0" i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 </a:t>
                      </a:r>
                      <a:endParaRPr sz="600"/>
                    </a:p>
                  </a:txBody>
                  <a:tcPr anchor="ctr" marL="45000" marR="45000" marT="15000" marB="1500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0" i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 </a:t>
                      </a:r>
                      <a:endParaRPr sz="600"/>
                    </a:p>
                  </a:txBody>
                  <a:tcPr anchor="ctr" marL="45000" marR="45000" marT="15000" marB="1500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0" i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 </a:t>
                      </a:r>
                      <a:endParaRPr sz="600"/>
                    </a:p>
                  </a:txBody>
                  <a:tcPr anchor="ctr" marL="45000" marR="45000" marT="15000" marB="1500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0" i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 </a:t>
                      </a:r>
                      <a:endParaRPr sz="600"/>
                    </a:p>
                  </a:txBody>
                  <a:tcPr anchor="ctr" marL="45000" marR="45000" marT="15000" marB="1500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0" i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 </a:t>
                      </a:r>
                      <a:endParaRPr sz="600"/>
                    </a:p>
                  </a:txBody>
                  <a:tcPr anchor="ctr" marL="45000" marR="45000" marT="15000" marB="1500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0" i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 </a:t>
                      </a:r>
                      <a:endParaRPr sz="600"/>
                    </a:p>
                  </a:txBody>
                  <a:tcPr anchor="ctr" marL="45000" marR="45000" marT="15000" marB="1500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0" i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 </a:t>
                      </a:r>
                      <a:endParaRPr sz="600"/>
                    </a:p>
                  </a:txBody>
                  <a:tcPr anchor="ctr" marL="45000" marR="45000" marT="15000" marB="15000">
                    <a:lnL w="6350">
                      <a:solidFill>
                        <a:srgbClr val="BFBFBF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0" i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 </a:t>
                      </a:r>
                      <a:endParaRPr sz="600"/>
                    </a:p>
                  </a:txBody>
                  <a:tcPr anchor="ctr" marL="45000" marR="45000" marT="15000" marB="1500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0" i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 </a:t>
                      </a:r>
                      <a:endParaRPr sz="600"/>
                    </a:p>
                  </a:txBody>
                  <a:tcPr anchor="ctr" marL="45000" marR="45000" marT="15000" marB="1500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0" i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 </a:t>
                      </a:r>
                      <a:endParaRPr sz="600"/>
                    </a:p>
                  </a:txBody>
                  <a:tcPr anchor="ctr" marL="45000" marR="45000" marT="15000" marB="1500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0" i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 </a:t>
                      </a:r>
                      <a:endParaRPr sz="600"/>
                    </a:p>
                  </a:txBody>
                  <a:tcPr anchor="ctr" marL="45000" marR="45000" marT="15000" marB="1500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0" i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 </a:t>
                      </a:r>
                      <a:endParaRPr sz="600"/>
                    </a:p>
                  </a:txBody>
                  <a:tcPr anchor="ctr" marL="45000" marR="45000" marT="15000" marB="1500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150000">
                <a:tc>
                  <a:txBody>
                    <a:bodyPr/>
                    <a:lstStyle/>
                    <a:p>
                      <a:pPr algn="l"/>
                      <a:r>
                        <a:rPr sz="630" b="0" i="0">
                          <a:solidFill>
                            <a:srgbClr val="EB00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■ 정제기 2대 적용 생산</a:t>
                      </a:r>
                      <a:endParaRPr sz="630"/>
                    </a:p>
                  </a:txBody>
                  <a:tcPr anchor="ctr" marL="45000" marR="45000" marT="15000" marB="150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0" i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 </a:t>
                      </a:r>
                      <a:endParaRPr sz="600"/>
                    </a:p>
                  </a:txBody>
                  <a:tcPr anchor="ctr" marL="45000" marR="45000" marT="15000" marB="150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0" i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 </a:t>
                      </a:r>
                      <a:endParaRPr sz="600"/>
                    </a:p>
                  </a:txBody>
                  <a:tcPr anchor="ctr" marL="45000" marR="45000" marT="15000" marB="1500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0" i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 </a:t>
                      </a:r>
                      <a:endParaRPr sz="600"/>
                    </a:p>
                  </a:txBody>
                  <a:tcPr anchor="ctr" marL="45000" marR="45000" marT="15000" marB="1500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0" i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 </a:t>
                      </a:r>
                      <a:endParaRPr sz="600"/>
                    </a:p>
                  </a:txBody>
                  <a:tcPr anchor="ctr" marL="45000" marR="45000" marT="15000" marB="1500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0" i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 </a:t>
                      </a:r>
                      <a:endParaRPr sz="600"/>
                    </a:p>
                  </a:txBody>
                  <a:tcPr anchor="ctr" marL="45000" marR="45000" marT="15000" marB="1500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0" i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 </a:t>
                      </a:r>
                      <a:endParaRPr sz="600"/>
                    </a:p>
                  </a:txBody>
                  <a:tcPr anchor="ctr" marL="45000" marR="45000" marT="15000" marB="1500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 gridSpan="12">
                  <a:txBody>
                    <a:bodyPr/>
                    <a:lstStyle/>
                    <a:p>
                      <a:pPr algn="ctr"/>
                      <a:r>
                        <a:rPr sz="630" b="1" i="0">
                          <a:solidFill>
                            <a:srgbClr val="EB00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정제기 2대 생산 시작 '27.7 · 최초 12개월 '27.7~'28.6 (47.2톤 환산)</a:t>
                      </a:r>
                      <a:endParaRPr sz="630"/>
                    </a:p>
                  </a:txBody>
                  <a:tcPr anchor="ctr" marL="45000" marR="45000" marT="15000" marB="1500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DEDF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150000">
                <a:tc>
                  <a:txBody>
                    <a:bodyPr/>
                    <a:lstStyle/>
                    <a:p>
                      <a:pPr algn="l"/>
                      <a:r>
                        <a:rPr sz="630" b="0" i="0">
                          <a:solidFill>
                            <a:srgbClr val="7030A0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■ ARS 200 L 충진</a:t>
                      </a:r>
                      <a:endParaRPr sz="630"/>
                    </a:p>
                  </a:txBody>
                  <a:tcPr anchor="ctr" marL="45000" marR="45000" marT="15000" marB="150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 gridSpan="18">
                  <a:txBody>
                    <a:bodyPr/>
                    <a:lstStyle/>
                    <a:p>
                      <a:pPr algn="ctr"/>
                      <a:r>
                        <a:rPr sz="630" b="1" i="0">
                          <a:solidFill>
                            <a:srgbClr val="7030A0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'26 설치 → '27 운영 계획 · 한솔 1~6월 수동 → 7월~ ARS · 이지켐 전환 월 확인 · 5 Gal 미적용</a:t>
                      </a:r>
                      <a:endParaRPr sz="630"/>
                    </a:p>
                  </a:txBody>
                  <a:tcPr anchor="ctr" marL="45000" marR="45000" marT="15000" marB="150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FE6F7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</a:tbl>
          </a:graphicData>
        </a:graphic>
      </p:graphicFrame>
      <p:sp>
        <p:nvSpPr>
          <p:cNvPr id="258" name="Rectangle 257"/>
          <p:cNvSpPr/>
          <p:nvPr/>
        </p:nvSpPr>
        <p:spPr>
          <a:xfrm>
            <a:off x="287000" y="4630000"/>
            <a:ext cx="50000" cy="165000"/>
          </a:xfrm>
          <a:prstGeom prst="rect">
            <a:avLst/>
          </a:prstGeom>
          <a:solidFill>
            <a:srgbClr val="EB002C"/>
          </a:solidFill>
          <a:ln>
            <a:noFill/>
          </a:ln>
        </p:spPr>
        <p:txBody>
          <a:bodyPr rtlCol="0" anchor="ctr" lIns="30000" rIns="30000" tIns="0" bIns="0" wrap="square"/>
          <a:lstStyle/>
          <a:p>
            <a:pPr algn="ctr"/>
          </a:p>
        </p:txBody>
      </p:sp>
      <p:sp>
        <p:nvSpPr>
          <p:cNvPr id="259" name="TextBox 258"/>
          <p:cNvSpPr txBox="1"/>
          <p:nvPr/>
        </p:nvSpPr>
        <p:spPr>
          <a:xfrm>
            <a:off x="397000" y="4600000"/>
            <a:ext cx="8000000" cy="22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1" i="0">
                <a:solidFill>
                  <a:srgbClr val="1A1A1A"/>
                </a:solidFill>
                <a:latin typeface="Noto Sans KR"/>
                <a:ea typeface="Noto Sans KR"/>
                <a:cs typeface="Noto Sans KR"/>
              </a:rPr>
              <a:t>② 정제기 2대 시간차 운전 개념</a:t>
            </a:r>
            <a:r>
              <a:rPr sz="700" b="0" i="0">
                <a:solidFill>
                  <a:srgbClr val="7F7F7F"/>
                </a:solidFill>
                <a:latin typeface="Noto Sans KR"/>
                <a:ea typeface="Noto Sans KR"/>
                <a:cs typeface="Noto Sans KR"/>
              </a:rPr>
              <a:t>   운영 개념 설명용 가정: 기동 시차 30 h · 설비별 간격 70.5 h (47.2톤 역산 참고) — 미확정</a:t>
            </a:r>
          </a:p>
        </p:txBody>
      </p:sp>
      <p:sp>
        <p:nvSpPr>
          <p:cNvPr id="454" name="Rectangle 453"/>
          <p:cNvSpPr/>
          <p:nvPr/>
        </p:nvSpPr>
        <p:spPr>
          <a:xfrm>
            <a:off x="287000" y="5735000"/>
            <a:ext cx="2090000" cy="420000"/>
          </a:xfrm>
          <a:prstGeom prst="rect">
            <a:avLst/>
          </a:prstGeom>
          <a:solidFill>
            <a:srgbClr val="FDEDF0"/>
          </a:solidFill>
          <a:ln w="12700">
            <a:solidFill>
              <a:srgbClr val="EB002C"/>
            </a:solidFill>
          </a:ln>
        </p:spPr>
        <p:txBody>
          <a:bodyPr rtlCol="0" anchor="ctr" lIns="30000" rIns="30000" tIns="0" bIns="0" wrap="square"/>
          <a:lstStyle/>
          <a:p>
            <a:pPr algn="ctr"/>
          </a:p>
        </p:txBody>
      </p:sp>
      <p:sp>
        <p:nvSpPr>
          <p:cNvPr id="455" name="TextBox 454"/>
          <p:cNvSpPr txBox="1"/>
          <p:nvPr/>
        </p:nvSpPr>
        <p:spPr>
          <a:xfrm>
            <a:off x="327000" y="5755000"/>
            <a:ext cx="2010000" cy="400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650" b="1" i="0">
                <a:solidFill>
                  <a:srgbClr val="1A1A1A"/>
                </a:solidFill>
                <a:latin typeface="Noto Sans KR"/>
                <a:ea typeface="Noto Sans KR"/>
                <a:cs typeface="Noto Sans KR"/>
              </a:rPr>
              <a:t>Capa. (연간 환산)</a:t>
            </a:r>
          </a:p>
          <a:p>
            <a:pPr algn="ctr">
              <a:spcAft>
                <a:spcPts val="0"/>
              </a:spcAft>
            </a:pPr>
            <a:r>
              <a:rPr sz="800" b="1" i="0">
                <a:solidFill>
                  <a:srgbClr val="EB002C"/>
                </a:solidFill>
                <a:latin typeface="Noto Sans KR"/>
                <a:ea typeface="Noto Sans KR"/>
                <a:cs typeface="Noto Sans KR"/>
              </a:rPr>
              <a:t>26.2 → 47.2톤/년</a:t>
            </a:r>
          </a:p>
          <a:p>
            <a:pPr algn="ctr">
              <a:spcAft>
                <a:spcPts val="0"/>
              </a:spcAft>
            </a:pPr>
            <a:r>
              <a:rPr sz="580" b="0" i="0">
                <a:solidFill>
                  <a:srgbClr val="7F7F7F"/>
                </a:solidFill>
                <a:latin typeface="Noto Sans KR"/>
                <a:ea typeface="Noto Sans KR"/>
                <a:cs typeface="Noto Sans KR"/>
              </a:rPr>
              <a:t>'27.7~'28.6 12개월 · 2027 실제 생산량 아님</a:t>
            </a:r>
          </a:p>
        </p:txBody>
      </p:sp>
      <p:sp>
        <p:nvSpPr>
          <p:cNvPr id="456" name="Rectangle 455"/>
          <p:cNvSpPr/>
          <p:nvPr/>
        </p:nvSpPr>
        <p:spPr>
          <a:xfrm>
            <a:off x="2447000" y="5735000"/>
            <a:ext cx="2090000" cy="42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7F7F7F"/>
            </a:solidFill>
            <a:prstDash val="dash"/>
          </a:ln>
        </p:spPr>
        <p:txBody>
          <a:bodyPr rtlCol="0" anchor="ctr" lIns="30000" rIns="30000" tIns="0" bIns="0" wrap="square"/>
          <a:lstStyle/>
          <a:p>
            <a:pPr algn="ctr"/>
          </a:p>
        </p:txBody>
      </p:sp>
      <p:sp>
        <p:nvSpPr>
          <p:cNvPr id="457" name="TextBox 456"/>
          <p:cNvSpPr txBox="1"/>
          <p:nvPr/>
        </p:nvSpPr>
        <p:spPr>
          <a:xfrm>
            <a:off x="2487000" y="5755000"/>
            <a:ext cx="2010000" cy="400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650" b="1" i="0">
                <a:solidFill>
                  <a:srgbClr val="1A1A1A"/>
                </a:solidFill>
                <a:latin typeface="Noto Sans KR"/>
                <a:ea typeface="Noto Sans KR"/>
                <a:cs typeface="Noto Sans KR"/>
              </a:rPr>
              <a:t>단순 2배 vs 개선 환산</a:t>
            </a:r>
          </a:p>
          <a:p>
            <a:pPr algn="ctr">
              <a:spcAft>
                <a:spcPts val="0"/>
              </a:spcAft>
            </a:pPr>
            <a:r>
              <a:rPr sz="1000" b="1" i="0">
                <a:solidFill>
                  <a:srgbClr val="3F3F3F"/>
                </a:solidFill>
                <a:latin typeface="Noto Sans KR"/>
                <a:ea typeface="Noto Sans KR"/>
                <a:cs typeface="Noto Sans KR"/>
              </a:rPr>
              <a:t>52.4 vs 47.2톤</a:t>
            </a:r>
          </a:p>
          <a:p>
            <a:pPr algn="ctr">
              <a:spcAft>
                <a:spcPts val="0"/>
              </a:spcAft>
            </a:pPr>
            <a:r>
              <a:rPr sz="580" b="0" i="0">
                <a:solidFill>
                  <a:srgbClr val="7F7F7F"/>
                </a:solidFill>
                <a:latin typeface="Noto Sans KR"/>
                <a:ea typeface="Noto Sans KR"/>
                <a:cs typeface="Noto Sans KR"/>
              </a:rPr>
              <a:t>차이 5.2톤 = Mix·리사이클 준비 등 (확정 손실 아님)</a:t>
            </a:r>
          </a:p>
        </p:txBody>
      </p:sp>
      <p:sp>
        <p:nvSpPr>
          <p:cNvPr id="458" name="Rectangle 457"/>
          <p:cNvSpPr/>
          <p:nvPr/>
        </p:nvSpPr>
        <p:spPr>
          <a:xfrm>
            <a:off x="4607000" y="5735000"/>
            <a:ext cx="2090000" cy="420000"/>
          </a:xfrm>
          <a:prstGeom prst="rect">
            <a:avLst/>
          </a:prstGeom>
          <a:solidFill>
            <a:srgbClr val="FDEDF0"/>
          </a:solidFill>
          <a:ln w="12700">
            <a:solidFill>
              <a:srgbClr val="EB002C"/>
            </a:solidFill>
          </a:ln>
        </p:spPr>
        <p:txBody>
          <a:bodyPr rtlCol="0" anchor="ctr" lIns="30000" rIns="30000" tIns="0" bIns="0" wrap="square"/>
          <a:lstStyle/>
          <a:p>
            <a:pPr algn="ctr"/>
          </a:p>
        </p:txBody>
      </p:sp>
      <p:sp>
        <p:nvSpPr>
          <p:cNvPr id="459" name="TextBox 458"/>
          <p:cNvSpPr txBox="1"/>
          <p:nvPr/>
        </p:nvSpPr>
        <p:spPr>
          <a:xfrm>
            <a:off x="4647000" y="5755000"/>
            <a:ext cx="2010000" cy="400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650" b="1" i="0">
                <a:solidFill>
                  <a:srgbClr val="1A1A1A"/>
                </a:solidFill>
                <a:latin typeface="Noto Sans KR"/>
                <a:ea typeface="Noto Sans KR"/>
                <a:cs typeface="Noto Sans KR"/>
              </a:rPr>
              <a:t>설비별 등가 투입 간격</a:t>
            </a:r>
          </a:p>
          <a:p>
            <a:pPr algn="ctr">
              <a:spcAft>
                <a:spcPts val="0"/>
              </a:spcAft>
            </a:pPr>
            <a:r>
              <a:rPr sz="900" b="1" i="0">
                <a:solidFill>
                  <a:srgbClr val="EB002C"/>
                </a:solidFill>
                <a:latin typeface="Noto Sans KR"/>
                <a:ea typeface="Noto Sans KR"/>
                <a:cs typeface="Noto Sans KR"/>
              </a:rPr>
              <a:t>약 70.5 h (2대)</a:t>
            </a:r>
          </a:p>
          <a:p>
            <a:pPr algn="ctr">
              <a:spcAft>
                <a:spcPts val="0"/>
              </a:spcAft>
            </a:pPr>
            <a:r>
              <a:rPr sz="580" b="0" i="0">
                <a:solidFill>
                  <a:srgbClr val="7F7F7F"/>
                </a:solidFill>
                <a:latin typeface="Noto Sans KR"/>
                <a:ea typeface="Noto Sans KR"/>
                <a:cs typeface="Noto Sans KR"/>
              </a:rPr>
              <a:t>47.2톤÷190 역산 · 현재 1대 63.5 h · 45 h 단축 아님</a:t>
            </a:r>
          </a:p>
        </p:txBody>
      </p:sp>
      <p:sp>
        <p:nvSpPr>
          <p:cNvPr id="460" name="Rectangle 459"/>
          <p:cNvSpPr/>
          <p:nvPr/>
        </p:nvSpPr>
        <p:spPr>
          <a:xfrm>
            <a:off x="6767000" y="5735000"/>
            <a:ext cx="2090000" cy="420000"/>
          </a:xfrm>
          <a:prstGeom prst="rect">
            <a:avLst/>
          </a:prstGeom>
          <a:solidFill>
            <a:srgbClr val="FBE5D6"/>
          </a:solidFill>
          <a:ln w="12700">
            <a:solidFill>
              <a:srgbClr val="ED7D31"/>
            </a:solidFill>
            <a:prstDash val="dash"/>
          </a:ln>
        </p:spPr>
        <p:txBody>
          <a:bodyPr rtlCol="0" anchor="ctr" lIns="30000" rIns="30000" tIns="0" bIns="0" wrap="square"/>
          <a:lstStyle/>
          <a:p>
            <a:pPr algn="ctr"/>
          </a:p>
        </p:txBody>
      </p:sp>
      <p:sp>
        <p:nvSpPr>
          <p:cNvPr id="461" name="TextBox 460"/>
          <p:cNvSpPr txBox="1"/>
          <p:nvPr/>
        </p:nvSpPr>
        <p:spPr>
          <a:xfrm>
            <a:off x="6807000" y="5755000"/>
            <a:ext cx="2010000" cy="400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650" b="1" i="0">
                <a:solidFill>
                  <a:srgbClr val="1A1A1A"/>
                </a:solidFill>
                <a:latin typeface="Noto Sans KR"/>
                <a:ea typeface="Noto Sans KR"/>
                <a:cs typeface="Noto Sans KR"/>
              </a:rPr>
              <a:t>105℃ 검토안</a:t>
            </a:r>
          </a:p>
          <a:p>
            <a:pPr algn="ctr">
              <a:spcAft>
                <a:spcPts val="0"/>
              </a:spcAft>
            </a:pPr>
            <a:r>
              <a:rPr sz="900" b="1" i="0">
                <a:solidFill>
                  <a:srgbClr val="ED7D31"/>
                </a:solidFill>
                <a:latin typeface="Noto Sans KR"/>
                <a:ea typeface="Noto Sans KR"/>
                <a:cs typeface="Noto Sans KR"/>
              </a:rPr>
              <a:t>50.2톤 (미확정)</a:t>
            </a:r>
          </a:p>
          <a:p>
            <a:pPr algn="ctr">
              <a:spcAft>
                <a:spcPts val="0"/>
              </a:spcAft>
            </a:pPr>
            <a:r>
              <a:rPr sz="580" b="0" i="0">
                <a:solidFill>
                  <a:srgbClr val="7F7F7F"/>
                </a:solidFill>
                <a:latin typeface="Noto Sans KR"/>
                <a:ea typeface="Noto Sans KR"/>
                <a:cs typeface="Noto Sans KR"/>
              </a:rPr>
              <a:t>+3톤 · 열 안정성·Dimer·Unknown·Yield · 승인·시점 미정</a:t>
            </a:r>
          </a:p>
        </p:txBody>
      </p:sp>
      <p:sp>
        <p:nvSpPr>
          <p:cNvPr id="462" name="Round Same Side Corner Rectangle 178"/>
          <p:cNvSpPr/>
          <p:nvPr/>
        </p:nvSpPr>
        <p:spPr>
          <a:xfrm rot="10800000">
            <a:off x="3822896" y="1195000"/>
            <a:ext cx="380000" cy="355000"/>
          </a:xfrm>
          <a:prstGeom prst="round2SameRect">
            <a:avLst>
              <a:gd name="adj1" fmla="val 0"/>
              <a:gd name="adj2" fmla="val 50000"/>
            </a:avLst>
          </a:prstGeom>
          <a:solidFill>
            <a:srgbClr val="A6A6A6"/>
          </a:solidFill>
          <a:ln w="15875">
            <a:solidFill>
              <a:srgbClr val="595959"/>
            </a:solidFill>
          </a:ln>
        </p:spPr>
        <p:txBody>
          <a:bodyPr rtlCol="0" anchor="ctr" lIns="30000" rIns="30000" tIns="0" bIns="0" wrap="square"/>
          <a:lstStyle/>
          <a:p>
            <a:pPr algn="ctr"/>
          </a:p>
        </p:txBody>
      </p:sp>
      <p:sp>
        <p:nvSpPr>
          <p:cNvPr id="463" name="Rectangle 177"/>
          <p:cNvSpPr/>
          <p:nvPr/>
        </p:nvSpPr>
        <p:spPr>
          <a:xfrm>
            <a:off x="3962896" y="1065000"/>
            <a:ext cx="100000" cy="140000"/>
          </a:xfrm>
          <a:prstGeom prst="rect">
            <a:avLst/>
          </a:prstGeom>
          <a:solidFill>
            <a:srgbClr val="BFBFBF"/>
          </a:solidFill>
          <a:ln w="12700">
            <a:solidFill>
              <a:srgbClr val="7F7F7F"/>
            </a:solidFill>
          </a:ln>
        </p:spPr>
        <p:txBody>
          <a:bodyPr rtlCol="0" anchor="ctr" lIns="30000" rIns="30000" tIns="0" bIns="0" wrap="square"/>
          <a:lstStyle/>
          <a:p>
            <a:pPr algn="ctr"/>
          </a:p>
        </p:txBody>
      </p:sp>
      <p:sp>
        <p:nvSpPr>
          <p:cNvPr id="464" name="TextBox 179"/>
          <p:cNvSpPr txBox="1"/>
          <p:nvPr/>
        </p:nvSpPr>
        <p:spPr>
          <a:xfrm>
            <a:off x="3822896" y="1260000"/>
            <a:ext cx="380000" cy="200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550" b="1" i="0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정제기2</a:t>
            </a:r>
          </a:p>
        </p:txBody>
      </p:sp>
      <p:sp>
        <p:nvSpPr>
          <p:cNvPr id="465" name="TextBox 464"/>
          <p:cNvSpPr txBox="1"/>
          <p:nvPr/>
        </p:nvSpPr>
        <p:spPr>
          <a:xfrm>
            <a:off x="3593592" y="1280160"/>
            <a:ext cx="274320" cy="12801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550" b="1">
                <a:solidFill>
                  <a:srgbClr val="C00000"/>
                </a:solidFill>
                <a:latin typeface="Noto Sans KR"/>
                <a:ea typeface="Noto Sans KR"/>
                <a:cs typeface="Noto Sans KR"/>
              </a:rPr>
              <a:t>시차</a:t>
            </a:r>
          </a:p>
        </p:txBody>
      </p:sp>
      <p:sp>
        <p:nvSpPr>
          <p:cNvPr id="466" name="TextBox 465"/>
          <p:cNvSpPr txBox="1"/>
          <p:nvPr/>
        </p:nvSpPr>
        <p:spPr>
          <a:xfrm>
            <a:off x="1005840" y="4809744"/>
            <a:ext cx="329184" cy="1005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530" b="0">
                <a:solidFill>
                  <a:srgbClr val="7F7F7F"/>
                </a:solidFill>
                <a:latin typeface="Noto Sans KR"/>
                <a:ea typeface="Noto Sans KR"/>
                <a:cs typeface="Noto Sans KR"/>
              </a:rPr>
              <a:t>0</a:t>
            </a:r>
          </a:p>
        </p:txBody>
      </p:sp>
      <p:sp>
        <p:nvSpPr>
          <p:cNvPr id="467" name="Rectangle 466"/>
          <p:cNvSpPr/>
          <p:nvPr/>
        </p:nvSpPr>
        <p:spPr>
          <a:xfrm>
            <a:off x="1170432" y="4919472"/>
            <a:ext cx="9144" cy="768096"/>
          </a:xfrm>
          <a:prstGeom prst="rect">
            <a:avLst/>
          </a:prstGeom>
          <a:solidFill>
            <a:srgbClr val="E7E6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9144" rIns="9144" tIns="0" bIns="0" wrap="none"/>
          <a:lstStyle/>
          <a:p>
            <a:pPr algn="ctr"/>
          </a:p>
        </p:txBody>
      </p:sp>
      <p:sp>
        <p:nvSpPr>
          <p:cNvPr id="468" name="TextBox 467"/>
          <p:cNvSpPr txBox="1"/>
          <p:nvPr/>
        </p:nvSpPr>
        <p:spPr>
          <a:xfrm>
            <a:off x="1860295" y="4809744"/>
            <a:ext cx="329184" cy="1005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530" b="0">
                <a:solidFill>
                  <a:srgbClr val="7F7F7F"/>
                </a:solidFill>
                <a:latin typeface="Noto Sans KR"/>
                <a:ea typeface="Noto Sans KR"/>
                <a:cs typeface="Noto Sans KR"/>
              </a:rPr>
              <a:t>24</a:t>
            </a:r>
          </a:p>
        </p:txBody>
      </p:sp>
      <p:sp>
        <p:nvSpPr>
          <p:cNvPr id="469" name="Rectangle 468"/>
          <p:cNvSpPr/>
          <p:nvPr/>
        </p:nvSpPr>
        <p:spPr>
          <a:xfrm>
            <a:off x="2024887" y="4919472"/>
            <a:ext cx="9144" cy="768096"/>
          </a:xfrm>
          <a:prstGeom prst="rect">
            <a:avLst/>
          </a:prstGeom>
          <a:solidFill>
            <a:srgbClr val="E7E6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9144" rIns="9144" tIns="0" bIns="0" wrap="none"/>
          <a:lstStyle/>
          <a:p>
            <a:pPr algn="ctr"/>
          </a:p>
        </p:txBody>
      </p:sp>
      <p:sp>
        <p:nvSpPr>
          <p:cNvPr id="470" name="TextBox 469"/>
          <p:cNvSpPr txBox="1"/>
          <p:nvPr/>
        </p:nvSpPr>
        <p:spPr>
          <a:xfrm>
            <a:off x="2714752" y="4809744"/>
            <a:ext cx="329184" cy="1005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530" b="0">
                <a:solidFill>
                  <a:srgbClr val="7F7F7F"/>
                </a:solidFill>
                <a:latin typeface="Noto Sans KR"/>
                <a:ea typeface="Noto Sans KR"/>
                <a:cs typeface="Noto Sans KR"/>
              </a:rPr>
              <a:t>48</a:t>
            </a:r>
          </a:p>
        </p:txBody>
      </p:sp>
      <p:sp>
        <p:nvSpPr>
          <p:cNvPr id="471" name="Rectangle 470"/>
          <p:cNvSpPr/>
          <p:nvPr/>
        </p:nvSpPr>
        <p:spPr>
          <a:xfrm>
            <a:off x="2879344" y="4919472"/>
            <a:ext cx="9144" cy="768096"/>
          </a:xfrm>
          <a:prstGeom prst="rect">
            <a:avLst/>
          </a:prstGeom>
          <a:solidFill>
            <a:srgbClr val="E7E6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9144" rIns="9144" tIns="0" bIns="0" wrap="none"/>
          <a:lstStyle/>
          <a:p>
            <a:pPr algn="ctr"/>
          </a:p>
        </p:txBody>
      </p:sp>
      <p:sp>
        <p:nvSpPr>
          <p:cNvPr id="472" name="TextBox 471"/>
          <p:cNvSpPr txBox="1"/>
          <p:nvPr/>
        </p:nvSpPr>
        <p:spPr>
          <a:xfrm>
            <a:off x="3569207" y="4809744"/>
            <a:ext cx="329184" cy="1005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530" b="0">
                <a:solidFill>
                  <a:srgbClr val="7F7F7F"/>
                </a:solidFill>
                <a:latin typeface="Noto Sans KR"/>
                <a:ea typeface="Noto Sans KR"/>
                <a:cs typeface="Noto Sans KR"/>
              </a:rPr>
              <a:t>72</a:t>
            </a:r>
          </a:p>
        </p:txBody>
      </p:sp>
      <p:sp>
        <p:nvSpPr>
          <p:cNvPr id="473" name="Rectangle 472"/>
          <p:cNvSpPr/>
          <p:nvPr/>
        </p:nvSpPr>
        <p:spPr>
          <a:xfrm>
            <a:off x="3733799" y="4919472"/>
            <a:ext cx="9144" cy="768096"/>
          </a:xfrm>
          <a:prstGeom prst="rect">
            <a:avLst/>
          </a:prstGeom>
          <a:solidFill>
            <a:srgbClr val="E7E6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9144" rIns="9144" tIns="0" bIns="0" wrap="none"/>
          <a:lstStyle/>
          <a:p>
            <a:pPr algn="ctr"/>
          </a:p>
        </p:txBody>
      </p:sp>
      <p:sp>
        <p:nvSpPr>
          <p:cNvPr id="474" name="TextBox 473"/>
          <p:cNvSpPr txBox="1"/>
          <p:nvPr/>
        </p:nvSpPr>
        <p:spPr>
          <a:xfrm>
            <a:off x="4423664" y="4809744"/>
            <a:ext cx="329184" cy="1005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530" b="0">
                <a:solidFill>
                  <a:srgbClr val="7F7F7F"/>
                </a:solidFill>
                <a:latin typeface="Noto Sans KR"/>
                <a:ea typeface="Noto Sans KR"/>
                <a:cs typeface="Noto Sans KR"/>
              </a:rPr>
              <a:t>96</a:t>
            </a:r>
          </a:p>
        </p:txBody>
      </p:sp>
      <p:sp>
        <p:nvSpPr>
          <p:cNvPr id="475" name="Rectangle 474"/>
          <p:cNvSpPr/>
          <p:nvPr/>
        </p:nvSpPr>
        <p:spPr>
          <a:xfrm>
            <a:off x="4588256" y="4919472"/>
            <a:ext cx="9144" cy="768096"/>
          </a:xfrm>
          <a:prstGeom prst="rect">
            <a:avLst/>
          </a:prstGeom>
          <a:solidFill>
            <a:srgbClr val="E7E6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9144" rIns="9144" tIns="0" bIns="0" wrap="none"/>
          <a:lstStyle/>
          <a:p>
            <a:pPr algn="ctr"/>
          </a:p>
        </p:txBody>
      </p:sp>
      <p:sp>
        <p:nvSpPr>
          <p:cNvPr id="476" name="TextBox 475"/>
          <p:cNvSpPr txBox="1"/>
          <p:nvPr/>
        </p:nvSpPr>
        <p:spPr>
          <a:xfrm>
            <a:off x="5278120" y="4809744"/>
            <a:ext cx="329184" cy="1005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530" b="0">
                <a:solidFill>
                  <a:srgbClr val="7F7F7F"/>
                </a:solidFill>
                <a:latin typeface="Noto Sans KR"/>
                <a:ea typeface="Noto Sans KR"/>
                <a:cs typeface="Noto Sans KR"/>
              </a:rPr>
              <a:t>120</a:t>
            </a:r>
          </a:p>
        </p:txBody>
      </p:sp>
      <p:sp>
        <p:nvSpPr>
          <p:cNvPr id="477" name="Rectangle 476"/>
          <p:cNvSpPr/>
          <p:nvPr/>
        </p:nvSpPr>
        <p:spPr>
          <a:xfrm>
            <a:off x="5442712" y="4919472"/>
            <a:ext cx="9144" cy="768096"/>
          </a:xfrm>
          <a:prstGeom prst="rect">
            <a:avLst/>
          </a:prstGeom>
          <a:solidFill>
            <a:srgbClr val="E7E6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9144" rIns="9144" tIns="0" bIns="0" wrap="none"/>
          <a:lstStyle/>
          <a:p>
            <a:pPr algn="ctr"/>
          </a:p>
        </p:txBody>
      </p:sp>
      <p:sp>
        <p:nvSpPr>
          <p:cNvPr id="478" name="TextBox 477"/>
          <p:cNvSpPr txBox="1"/>
          <p:nvPr/>
        </p:nvSpPr>
        <p:spPr>
          <a:xfrm>
            <a:off x="6132576" y="4809744"/>
            <a:ext cx="329184" cy="1005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530" b="0">
                <a:solidFill>
                  <a:srgbClr val="7F7F7F"/>
                </a:solidFill>
                <a:latin typeface="Noto Sans KR"/>
                <a:ea typeface="Noto Sans KR"/>
                <a:cs typeface="Noto Sans KR"/>
              </a:rPr>
              <a:t>144</a:t>
            </a:r>
          </a:p>
        </p:txBody>
      </p:sp>
      <p:sp>
        <p:nvSpPr>
          <p:cNvPr id="479" name="Rectangle 478"/>
          <p:cNvSpPr/>
          <p:nvPr/>
        </p:nvSpPr>
        <p:spPr>
          <a:xfrm>
            <a:off x="6297168" y="4919472"/>
            <a:ext cx="9144" cy="768096"/>
          </a:xfrm>
          <a:prstGeom prst="rect">
            <a:avLst/>
          </a:prstGeom>
          <a:solidFill>
            <a:srgbClr val="E7E6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9144" rIns="9144" tIns="0" bIns="0" wrap="none"/>
          <a:lstStyle/>
          <a:p>
            <a:pPr algn="ctr"/>
          </a:p>
        </p:txBody>
      </p:sp>
      <p:sp>
        <p:nvSpPr>
          <p:cNvPr id="480" name="TextBox 479"/>
          <p:cNvSpPr txBox="1"/>
          <p:nvPr/>
        </p:nvSpPr>
        <p:spPr>
          <a:xfrm>
            <a:off x="6987032" y="4809744"/>
            <a:ext cx="329184" cy="1005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530" b="0">
                <a:solidFill>
                  <a:srgbClr val="7F7F7F"/>
                </a:solidFill>
                <a:latin typeface="Noto Sans KR"/>
                <a:ea typeface="Noto Sans KR"/>
                <a:cs typeface="Noto Sans KR"/>
              </a:rPr>
              <a:t>168</a:t>
            </a:r>
          </a:p>
        </p:txBody>
      </p:sp>
      <p:sp>
        <p:nvSpPr>
          <p:cNvPr id="481" name="Rectangle 480"/>
          <p:cNvSpPr/>
          <p:nvPr/>
        </p:nvSpPr>
        <p:spPr>
          <a:xfrm>
            <a:off x="7151624" y="4919472"/>
            <a:ext cx="9144" cy="768096"/>
          </a:xfrm>
          <a:prstGeom prst="rect">
            <a:avLst/>
          </a:prstGeom>
          <a:solidFill>
            <a:srgbClr val="E7E6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9144" rIns="9144" tIns="0" bIns="0" wrap="none"/>
          <a:lstStyle/>
          <a:p>
            <a:pPr algn="ctr"/>
          </a:p>
        </p:txBody>
      </p:sp>
      <p:sp>
        <p:nvSpPr>
          <p:cNvPr id="482" name="TextBox 481"/>
          <p:cNvSpPr txBox="1"/>
          <p:nvPr/>
        </p:nvSpPr>
        <p:spPr>
          <a:xfrm>
            <a:off x="7841487" y="4809744"/>
            <a:ext cx="329184" cy="1005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530" b="0">
                <a:solidFill>
                  <a:srgbClr val="7F7F7F"/>
                </a:solidFill>
                <a:latin typeface="Noto Sans KR"/>
                <a:ea typeface="Noto Sans KR"/>
                <a:cs typeface="Noto Sans KR"/>
              </a:rPr>
              <a:t>192</a:t>
            </a:r>
          </a:p>
        </p:txBody>
      </p:sp>
      <p:sp>
        <p:nvSpPr>
          <p:cNvPr id="483" name="Rectangle 482"/>
          <p:cNvSpPr/>
          <p:nvPr/>
        </p:nvSpPr>
        <p:spPr>
          <a:xfrm>
            <a:off x="8006079" y="4919472"/>
            <a:ext cx="9144" cy="768096"/>
          </a:xfrm>
          <a:prstGeom prst="rect">
            <a:avLst/>
          </a:prstGeom>
          <a:solidFill>
            <a:srgbClr val="E7E6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9144" rIns="9144" tIns="0" bIns="0" wrap="none"/>
          <a:lstStyle/>
          <a:p>
            <a:pPr algn="ctr"/>
          </a:p>
        </p:txBody>
      </p:sp>
      <p:sp>
        <p:nvSpPr>
          <p:cNvPr id="484" name="TextBox 483"/>
          <p:cNvSpPr txBox="1"/>
          <p:nvPr/>
        </p:nvSpPr>
        <p:spPr>
          <a:xfrm>
            <a:off x="8695944" y="4809744"/>
            <a:ext cx="329184" cy="1005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530" b="0">
                <a:solidFill>
                  <a:srgbClr val="7F7F7F"/>
                </a:solidFill>
                <a:latin typeface="Noto Sans KR"/>
                <a:ea typeface="Noto Sans KR"/>
                <a:cs typeface="Noto Sans KR"/>
              </a:rPr>
              <a:t>216 h</a:t>
            </a:r>
          </a:p>
        </p:txBody>
      </p:sp>
      <p:sp>
        <p:nvSpPr>
          <p:cNvPr id="485" name="Rectangle 484"/>
          <p:cNvSpPr/>
          <p:nvPr/>
        </p:nvSpPr>
        <p:spPr>
          <a:xfrm>
            <a:off x="8860536" y="4919472"/>
            <a:ext cx="9144" cy="768096"/>
          </a:xfrm>
          <a:prstGeom prst="rect">
            <a:avLst/>
          </a:prstGeom>
          <a:solidFill>
            <a:srgbClr val="E7E6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9144" rIns="9144" tIns="0" bIns="0" wrap="none"/>
          <a:lstStyle/>
          <a:p>
            <a:pPr algn="ctr"/>
          </a:p>
        </p:txBody>
      </p:sp>
      <p:sp>
        <p:nvSpPr>
          <p:cNvPr id="486" name="TextBox 485"/>
          <p:cNvSpPr txBox="1"/>
          <p:nvPr/>
        </p:nvSpPr>
        <p:spPr>
          <a:xfrm>
            <a:off x="283464" y="4956048"/>
            <a:ext cx="868680" cy="1463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630" b="1">
                <a:solidFill>
                  <a:srgbClr val="1A1A1A"/>
                </a:solidFill>
                <a:latin typeface="Noto Sans KR"/>
                <a:ea typeface="Noto Sans KR"/>
                <a:cs typeface="Noto Sans KR"/>
              </a:rPr>
              <a:t>정제기 1</a:t>
            </a:r>
          </a:p>
        </p:txBody>
      </p:sp>
      <p:sp>
        <p:nvSpPr>
          <p:cNvPr id="487" name="TextBox 486"/>
          <p:cNvSpPr txBox="1"/>
          <p:nvPr/>
        </p:nvSpPr>
        <p:spPr>
          <a:xfrm>
            <a:off x="283464" y="5148072"/>
            <a:ext cx="868680" cy="1463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630" b="1">
                <a:solidFill>
                  <a:srgbClr val="1A1A1A"/>
                </a:solidFill>
                <a:latin typeface="Noto Sans KR"/>
                <a:ea typeface="Noto Sans KR"/>
                <a:cs typeface="Noto Sans KR"/>
              </a:rPr>
              <a:t>정제기 2</a:t>
            </a:r>
          </a:p>
        </p:txBody>
      </p:sp>
      <p:sp>
        <p:nvSpPr>
          <p:cNvPr id="488" name="TextBox 487"/>
          <p:cNvSpPr txBox="1"/>
          <p:nvPr/>
        </p:nvSpPr>
        <p:spPr>
          <a:xfrm>
            <a:off x="283464" y="5340096"/>
            <a:ext cx="868680" cy="1463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630" b="1">
                <a:solidFill>
                  <a:srgbClr val="1A1A1A"/>
                </a:solidFill>
                <a:latin typeface="Noto Sans KR"/>
                <a:ea typeface="Noto Sans KR"/>
                <a:cs typeface="Noto Sans KR"/>
              </a:rPr>
              <a:t>PQC·이송·FQC</a:t>
            </a:r>
          </a:p>
        </p:txBody>
      </p:sp>
      <p:sp>
        <p:nvSpPr>
          <p:cNvPr id="489" name="TextBox 488"/>
          <p:cNvSpPr txBox="1"/>
          <p:nvPr/>
        </p:nvSpPr>
        <p:spPr>
          <a:xfrm>
            <a:off x="283464" y="5532120"/>
            <a:ext cx="868680" cy="1463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630" b="1">
                <a:solidFill>
                  <a:srgbClr val="1A1A1A"/>
                </a:solidFill>
                <a:latin typeface="Noto Sans KR"/>
                <a:ea typeface="Noto Sans KR"/>
                <a:cs typeface="Noto Sans KR"/>
              </a:rPr>
              <a:t>5 Gal 충진 (공용)</a:t>
            </a:r>
          </a:p>
        </p:txBody>
      </p:sp>
      <p:sp>
        <p:nvSpPr>
          <p:cNvPr id="490" name="Rectangle 489"/>
          <p:cNvSpPr/>
          <p:nvPr/>
        </p:nvSpPr>
        <p:spPr>
          <a:xfrm>
            <a:off x="1241636" y="4937760"/>
            <a:ext cx="71204" cy="155448"/>
          </a:xfrm>
          <a:prstGeom prst="rect">
            <a:avLst/>
          </a:prstGeom>
          <a:solidFill>
            <a:srgbClr val="F4B1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9144" rIns="9144" tIns="0" bIns="0" wrap="none"/>
          <a:lstStyle/>
          <a:p>
            <a:pPr algn="ctr"/>
          </a:p>
        </p:txBody>
      </p:sp>
      <p:sp>
        <p:nvSpPr>
          <p:cNvPr id="491" name="Rectangle 490"/>
          <p:cNvSpPr/>
          <p:nvPr/>
        </p:nvSpPr>
        <p:spPr>
          <a:xfrm>
            <a:off x="1312841" y="4937760"/>
            <a:ext cx="1602105" cy="155448"/>
          </a:xfrm>
          <a:prstGeom prst="rect">
            <a:avLst/>
          </a:prstGeom>
          <a:solidFill>
            <a:srgbClr val="FF7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9144" rIns="9144" tIns="0" bIns="0" wrap="none"/>
          <a:lstStyle/>
          <a:p>
            <a:pPr algn="ctr"/>
            <a:r>
              <a:rPr sz="52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정제기1 B1 정제 45 h</a:t>
            </a:r>
          </a:p>
        </p:txBody>
      </p:sp>
      <p:sp>
        <p:nvSpPr>
          <p:cNvPr id="492" name="Rectangle 491"/>
          <p:cNvSpPr/>
          <p:nvPr/>
        </p:nvSpPr>
        <p:spPr>
          <a:xfrm>
            <a:off x="2914946" y="4937760"/>
            <a:ext cx="836654" cy="155448"/>
          </a:xfrm>
          <a:prstGeom prst="rect">
            <a:avLst/>
          </a:prstGeom>
          <a:noFill/>
          <a:ln w="9525">
            <a:solidFill>
              <a:srgbClr val="BF900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9144" rIns="9144" tIns="0" bIns="0" wrap="none"/>
          <a:lstStyle/>
          <a:p>
            <a:pPr algn="ctr"/>
            <a:r>
              <a:rPr sz="520" b="1">
                <a:solidFill>
                  <a:srgbClr val="7F6000"/>
                </a:solidFill>
                <a:latin typeface="Noto Sans KR"/>
                <a:ea typeface="Noto Sans KR"/>
                <a:cs typeface="Noto Sans KR"/>
              </a:rPr>
              <a:t>기타 (Mix·이송·대기 확인)</a:t>
            </a:r>
          </a:p>
        </p:txBody>
      </p:sp>
      <p:sp>
        <p:nvSpPr>
          <p:cNvPr id="493" name="Rectangle 492"/>
          <p:cNvSpPr/>
          <p:nvPr/>
        </p:nvSpPr>
        <p:spPr>
          <a:xfrm>
            <a:off x="2914946" y="5321808"/>
            <a:ext cx="284818" cy="155448"/>
          </a:xfrm>
          <a:prstGeom prst="rect">
            <a:avLst/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9144" rIns="9144" tIns="0" bIns="0" wrap="none"/>
          <a:lstStyle/>
          <a:p>
            <a:pPr algn="ctr"/>
          </a:p>
        </p:txBody>
      </p:sp>
      <p:sp>
        <p:nvSpPr>
          <p:cNvPr id="494" name="Rectangle 493"/>
          <p:cNvSpPr/>
          <p:nvPr/>
        </p:nvSpPr>
        <p:spPr>
          <a:xfrm>
            <a:off x="3199765" y="5513832"/>
            <a:ext cx="640842" cy="155448"/>
          </a:xfrm>
          <a:prstGeom prst="rect">
            <a:avLst/>
          </a:prstGeom>
          <a:solidFill>
            <a:srgbClr val="5482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9144" rIns="9144" tIns="0" bIns="0" wrap="none"/>
          <a:lstStyle/>
          <a:p>
            <a:pPr algn="ctr"/>
            <a:r>
              <a:rPr sz="52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1-B1 18 h</a:t>
            </a:r>
          </a:p>
        </p:txBody>
      </p:sp>
      <p:sp>
        <p:nvSpPr>
          <p:cNvPr id="495" name="Rectangle 494"/>
          <p:cNvSpPr/>
          <p:nvPr/>
        </p:nvSpPr>
        <p:spPr>
          <a:xfrm>
            <a:off x="3751601" y="4937760"/>
            <a:ext cx="71204" cy="155448"/>
          </a:xfrm>
          <a:prstGeom prst="rect">
            <a:avLst/>
          </a:prstGeom>
          <a:solidFill>
            <a:srgbClr val="F4B1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9144" rIns="9144" tIns="0" bIns="0" wrap="none"/>
          <a:lstStyle/>
          <a:p>
            <a:pPr algn="ctr"/>
          </a:p>
        </p:txBody>
      </p:sp>
      <p:sp>
        <p:nvSpPr>
          <p:cNvPr id="496" name="Rectangle 495"/>
          <p:cNvSpPr/>
          <p:nvPr/>
        </p:nvSpPr>
        <p:spPr>
          <a:xfrm>
            <a:off x="3822805" y="4937760"/>
            <a:ext cx="1602105" cy="155448"/>
          </a:xfrm>
          <a:prstGeom prst="rect">
            <a:avLst/>
          </a:prstGeom>
          <a:solidFill>
            <a:srgbClr val="FF7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9144" rIns="9144" tIns="0" bIns="0" wrap="none"/>
          <a:lstStyle/>
          <a:p>
            <a:pPr algn="ctr"/>
            <a:r>
              <a:rPr sz="52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정제기1 B2 정제 45 h</a:t>
            </a:r>
          </a:p>
        </p:txBody>
      </p:sp>
      <p:sp>
        <p:nvSpPr>
          <p:cNvPr id="497" name="Rectangle 496"/>
          <p:cNvSpPr/>
          <p:nvPr/>
        </p:nvSpPr>
        <p:spPr>
          <a:xfrm>
            <a:off x="5424910" y="4937760"/>
            <a:ext cx="836654" cy="155448"/>
          </a:xfrm>
          <a:prstGeom prst="rect">
            <a:avLst/>
          </a:prstGeom>
          <a:noFill/>
          <a:ln w="9525">
            <a:solidFill>
              <a:srgbClr val="BF900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9144" rIns="9144" tIns="0" bIns="0" wrap="none"/>
          <a:lstStyle/>
          <a:p>
            <a:pPr algn="ctr"/>
            <a:r>
              <a:rPr sz="520" b="1">
                <a:solidFill>
                  <a:srgbClr val="7F6000"/>
                </a:solidFill>
                <a:latin typeface="Noto Sans KR"/>
                <a:ea typeface="Noto Sans KR"/>
                <a:cs typeface="Noto Sans KR"/>
              </a:rPr>
              <a:t>기타 (Mix·이송·대기 확인)</a:t>
            </a:r>
          </a:p>
        </p:txBody>
      </p:sp>
      <p:sp>
        <p:nvSpPr>
          <p:cNvPr id="498" name="Rectangle 497"/>
          <p:cNvSpPr/>
          <p:nvPr/>
        </p:nvSpPr>
        <p:spPr>
          <a:xfrm>
            <a:off x="5424910" y="5321808"/>
            <a:ext cx="284818" cy="155448"/>
          </a:xfrm>
          <a:prstGeom prst="rect">
            <a:avLst/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9144" rIns="9144" tIns="0" bIns="0" wrap="none"/>
          <a:lstStyle/>
          <a:p>
            <a:pPr algn="ctr"/>
          </a:p>
        </p:txBody>
      </p:sp>
      <p:sp>
        <p:nvSpPr>
          <p:cNvPr id="499" name="Rectangle 498"/>
          <p:cNvSpPr/>
          <p:nvPr/>
        </p:nvSpPr>
        <p:spPr>
          <a:xfrm>
            <a:off x="5709729" y="5513832"/>
            <a:ext cx="640842" cy="155448"/>
          </a:xfrm>
          <a:prstGeom prst="rect">
            <a:avLst/>
          </a:prstGeom>
          <a:solidFill>
            <a:srgbClr val="5482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9144" rIns="9144" tIns="0" bIns="0" wrap="none"/>
          <a:lstStyle/>
          <a:p>
            <a:pPr algn="ctr"/>
            <a:r>
              <a:rPr sz="52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1-B2 18 h</a:t>
            </a:r>
          </a:p>
        </p:txBody>
      </p:sp>
      <p:sp>
        <p:nvSpPr>
          <p:cNvPr id="500" name="Rectangle 499"/>
          <p:cNvSpPr/>
          <p:nvPr/>
        </p:nvSpPr>
        <p:spPr>
          <a:xfrm>
            <a:off x="6261565" y="4937760"/>
            <a:ext cx="71204" cy="155448"/>
          </a:xfrm>
          <a:prstGeom prst="rect">
            <a:avLst/>
          </a:prstGeom>
          <a:solidFill>
            <a:srgbClr val="F4B1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9144" rIns="9144" tIns="0" bIns="0" wrap="none"/>
          <a:lstStyle/>
          <a:p>
            <a:pPr algn="ctr"/>
          </a:p>
        </p:txBody>
      </p:sp>
      <p:sp>
        <p:nvSpPr>
          <p:cNvPr id="501" name="Rectangle 500"/>
          <p:cNvSpPr/>
          <p:nvPr/>
        </p:nvSpPr>
        <p:spPr>
          <a:xfrm>
            <a:off x="6332770" y="4937760"/>
            <a:ext cx="1602105" cy="155448"/>
          </a:xfrm>
          <a:prstGeom prst="rect">
            <a:avLst/>
          </a:prstGeom>
          <a:solidFill>
            <a:srgbClr val="FF7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9144" rIns="9144" tIns="0" bIns="0" wrap="none"/>
          <a:lstStyle/>
          <a:p>
            <a:pPr algn="ctr"/>
            <a:r>
              <a:rPr sz="52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정제기1 B3 정제 45 h</a:t>
            </a:r>
          </a:p>
        </p:txBody>
      </p:sp>
      <p:sp>
        <p:nvSpPr>
          <p:cNvPr id="502" name="Rectangle 501"/>
          <p:cNvSpPr/>
          <p:nvPr/>
        </p:nvSpPr>
        <p:spPr>
          <a:xfrm>
            <a:off x="7934875" y="4937760"/>
            <a:ext cx="836654" cy="155448"/>
          </a:xfrm>
          <a:prstGeom prst="rect">
            <a:avLst/>
          </a:prstGeom>
          <a:noFill/>
          <a:ln w="9525">
            <a:solidFill>
              <a:srgbClr val="BF900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9144" rIns="9144" tIns="0" bIns="0" wrap="none"/>
          <a:lstStyle/>
          <a:p>
            <a:pPr algn="ctr"/>
            <a:r>
              <a:rPr sz="520" b="1">
                <a:solidFill>
                  <a:srgbClr val="7F6000"/>
                </a:solidFill>
                <a:latin typeface="Noto Sans KR"/>
                <a:ea typeface="Noto Sans KR"/>
                <a:cs typeface="Noto Sans KR"/>
              </a:rPr>
              <a:t>기타 (Mix·이송·대기 확인)</a:t>
            </a:r>
          </a:p>
        </p:txBody>
      </p:sp>
      <p:sp>
        <p:nvSpPr>
          <p:cNvPr id="503" name="Rectangle 502"/>
          <p:cNvSpPr/>
          <p:nvPr/>
        </p:nvSpPr>
        <p:spPr>
          <a:xfrm>
            <a:off x="7934875" y="5321808"/>
            <a:ext cx="284818" cy="155448"/>
          </a:xfrm>
          <a:prstGeom prst="rect">
            <a:avLst/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9144" rIns="9144" tIns="0" bIns="0" wrap="none"/>
          <a:lstStyle/>
          <a:p>
            <a:pPr algn="ctr"/>
          </a:p>
        </p:txBody>
      </p:sp>
      <p:sp>
        <p:nvSpPr>
          <p:cNvPr id="504" name="Rectangle 503"/>
          <p:cNvSpPr/>
          <p:nvPr/>
        </p:nvSpPr>
        <p:spPr>
          <a:xfrm>
            <a:off x="8219693" y="5513832"/>
            <a:ext cx="640842" cy="155448"/>
          </a:xfrm>
          <a:prstGeom prst="rect">
            <a:avLst/>
          </a:prstGeom>
          <a:solidFill>
            <a:srgbClr val="5482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9144" rIns="9144" tIns="0" bIns="0" wrap="none"/>
          <a:lstStyle/>
          <a:p>
            <a:pPr algn="ctr"/>
            <a:r>
              <a:rPr sz="52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1-B3 18 h</a:t>
            </a:r>
          </a:p>
        </p:txBody>
      </p:sp>
      <p:sp>
        <p:nvSpPr>
          <p:cNvPr id="505" name="Rectangle 504"/>
          <p:cNvSpPr/>
          <p:nvPr/>
        </p:nvSpPr>
        <p:spPr>
          <a:xfrm>
            <a:off x="8771530" y="4937760"/>
            <a:ext cx="71204" cy="155448"/>
          </a:xfrm>
          <a:prstGeom prst="rect">
            <a:avLst/>
          </a:prstGeom>
          <a:solidFill>
            <a:srgbClr val="F4B1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9144" rIns="9144" tIns="0" bIns="0" wrap="none"/>
          <a:lstStyle/>
          <a:p>
            <a:pPr algn="ctr"/>
          </a:p>
        </p:txBody>
      </p:sp>
      <p:sp>
        <p:nvSpPr>
          <p:cNvPr id="506" name="Rectangle 505"/>
          <p:cNvSpPr/>
          <p:nvPr/>
        </p:nvSpPr>
        <p:spPr>
          <a:xfrm>
            <a:off x="8842734" y="4937760"/>
            <a:ext cx="17801" cy="155448"/>
          </a:xfrm>
          <a:prstGeom prst="rect">
            <a:avLst/>
          </a:prstGeom>
          <a:solidFill>
            <a:srgbClr val="FF7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9144" rIns="9144" tIns="0" bIns="0" wrap="none"/>
          <a:lstStyle/>
          <a:p>
            <a:pPr algn="ctr"/>
          </a:p>
        </p:txBody>
      </p:sp>
      <p:sp>
        <p:nvSpPr>
          <p:cNvPr id="507" name="Rectangle 506"/>
          <p:cNvSpPr/>
          <p:nvPr/>
        </p:nvSpPr>
        <p:spPr>
          <a:xfrm>
            <a:off x="2309706" y="5129784"/>
            <a:ext cx="71204" cy="155448"/>
          </a:xfrm>
          <a:prstGeom prst="rect">
            <a:avLst/>
          </a:prstGeom>
          <a:solidFill>
            <a:srgbClr val="F4B1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9144" rIns="9144" tIns="0" bIns="0" wrap="none"/>
          <a:lstStyle/>
          <a:p>
            <a:pPr algn="ctr"/>
          </a:p>
        </p:txBody>
      </p:sp>
      <p:sp>
        <p:nvSpPr>
          <p:cNvPr id="508" name="Rectangle 507"/>
          <p:cNvSpPr/>
          <p:nvPr/>
        </p:nvSpPr>
        <p:spPr>
          <a:xfrm>
            <a:off x="2380911" y="5129784"/>
            <a:ext cx="1602105" cy="155448"/>
          </a:xfrm>
          <a:prstGeom prst="rect">
            <a:avLst/>
          </a:prstGeom>
          <a:solidFill>
            <a:srgbClr val="FF7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9144" rIns="9144" tIns="0" bIns="0" wrap="none"/>
          <a:lstStyle/>
          <a:p>
            <a:pPr algn="ctr"/>
            <a:r>
              <a:rPr sz="52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정제기2 B1 정제 45 h</a:t>
            </a:r>
          </a:p>
        </p:txBody>
      </p:sp>
      <p:sp>
        <p:nvSpPr>
          <p:cNvPr id="509" name="Rectangle 508"/>
          <p:cNvSpPr/>
          <p:nvPr/>
        </p:nvSpPr>
        <p:spPr>
          <a:xfrm>
            <a:off x="3983016" y="5129784"/>
            <a:ext cx="836654" cy="155448"/>
          </a:xfrm>
          <a:prstGeom prst="rect">
            <a:avLst/>
          </a:prstGeom>
          <a:noFill/>
          <a:ln w="9525">
            <a:solidFill>
              <a:srgbClr val="BF900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9144" rIns="9144" tIns="0" bIns="0" wrap="none"/>
          <a:lstStyle/>
          <a:p>
            <a:pPr algn="ctr"/>
            <a:r>
              <a:rPr sz="520" b="1">
                <a:solidFill>
                  <a:srgbClr val="7F6000"/>
                </a:solidFill>
                <a:latin typeface="Noto Sans KR"/>
                <a:ea typeface="Noto Sans KR"/>
                <a:cs typeface="Noto Sans KR"/>
              </a:rPr>
              <a:t>기타 (Mix·이송·대기 확인)</a:t>
            </a:r>
          </a:p>
        </p:txBody>
      </p:sp>
      <p:sp>
        <p:nvSpPr>
          <p:cNvPr id="510" name="Rectangle 509"/>
          <p:cNvSpPr/>
          <p:nvPr/>
        </p:nvSpPr>
        <p:spPr>
          <a:xfrm>
            <a:off x="3983016" y="5321808"/>
            <a:ext cx="284818" cy="155448"/>
          </a:xfrm>
          <a:prstGeom prst="rect">
            <a:avLst/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9144" rIns="9144" tIns="0" bIns="0" wrap="none"/>
          <a:lstStyle/>
          <a:p>
            <a:pPr algn="ctr"/>
          </a:p>
        </p:txBody>
      </p:sp>
      <p:sp>
        <p:nvSpPr>
          <p:cNvPr id="511" name="Rectangle 510"/>
          <p:cNvSpPr/>
          <p:nvPr/>
        </p:nvSpPr>
        <p:spPr>
          <a:xfrm>
            <a:off x="4267835" y="5513832"/>
            <a:ext cx="640842" cy="155448"/>
          </a:xfrm>
          <a:prstGeom prst="rect">
            <a:avLst/>
          </a:prstGeom>
          <a:solidFill>
            <a:srgbClr val="5482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9144" rIns="9144" tIns="0" bIns="0" wrap="none"/>
          <a:lstStyle/>
          <a:p>
            <a:pPr algn="ctr"/>
            <a:r>
              <a:rPr sz="52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2-B1 18 h</a:t>
            </a:r>
          </a:p>
        </p:txBody>
      </p:sp>
      <p:sp>
        <p:nvSpPr>
          <p:cNvPr id="512" name="Rectangle 511"/>
          <p:cNvSpPr/>
          <p:nvPr/>
        </p:nvSpPr>
        <p:spPr>
          <a:xfrm>
            <a:off x="4819671" y="5129784"/>
            <a:ext cx="71204" cy="155448"/>
          </a:xfrm>
          <a:prstGeom prst="rect">
            <a:avLst/>
          </a:prstGeom>
          <a:solidFill>
            <a:srgbClr val="F4B1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9144" rIns="9144" tIns="0" bIns="0" wrap="none"/>
          <a:lstStyle/>
          <a:p>
            <a:pPr algn="ctr"/>
          </a:p>
        </p:txBody>
      </p:sp>
      <p:sp>
        <p:nvSpPr>
          <p:cNvPr id="513" name="Rectangle 512"/>
          <p:cNvSpPr/>
          <p:nvPr/>
        </p:nvSpPr>
        <p:spPr>
          <a:xfrm>
            <a:off x="4890875" y="5129784"/>
            <a:ext cx="1602105" cy="155448"/>
          </a:xfrm>
          <a:prstGeom prst="rect">
            <a:avLst/>
          </a:prstGeom>
          <a:solidFill>
            <a:srgbClr val="FF7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9144" rIns="9144" tIns="0" bIns="0" wrap="none"/>
          <a:lstStyle/>
          <a:p>
            <a:pPr algn="ctr"/>
            <a:r>
              <a:rPr sz="52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정제기2 B2 정제 45 h</a:t>
            </a:r>
          </a:p>
        </p:txBody>
      </p:sp>
      <p:sp>
        <p:nvSpPr>
          <p:cNvPr id="514" name="Rectangle 513"/>
          <p:cNvSpPr/>
          <p:nvPr/>
        </p:nvSpPr>
        <p:spPr>
          <a:xfrm>
            <a:off x="6492980" y="5129784"/>
            <a:ext cx="836654" cy="155448"/>
          </a:xfrm>
          <a:prstGeom prst="rect">
            <a:avLst/>
          </a:prstGeom>
          <a:noFill/>
          <a:ln w="9525">
            <a:solidFill>
              <a:srgbClr val="BF900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9144" rIns="9144" tIns="0" bIns="0" wrap="none"/>
          <a:lstStyle/>
          <a:p>
            <a:pPr algn="ctr"/>
            <a:r>
              <a:rPr sz="520" b="1">
                <a:solidFill>
                  <a:srgbClr val="7F6000"/>
                </a:solidFill>
                <a:latin typeface="Noto Sans KR"/>
                <a:ea typeface="Noto Sans KR"/>
                <a:cs typeface="Noto Sans KR"/>
              </a:rPr>
              <a:t>기타 (Mix·이송·대기 확인)</a:t>
            </a:r>
          </a:p>
        </p:txBody>
      </p:sp>
      <p:sp>
        <p:nvSpPr>
          <p:cNvPr id="515" name="Rectangle 514"/>
          <p:cNvSpPr/>
          <p:nvPr/>
        </p:nvSpPr>
        <p:spPr>
          <a:xfrm>
            <a:off x="6492980" y="5321808"/>
            <a:ext cx="284818" cy="155448"/>
          </a:xfrm>
          <a:prstGeom prst="rect">
            <a:avLst/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9144" rIns="9144" tIns="0" bIns="0" wrap="none"/>
          <a:lstStyle/>
          <a:p>
            <a:pPr algn="ctr"/>
          </a:p>
        </p:txBody>
      </p:sp>
      <p:sp>
        <p:nvSpPr>
          <p:cNvPr id="516" name="Rectangle 515"/>
          <p:cNvSpPr/>
          <p:nvPr/>
        </p:nvSpPr>
        <p:spPr>
          <a:xfrm>
            <a:off x="6777799" y="5513832"/>
            <a:ext cx="640842" cy="155448"/>
          </a:xfrm>
          <a:prstGeom prst="rect">
            <a:avLst/>
          </a:prstGeom>
          <a:solidFill>
            <a:srgbClr val="5482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9144" rIns="9144" tIns="0" bIns="0" wrap="none"/>
          <a:lstStyle/>
          <a:p>
            <a:pPr algn="ctr"/>
            <a:r>
              <a:rPr sz="52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2-B2 18 h</a:t>
            </a:r>
          </a:p>
        </p:txBody>
      </p:sp>
      <p:sp>
        <p:nvSpPr>
          <p:cNvPr id="517" name="Rectangle 516"/>
          <p:cNvSpPr/>
          <p:nvPr/>
        </p:nvSpPr>
        <p:spPr>
          <a:xfrm>
            <a:off x="7329635" y="5129784"/>
            <a:ext cx="71204" cy="155448"/>
          </a:xfrm>
          <a:prstGeom prst="rect">
            <a:avLst/>
          </a:prstGeom>
          <a:solidFill>
            <a:srgbClr val="F4B1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9144" rIns="9144" tIns="0" bIns="0" wrap="none"/>
          <a:lstStyle/>
          <a:p>
            <a:pPr algn="ctr"/>
          </a:p>
        </p:txBody>
      </p:sp>
      <p:sp>
        <p:nvSpPr>
          <p:cNvPr id="518" name="Rectangle 517"/>
          <p:cNvSpPr/>
          <p:nvPr/>
        </p:nvSpPr>
        <p:spPr>
          <a:xfrm>
            <a:off x="7400840" y="5129784"/>
            <a:ext cx="1459695" cy="155448"/>
          </a:xfrm>
          <a:prstGeom prst="rect">
            <a:avLst/>
          </a:prstGeom>
          <a:solidFill>
            <a:srgbClr val="FF7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9144" rIns="9144" tIns="0" bIns="0" wrap="none"/>
          <a:lstStyle/>
          <a:p>
            <a:pPr algn="ctr"/>
            <a:r>
              <a:rPr sz="52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정제기2 B3 정제 45 h</a:t>
            </a:r>
          </a:p>
        </p:txBody>
      </p:sp>
      <p:sp>
        <p:nvSpPr>
          <p:cNvPr id="519" name="TextBox 518"/>
          <p:cNvSpPr txBox="1"/>
          <p:nvPr/>
        </p:nvSpPr>
        <p:spPr>
          <a:xfrm>
            <a:off x="283464" y="5678424"/>
            <a:ext cx="8595360" cy="548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00" b="0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/>
            </a:r>
          </a:p>
        </p:txBody>
      </p:sp>
    </p:spTree>
    <p:extLst>
      <p:ext uri="{BB962C8B-B14F-4D97-AF65-F5344CB8AC3E}">
        <p14:creationId xmlns:p14="http://schemas.microsoft.com/office/powerpoint/2010/main" val="129899069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32BE96E-E472-E164-23F2-95F3E9DCB42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75E2DD2F-BCF5-ECAE-E5D5-3CF0B6E970A6}"/>
              </a:ext>
            </a:extLst>
          </p:cNvPr>
          <p:cNvSpPr txBox="1"/>
          <p:nvPr/>
        </p:nvSpPr>
        <p:spPr>
          <a:xfrm>
            <a:off x="419241" y="188640"/>
            <a:ext cx="7400000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>
            <a:defPPr>
              <a:defRPr lang="ko-KR"/>
            </a:defPPr>
            <a:lvl1pPr algn="ctr">
              <a:defRPr kumimoji="1" sz="2800" b="1">
                <a:solidFill>
                  <a:schemeClr val="tx1">
                    <a:lumMod val="95000"/>
                    <a:lumOff val="5000"/>
                  </a:schemeClr>
                </a:solidFill>
                <a:latin typeface="Noto Sans KR" pitchFamily="2" charset="-127"/>
                <a:ea typeface="Noto Sans KR" pitchFamily="2" charset="-127"/>
              </a:defRPr>
            </a:lvl1pPr>
          </a:lstStyle>
          <a:p>
            <a:pPr algn="l"/>
            <a:r>
              <a:rPr lang="en-US" altLang="ko-KR" sz="1800" dirty="0" b="1">
                <a:gradFill>
                  <a:gsLst>
                    <a:gs pos="0">
                      <a:srgbClr val="FF7900"/>
                    </a:gs>
                    <a:gs pos="67000">
                      <a:srgbClr val="EB002C"/>
                    </a:gs>
                  </a:gsLst>
                  <a:lin ang="5400000" scaled="1"/>
                </a:gradFill>
              </a:rPr>
              <a:t>과거 Batch 분석 및 2026년 기준 검토</a:t>
            </a: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F5E334A9-F66D-C6A4-7BE9-6D50F9536A48}"/>
              </a:ext>
            </a:extLst>
          </p:cNvPr>
          <p:cNvSpPr/>
          <p:nvPr/>
        </p:nvSpPr>
        <p:spPr>
          <a:xfrm>
            <a:off x="243076" y="0"/>
            <a:ext cx="45719" cy="900000"/>
          </a:xfrm>
          <a:prstGeom prst="rect">
            <a:avLst/>
          </a:prstGeom>
          <a:solidFill>
            <a:srgbClr val="EB002C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42E35880-4093-876B-A5F4-41C1E861B78E}"/>
              </a:ext>
            </a:extLst>
          </p:cNvPr>
          <p:cNvSpPr txBox="1"/>
          <p:nvPr/>
        </p:nvSpPr>
        <p:spPr>
          <a:xfrm>
            <a:off x="683568" y="649029"/>
            <a:ext cx="8217356" cy="24622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>
            <a:defPPr>
              <a:defRPr lang="ko-KR"/>
            </a:defPPr>
            <a:lvl1pPr algn="ctr">
              <a:defRPr kumimoji="1" sz="2800" b="1">
                <a:solidFill>
                  <a:schemeClr val="tx1">
                    <a:lumMod val="95000"/>
                    <a:lumOff val="5000"/>
                  </a:schemeClr>
                </a:solidFill>
                <a:latin typeface="Noto Sans KR" pitchFamily="2" charset="-127"/>
                <a:ea typeface="Noto Sans KR" pitchFamily="2" charset="-127"/>
              </a:defRPr>
            </a:lvl1pPr>
          </a:lstStyle>
          <a:p>
            <a:pPr algn="l"/>
            <a:r>
              <a:rPr lang="en-US" altLang="ko-KR" sz="1600" dirty="0"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관측 간격 약 67.5 h (6/2 #39~10/29 #92) · 2026 출하 19.22톤 vs 현재 26.2톤</a:t>
            </a:r>
            <a:endParaRPr lang="en-US" altLang="ko-KR" sz="1600" dirty="0">
              <a:solidFill>
                <a:srgbClr val="FB6306"/>
              </a:solidFill>
              <a:latin typeface="Noto Sans KR" panose="02000503000000020004" pitchFamily="2" charset="-127"/>
              <a:ea typeface="Noto Sans KR" panose="02000503000000020004" pitchFamily="2" charset="-127"/>
              <a:cs typeface="Noto Sans KR" panose="02000503000000020004" pitchFamily="2" charset="-127"/>
            </a:endParaRPr>
          </a:p>
        </p:txBody>
      </p:sp>
      <p:sp>
        <p:nvSpPr>
          <p:cNvPr id="7" name="타원 6">
            <a:extLst>
              <a:ext uri="{FF2B5EF4-FFF2-40B4-BE49-F238E27FC236}">
                <a16:creationId xmlns:a16="http://schemas.microsoft.com/office/drawing/2014/main" id="{8FCEA6BD-DE04-59B4-A8D4-190141D5218B}"/>
              </a:ext>
            </a:extLst>
          </p:cNvPr>
          <p:cNvSpPr>
            <a:spLocks noChangeAspect="1"/>
          </p:cNvSpPr>
          <p:nvPr/>
        </p:nvSpPr>
        <p:spPr>
          <a:xfrm>
            <a:off x="419241" y="682139"/>
            <a:ext cx="180000" cy="180000"/>
          </a:xfrm>
          <a:prstGeom prst="ellipse">
            <a:avLst/>
          </a:prstGeom>
          <a:solidFill>
            <a:srgbClr val="EB002C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 b="1" dirty="0">
                <a:latin typeface="Noto Sans KR" pitchFamily="2" charset="-127"/>
                <a:ea typeface="Noto Sans KR" pitchFamily="2" charset="-127"/>
              </a:rPr>
              <a:t>3</a:t>
            </a:r>
            <a:endParaRPr kumimoji="1" lang="ko-KR" altLang="en-US" sz="1000" b="1" dirty="0">
              <a:latin typeface="Noto Sans KR" pitchFamily="2" charset="-127"/>
              <a:ea typeface="Noto Sans KR" pitchFamily="2" charset="-127"/>
            </a:endParaRPr>
          </a:p>
        </p:txBody>
      </p:sp>
      <p:pic>
        <p:nvPicPr>
          <p:cNvPr id="8" name="그림 7">
            <a:extLst>
              <a:ext uri="{FF2B5EF4-FFF2-40B4-BE49-F238E27FC236}">
                <a16:creationId xmlns:a16="http://schemas.microsoft.com/office/drawing/2014/main" id="{B8A963E8-7BFA-8421-BB5D-9C25023F1E9B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028384" y="165102"/>
            <a:ext cx="872541" cy="372545"/>
          </a:xfrm>
          <a:prstGeom prst="rect">
            <a:avLst/>
          </a:prstGeom>
        </p:spPr>
      </p:pic>
      <p:sp>
        <p:nvSpPr>
          <p:cNvPr id="161" name="직사각형 160">
            <a:extLst>
              <a:ext uri="{FF2B5EF4-FFF2-40B4-BE49-F238E27FC236}">
                <a16:creationId xmlns:a16="http://schemas.microsoft.com/office/drawing/2014/main" id="{93943A90-8311-883B-A173-01407C63CEE4}"/>
              </a:ext>
            </a:extLst>
          </p:cNvPr>
          <p:cNvSpPr/>
          <p:nvPr/>
        </p:nvSpPr>
        <p:spPr>
          <a:xfrm>
            <a:off x="234424" y="6411907"/>
            <a:ext cx="1027462" cy="252555"/>
          </a:xfrm>
          <a:prstGeom prst="rect">
            <a:avLst/>
          </a:prstGeom>
          <a:noFill/>
          <a:ln w="9525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kumimoji="1" lang="en-US" altLang="ko-KR" sz="1100" dirty="0">
                <a:solidFill>
                  <a:schemeClr val="bg1">
                    <a:lumMod val="50000"/>
                  </a:schemeClr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Confidential</a:t>
            </a:r>
            <a:endParaRPr kumimoji="1" lang="ko-KR" altLang="en-US" sz="1100" dirty="0">
              <a:solidFill>
                <a:schemeClr val="bg1">
                  <a:lumMod val="50000"/>
                </a:schemeClr>
              </a:solidFill>
              <a:latin typeface="Noto Sans KR" panose="02000503000000020004" pitchFamily="2" charset="-127"/>
              <a:ea typeface="Noto Sans KR" panose="02000503000000020004" pitchFamily="2" charset="-127"/>
              <a:cs typeface="Noto Sans KR" panose="02000503000000020004" pitchFamily="2" charset="-127"/>
            </a:endParaRPr>
          </a:p>
        </p:txBody>
      </p:sp>
      <p:cxnSp>
        <p:nvCxnSpPr>
          <p:cNvPr id="163" name="직선 연결선[R] 162">
            <a:extLst>
              <a:ext uri="{FF2B5EF4-FFF2-40B4-BE49-F238E27FC236}">
                <a16:creationId xmlns:a16="http://schemas.microsoft.com/office/drawing/2014/main" id="{8DEBABA2-333E-086B-36F6-137958AA3974}"/>
              </a:ext>
            </a:extLst>
          </p:cNvPr>
          <p:cNvCxnSpPr>
            <a:cxnSpLocks/>
          </p:cNvCxnSpPr>
          <p:nvPr/>
        </p:nvCxnSpPr>
        <p:spPr>
          <a:xfrm>
            <a:off x="1442533" y="6538184"/>
            <a:ext cx="7200800" cy="0"/>
          </a:xfrm>
          <a:prstGeom prst="line">
            <a:avLst/>
          </a:prstGeom>
          <a:ln w="6350"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8D53F489-CBFB-4C6F-878D-02975AD51256}"/>
              </a:ext>
            </a:extLst>
          </p:cNvPr>
          <p:cNvSpPr txBox="1"/>
          <p:nvPr/>
        </p:nvSpPr>
        <p:spPr>
          <a:xfrm>
            <a:off x="3972000" y="6461240"/>
            <a:ext cx="1200000" cy="15388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kumimoji="1" lang="en-US" altLang="ko-KR" sz="1000" dirty="0" b="0" i="0">
                <a:solidFill>
                  <a:srgbClr val="7F7F7F"/>
                </a:solidFill>
                <a:latin typeface="Noto Sans KR" panose="02000403000000020004" pitchFamily="2" charset="-127"/>
                <a:ea typeface="Noto Sans KR" panose="02000403000000020004" pitchFamily="2" charset="-127"/>
                <a:cs typeface="Noto Sans KR" panose="02000403000000020004" pitchFamily="2" charset="-127"/>
              </a:rPr>
              <a:t>- 3 -</a:t>
            </a:r>
            <a:endParaRPr kumimoji="1" lang="ko-KR" altLang="en-US" sz="1000" dirty="0">
              <a:solidFill>
                <a:schemeClr val="bg1">
                  <a:lumMod val="50000"/>
                </a:schemeClr>
              </a:solidFill>
              <a:latin typeface="Noto Sans KR" panose="02000403000000020004" pitchFamily="2" charset="-127"/>
              <a:ea typeface="Noto Sans KR" panose="02000403000000020004" pitchFamily="2" charset="-127"/>
              <a:cs typeface="Noto Sans KR" panose="02000403000000020004" pitchFamily="2" charset="-127"/>
            </a:endParaRPr>
          </a:p>
        </p:txBody>
      </p:sp>
      <p:sp>
        <p:nvSpPr>
          <p:cNvPr id="164" name="TextBox 163"/>
          <p:cNvSpPr txBox="1"/>
          <p:nvPr/>
        </p:nvSpPr>
        <p:spPr>
          <a:xfrm>
            <a:off x="5657000" y="6300000"/>
            <a:ext cx="3200000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800" b="0" i="0">
                <a:solidFill>
                  <a:srgbClr val="7F7F7F"/>
                </a:solidFill>
                <a:latin typeface="Noto Sans KR"/>
                <a:ea typeface="Noto Sans KR"/>
                <a:cs typeface="Noto Sans KR"/>
              </a:rPr>
              <a:t>공란 : 담당부서 확인 후 입력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287000" y="980000"/>
            <a:ext cx="50000" cy="165000"/>
          </a:xfrm>
          <a:prstGeom prst="rect">
            <a:avLst/>
          </a:prstGeom>
          <a:solidFill>
            <a:srgbClr val="EB002C"/>
          </a:solidFill>
          <a:ln>
            <a:noFill/>
          </a:ln>
        </p:spPr>
        <p:txBody>
          <a:bodyPr rtlCol="0" anchor="ctr" lIns="30000" rIns="30000" tIns="0" bIns="0" wrap="square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397000" y="950000"/>
            <a:ext cx="8000000" cy="22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1" i="0">
                <a:solidFill>
                  <a:srgbClr val="1A1A1A"/>
                </a:solidFill>
                <a:latin typeface="Noto Sans KR"/>
                <a:ea typeface="Noto Sans KR"/>
                <a:cs typeface="Noto Sans KR"/>
              </a:rPr>
              <a:t>① Batch 표시일자 분포</a:t>
            </a:r>
            <a:r>
              <a:rPr sz="700" b="0" i="0">
                <a:solidFill>
                  <a:srgbClr val="7F7F7F"/>
                </a:solidFill>
                <a:latin typeface="Noto Sans KR"/>
                <a:ea typeface="Noto Sans KR"/>
                <a:cs typeface="Noto Sans KR"/>
              </a:rPr>
              <a:t>   원자료 생산계획 · 표시일자 의미(투입/완료) 미확정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755548" y="1180000"/>
            <a:ext cx="240000" cy="13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600" b="0" i="0">
                <a:solidFill>
                  <a:srgbClr val="7F7F7F"/>
                </a:solidFill>
                <a:latin typeface="Noto Sans KR"/>
                <a:ea typeface="Noto Sans KR"/>
                <a:cs typeface="Noto Sans KR"/>
              </a:rPr>
              <a:t>1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1989419" y="1180000"/>
            <a:ext cx="240000" cy="13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600" b="0" i="0">
                <a:solidFill>
                  <a:srgbClr val="7F7F7F"/>
                </a:solidFill>
                <a:latin typeface="Noto Sans KR"/>
                <a:ea typeface="Noto Sans KR"/>
                <a:cs typeface="Noto Sans KR"/>
              </a:rPr>
              <a:t>10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3360387" y="1180000"/>
            <a:ext cx="240000" cy="13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600" b="0" i="0">
                <a:solidFill>
                  <a:srgbClr val="7F7F7F"/>
                </a:solidFill>
                <a:latin typeface="Noto Sans KR"/>
                <a:ea typeface="Noto Sans KR"/>
                <a:cs typeface="Noto Sans KR"/>
              </a:rPr>
              <a:t>20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4868451" y="1180000"/>
            <a:ext cx="240000" cy="13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600" b="0" i="0">
                <a:solidFill>
                  <a:srgbClr val="7F7F7F"/>
                </a:solidFill>
                <a:latin typeface="Noto Sans KR"/>
                <a:ea typeface="Noto Sans KR"/>
                <a:cs typeface="Noto Sans KR"/>
              </a:rPr>
              <a:t>31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807000" y="1332000"/>
            <a:ext cx="4250000" cy="136000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</p:spPr>
        <p:txBody>
          <a:bodyPr rtlCol="0" anchor="ctr" lIns="30000" rIns="30000" tIns="0" bIns="0" wrap="square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287000" y="1320000"/>
            <a:ext cx="490000" cy="160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680" b="1" i="0">
                <a:solidFill>
                  <a:srgbClr val="1A1A1A"/>
                </a:solidFill>
                <a:latin typeface="Noto Sans KR"/>
                <a:ea typeface="Noto Sans KR"/>
                <a:cs typeface="Noto Sans KR"/>
              </a:rPr>
              <a:t>5월*</a:t>
            </a:r>
          </a:p>
        </p:txBody>
      </p:sp>
      <p:sp>
        <p:nvSpPr>
          <p:cNvPr id="173" name="Rounded Rectangle 172"/>
          <p:cNvSpPr/>
          <p:nvPr/>
        </p:nvSpPr>
        <p:spPr>
          <a:xfrm>
            <a:off x="3829129" y="1340000"/>
            <a:ext cx="125096" cy="120000"/>
          </a:xfrm>
          <a:prstGeom prst="roundRect">
            <a:avLst>
              <a:gd name="adj" fmla="val 20000"/>
            </a:avLst>
          </a:prstGeom>
          <a:solidFill>
            <a:srgbClr val="7F7F7F"/>
          </a:solidFill>
          <a:ln>
            <a:noFill/>
          </a:ln>
        </p:spPr>
        <p:txBody>
          <a:bodyPr rtlCol="0" anchor="ctr" lIns="0" rIns="0" tIns="0" bIns="0" wrap="none"/>
          <a:lstStyle/>
          <a:p>
            <a:pPr algn="ctr"/>
            <a:r>
              <a:rPr sz="500" b="1" i="0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37</a:t>
            </a:r>
          </a:p>
        </p:txBody>
      </p:sp>
      <p:sp>
        <p:nvSpPr>
          <p:cNvPr id="174" name="Rounded Rectangle 173"/>
          <p:cNvSpPr/>
          <p:nvPr/>
        </p:nvSpPr>
        <p:spPr>
          <a:xfrm>
            <a:off x="4240419" y="1340000"/>
            <a:ext cx="125096" cy="120000"/>
          </a:xfrm>
          <a:prstGeom prst="roundRect">
            <a:avLst>
              <a:gd name="adj" fmla="val 20000"/>
            </a:avLst>
          </a:prstGeom>
          <a:solidFill>
            <a:srgbClr val="7F7F7F"/>
          </a:solidFill>
          <a:ln>
            <a:noFill/>
          </a:ln>
        </p:spPr>
        <p:txBody>
          <a:bodyPr rtlCol="0" anchor="ctr" lIns="0" rIns="0" tIns="0" bIns="0" wrap="none"/>
          <a:lstStyle/>
          <a:p>
            <a:pPr algn="ctr"/>
            <a:r>
              <a:rPr sz="500" b="1" i="0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38</a:t>
            </a:r>
          </a:p>
        </p:txBody>
      </p:sp>
      <p:sp>
        <p:nvSpPr>
          <p:cNvPr id="175" name="Rectangle 174"/>
          <p:cNvSpPr/>
          <p:nvPr/>
        </p:nvSpPr>
        <p:spPr>
          <a:xfrm>
            <a:off x="807000" y="1492000"/>
            <a:ext cx="4250000" cy="136000"/>
          </a:xfrm>
          <a:prstGeom prst="rect">
            <a:avLst/>
          </a:prstGeom>
          <a:solidFill>
            <a:srgbClr val="F9F9F9"/>
          </a:solidFill>
          <a:ln w="6350">
            <a:solidFill>
              <a:srgbClr val="D9D9D9"/>
            </a:solidFill>
          </a:ln>
        </p:spPr>
        <p:txBody>
          <a:bodyPr rtlCol="0" anchor="ctr" lIns="30000" rIns="30000" tIns="0" bIns="0" wrap="square"/>
          <a:lstStyle/>
          <a:p>
            <a:pPr algn="ctr"/>
          </a:p>
        </p:txBody>
      </p:sp>
      <p:sp>
        <p:nvSpPr>
          <p:cNvPr id="176" name="TextBox 175"/>
          <p:cNvSpPr txBox="1"/>
          <p:nvPr/>
        </p:nvSpPr>
        <p:spPr>
          <a:xfrm>
            <a:off x="287000" y="1480000"/>
            <a:ext cx="490000" cy="160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680" b="1" i="0">
                <a:solidFill>
                  <a:srgbClr val="1A1A1A"/>
                </a:solidFill>
                <a:latin typeface="Noto Sans KR"/>
                <a:ea typeface="Noto Sans KR"/>
                <a:cs typeface="Noto Sans KR"/>
              </a:rPr>
              <a:t>6월</a:t>
            </a:r>
          </a:p>
        </p:txBody>
      </p:sp>
      <p:sp>
        <p:nvSpPr>
          <p:cNvPr id="177" name="Rounded Rectangle 176"/>
          <p:cNvSpPr/>
          <p:nvPr/>
        </p:nvSpPr>
        <p:spPr>
          <a:xfrm>
            <a:off x="950096" y="1500000"/>
            <a:ext cx="125096" cy="120000"/>
          </a:xfrm>
          <a:prstGeom prst="roundRect">
            <a:avLst>
              <a:gd name="adj" fmla="val 20000"/>
            </a:avLst>
          </a:prstGeom>
          <a:solidFill>
            <a:srgbClr val="FF7900"/>
          </a:solidFill>
          <a:ln>
            <a:noFill/>
          </a:ln>
        </p:spPr>
        <p:txBody>
          <a:bodyPr rtlCol="0" anchor="ctr" lIns="0" rIns="0" tIns="0" bIns="0" wrap="none"/>
          <a:lstStyle/>
          <a:p>
            <a:pPr algn="ctr"/>
            <a:r>
              <a:rPr sz="500" b="1" i="0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39</a:t>
            </a:r>
          </a:p>
        </p:txBody>
      </p:sp>
      <p:sp>
        <p:nvSpPr>
          <p:cNvPr id="178" name="Rounded Rectangle 177"/>
          <p:cNvSpPr/>
          <p:nvPr/>
        </p:nvSpPr>
        <p:spPr>
          <a:xfrm>
            <a:off x="1361387" y="1500000"/>
            <a:ext cx="125096" cy="120000"/>
          </a:xfrm>
          <a:prstGeom prst="roundRect">
            <a:avLst>
              <a:gd name="adj" fmla="val 20000"/>
            </a:avLst>
          </a:prstGeom>
          <a:solidFill>
            <a:srgbClr val="FF7900"/>
          </a:solidFill>
          <a:ln>
            <a:noFill/>
          </a:ln>
        </p:spPr>
        <p:txBody>
          <a:bodyPr rtlCol="0" anchor="ctr" lIns="0" rIns="0" tIns="0" bIns="0" wrap="none"/>
          <a:lstStyle/>
          <a:p>
            <a:pPr algn="ctr"/>
            <a:r>
              <a:rPr sz="500" b="1" i="0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40</a:t>
            </a:r>
          </a:p>
        </p:txBody>
      </p:sp>
      <p:sp>
        <p:nvSpPr>
          <p:cNvPr id="179" name="Rounded Rectangle 178"/>
          <p:cNvSpPr/>
          <p:nvPr/>
        </p:nvSpPr>
        <p:spPr>
          <a:xfrm>
            <a:off x="1772677" y="1500000"/>
            <a:ext cx="125096" cy="120000"/>
          </a:xfrm>
          <a:prstGeom prst="roundRect">
            <a:avLst>
              <a:gd name="adj" fmla="val 20000"/>
            </a:avLst>
          </a:prstGeom>
          <a:solidFill>
            <a:srgbClr val="FF7900"/>
          </a:solidFill>
          <a:ln>
            <a:noFill/>
          </a:ln>
        </p:spPr>
        <p:txBody>
          <a:bodyPr rtlCol="0" anchor="ctr" lIns="0" rIns="0" tIns="0" bIns="0" wrap="none"/>
          <a:lstStyle/>
          <a:p>
            <a:pPr algn="ctr"/>
            <a:r>
              <a:rPr sz="500" b="1" i="0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41</a:t>
            </a:r>
          </a:p>
        </p:txBody>
      </p:sp>
      <p:sp>
        <p:nvSpPr>
          <p:cNvPr id="180" name="Rounded Rectangle 179"/>
          <p:cNvSpPr/>
          <p:nvPr/>
        </p:nvSpPr>
        <p:spPr>
          <a:xfrm>
            <a:off x="2183967" y="1500000"/>
            <a:ext cx="125096" cy="120000"/>
          </a:xfrm>
          <a:prstGeom prst="roundRect">
            <a:avLst>
              <a:gd name="adj" fmla="val 20000"/>
            </a:avLst>
          </a:prstGeom>
          <a:solidFill>
            <a:srgbClr val="FF7900"/>
          </a:solidFill>
          <a:ln>
            <a:noFill/>
          </a:ln>
        </p:spPr>
        <p:txBody>
          <a:bodyPr rtlCol="0" anchor="ctr" lIns="0" rIns="0" tIns="0" bIns="0" wrap="none"/>
          <a:lstStyle/>
          <a:p>
            <a:pPr algn="ctr"/>
            <a:r>
              <a:rPr sz="500" b="1" i="0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42</a:t>
            </a:r>
          </a:p>
        </p:txBody>
      </p:sp>
      <p:sp>
        <p:nvSpPr>
          <p:cNvPr id="181" name="Rounded Rectangle 180"/>
          <p:cNvSpPr/>
          <p:nvPr/>
        </p:nvSpPr>
        <p:spPr>
          <a:xfrm>
            <a:off x="2595258" y="1500000"/>
            <a:ext cx="125096" cy="120000"/>
          </a:xfrm>
          <a:prstGeom prst="roundRect">
            <a:avLst>
              <a:gd name="adj" fmla="val 20000"/>
            </a:avLst>
          </a:prstGeom>
          <a:solidFill>
            <a:srgbClr val="FF7900"/>
          </a:solidFill>
          <a:ln>
            <a:noFill/>
          </a:ln>
        </p:spPr>
        <p:txBody>
          <a:bodyPr rtlCol="0" anchor="ctr" lIns="0" rIns="0" tIns="0" bIns="0" wrap="none"/>
          <a:lstStyle/>
          <a:p>
            <a:pPr algn="ctr"/>
            <a:r>
              <a:rPr sz="500" b="1" i="0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43</a:t>
            </a:r>
          </a:p>
        </p:txBody>
      </p:sp>
      <p:sp>
        <p:nvSpPr>
          <p:cNvPr id="182" name="Rounded Rectangle 181"/>
          <p:cNvSpPr/>
          <p:nvPr/>
        </p:nvSpPr>
        <p:spPr>
          <a:xfrm>
            <a:off x="3006548" y="1500000"/>
            <a:ext cx="125096" cy="120000"/>
          </a:xfrm>
          <a:prstGeom prst="roundRect">
            <a:avLst>
              <a:gd name="adj" fmla="val 20000"/>
            </a:avLst>
          </a:prstGeom>
          <a:solidFill>
            <a:srgbClr val="FF7900"/>
          </a:solidFill>
          <a:ln>
            <a:noFill/>
          </a:ln>
        </p:spPr>
        <p:txBody>
          <a:bodyPr rtlCol="0" anchor="ctr" lIns="0" rIns="0" tIns="0" bIns="0" wrap="none"/>
          <a:lstStyle/>
          <a:p>
            <a:pPr algn="ctr"/>
            <a:r>
              <a:rPr sz="500" b="1" i="0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44</a:t>
            </a:r>
          </a:p>
        </p:txBody>
      </p:sp>
      <p:sp>
        <p:nvSpPr>
          <p:cNvPr id="183" name="Rounded Rectangle 182"/>
          <p:cNvSpPr/>
          <p:nvPr/>
        </p:nvSpPr>
        <p:spPr>
          <a:xfrm>
            <a:off x="3417838" y="1500000"/>
            <a:ext cx="125096" cy="120000"/>
          </a:xfrm>
          <a:prstGeom prst="roundRect">
            <a:avLst>
              <a:gd name="adj" fmla="val 20000"/>
            </a:avLst>
          </a:prstGeom>
          <a:solidFill>
            <a:srgbClr val="FF7900"/>
          </a:solidFill>
          <a:ln>
            <a:noFill/>
          </a:ln>
        </p:spPr>
        <p:txBody>
          <a:bodyPr rtlCol="0" anchor="ctr" lIns="0" rIns="0" tIns="0" bIns="0" wrap="none"/>
          <a:lstStyle/>
          <a:p>
            <a:pPr algn="ctr"/>
            <a:r>
              <a:rPr sz="500" b="1" i="0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45</a:t>
            </a:r>
          </a:p>
        </p:txBody>
      </p:sp>
      <p:sp>
        <p:nvSpPr>
          <p:cNvPr id="184" name="Rounded Rectangle 183"/>
          <p:cNvSpPr/>
          <p:nvPr/>
        </p:nvSpPr>
        <p:spPr>
          <a:xfrm>
            <a:off x="3829129" y="1500000"/>
            <a:ext cx="125096" cy="120000"/>
          </a:xfrm>
          <a:prstGeom prst="roundRect">
            <a:avLst>
              <a:gd name="adj" fmla="val 20000"/>
            </a:avLst>
          </a:prstGeom>
          <a:solidFill>
            <a:srgbClr val="FF7900"/>
          </a:solidFill>
          <a:ln>
            <a:noFill/>
          </a:ln>
        </p:spPr>
        <p:txBody>
          <a:bodyPr rtlCol="0" anchor="ctr" lIns="0" rIns="0" tIns="0" bIns="0" wrap="none"/>
          <a:lstStyle/>
          <a:p>
            <a:pPr algn="ctr"/>
            <a:r>
              <a:rPr sz="500" b="1" i="0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46</a:t>
            </a:r>
          </a:p>
        </p:txBody>
      </p:sp>
      <p:sp>
        <p:nvSpPr>
          <p:cNvPr id="185" name="Rounded Rectangle 184"/>
          <p:cNvSpPr/>
          <p:nvPr/>
        </p:nvSpPr>
        <p:spPr>
          <a:xfrm>
            <a:off x="4103322" y="1500000"/>
            <a:ext cx="125096" cy="120000"/>
          </a:xfrm>
          <a:prstGeom prst="roundRect">
            <a:avLst>
              <a:gd name="adj" fmla="val 20000"/>
            </a:avLst>
          </a:prstGeom>
          <a:solidFill>
            <a:srgbClr val="FF7900"/>
          </a:solidFill>
          <a:ln>
            <a:noFill/>
          </a:ln>
        </p:spPr>
        <p:txBody>
          <a:bodyPr rtlCol="0" anchor="ctr" lIns="0" rIns="0" tIns="0" bIns="0" wrap="none"/>
          <a:lstStyle/>
          <a:p>
            <a:pPr algn="ctr"/>
            <a:r>
              <a:rPr sz="500" b="1" i="0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47</a:t>
            </a:r>
          </a:p>
        </p:txBody>
      </p:sp>
      <p:sp>
        <p:nvSpPr>
          <p:cNvPr id="186" name="Rounded Rectangle 185"/>
          <p:cNvSpPr/>
          <p:nvPr/>
        </p:nvSpPr>
        <p:spPr>
          <a:xfrm>
            <a:off x="4377516" y="1500000"/>
            <a:ext cx="125096" cy="120000"/>
          </a:xfrm>
          <a:prstGeom prst="roundRect">
            <a:avLst>
              <a:gd name="adj" fmla="val 20000"/>
            </a:avLst>
          </a:prstGeom>
          <a:solidFill>
            <a:srgbClr val="FF7900"/>
          </a:solidFill>
          <a:ln>
            <a:noFill/>
          </a:ln>
        </p:spPr>
        <p:txBody>
          <a:bodyPr rtlCol="0" anchor="ctr" lIns="0" rIns="0" tIns="0" bIns="0" wrap="none"/>
          <a:lstStyle/>
          <a:p>
            <a:pPr algn="ctr"/>
            <a:r>
              <a:rPr sz="500" b="1" i="0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48</a:t>
            </a:r>
          </a:p>
        </p:txBody>
      </p:sp>
      <p:sp>
        <p:nvSpPr>
          <p:cNvPr id="187" name="Rounded Rectangle 186"/>
          <p:cNvSpPr/>
          <p:nvPr/>
        </p:nvSpPr>
        <p:spPr>
          <a:xfrm>
            <a:off x="4514612" y="1500000"/>
            <a:ext cx="125096" cy="120000"/>
          </a:xfrm>
          <a:prstGeom prst="roundRect">
            <a:avLst>
              <a:gd name="adj" fmla="val 20000"/>
            </a:avLst>
          </a:prstGeom>
          <a:solidFill>
            <a:srgbClr val="FF7900"/>
          </a:solidFill>
          <a:ln>
            <a:noFill/>
          </a:ln>
        </p:spPr>
        <p:txBody>
          <a:bodyPr rtlCol="0" anchor="ctr" lIns="0" rIns="0" tIns="0" bIns="0" wrap="none"/>
          <a:lstStyle/>
          <a:p>
            <a:pPr algn="ctr"/>
            <a:r>
              <a:rPr sz="500" b="1" i="0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49</a:t>
            </a:r>
          </a:p>
        </p:txBody>
      </p:sp>
      <p:sp>
        <p:nvSpPr>
          <p:cNvPr id="188" name="TextBox 187"/>
          <p:cNvSpPr txBox="1"/>
          <p:nvPr/>
        </p:nvSpPr>
        <p:spPr>
          <a:xfrm>
            <a:off x="5097000" y="1480000"/>
            <a:ext cx="650000" cy="160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680" b="1" i="0">
                <a:solidFill>
                  <a:srgbClr val="1A1A1A"/>
                </a:solidFill>
                <a:latin typeface="Noto Sans KR"/>
                <a:ea typeface="Noto Sans KR"/>
                <a:cs typeface="Noto Sans KR"/>
              </a:rPr>
              <a:t>11개</a:t>
            </a:r>
            <a:r>
              <a:rPr sz="650" b="1" i="0">
                <a:solidFill>
                  <a:srgbClr val="EB002C"/>
                </a:solidFill>
                <a:latin typeface="Noto Sans KR"/>
                <a:ea typeface="Noto Sans KR"/>
                <a:cs typeface="Noto Sans KR"/>
              </a:rPr>
              <a:t> / T 8</a:t>
            </a:r>
          </a:p>
        </p:txBody>
      </p:sp>
      <p:sp>
        <p:nvSpPr>
          <p:cNvPr id="189" name="Rectangle 188"/>
          <p:cNvSpPr/>
          <p:nvPr/>
        </p:nvSpPr>
        <p:spPr>
          <a:xfrm>
            <a:off x="807000" y="1652000"/>
            <a:ext cx="4250000" cy="136000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</p:spPr>
        <p:txBody>
          <a:bodyPr rtlCol="0" anchor="ctr" lIns="30000" rIns="30000" tIns="0" bIns="0" wrap="square"/>
          <a:lstStyle/>
          <a:p>
            <a:pPr algn="ctr"/>
          </a:p>
        </p:txBody>
      </p:sp>
      <p:sp>
        <p:nvSpPr>
          <p:cNvPr id="190" name="TextBox 189"/>
          <p:cNvSpPr txBox="1"/>
          <p:nvPr/>
        </p:nvSpPr>
        <p:spPr>
          <a:xfrm>
            <a:off x="287000" y="1640000"/>
            <a:ext cx="490000" cy="160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680" b="1" i="0">
                <a:solidFill>
                  <a:srgbClr val="1A1A1A"/>
                </a:solidFill>
                <a:latin typeface="Noto Sans KR"/>
                <a:ea typeface="Noto Sans KR"/>
                <a:cs typeface="Noto Sans KR"/>
              </a:rPr>
              <a:t>7월</a:t>
            </a:r>
          </a:p>
        </p:txBody>
      </p:sp>
      <p:sp>
        <p:nvSpPr>
          <p:cNvPr id="191" name="Rounded Rectangle 190"/>
          <p:cNvSpPr/>
          <p:nvPr/>
        </p:nvSpPr>
        <p:spPr>
          <a:xfrm>
            <a:off x="813000" y="1660000"/>
            <a:ext cx="125096" cy="120000"/>
          </a:xfrm>
          <a:prstGeom prst="roundRect">
            <a:avLst>
              <a:gd name="adj" fmla="val 20000"/>
            </a:avLst>
          </a:prstGeom>
          <a:solidFill>
            <a:srgbClr val="FF7900"/>
          </a:solidFill>
          <a:ln>
            <a:noFill/>
          </a:ln>
        </p:spPr>
        <p:txBody>
          <a:bodyPr rtlCol="0" anchor="ctr" lIns="0" rIns="0" tIns="0" bIns="0" wrap="none"/>
          <a:lstStyle/>
          <a:p>
            <a:pPr algn="ctr"/>
            <a:r>
              <a:rPr sz="500" b="1" i="0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50</a:t>
            </a:r>
          </a:p>
        </p:txBody>
      </p:sp>
      <p:sp>
        <p:nvSpPr>
          <p:cNvPr id="192" name="Rounded Rectangle 191"/>
          <p:cNvSpPr/>
          <p:nvPr/>
        </p:nvSpPr>
        <p:spPr>
          <a:xfrm>
            <a:off x="1087193" y="1660000"/>
            <a:ext cx="125096" cy="120000"/>
          </a:xfrm>
          <a:prstGeom prst="roundRect">
            <a:avLst>
              <a:gd name="adj" fmla="val 20000"/>
            </a:avLst>
          </a:prstGeom>
          <a:solidFill>
            <a:srgbClr val="FF7900"/>
          </a:solidFill>
          <a:ln>
            <a:noFill/>
          </a:ln>
        </p:spPr>
        <p:txBody>
          <a:bodyPr rtlCol="0" anchor="ctr" lIns="0" rIns="0" tIns="0" bIns="0" wrap="none"/>
          <a:lstStyle/>
          <a:p>
            <a:pPr algn="ctr"/>
            <a:r>
              <a:rPr sz="500" b="1" i="0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51</a:t>
            </a:r>
          </a:p>
        </p:txBody>
      </p:sp>
      <p:sp>
        <p:nvSpPr>
          <p:cNvPr id="193" name="Rounded Rectangle 192"/>
          <p:cNvSpPr/>
          <p:nvPr/>
        </p:nvSpPr>
        <p:spPr>
          <a:xfrm>
            <a:off x="1498483" y="1660000"/>
            <a:ext cx="125096" cy="120000"/>
          </a:xfrm>
          <a:prstGeom prst="roundRect">
            <a:avLst>
              <a:gd name="adj" fmla="val 20000"/>
            </a:avLst>
          </a:prstGeom>
          <a:solidFill>
            <a:srgbClr val="FF7900"/>
          </a:solidFill>
          <a:ln>
            <a:noFill/>
          </a:ln>
        </p:spPr>
        <p:txBody>
          <a:bodyPr rtlCol="0" anchor="ctr" lIns="0" rIns="0" tIns="0" bIns="0" wrap="none"/>
          <a:lstStyle/>
          <a:p>
            <a:pPr algn="ctr"/>
            <a:r>
              <a:rPr sz="500" b="1" i="0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52</a:t>
            </a:r>
          </a:p>
        </p:txBody>
      </p:sp>
      <p:sp>
        <p:nvSpPr>
          <p:cNvPr id="194" name="Rounded Rectangle 193"/>
          <p:cNvSpPr/>
          <p:nvPr/>
        </p:nvSpPr>
        <p:spPr>
          <a:xfrm>
            <a:off x="1772677" y="1660000"/>
            <a:ext cx="125096" cy="120000"/>
          </a:xfrm>
          <a:prstGeom prst="roundRect">
            <a:avLst>
              <a:gd name="adj" fmla="val 20000"/>
            </a:avLst>
          </a:prstGeom>
          <a:solidFill>
            <a:srgbClr val="FF7900"/>
          </a:solidFill>
          <a:ln>
            <a:noFill/>
          </a:ln>
        </p:spPr>
        <p:txBody>
          <a:bodyPr rtlCol="0" anchor="ctr" lIns="0" rIns="0" tIns="0" bIns="0" wrap="none"/>
          <a:lstStyle/>
          <a:p>
            <a:pPr algn="ctr"/>
            <a:r>
              <a:rPr sz="500" b="1" i="0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53</a:t>
            </a:r>
          </a:p>
        </p:txBody>
      </p:sp>
      <p:sp>
        <p:nvSpPr>
          <p:cNvPr id="195" name="Rounded Rectangle 194"/>
          <p:cNvSpPr/>
          <p:nvPr/>
        </p:nvSpPr>
        <p:spPr>
          <a:xfrm>
            <a:off x="2183967" y="1660000"/>
            <a:ext cx="125096" cy="120000"/>
          </a:xfrm>
          <a:prstGeom prst="roundRect">
            <a:avLst>
              <a:gd name="adj" fmla="val 20000"/>
            </a:avLst>
          </a:prstGeom>
          <a:solidFill>
            <a:srgbClr val="FF7900"/>
          </a:solidFill>
          <a:ln>
            <a:noFill/>
          </a:ln>
        </p:spPr>
        <p:txBody>
          <a:bodyPr rtlCol="0" anchor="ctr" lIns="0" rIns="0" tIns="0" bIns="0" wrap="none"/>
          <a:lstStyle/>
          <a:p>
            <a:pPr algn="ctr"/>
            <a:r>
              <a:rPr sz="500" b="1" i="0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54</a:t>
            </a:r>
          </a:p>
        </p:txBody>
      </p:sp>
      <p:sp>
        <p:nvSpPr>
          <p:cNvPr id="196" name="Rounded Rectangle 195"/>
          <p:cNvSpPr/>
          <p:nvPr/>
        </p:nvSpPr>
        <p:spPr>
          <a:xfrm>
            <a:off x="2595258" y="1660000"/>
            <a:ext cx="125096" cy="120000"/>
          </a:xfrm>
          <a:prstGeom prst="roundRect">
            <a:avLst>
              <a:gd name="adj" fmla="val 20000"/>
            </a:avLst>
          </a:prstGeom>
          <a:solidFill>
            <a:srgbClr val="FF7900"/>
          </a:solidFill>
          <a:ln>
            <a:noFill/>
          </a:ln>
        </p:spPr>
        <p:txBody>
          <a:bodyPr rtlCol="0" anchor="ctr" lIns="0" rIns="0" tIns="0" bIns="0" wrap="none"/>
          <a:lstStyle/>
          <a:p>
            <a:pPr algn="ctr"/>
            <a:r>
              <a:rPr sz="500" b="1" i="0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55</a:t>
            </a:r>
          </a:p>
        </p:txBody>
      </p:sp>
      <p:sp>
        <p:nvSpPr>
          <p:cNvPr id="197" name="Rounded Rectangle 196"/>
          <p:cNvSpPr/>
          <p:nvPr/>
        </p:nvSpPr>
        <p:spPr>
          <a:xfrm>
            <a:off x="3006548" y="1660000"/>
            <a:ext cx="125096" cy="120000"/>
          </a:xfrm>
          <a:prstGeom prst="roundRect">
            <a:avLst>
              <a:gd name="adj" fmla="val 20000"/>
            </a:avLst>
          </a:prstGeom>
          <a:solidFill>
            <a:srgbClr val="FF7900"/>
          </a:solidFill>
          <a:ln>
            <a:noFill/>
          </a:ln>
        </p:spPr>
        <p:txBody>
          <a:bodyPr rtlCol="0" anchor="ctr" lIns="0" rIns="0" tIns="0" bIns="0" wrap="none"/>
          <a:lstStyle/>
          <a:p>
            <a:pPr algn="ctr"/>
            <a:r>
              <a:rPr sz="500" b="1" i="0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56</a:t>
            </a:r>
          </a:p>
        </p:txBody>
      </p:sp>
      <p:sp>
        <p:nvSpPr>
          <p:cNvPr id="198" name="Rounded Rectangle 197"/>
          <p:cNvSpPr/>
          <p:nvPr/>
        </p:nvSpPr>
        <p:spPr>
          <a:xfrm>
            <a:off x="3417838" y="1660000"/>
            <a:ext cx="125096" cy="120000"/>
          </a:xfrm>
          <a:prstGeom prst="roundRect">
            <a:avLst>
              <a:gd name="adj" fmla="val 20000"/>
            </a:avLst>
          </a:prstGeom>
          <a:solidFill>
            <a:srgbClr val="FF7900"/>
          </a:solidFill>
          <a:ln>
            <a:noFill/>
          </a:ln>
        </p:spPr>
        <p:txBody>
          <a:bodyPr rtlCol="0" anchor="ctr" lIns="0" rIns="0" tIns="0" bIns="0" wrap="none"/>
          <a:lstStyle/>
          <a:p>
            <a:pPr algn="ctr"/>
            <a:r>
              <a:rPr sz="500" b="1" i="0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57</a:t>
            </a:r>
          </a:p>
        </p:txBody>
      </p:sp>
      <p:sp>
        <p:nvSpPr>
          <p:cNvPr id="199" name="Rounded Rectangle 198"/>
          <p:cNvSpPr/>
          <p:nvPr/>
        </p:nvSpPr>
        <p:spPr>
          <a:xfrm>
            <a:off x="3829129" y="1660000"/>
            <a:ext cx="125096" cy="120000"/>
          </a:xfrm>
          <a:prstGeom prst="roundRect">
            <a:avLst>
              <a:gd name="adj" fmla="val 20000"/>
            </a:avLst>
          </a:prstGeom>
          <a:solidFill>
            <a:srgbClr val="FF7900"/>
          </a:solidFill>
          <a:ln>
            <a:noFill/>
          </a:ln>
        </p:spPr>
        <p:txBody>
          <a:bodyPr rtlCol="0" anchor="ctr" lIns="0" rIns="0" tIns="0" bIns="0" wrap="none"/>
          <a:lstStyle/>
          <a:p>
            <a:pPr algn="ctr"/>
            <a:r>
              <a:rPr sz="500" b="1" i="0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58</a:t>
            </a:r>
          </a:p>
        </p:txBody>
      </p:sp>
      <p:sp>
        <p:nvSpPr>
          <p:cNvPr id="200" name="Rounded Rectangle 199"/>
          <p:cNvSpPr/>
          <p:nvPr/>
        </p:nvSpPr>
        <p:spPr>
          <a:xfrm>
            <a:off x="4240419" y="1660000"/>
            <a:ext cx="125096" cy="120000"/>
          </a:xfrm>
          <a:prstGeom prst="roundRect">
            <a:avLst>
              <a:gd name="adj" fmla="val 20000"/>
            </a:avLst>
          </a:prstGeom>
          <a:solidFill>
            <a:srgbClr val="FF7900"/>
          </a:solidFill>
          <a:ln>
            <a:noFill/>
          </a:ln>
        </p:spPr>
        <p:txBody>
          <a:bodyPr rtlCol="0" anchor="ctr" lIns="0" rIns="0" tIns="0" bIns="0" wrap="none"/>
          <a:lstStyle/>
          <a:p>
            <a:pPr algn="ctr"/>
            <a:r>
              <a:rPr sz="500" b="1" i="0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59</a:t>
            </a:r>
          </a:p>
        </p:txBody>
      </p:sp>
      <p:sp>
        <p:nvSpPr>
          <p:cNvPr id="201" name="Rounded Rectangle 200"/>
          <p:cNvSpPr/>
          <p:nvPr/>
        </p:nvSpPr>
        <p:spPr>
          <a:xfrm>
            <a:off x="4651709" y="1660000"/>
            <a:ext cx="125096" cy="120000"/>
          </a:xfrm>
          <a:prstGeom prst="roundRect">
            <a:avLst>
              <a:gd name="adj" fmla="val 20000"/>
            </a:avLst>
          </a:prstGeom>
          <a:solidFill>
            <a:srgbClr val="FF7900"/>
          </a:solidFill>
          <a:ln>
            <a:noFill/>
          </a:ln>
        </p:spPr>
        <p:txBody>
          <a:bodyPr rtlCol="0" anchor="ctr" lIns="0" rIns="0" tIns="0" bIns="0" wrap="none"/>
          <a:lstStyle/>
          <a:p>
            <a:pPr algn="ctr"/>
            <a:r>
              <a:rPr sz="500" b="1" i="0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60</a:t>
            </a:r>
          </a:p>
        </p:txBody>
      </p:sp>
      <p:sp>
        <p:nvSpPr>
          <p:cNvPr id="202" name="TextBox 201"/>
          <p:cNvSpPr txBox="1"/>
          <p:nvPr/>
        </p:nvSpPr>
        <p:spPr>
          <a:xfrm>
            <a:off x="5097000" y="1640000"/>
            <a:ext cx="650000" cy="160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680" b="1" i="0">
                <a:solidFill>
                  <a:srgbClr val="1A1A1A"/>
                </a:solidFill>
                <a:latin typeface="Noto Sans KR"/>
                <a:ea typeface="Noto Sans KR"/>
                <a:cs typeface="Noto Sans KR"/>
              </a:rPr>
              <a:t>11개</a:t>
            </a:r>
            <a:r>
              <a:rPr sz="650" b="1" i="0">
                <a:solidFill>
                  <a:srgbClr val="7F7F7F"/>
                </a:solidFill>
                <a:latin typeface="Noto Sans KR"/>
                <a:ea typeface="Noto Sans KR"/>
                <a:cs typeface="Noto Sans KR"/>
              </a:rPr>
              <a:t> / T 11</a:t>
            </a:r>
          </a:p>
        </p:txBody>
      </p:sp>
      <p:sp>
        <p:nvSpPr>
          <p:cNvPr id="203" name="Rectangle 202"/>
          <p:cNvSpPr/>
          <p:nvPr/>
        </p:nvSpPr>
        <p:spPr>
          <a:xfrm>
            <a:off x="807000" y="1812000"/>
            <a:ext cx="4250000" cy="136000"/>
          </a:xfrm>
          <a:prstGeom prst="rect">
            <a:avLst/>
          </a:prstGeom>
          <a:solidFill>
            <a:srgbClr val="F9F9F9"/>
          </a:solidFill>
          <a:ln w="6350">
            <a:solidFill>
              <a:srgbClr val="D9D9D9"/>
            </a:solidFill>
          </a:ln>
        </p:spPr>
        <p:txBody>
          <a:bodyPr rtlCol="0" anchor="ctr" lIns="30000" rIns="30000" tIns="0" bIns="0" wrap="square"/>
          <a:lstStyle/>
          <a:p>
            <a:pPr algn="ctr"/>
          </a:p>
        </p:txBody>
      </p:sp>
      <p:sp>
        <p:nvSpPr>
          <p:cNvPr id="204" name="TextBox 203"/>
          <p:cNvSpPr txBox="1"/>
          <p:nvPr/>
        </p:nvSpPr>
        <p:spPr>
          <a:xfrm>
            <a:off x="287000" y="1800000"/>
            <a:ext cx="490000" cy="160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680" b="1" i="0">
                <a:solidFill>
                  <a:srgbClr val="1A1A1A"/>
                </a:solidFill>
                <a:latin typeface="Noto Sans KR"/>
                <a:ea typeface="Noto Sans KR"/>
                <a:cs typeface="Noto Sans KR"/>
              </a:rPr>
              <a:t>8월</a:t>
            </a:r>
          </a:p>
        </p:txBody>
      </p:sp>
      <p:sp>
        <p:nvSpPr>
          <p:cNvPr id="205" name="Rounded Rectangle 204"/>
          <p:cNvSpPr/>
          <p:nvPr/>
        </p:nvSpPr>
        <p:spPr>
          <a:xfrm>
            <a:off x="813000" y="1820000"/>
            <a:ext cx="125096" cy="120000"/>
          </a:xfrm>
          <a:prstGeom prst="roundRect">
            <a:avLst>
              <a:gd name="adj" fmla="val 20000"/>
            </a:avLst>
          </a:prstGeom>
          <a:solidFill>
            <a:srgbClr val="FF7900"/>
          </a:solidFill>
          <a:ln>
            <a:noFill/>
          </a:ln>
        </p:spPr>
        <p:txBody>
          <a:bodyPr rtlCol="0" anchor="ctr" lIns="0" rIns="0" tIns="0" bIns="0" wrap="none"/>
          <a:lstStyle/>
          <a:p>
            <a:pPr algn="ctr"/>
            <a:r>
              <a:rPr sz="500" b="1" i="0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61</a:t>
            </a:r>
          </a:p>
        </p:txBody>
      </p:sp>
      <p:sp>
        <p:nvSpPr>
          <p:cNvPr id="206" name="Rounded Rectangle 205"/>
          <p:cNvSpPr/>
          <p:nvPr/>
        </p:nvSpPr>
        <p:spPr>
          <a:xfrm>
            <a:off x="1224290" y="1820000"/>
            <a:ext cx="125096" cy="120000"/>
          </a:xfrm>
          <a:prstGeom prst="roundRect">
            <a:avLst>
              <a:gd name="adj" fmla="val 20000"/>
            </a:avLst>
          </a:prstGeom>
          <a:solidFill>
            <a:srgbClr val="FF7900"/>
          </a:solidFill>
          <a:ln>
            <a:noFill/>
          </a:ln>
        </p:spPr>
        <p:txBody>
          <a:bodyPr rtlCol="0" anchor="ctr" lIns="0" rIns="0" tIns="0" bIns="0" wrap="none"/>
          <a:lstStyle/>
          <a:p>
            <a:pPr algn="ctr"/>
            <a:r>
              <a:rPr sz="500" b="1" i="0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62</a:t>
            </a:r>
          </a:p>
        </p:txBody>
      </p:sp>
      <p:sp>
        <p:nvSpPr>
          <p:cNvPr id="207" name="Rounded Rectangle 206"/>
          <p:cNvSpPr/>
          <p:nvPr/>
        </p:nvSpPr>
        <p:spPr>
          <a:xfrm>
            <a:off x="1635580" y="1820000"/>
            <a:ext cx="125096" cy="120000"/>
          </a:xfrm>
          <a:prstGeom prst="roundRect">
            <a:avLst>
              <a:gd name="adj" fmla="val 20000"/>
            </a:avLst>
          </a:prstGeom>
          <a:solidFill>
            <a:srgbClr val="FF7900"/>
          </a:solidFill>
          <a:ln>
            <a:noFill/>
          </a:ln>
        </p:spPr>
        <p:txBody>
          <a:bodyPr rtlCol="0" anchor="ctr" lIns="0" rIns="0" tIns="0" bIns="0" wrap="none"/>
          <a:lstStyle/>
          <a:p>
            <a:pPr algn="ctr"/>
            <a:r>
              <a:rPr sz="500" b="1" i="0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63</a:t>
            </a:r>
          </a:p>
        </p:txBody>
      </p:sp>
      <p:sp>
        <p:nvSpPr>
          <p:cNvPr id="208" name="Rounded Rectangle 207"/>
          <p:cNvSpPr/>
          <p:nvPr/>
        </p:nvSpPr>
        <p:spPr>
          <a:xfrm>
            <a:off x="2046870" y="1820000"/>
            <a:ext cx="125096" cy="120000"/>
          </a:xfrm>
          <a:prstGeom prst="roundRect">
            <a:avLst>
              <a:gd name="adj" fmla="val 20000"/>
            </a:avLst>
          </a:prstGeom>
          <a:solidFill>
            <a:srgbClr val="FF7900"/>
          </a:solidFill>
          <a:ln>
            <a:noFill/>
          </a:ln>
        </p:spPr>
        <p:txBody>
          <a:bodyPr rtlCol="0" anchor="ctr" lIns="0" rIns="0" tIns="0" bIns="0" wrap="none"/>
          <a:lstStyle/>
          <a:p>
            <a:pPr algn="ctr"/>
            <a:r>
              <a:rPr sz="500" b="1" i="0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64</a:t>
            </a:r>
          </a:p>
        </p:txBody>
      </p:sp>
      <p:sp>
        <p:nvSpPr>
          <p:cNvPr id="209" name="Rounded Rectangle 208"/>
          <p:cNvSpPr/>
          <p:nvPr/>
        </p:nvSpPr>
        <p:spPr>
          <a:xfrm>
            <a:off x="2458161" y="1820000"/>
            <a:ext cx="125096" cy="120000"/>
          </a:xfrm>
          <a:prstGeom prst="roundRect">
            <a:avLst>
              <a:gd name="adj" fmla="val 20000"/>
            </a:avLst>
          </a:prstGeom>
          <a:solidFill>
            <a:srgbClr val="FF7900"/>
          </a:solidFill>
          <a:ln>
            <a:noFill/>
          </a:ln>
        </p:spPr>
        <p:txBody>
          <a:bodyPr rtlCol="0" anchor="ctr" lIns="0" rIns="0" tIns="0" bIns="0" wrap="none"/>
          <a:lstStyle/>
          <a:p>
            <a:pPr algn="ctr"/>
            <a:r>
              <a:rPr sz="500" b="1" i="0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65</a:t>
            </a:r>
          </a:p>
        </p:txBody>
      </p:sp>
      <p:sp>
        <p:nvSpPr>
          <p:cNvPr id="210" name="Rounded Rectangle 209"/>
          <p:cNvSpPr/>
          <p:nvPr/>
        </p:nvSpPr>
        <p:spPr>
          <a:xfrm>
            <a:off x="2869451" y="1820000"/>
            <a:ext cx="125096" cy="120000"/>
          </a:xfrm>
          <a:prstGeom prst="roundRect">
            <a:avLst>
              <a:gd name="adj" fmla="val 20000"/>
            </a:avLst>
          </a:prstGeom>
          <a:solidFill>
            <a:srgbClr val="FF7900"/>
          </a:solidFill>
          <a:ln>
            <a:noFill/>
          </a:ln>
        </p:spPr>
        <p:txBody>
          <a:bodyPr rtlCol="0" anchor="ctr" lIns="0" rIns="0" tIns="0" bIns="0" wrap="none"/>
          <a:lstStyle/>
          <a:p>
            <a:pPr algn="ctr"/>
            <a:r>
              <a:rPr sz="500" b="1" i="0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66</a:t>
            </a:r>
          </a:p>
        </p:txBody>
      </p:sp>
      <p:sp>
        <p:nvSpPr>
          <p:cNvPr id="211" name="Rounded Rectangle 210"/>
          <p:cNvSpPr/>
          <p:nvPr/>
        </p:nvSpPr>
        <p:spPr>
          <a:xfrm>
            <a:off x="3280741" y="1820000"/>
            <a:ext cx="125096" cy="120000"/>
          </a:xfrm>
          <a:prstGeom prst="roundRect">
            <a:avLst>
              <a:gd name="adj" fmla="val 20000"/>
            </a:avLst>
          </a:prstGeom>
          <a:solidFill>
            <a:srgbClr val="FF7900"/>
          </a:solidFill>
          <a:ln>
            <a:noFill/>
          </a:ln>
        </p:spPr>
        <p:txBody>
          <a:bodyPr rtlCol="0" anchor="ctr" lIns="0" rIns="0" tIns="0" bIns="0" wrap="none"/>
          <a:lstStyle/>
          <a:p>
            <a:pPr algn="ctr"/>
            <a:r>
              <a:rPr sz="500" b="1" i="0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67</a:t>
            </a:r>
          </a:p>
        </p:txBody>
      </p:sp>
      <p:sp>
        <p:nvSpPr>
          <p:cNvPr id="212" name="Rounded Rectangle 211"/>
          <p:cNvSpPr/>
          <p:nvPr/>
        </p:nvSpPr>
        <p:spPr>
          <a:xfrm>
            <a:off x="3692032" y="1820000"/>
            <a:ext cx="125096" cy="120000"/>
          </a:xfrm>
          <a:prstGeom prst="roundRect">
            <a:avLst>
              <a:gd name="adj" fmla="val 20000"/>
            </a:avLst>
          </a:prstGeom>
          <a:solidFill>
            <a:srgbClr val="FF7900"/>
          </a:solidFill>
          <a:ln>
            <a:noFill/>
          </a:ln>
        </p:spPr>
        <p:txBody>
          <a:bodyPr rtlCol="0" anchor="ctr" lIns="0" rIns="0" tIns="0" bIns="0" wrap="none"/>
          <a:lstStyle/>
          <a:p>
            <a:pPr algn="ctr"/>
            <a:r>
              <a:rPr sz="500" b="1" i="0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68</a:t>
            </a:r>
          </a:p>
        </p:txBody>
      </p:sp>
      <p:sp>
        <p:nvSpPr>
          <p:cNvPr id="213" name="Rounded Rectangle 212"/>
          <p:cNvSpPr/>
          <p:nvPr/>
        </p:nvSpPr>
        <p:spPr>
          <a:xfrm>
            <a:off x="4103322" y="1820000"/>
            <a:ext cx="125096" cy="120000"/>
          </a:xfrm>
          <a:prstGeom prst="roundRect">
            <a:avLst>
              <a:gd name="adj" fmla="val 20000"/>
            </a:avLst>
          </a:prstGeom>
          <a:solidFill>
            <a:srgbClr val="FF7900"/>
          </a:solidFill>
          <a:ln>
            <a:noFill/>
          </a:ln>
        </p:spPr>
        <p:txBody>
          <a:bodyPr rtlCol="0" anchor="ctr" lIns="0" rIns="0" tIns="0" bIns="0" wrap="none"/>
          <a:lstStyle/>
          <a:p>
            <a:pPr algn="ctr"/>
            <a:r>
              <a:rPr sz="500" b="1" i="0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69</a:t>
            </a:r>
          </a:p>
        </p:txBody>
      </p:sp>
      <p:sp>
        <p:nvSpPr>
          <p:cNvPr id="214" name="Rounded Rectangle 213"/>
          <p:cNvSpPr/>
          <p:nvPr/>
        </p:nvSpPr>
        <p:spPr>
          <a:xfrm>
            <a:off x="4514612" y="1820000"/>
            <a:ext cx="125096" cy="120000"/>
          </a:xfrm>
          <a:prstGeom prst="roundRect">
            <a:avLst>
              <a:gd name="adj" fmla="val 20000"/>
            </a:avLst>
          </a:prstGeom>
          <a:solidFill>
            <a:srgbClr val="FF7900"/>
          </a:solidFill>
          <a:ln>
            <a:noFill/>
          </a:ln>
        </p:spPr>
        <p:txBody>
          <a:bodyPr rtlCol="0" anchor="ctr" lIns="0" rIns="0" tIns="0" bIns="0" wrap="none"/>
          <a:lstStyle/>
          <a:p>
            <a:pPr algn="ctr"/>
            <a:r>
              <a:rPr sz="500" b="1" i="0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70</a:t>
            </a:r>
          </a:p>
        </p:txBody>
      </p:sp>
      <p:sp>
        <p:nvSpPr>
          <p:cNvPr id="215" name="Rounded Rectangle 214"/>
          <p:cNvSpPr/>
          <p:nvPr/>
        </p:nvSpPr>
        <p:spPr>
          <a:xfrm>
            <a:off x="4925903" y="1820000"/>
            <a:ext cx="125096" cy="120000"/>
          </a:xfrm>
          <a:prstGeom prst="roundRect">
            <a:avLst>
              <a:gd name="adj" fmla="val 20000"/>
            </a:avLst>
          </a:prstGeom>
          <a:solidFill>
            <a:srgbClr val="FF7900"/>
          </a:solidFill>
          <a:ln>
            <a:noFill/>
          </a:ln>
        </p:spPr>
        <p:txBody>
          <a:bodyPr rtlCol="0" anchor="ctr" lIns="0" rIns="0" tIns="0" bIns="0" wrap="none"/>
          <a:lstStyle/>
          <a:p>
            <a:pPr algn="ctr"/>
            <a:r>
              <a:rPr sz="500" b="1" i="0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71</a:t>
            </a:r>
          </a:p>
        </p:txBody>
      </p:sp>
      <p:sp>
        <p:nvSpPr>
          <p:cNvPr id="216" name="TextBox 215"/>
          <p:cNvSpPr txBox="1"/>
          <p:nvPr/>
        </p:nvSpPr>
        <p:spPr>
          <a:xfrm>
            <a:off x="5097000" y="1800000"/>
            <a:ext cx="650000" cy="160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680" b="1" i="0">
                <a:solidFill>
                  <a:srgbClr val="1A1A1A"/>
                </a:solidFill>
                <a:latin typeface="Noto Sans KR"/>
                <a:ea typeface="Noto Sans KR"/>
                <a:cs typeface="Noto Sans KR"/>
              </a:rPr>
              <a:t>11개</a:t>
            </a:r>
            <a:r>
              <a:rPr sz="650" b="1" i="0">
                <a:solidFill>
                  <a:srgbClr val="EB002C"/>
                </a:solidFill>
                <a:latin typeface="Noto Sans KR"/>
                <a:ea typeface="Noto Sans KR"/>
                <a:cs typeface="Noto Sans KR"/>
              </a:rPr>
              <a:t> / T 8</a:t>
            </a:r>
          </a:p>
        </p:txBody>
      </p:sp>
      <p:sp>
        <p:nvSpPr>
          <p:cNvPr id="217" name="Rectangle 216"/>
          <p:cNvSpPr/>
          <p:nvPr/>
        </p:nvSpPr>
        <p:spPr>
          <a:xfrm>
            <a:off x="807000" y="1972000"/>
            <a:ext cx="4250000" cy="136000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</p:spPr>
        <p:txBody>
          <a:bodyPr rtlCol="0" anchor="ctr" lIns="30000" rIns="30000" tIns="0" bIns="0" wrap="square"/>
          <a:lstStyle/>
          <a:p>
            <a:pPr algn="ctr"/>
          </a:p>
        </p:txBody>
      </p:sp>
      <p:sp>
        <p:nvSpPr>
          <p:cNvPr id="218" name="TextBox 217"/>
          <p:cNvSpPr txBox="1"/>
          <p:nvPr/>
        </p:nvSpPr>
        <p:spPr>
          <a:xfrm>
            <a:off x="287000" y="1960000"/>
            <a:ext cx="490000" cy="160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680" b="1" i="0">
                <a:solidFill>
                  <a:srgbClr val="1A1A1A"/>
                </a:solidFill>
                <a:latin typeface="Noto Sans KR"/>
                <a:ea typeface="Noto Sans KR"/>
                <a:cs typeface="Noto Sans KR"/>
              </a:rPr>
              <a:t>9월</a:t>
            </a:r>
          </a:p>
        </p:txBody>
      </p:sp>
      <p:sp>
        <p:nvSpPr>
          <p:cNvPr id="219" name="Rounded Rectangle 218"/>
          <p:cNvSpPr/>
          <p:nvPr/>
        </p:nvSpPr>
        <p:spPr>
          <a:xfrm>
            <a:off x="1087193" y="1980000"/>
            <a:ext cx="125096" cy="120000"/>
          </a:xfrm>
          <a:prstGeom prst="roundRect">
            <a:avLst>
              <a:gd name="adj" fmla="val 20000"/>
            </a:avLst>
          </a:prstGeom>
          <a:solidFill>
            <a:srgbClr val="FF7900"/>
          </a:solidFill>
          <a:ln>
            <a:noFill/>
          </a:ln>
        </p:spPr>
        <p:txBody>
          <a:bodyPr rtlCol="0" anchor="ctr" lIns="0" rIns="0" tIns="0" bIns="0" wrap="none"/>
          <a:lstStyle/>
          <a:p>
            <a:pPr algn="ctr"/>
            <a:r>
              <a:rPr sz="500" b="1" i="0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72</a:t>
            </a:r>
          </a:p>
        </p:txBody>
      </p:sp>
      <p:sp>
        <p:nvSpPr>
          <p:cNvPr id="220" name="Rounded Rectangle 219"/>
          <p:cNvSpPr/>
          <p:nvPr/>
        </p:nvSpPr>
        <p:spPr>
          <a:xfrm>
            <a:off x="1361387" y="1980000"/>
            <a:ext cx="125096" cy="120000"/>
          </a:xfrm>
          <a:prstGeom prst="roundRect">
            <a:avLst>
              <a:gd name="adj" fmla="val 20000"/>
            </a:avLst>
          </a:prstGeom>
          <a:solidFill>
            <a:srgbClr val="FF7900"/>
          </a:solidFill>
          <a:ln>
            <a:noFill/>
          </a:ln>
        </p:spPr>
        <p:txBody>
          <a:bodyPr rtlCol="0" anchor="ctr" lIns="0" rIns="0" tIns="0" bIns="0" wrap="none"/>
          <a:lstStyle/>
          <a:p>
            <a:pPr algn="ctr"/>
            <a:r>
              <a:rPr sz="500" b="1" i="0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73</a:t>
            </a:r>
          </a:p>
        </p:txBody>
      </p:sp>
      <p:sp>
        <p:nvSpPr>
          <p:cNvPr id="221" name="Rounded Rectangle 220"/>
          <p:cNvSpPr/>
          <p:nvPr/>
        </p:nvSpPr>
        <p:spPr>
          <a:xfrm>
            <a:off x="1635580" y="1980000"/>
            <a:ext cx="125096" cy="120000"/>
          </a:xfrm>
          <a:prstGeom prst="roundRect">
            <a:avLst>
              <a:gd name="adj" fmla="val 20000"/>
            </a:avLst>
          </a:prstGeom>
          <a:solidFill>
            <a:srgbClr val="FF7900"/>
          </a:solidFill>
          <a:ln>
            <a:noFill/>
          </a:ln>
        </p:spPr>
        <p:txBody>
          <a:bodyPr rtlCol="0" anchor="ctr" lIns="0" rIns="0" tIns="0" bIns="0" wrap="none"/>
          <a:lstStyle/>
          <a:p>
            <a:pPr algn="ctr"/>
            <a:r>
              <a:rPr sz="500" b="1" i="0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74</a:t>
            </a:r>
          </a:p>
        </p:txBody>
      </p:sp>
      <p:sp>
        <p:nvSpPr>
          <p:cNvPr id="222" name="Rounded Rectangle 221"/>
          <p:cNvSpPr/>
          <p:nvPr/>
        </p:nvSpPr>
        <p:spPr>
          <a:xfrm>
            <a:off x="1909774" y="1980000"/>
            <a:ext cx="125096" cy="120000"/>
          </a:xfrm>
          <a:prstGeom prst="roundRect">
            <a:avLst>
              <a:gd name="adj" fmla="val 20000"/>
            </a:avLst>
          </a:prstGeom>
          <a:solidFill>
            <a:srgbClr val="FF7900"/>
          </a:solidFill>
          <a:ln>
            <a:noFill/>
          </a:ln>
        </p:spPr>
        <p:txBody>
          <a:bodyPr rtlCol="0" anchor="ctr" lIns="0" rIns="0" tIns="0" bIns="0" wrap="none"/>
          <a:lstStyle/>
          <a:p>
            <a:pPr algn="ctr"/>
            <a:r>
              <a:rPr sz="500" b="1" i="0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75</a:t>
            </a:r>
          </a:p>
        </p:txBody>
      </p:sp>
      <p:sp>
        <p:nvSpPr>
          <p:cNvPr id="223" name="Rounded Rectangle 222"/>
          <p:cNvSpPr/>
          <p:nvPr/>
        </p:nvSpPr>
        <p:spPr>
          <a:xfrm>
            <a:off x="2183967" y="1980000"/>
            <a:ext cx="125096" cy="120000"/>
          </a:xfrm>
          <a:prstGeom prst="roundRect">
            <a:avLst>
              <a:gd name="adj" fmla="val 20000"/>
            </a:avLst>
          </a:prstGeom>
          <a:solidFill>
            <a:srgbClr val="FF7900"/>
          </a:solidFill>
          <a:ln>
            <a:noFill/>
          </a:ln>
        </p:spPr>
        <p:txBody>
          <a:bodyPr rtlCol="0" anchor="ctr" lIns="0" rIns="0" tIns="0" bIns="0" wrap="none"/>
          <a:lstStyle/>
          <a:p>
            <a:pPr algn="ctr"/>
            <a:r>
              <a:rPr sz="500" b="1" i="0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76</a:t>
            </a:r>
          </a:p>
        </p:txBody>
      </p:sp>
      <p:sp>
        <p:nvSpPr>
          <p:cNvPr id="224" name="Rounded Rectangle 223"/>
          <p:cNvSpPr/>
          <p:nvPr/>
        </p:nvSpPr>
        <p:spPr>
          <a:xfrm>
            <a:off x="2595258" y="1980000"/>
            <a:ext cx="125096" cy="120000"/>
          </a:xfrm>
          <a:prstGeom prst="roundRect">
            <a:avLst>
              <a:gd name="adj" fmla="val 20000"/>
            </a:avLst>
          </a:prstGeom>
          <a:solidFill>
            <a:srgbClr val="FF7900"/>
          </a:solidFill>
          <a:ln>
            <a:noFill/>
          </a:ln>
        </p:spPr>
        <p:txBody>
          <a:bodyPr rtlCol="0" anchor="ctr" lIns="0" rIns="0" tIns="0" bIns="0" wrap="none"/>
          <a:lstStyle/>
          <a:p>
            <a:pPr algn="ctr"/>
            <a:r>
              <a:rPr sz="500" b="1" i="0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77</a:t>
            </a:r>
          </a:p>
        </p:txBody>
      </p:sp>
      <p:sp>
        <p:nvSpPr>
          <p:cNvPr id="225" name="Rounded Rectangle 224"/>
          <p:cNvSpPr/>
          <p:nvPr/>
        </p:nvSpPr>
        <p:spPr>
          <a:xfrm>
            <a:off x="3280741" y="1980000"/>
            <a:ext cx="125096" cy="120000"/>
          </a:xfrm>
          <a:prstGeom prst="roundRect">
            <a:avLst>
              <a:gd name="adj" fmla="val 20000"/>
            </a:avLst>
          </a:prstGeom>
          <a:solidFill>
            <a:srgbClr val="FF7900"/>
          </a:solidFill>
          <a:ln>
            <a:noFill/>
          </a:ln>
        </p:spPr>
        <p:txBody>
          <a:bodyPr rtlCol="0" anchor="ctr" lIns="0" rIns="0" tIns="0" bIns="0" wrap="none"/>
          <a:lstStyle/>
          <a:p>
            <a:pPr algn="ctr"/>
            <a:r>
              <a:rPr sz="500" b="1" i="0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78</a:t>
            </a:r>
          </a:p>
        </p:txBody>
      </p:sp>
      <p:sp>
        <p:nvSpPr>
          <p:cNvPr id="226" name="Rounded Rectangle 225"/>
          <p:cNvSpPr/>
          <p:nvPr/>
        </p:nvSpPr>
        <p:spPr>
          <a:xfrm>
            <a:off x="3829129" y="1980000"/>
            <a:ext cx="125096" cy="120000"/>
          </a:xfrm>
          <a:prstGeom prst="roundRect">
            <a:avLst>
              <a:gd name="adj" fmla="val 20000"/>
            </a:avLst>
          </a:prstGeom>
          <a:solidFill>
            <a:srgbClr val="FF7900"/>
          </a:solidFill>
          <a:ln>
            <a:noFill/>
          </a:ln>
        </p:spPr>
        <p:txBody>
          <a:bodyPr rtlCol="0" anchor="ctr" lIns="0" rIns="0" tIns="0" bIns="0" wrap="none"/>
          <a:lstStyle/>
          <a:p>
            <a:pPr algn="ctr"/>
            <a:r>
              <a:rPr sz="500" b="1" i="0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79</a:t>
            </a:r>
          </a:p>
        </p:txBody>
      </p:sp>
      <p:sp>
        <p:nvSpPr>
          <p:cNvPr id="227" name="Rounded Rectangle 226"/>
          <p:cNvSpPr/>
          <p:nvPr/>
        </p:nvSpPr>
        <p:spPr>
          <a:xfrm>
            <a:off x="4240419" y="1980000"/>
            <a:ext cx="125096" cy="120000"/>
          </a:xfrm>
          <a:prstGeom prst="roundRect">
            <a:avLst>
              <a:gd name="adj" fmla="val 20000"/>
            </a:avLst>
          </a:prstGeom>
          <a:solidFill>
            <a:srgbClr val="FF7900"/>
          </a:solidFill>
          <a:ln>
            <a:noFill/>
          </a:ln>
        </p:spPr>
        <p:txBody>
          <a:bodyPr rtlCol="0" anchor="ctr" lIns="0" rIns="0" tIns="0" bIns="0" wrap="none"/>
          <a:lstStyle/>
          <a:p>
            <a:pPr algn="ctr"/>
            <a:r>
              <a:rPr sz="500" b="1" i="0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80</a:t>
            </a:r>
          </a:p>
        </p:txBody>
      </p:sp>
      <p:sp>
        <p:nvSpPr>
          <p:cNvPr id="228" name="Rounded Rectangle 227"/>
          <p:cNvSpPr/>
          <p:nvPr/>
        </p:nvSpPr>
        <p:spPr>
          <a:xfrm>
            <a:off x="4514612" y="1980000"/>
            <a:ext cx="125096" cy="120000"/>
          </a:xfrm>
          <a:prstGeom prst="roundRect">
            <a:avLst>
              <a:gd name="adj" fmla="val 20000"/>
            </a:avLst>
          </a:prstGeom>
          <a:solidFill>
            <a:srgbClr val="FF7900"/>
          </a:solidFill>
          <a:ln>
            <a:noFill/>
          </a:ln>
        </p:spPr>
        <p:txBody>
          <a:bodyPr rtlCol="0" anchor="ctr" lIns="0" rIns="0" tIns="0" bIns="0" wrap="none"/>
          <a:lstStyle/>
          <a:p>
            <a:pPr algn="ctr"/>
            <a:r>
              <a:rPr sz="500" b="1" i="0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81</a:t>
            </a:r>
          </a:p>
        </p:txBody>
      </p:sp>
      <p:sp>
        <p:nvSpPr>
          <p:cNvPr id="229" name="TextBox 228"/>
          <p:cNvSpPr txBox="1"/>
          <p:nvPr/>
        </p:nvSpPr>
        <p:spPr>
          <a:xfrm>
            <a:off x="5097000" y="1960000"/>
            <a:ext cx="650000" cy="160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680" b="1" i="0">
                <a:solidFill>
                  <a:srgbClr val="1A1A1A"/>
                </a:solidFill>
                <a:latin typeface="Noto Sans KR"/>
                <a:ea typeface="Noto Sans KR"/>
                <a:cs typeface="Noto Sans KR"/>
              </a:rPr>
              <a:t>10개</a:t>
            </a:r>
            <a:r>
              <a:rPr sz="650" b="1" i="0">
                <a:solidFill>
                  <a:srgbClr val="EB002C"/>
                </a:solidFill>
                <a:latin typeface="Noto Sans KR"/>
                <a:ea typeface="Noto Sans KR"/>
                <a:cs typeface="Noto Sans KR"/>
              </a:rPr>
              <a:t> / T 8</a:t>
            </a:r>
          </a:p>
        </p:txBody>
      </p:sp>
      <p:sp>
        <p:nvSpPr>
          <p:cNvPr id="230" name="Rectangle 229"/>
          <p:cNvSpPr/>
          <p:nvPr/>
        </p:nvSpPr>
        <p:spPr>
          <a:xfrm>
            <a:off x="807000" y="2132000"/>
            <a:ext cx="4250000" cy="136000"/>
          </a:xfrm>
          <a:prstGeom prst="rect">
            <a:avLst/>
          </a:prstGeom>
          <a:solidFill>
            <a:srgbClr val="F9F9F9"/>
          </a:solidFill>
          <a:ln w="6350">
            <a:solidFill>
              <a:srgbClr val="D9D9D9"/>
            </a:solidFill>
          </a:ln>
        </p:spPr>
        <p:txBody>
          <a:bodyPr rtlCol="0" anchor="ctr" lIns="30000" rIns="30000" tIns="0" bIns="0" wrap="square"/>
          <a:lstStyle/>
          <a:p>
            <a:pPr algn="ctr"/>
          </a:p>
        </p:txBody>
      </p:sp>
      <p:sp>
        <p:nvSpPr>
          <p:cNvPr id="231" name="TextBox 230"/>
          <p:cNvSpPr txBox="1"/>
          <p:nvPr/>
        </p:nvSpPr>
        <p:spPr>
          <a:xfrm>
            <a:off x="287000" y="2120000"/>
            <a:ext cx="490000" cy="160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680" b="1" i="0">
                <a:solidFill>
                  <a:srgbClr val="1A1A1A"/>
                </a:solidFill>
                <a:latin typeface="Noto Sans KR"/>
                <a:ea typeface="Noto Sans KR"/>
                <a:cs typeface="Noto Sans KR"/>
              </a:rPr>
              <a:t>10월</a:t>
            </a:r>
          </a:p>
        </p:txBody>
      </p:sp>
      <p:sp>
        <p:nvSpPr>
          <p:cNvPr id="232" name="Rounded Rectangle 231"/>
          <p:cNvSpPr/>
          <p:nvPr/>
        </p:nvSpPr>
        <p:spPr>
          <a:xfrm>
            <a:off x="813000" y="2140000"/>
            <a:ext cx="125096" cy="120000"/>
          </a:xfrm>
          <a:prstGeom prst="roundRect">
            <a:avLst>
              <a:gd name="adj" fmla="val 20000"/>
            </a:avLst>
          </a:prstGeom>
          <a:solidFill>
            <a:srgbClr val="FF7900"/>
          </a:solidFill>
          <a:ln>
            <a:noFill/>
          </a:ln>
        </p:spPr>
        <p:txBody>
          <a:bodyPr rtlCol="0" anchor="ctr" lIns="0" rIns="0" tIns="0" bIns="0" wrap="none"/>
          <a:lstStyle/>
          <a:p>
            <a:pPr algn="ctr"/>
            <a:r>
              <a:rPr sz="500" b="1" i="0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82</a:t>
            </a:r>
          </a:p>
        </p:txBody>
      </p:sp>
      <p:sp>
        <p:nvSpPr>
          <p:cNvPr id="233" name="Rounded Rectangle 232"/>
          <p:cNvSpPr/>
          <p:nvPr/>
        </p:nvSpPr>
        <p:spPr>
          <a:xfrm>
            <a:off x="1224290" y="2140000"/>
            <a:ext cx="125096" cy="120000"/>
          </a:xfrm>
          <a:prstGeom prst="roundRect">
            <a:avLst>
              <a:gd name="adj" fmla="val 20000"/>
            </a:avLst>
          </a:prstGeom>
          <a:solidFill>
            <a:srgbClr val="FF7900"/>
          </a:solidFill>
          <a:ln>
            <a:noFill/>
          </a:ln>
        </p:spPr>
        <p:txBody>
          <a:bodyPr rtlCol="0" anchor="ctr" lIns="0" rIns="0" tIns="0" bIns="0" wrap="none"/>
          <a:lstStyle/>
          <a:p>
            <a:pPr algn="ctr"/>
            <a:r>
              <a:rPr sz="500" b="1" i="0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83</a:t>
            </a:r>
          </a:p>
        </p:txBody>
      </p:sp>
      <p:sp>
        <p:nvSpPr>
          <p:cNvPr id="234" name="Rounded Rectangle 233"/>
          <p:cNvSpPr/>
          <p:nvPr/>
        </p:nvSpPr>
        <p:spPr>
          <a:xfrm>
            <a:off x="1635580" y="2140000"/>
            <a:ext cx="125096" cy="120000"/>
          </a:xfrm>
          <a:prstGeom prst="roundRect">
            <a:avLst>
              <a:gd name="adj" fmla="val 20000"/>
            </a:avLst>
          </a:prstGeom>
          <a:solidFill>
            <a:srgbClr val="FF7900"/>
          </a:solidFill>
          <a:ln>
            <a:noFill/>
          </a:ln>
        </p:spPr>
        <p:txBody>
          <a:bodyPr rtlCol="0" anchor="ctr" lIns="0" rIns="0" tIns="0" bIns="0" wrap="none"/>
          <a:lstStyle/>
          <a:p>
            <a:pPr algn="ctr"/>
            <a:r>
              <a:rPr sz="500" b="1" i="0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84</a:t>
            </a:r>
          </a:p>
        </p:txBody>
      </p:sp>
      <p:sp>
        <p:nvSpPr>
          <p:cNvPr id="235" name="Rounded Rectangle 234"/>
          <p:cNvSpPr/>
          <p:nvPr/>
        </p:nvSpPr>
        <p:spPr>
          <a:xfrm>
            <a:off x="2046870" y="2140000"/>
            <a:ext cx="125096" cy="120000"/>
          </a:xfrm>
          <a:prstGeom prst="roundRect">
            <a:avLst>
              <a:gd name="adj" fmla="val 20000"/>
            </a:avLst>
          </a:prstGeom>
          <a:solidFill>
            <a:srgbClr val="FF7900"/>
          </a:solidFill>
          <a:ln>
            <a:noFill/>
          </a:ln>
        </p:spPr>
        <p:txBody>
          <a:bodyPr rtlCol="0" anchor="ctr" lIns="0" rIns="0" tIns="0" bIns="0" wrap="none"/>
          <a:lstStyle/>
          <a:p>
            <a:pPr algn="ctr"/>
            <a:r>
              <a:rPr sz="500" b="1" i="0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85</a:t>
            </a:r>
          </a:p>
        </p:txBody>
      </p:sp>
      <p:sp>
        <p:nvSpPr>
          <p:cNvPr id="236" name="Rounded Rectangle 235"/>
          <p:cNvSpPr/>
          <p:nvPr/>
        </p:nvSpPr>
        <p:spPr>
          <a:xfrm>
            <a:off x="2321064" y="2140000"/>
            <a:ext cx="125096" cy="120000"/>
          </a:xfrm>
          <a:prstGeom prst="roundRect">
            <a:avLst>
              <a:gd name="adj" fmla="val 20000"/>
            </a:avLst>
          </a:prstGeom>
          <a:solidFill>
            <a:srgbClr val="FF7900"/>
          </a:solidFill>
          <a:ln>
            <a:noFill/>
          </a:ln>
        </p:spPr>
        <p:txBody>
          <a:bodyPr rtlCol="0" anchor="ctr" lIns="0" rIns="0" tIns="0" bIns="0" wrap="none"/>
          <a:lstStyle/>
          <a:p>
            <a:pPr algn="ctr"/>
            <a:r>
              <a:rPr sz="500" b="1" i="0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86</a:t>
            </a:r>
          </a:p>
        </p:txBody>
      </p:sp>
      <p:sp>
        <p:nvSpPr>
          <p:cNvPr id="237" name="Rounded Rectangle 236"/>
          <p:cNvSpPr/>
          <p:nvPr/>
        </p:nvSpPr>
        <p:spPr>
          <a:xfrm>
            <a:off x="2732354" y="2140000"/>
            <a:ext cx="125096" cy="120000"/>
          </a:xfrm>
          <a:prstGeom prst="roundRect">
            <a:avLst>
              <a:gd name="adj" fmla="val 20000"/>
            </a:avLst>
          </a:prstGeom>
          <a:solidFill>
            <a:srgbClr val="FF7900"/>
          </a:solidFill>
          <a:ln>
            <a:noFill/>
          </a:ln>
        </p:spPr>
        <p:txBody>
          <a:bodyPr rtlCol="0" anchor="ctr" lIns="0" rIns="0" tIns="0" bIns="0" wrap="none"/>
          <a:lstStyle/>
          <a:p>
            <a:pPr algn="ctr"/>
            <a:r>
              <a:rPr sz="500" b="1" i="0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87</a:t>
            </a:r>
          </a:p>
        </p:txBody>
      </p:sp>
      <p:sp>
        <p:nvSpPr>
          <p:cNvPr id="238" name="Rounded Rectangle 237"/>
          <p:cNvSpPr/>
          <p:nvPr/>
        </p:nvSpPr>
        <p:spPr>
          <a:xfrm>
            <a:off x="3143645" y="2140000"/>
            <a:ext cx="125096" cy="120000"/>
          </a:xfrm>
          <a:prstGeom prst="roundRect">
            <a:avLst>
              <a:gd name="adj" fmla="val 20000"/>
            </a:avLst>
          </a:prstGeom>
          <a:solidFill>
            <a:srgbClr val="FF7900"/>
          </a:solidFill>
          <a:ln>
            <a:noFill/>
          </a:ln>
        </p:spPr>
        <p:txBody>
          <a:bodyPr rtlCol="0" anchor="ctr" lIns="0" rIns="0" tIns="0" bIns="0" wrap="none"/>
          <a:lstStyle/>
          <a:p>
            <a:pPr algn="ctr"/>
            <a:r>
              <a:rPr sz="500" b="1" i="0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88</a:t>
            </a:r>
          </a:p>
        </p:txBody>
      </p:sp>
      <p:sp>
        <p:nvSpPr>
          <p:cNvPr id="239" name="Rounded Rectangle 238"/>
          <p:cNvSpPr/>
          <p:nvPr/>
        </p:nvSpPr>
        <p:spPr>
          <a:xfrm>
            <a:off x="3417838" y="2140000"/>
            <a:ext cx="125096" cy="120000"/>
          </a:xfrm>
          <a:prstGeom prst="roundRect">
            <a:avLst>
              <a:gd name="adj" fmla="val 20000"/>
            </a:avLst>
          </a:prstGeom>
          <a:solidFill>
            <a:srgbClr val="FF7900"/>
          </a:solidFill>
          <a:ln>
            <a:noFill/>
          </a:ln>
        </p:spPr>
        <p:txBody>
          <a:bodyPr rtlCol="0" anchor="ctr" lIns="0" rIns="0" tIns="0" bIns="0" wrap="none"/>
          <a:lstStyle/>
          <a:p>
            <a:pPr algn="ctr"/>
            <a:r>
              <a:rPr sz="500" b="1" i="0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89</a:t>
            </a:r>
          </a:p>
        </p:txBody>
      </p:sp>
      <p:sp>
        <p:nvSpPr>
          <p:cNvPr id="240" name="Rounded Rectangle 239"/>
          <p:cNvSpPr/>
          <p:nvPr/>
        </p:nvSpPr>
        <p:spPr>
          <a:xfrm>
            <a:off x="3829129" y="2140000"/>
            <a:ext cx="125096" cy="120000"/>
          </a:xfrm>
          <a:prstGeom prst="roundRect">
            <a:avLst>
              <a:gd name="adj" fmla="val 20000"/>
            </a:avLst>
          </a:prstGeom>
          <a:solidFill>
            <a:srgbClr val="FF7900"/>
          </a:solidFill>
          <a:ln>
            <a:noFill/>
          </a:ln>
        </p:spPr>
        <p:txBody>
          <a:bodyPr rtlCol="0" anchor="ctr" lIns="0" rIns="0" tIns="0" bIns="0" wrap="none"/>
          <a:lstStyle/>
          <a:p>
            <a:pPr algn="ctr"/>
            <a:r>
              <a:rPr sz="500" b="1" i="0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90</a:t>
            </a:r>
          </a:p>
        </p:txBody>
      </p:sp>
      <p:sp>
        <p:nvSpPr>
          <p:cNvPr id="241" name="Rounded Rectangle 240"/>
          <p:cNvSpPr/>
          <p:nvPr/>
        </p:nvSpPr>
        <p:spPr>
          <a:xfrm>
            <a:off x="4240419" y="2140000"/>
            <a:ext cx="125096" cy="120000"/>
          </a:xfrm>
          <a:prstGeom prst="roundRect">
            <a:avLst>
              <a:gd name="adj" fmla="val 20000"/>
            </a:avLst>
          </a:prstGeom>
          <a:solidFill>
            <a:srgbClr val="FF7900"/>
          </a:solidFill>
          <a:ln>
            <a:noFill/>
          </a:ln>
        </p:spPr>
        <p:txBody>
          <a:bodyPr rtlCol="0" anchor="ctr" lIns="0" rIns="0" tIns="0" bIns="0" wrap="none"/>
          <a:lstStyle/>
          <a:p>
            <a:pPr algn="ctr"/>
            <a:r>
              <a:rPr sz="500" b="1" i="0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91</a:t>
            </a:r>
          </a:p>
        </p:txBody>
      </p:sp>
      <p:sp>
        <p:nvSpPr>
          <p:cNvPr id="242" name="Rounded Rectangle 241"/>
          <p:cNvSpPr/>
          <p:nvPr/>
        </p:nvSpPr>
        <p:spPr>
          <a:xfrm>
            <a:off x="4651709" y="2140000"/>
            <a:ext cx="125096" cy="120000"/>
          </a:xfrm>
          <a:prstGeom prst="roundRect">
            <a:avLst>
              <a:gd name="adj" fmla="val 20000"/>
            </a:avLst>
          </a:prstGeom>
          <a:solidFill>
            <a:srgbClr val="FF7900"/>
          </a:solidFill>
          <a:ln>
            <a:noFill/>
          </a:ln>
        </p:spPr>
        <p:txBody>
          <a:bodyPr rtlCol="0" anchor="ctr" lIns="0" rIns="0" tIns="0" bIns="0" wrap="none"/>
          <a:lstStyle/>
          <a:p>
            <a:pPr algn="ctr"/>
            <a:r>
              <a:rPr sz="500" b="1" i="0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92</a:t>
            </a:r>
          </a:p>
        </p:txBody>
      </p:sp>
      <p:sp>
        <p:nvSpPr>
          <p:cNvPr id="243" name="TextBox 242"/>
          <p:cNvSpPr txBox="1"/>
          <p:nvPr/>
        </p:nvSpPr>
        <p:spPr>
          <a:xfrm>
            <a:off x="5097000" y="2120000"/>
            <a:ext cx="650000" cy="160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680" b="1" i="0">
                <a:solidFill>
                  <a:srgbClr val="1A1A1A"/>
                </a:solidFill>
                <a:latin typeface="Noto Sans KR"/>
                <a:ea typeface="Noto Sans KR"/>
                <a:cs typeface="Noto Sans KR"/>
              </a:rPr>
              <a:t>11개</a:t>
            </a:r>
            <a:r>
              <a:rPr sz="650" b="1" i="0">
                <a:solidFill>
                  <a:srgbClr val="7F7F7F"/>
                </a:solidFill>
                <a:latin typeface="Noto Sans KR"/>
                <a:ea typeface="Noto Sans KR"/>
                <a:cs typeface="Noto Sans KR"/>
              </a:rPr>
              <a:t> / T 11</a:t>
            </a:r>
          </a:p>
        </p:txBody>
      </p:sp>
      <p:sp>
        <p:nvSpPr>
          <p:cNvPr id="244" name="TextBox 243"/>
          <p:cNvSpPr txBox="1"/>
          <p:nvPr/>
        </p:nvSpPr>
        <p:spPr>
          <a:xfrm>
            <a:off x="287000" y="2290000"/>
            <a:ext cx="5470000" cy="15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600" b="0" i="0">
                <a:solidFill>
                  <a:srgbClr val="7F7F7F"/>
                </a:solidFill>
                <a:latin typeface="Noto Sans KR"/>
                <a:ea typeface="Noto Sans KR"/>
                <a:cs typeface="Noto Sans KR"/>
              </a:rPr>
              <a:t>* 5월 일부(#37 · #38) · 번호 개수 / T = 원자료 Total (붉은 T = 불일치 → 집계 기준 확인) · 6~10월 번호 54 vs Total 46</a:t>
            </a:r>
          </a:p>
        </p:txBody>
      </p:sp>
      <p:sp>
        <p:nvSpPr>
          <p:cNvPr id="245" name="TextBox 244"/>
          <p:cNvSpPr txBox="1"/>
          <p:nvPr/>
        </p:nvSpPr>
        <p:spPr>
          <a:xfrm>
            <a:off x="5857000" y="950000"/>
            <a:ext cx="3000000" cy="20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800" b="1" i="0">
                <a:solidFill>
                  <a:srgbClr val="1A1A1A"/>
                </a:solidFill>
                <a:latin typeface="Noto Sans KR"/>
                <a:ea typeface="Noto Sans KR"/>
                <a:cs typeface="Noto Sans KR"/>
              </a:rPr>
              <a:t>② 표시일자 간격 분포 (#39~#92 · 54개 일자 · 53간격)</a:t>
            </a:r>
          </a:p>
        </p:txBody>
      </p:sp>
      <p:sp>
        <p:nvSpPr>
          <p:cNvPr id="246" name="Rectangle 245"/>
          <p:cNvSpPr/>
          <p:nvPr/>
        </p:nvSpPr>
        <p:spPr>
          <a:xfrm>
            <a:off x="6097000" y="2128974"/>
            <a:ext cx="440000" cy="21025"/>
          </a:xfrm>
          <a:prstGeom prst="rect">
            <a:avLst/>
          </a:prstGeom>
          <a:solidFill>
            <a:srgbClr val="F4B183"/>
          </a:solidFill>
          <a:ln>
            <a:noFill/>
          </a:ln>
        </p:spPr>
        <p:txBody>
          <a:bodyPr rtlCol="0" anchor="ctr" lIns="30000" rIns="30000" tIns="0" bIns="0" wrap="square"/>
          <a:lstStyle/>
          <a:p>
            <a:pPr algn="ctr"/>
          </a:p>
        </p:txBody>
      </p:sp>
      <p:sp>
        <p:nvSpPr>
          <p:cNvPr id="247" name="TextBox 246"/>
          <p:cNvSpPr txBox="1"/>
          <p:nvPr/>
        </p:nvSpPr>
        <p:spPr>
          <a:xfrm>
            <a:off x="6057000" y="1958974"/>
            <a:ext cx="520000" cy="16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700" b="1" i="0">
                <a:solidFill>
                  <a:srgbClr val="1A1A1A"/>
                </a:solidFill>
                <a:latin typeface="Noto Sans KR"/>
                <a:ea typeface="Noto Sans KR"/>
                <a:cs typeface="Noto Sans KR"/>
              </a:rPr>
              <a:t>1</a:t>
            </a:r>
          </a:p>
        </p:txBody>
      </p:sp>
      <p:sp>
        <p:nvSpPr>
          <p:cNvPr id="248" name="TextBox 247"/>
          <p:cNvSpPr txBox="1"/>
          <p:nvPr/>
        </p:nvSpPr>
        <p:spPr>
          <a:xfrm>
            <a:off x="6057000" y="2170000"/>
            <a:ext cx="520000" cy="15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680" b="0" i="0">
                <a:solidFill>
                  <a:srgbClr val="3F3F3F"/>
                </a:solidFill>
                <a:latin typeface="Noto Sans KR"/>
                <a:ea typeface="Noto Sans KR"/>
                <a:cs typeface="Noto Sans KR"/>
              </a:rPr>
              <a:t>1일</a:t>
            </a:r>
          </a:p>
        </p:txBody>
      </p:sp>
      <p:sp>
        <p:nvSpPr>
          <p:cNvPr id="249" name="Rectangle 248"/>
          <p:cNvSpPr/>
          <p:nvPr/>
        </p:nvSpPr>
        <p:spPr>
          <a:xfrm>
            <a:off x="6617000" y="1918717"/>
            <a:ext cx="440000" cy="231282"/>
          </a:xfrm>
          <a:prstGeom prst="rect">
            <a:avLst/>
          </a:prstGeom>
          <a:solidFill>
            <a:srgbClr val="F4B183"/>
          </a:solidFill>
          <a:ln>
            <a:noFill/>
          </a:ln>
        </p:spPr>
        <p:txBody>
          <a:bodyPr rtlCol="0" anchor="ctr" lIns="30000" rIns="30000" tIns="0" bIns="0" wrap="square"/>
          <a:lstStyle/>
          <a:p>
            <a:pPr algn="ctr"/>
          </a:p>
        </p:txBody>
      </p:sp>
      <p:sp>
        <p:nvSpPr>
          <p:cNvPr id="250" name="TextBox 249"/>
          <p:cNvSpPr txBox="1"/>
          <p:nvPr/>
        </p:nvSpPr>
        <p:spPr>
          <a:xfrm>
            <a:off x="6577000" y="1748717"/>
            <a:ext cx="520000" cy="16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700" b="1" i="0">
                <a:solidFill>
                  <a:srgbClr val="1A1A1A"/>
                </a:solidFill>
                <a:latin typeface="Noto Sans KR"/>
                <a:ea typeface="Noto Sans KR"/>
                <a:cs typeface="Noto Sans KR"/>
              </a:rPr>
              <a:t>11</a:t>
            </a:r>
          </a:p>
        </p:txBody>
      </p:sp>
      <p:sp>
        <p:nvSpPr>
          <p:cNvPr id="251" name="TextBox 250"/>
          <p:cNvSpPr txBox="1"/>
          <p:nvPr/>
        </p:nvSpPr>
        <p:spPr>
          <a:xfrm>
            <a:off x="6577000" y="2170000"/>
            <a:ext cx="520000" cy="15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680" b="0" i="0">
                <a:solidFill>
                  <a:srgbClr val="3F3F3F"/>
                </a:solidFill>
                <a:latin typeface="Noto Sans KR"/>
                <a:ea typeface="Noto Sans KR"/>
                <a:cs typeface="Noto Sans KR"/>
              </a:rPr>
              <a:t>2일</a:t>
            </a:r>
          </a:p>
        </p:txBody>
      </p:sp>
      <p:sp>
        <p:nvSpPr>
          <p:cNvPr id="252" name="Rectangle 251"/>
          <p:cNvSpPr/>
          <p:nvPr/>
        </p:nvSpPr>
        <p:spPr>
          <a:xfrm>
            <a:off x="7137000" y="1330000"/>
            <a:ext cx="440000" cy="820000"/>
          </a:xfrm>
          <a:prstGeom prst="rect">
            <a:avLst/>
          </a:prstGeom>
          <a:solidFill>
            <a:srgbClr val="FF7900"/>
          </a:solidFill>
          <a:ln>
            <a:noFill/>
          </a:ln>
        </p:spPr>
        <p:txBody>
          <a:bodyPr rtlCol="0" anchor="ctr" lIns="30000" rIns="30000" tIns="0" bIns="0" wrap="square"/>
          <a:lstStyle/>
          <a:p>
            <a:pPr algn="ctr"/>
          </a:p>
        </p:txBody>
      </p:sp>
      <p:sp>
        <p:nvSpPr>
          <p:cNvPr id="253" name="TextBox 252"/>
          <p:cNvSpPr txBox="1"/>
          <p:nvPr/>
        </p:nvSpPr>
        <p:spPr>
          <a:xfrm>
            <a:off x="7097000" y="1160000"/>
            <a:ext cx="520000" cy="16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700" b="1" i="0">
                <a:solidFill>
                  <a:srgbClr val="1A1A1A"/>
                </a:solidFill>
                <a:latin typeface="Noto Sans KR"/>
                <a:ea typeface="Noto Sans KR"/>
                <a:cs typeface="Noto Sans KR"/>
              </a:rPr>
              <a:t>39</a:t>
            </a:r>
          </a:p>
        </p:txBody>
      </p:sp>
      <p:sp>
        <p:nvSpPr>
          <p:cNvPr id="254" name="TextBox 253"/>
          <p:cNvSpPr txBox="1"/>
          <p:nvPr/>
        </p:nvSpPr>
        <p:spPr>
          <a:xfrm>
            <a:off x="7097000" y="2170000"/>
            <a:ext cx="520000" cy="15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680" b="0" i="0">
                <a:solidFill>
                  <a:srgbClr val="3F3F3F"/>
                </a:solidFill>
                <a:latin typeface="Noto Sans KR"/>
                <a:ea typeface="Noto Sans KR"/>
                <a:cs typeface="Noto Sans KR"/>
              </a:rPr>
              <a:t>3일</a:t>
            </a:r>
          </a:p>
        </p:txBody>
      </p:sp>
      <p:sp>
        <p:nvSpPr>
          <p:cNvPr id="255" name="Rectangle 254"/>
          <p:cNvSpPr/>
          <p:nvPr/>
        </p:nvSpPr>
        <p:spPr>
          <a:xfrm>
            <a:off x="7657000" y="2128974"/>
            <a:ext cx="440000" cy="21025"/>
          </a:xfrm>
          <a:prstGeom prst="rect">
            <a:avLst/>
          </a:prstGeom>
          <a:solidFill>
            <a:srgbClr val="F4B183"/>
          </a:solidFill>
          <a:ln>
            <a:noFill/>
          </a:ln>
        </p:spPr>
        <p:txBody>
          <a:bodyPr rtlCol="0" anchor="ctr" lIns="30000" rIns="30000" tIns="0" bIns="0" wrap="square"/>
          <a:lstStyle/>
          <a:p>
            <a:pPr algn="ctr"/>
          </a:p>
        </p:txBody>
      </p:sp>
      <p:sp>
        <p:nvSpPr>
          <p:cNvPr id="256" name="TextBox 255"/>
          <p:cNvSpPr txBox="1"/>
          <p:nvPr/>
        </p:nvSpPr>
        <p:spPr>
          <a:xfrm>
            <a:off x="7617000" y="1958974"/>
            <a:ext cx="520000" cy="16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700" b="1" i="0">
                <a:solidFill>
                  <a:srgbClr val="1A1A1A"/>
                </a:solidFill>
                <a:latin typeface="Noto Sans KR"/>
                <a:ea typeface="Noto Sans KR"/>
                <a:cs typeface="Noto Sans KR"/>
              </a:rPr>
              <a:t>1</a:t>
            </a:r>
          </a:p>
        </p:txBody>
      </p:sp>
      <p:sp>
        <p:nvSpPr>
          <p:cNvPr id="257" name="TextBox 256"/>
          <p:cNvSpPr txBox="1"/>
          <p:nvPr/>
        </p:nvSpPr>
        <p:spPr>
          <a:xfrm>
            <a:off x="7617000" y="2170000"/>
            <a:ext cx="520000" cy="15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680" b="0" i="0">
                <a:solidFill>
                  <a:srgbClr val="3F3F3F"/>
                </a:solidFill>
                <a:latin typeface="Noto Sans KR"/>
                <a:ea typeface="Noto Sans KR"/>
                <a:cs typeface="Noto Sans KR"/>
              </a:rPr>
              <a:t>4일</a:t>
            </a:r>
          </a:p>
        </p:txBody>
      </p:sp>
      <p:sp>
        <p:nvSpPr>
          <p:cNvPr id="258" name="Rectangle 257"/>
          <p:cNvSpPr/>
          <p:nvPr/>
        </p:nvSpPr>
        <p:spPr>
          <a:xfrm>
            <a:off x="8177000" y="2128974"/>
            <a:ext cx="440000" cy="21025"/>
          </a:xfrm>
          <a:prstGeom prst="rect">
            <a:avLst/>
          </a:prstGeom>
          <a:solidFill>
            <a:srgbClr val="F4B183"/>
          </a:solidFill>
          <a:ln>
            <a:noFill/>
          </a:ln>
        </p:spPr>
        <p:txBody>
          <a:bodyPr rtlCol="0" anchor="ctr" lIns="30000" rIns="30000" tIns="0" bIns="0" wrap="square"/>
          <a:lstStyle/>
          <a:p>
            <a:pPr algn="ctr"/>
          </a:p>
        </p:txBody>
      </p:sp>
      <p:sp>
        <p:nvSpPr>
          <p:cNvPr id="259" name="TextBox 258"/>
          <p:cNvSpPr txBox="1"/>
          <p:nvPr/>
        </p:nvSpPr>
        <p:spPr>
          <a:xfrm>
            <a:off x="8137000" y="1958974"/>
            <a:ext cx="520000" cy="16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700" b="1" i="0">
                <a:solidFill>
                  <a:srgbClr val="1A1A1A"/>
                </a:solidFill>
                <a:latin typeface="Noto Sans KR"/>
                <a:ea typeface="Noto Sans KR"/>
                <a:cs typeface="Noto Sans KR"/>
              </a:rPr>
              <a:t>1</a:t>
            </a:r>
          </a:p>
        </p:txBody>
      </p:sp>
      <p:sp>
        <p:nvSpPr>
          <p:cNvPr id="260" name="TextBox 259"/>
          <p:cNvSpPr txBox="1"/>
          <p:nvPr/>
        </p:nvSpPr>
        <p:spPr>
          <a:xfrm>
            <a:off x="8137000" y="2170000"/>
            <a:ext cx="520000" cy="15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680" b="0" i="0">
                <a:solidFill>
                  <a:srgbClr val="3F3F3F"/>
                </a:solidFill>
                <a:latin typeface="Noto Sans KR"/>
                <a:ea typeface="Noto Sans KR"/>
                <a:cs typeface="Noto Sans KR"/>
              </a:rPr>
              <a:t>5일</a:t>
            </a:r>
          </a:p>
        </p:txBody>
      </p:sp>
      <p:cxnSp>
        <p:nvCxnSpPr>
          <p:cNvPr id="261" name="Connector 260"/>
          <p:cNvCxnSpPr/>
          <p:nvPr/>
        </p:nvCxnSpPr>
        <p:spPr>
          <a:xfrm>
            <a:off x="6057000" y="2150000"/>
            <a:ext cx="2600000" cy="0"/>
          </a:xfrm>
          <a:prstGeom prst="line">
            <a:avLst/>
          </a:prstGeom>
          <a:ln w="9525">
            <a:solidFill>
              <a:srgbClr val="7F7F7F"/>
            </a:solidFill>
          </a:ln>
        </p:spPr>
      </p:cxnSp>
      <p:sp>
        <p:nvSpPr>
          <p:cNvPr id="262" name="TextBox 261"/>
          <p:cNvSpPr txBox="1"/>
          <p:nvPr/>
        </p:nvSpPr>
        <p:spPr>
          <a:xfrm>
            <a:off x="5857000" y="2340000"/>
            <a:ext cx="3000000" cy="33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700" b="0" i="0">
                <a:solidFill>
                  <a:srgbClr val="3F3F3F"/>
                </a:solidFill>
                <a:latin typeface="Noto Sans KR"/>
                <a:ea typeface="Noto Sans KR"/>
                <a:cs typeface="Noto Sans KR"/>
              </a:rPr>
              <a:t>평균 </a:t>
            </a:r>
            <a:r>
              <a:rPr sz="800" b="1" i="0">
                <a:solidFill>
                  <a:srgbClr val="7F6000"/>
                </a:solidFill>
                <a:latin typeface="Noto Sans KR"/>
                <a:ea typeface="Noto Sans KR"/>
                <a:cs typeface="Noto Sans KR"/>
              </a:rPr>
              <a:t>2.81일 = 약 67.5 h</a:t>
            </a:r>
            <a:r>
              <a:rPr sz="650" b="0" i="0">
                <a:solidFill>
                  <a:srgbClr val="7F7F7F"/>
                </a:solidFill>
                <a:latin typeface="Noto Sans KR"/>
                <a:ea typeface="Noto Sans KR"/>
                <a:cs typeface="Noto Sans KR"/>
              </a:rPr>
              <a:t>  (67.0~67.9 h)</a:t>
            </a:r>
          </a:p>
          <a:p>
            <a:pPr algn="l">
              <a:spcAft>
                <a:spcPts val="0"/>
              </a:spcAft>
            </a:pPr>
            <a:r>
              <a:rPr sz="650" b="0" i="0">
                <a:solidFill>
                  <a:srgbClr val="7F7F7F"/>
                </a:solidFill>
                <a:latin typeface="Noto Sans KR"/>
                <a:ea typeface="Noto Sans KR"/>
                <a:cs typeface="Noto Sans KR"/>
              </a:rPr>
              <a:t>중앙값 72 h (3일) · 월 경계 포함 · 5월 일부 제외 · 날짜만 있는 계획</a:t>
            </a:r>
          </a:p>
        </p:txBody>
      </p:sp>
      <p:sp>
        <p:nvSpPr>
          <p:cNvPr id="263" name="Rectangle 262"/>
          <p:cNvSpPr/>
          <p:nvPr/>
        </p:nvSpPr>
        <p:spPr>
          <a:xfrm>
            <a:off x="287000" y="2650000"/>
            <a:ext cx="50000" cy="165000"/>
          </a:xfrm>
          <a:prstGeom prst="rect">
            <a:avLst/>
          </a:prstGeom>
          <a:solidFill>
            <a:srgbClr val="EB002C"/>
          </a:solidFill>
          <a:ln>
            <a:noFill/>
          </a:ln>
        </p:spPr>
        <p:txBody>
          <a:bodyPr rtlCol="0" anchor="ctr" lIns="30000" rIns="30000" tIns="0" bIns="0" wrap="square"/>
          <a:lstStyle/>
          <a:p>
            <a:pPr algn="ctr"/>
          </a:p>
        </p:txBody>
      </p:sp>
      <p:sp>
        <p:nvSpPr>
          <p:cNvPr id="264" name="TextBox 263"/>
          <p:cNvSpPr txBox="1"/>
          <p:nvPr/>
        </p:nvSpPr>
        <p:spPr>
          <a:xfrm>
            <a:off x="397000" y="2620000"/>
            <a:ext cx="8000000" cy="22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1" i="0">
                <a:solidFill>
                  <a:srgbClr val="1A1A1A"/>
                </a:solidFill>
                <a:latin typeface="Noto Sans KR"/>
                <a:ea typeface="Noto Sans KR"/>
                <a:cs typeface="Noto Sans KR"/>
              </a:rPr>
              <a:t>③ 월 생산능력 비교</a:t>
            </a:r>
            <a:r>
              <a:rPr sz="700" b="0" i="0">
                <a:solidFill>
                  <a:srgbClr val="7F7F7F"/>
                </a:solidFill>
                <a:latin typeface="Noto Sans KR"/>
                <a:ea typeface="Noto Sans KR"/>
                <a:cs typeface="Noto Sans KR"/>
              </a:rPr>
              <a:t>   정제기 1대 · 월 720 h · 연 환산은 참고값</a:t>
            </a:r>
          </a:p>
        </p:txBody>
      </p:sp>
      <p:graphicFrame>
        <p:nvGraphicFramePr>
          <p:cNvPr id="265" name="Table 264"/>
          <p:cNvGraphicFramePr>
            <a:graphicFrameLocks noGrp="1"/>
          </p:cNvGraphicFramePr>
          <p:nvPr/>
        </p:nvGraphicFramePr>
        <p:xfrm>
          <a:off x="287000" y="2834640"/>
          <a:ext cx="8570000" cy="8001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250000"/>
                <a:gridCol w="1000000"/>
                <a:gridCol w="1000000"/>
                <a:gridCol w="1050000"/>
                <a:gridCol w="1150000"/>
                <a:gridCol w="2120000"/>
              </a:tblGrid>
              <a:tr h="160020">
                <a:tc>
                  <a:txBody>
                    <a:bodyPr/>
                    <a:lstStyle/>
                    <a:p>
                      <a:pPr algn="l"/>
                      <a:r>
                        <a:rPr sz="700" b="1" i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기준</a:t>
                      </a:r>
                      <a:endParaRPr sz="700"/>
                    </a:p>
                  </a:txBody>
                  <a:tcPr anchor="ctr" marL="45000" marR="45000" marT="15000" marB="15000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1A1A1A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 i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간격 h/Batch</a:t>
                      </a:r>
                      <a:endParaRPr sz="700"/>
                    </a:p>
                  </a:txBody>
                  <a:tcPr anchor="ctr" marL="45000" marR="45000" marT="15000" marB="15000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1A1A1A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 i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월 Batch</a:t>
                      </a:r>
                      <a:endParaRPr sz="700"/>
                    </a:p>
                  </a:txBody>
                  <a:tcPr anchor="ctr" marL="45000" marR="45000" marT="15000" marB="15000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1A1A1A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 i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월 생산 kg</a:t>
                      </a:r>
                      <a:endParaRPr sz="700"/>
                    </a:p>
                  </a:txBody>
                  <a:tcPr anchor="ctr" marL="45000" marR="45000" marT="15000" marB="15000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1A1A1A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 i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연 환산 톤 (참고)</a:t>
                      </a:r>
                      <a:endParaRPr sz="700"/>
                    </a:p>
                  </a:txBody>
                  <a:tcPr anchor="ctr" marL="45000" marR="45000" marT="15000" marB="15000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1A1A1A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00" b="1" i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산출 조건</a:t>
                      </a:r>
                      <a:endParaRPr sz="700"/>
                    </a:p>
                  </a:txBody>
                  <a:tcPr anchor="ctr" marL="45000" marR="45000" marT="15000" marB="15000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1A1A1A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5F6F8"/>
                    </a:solidFill>
                  </a:tcPr>
                </a:tc>
              </a:tr>
              <a:tr h="160020">
                <a:tc>
                  <a:txBody>
                    <a:bodyPr/>
                    <a:lstStyle/>
                    <a:p>
                      <a:pPr algn="l"/>
                      <a:r>
                        <a:rPr sz="730" b="1" i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이론 (정제 45 h만)</a:t>
                      </a:r>
                      <a:endParaRPr sz="730"/>
                    </a:p>
                  </a:txBody>
                  <a:tcPr anchor="ctr" marL="45000" marR="45000" marT="15000" marB="150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80" b="1" i="0">
                          <a:solidFill>
                            <a:srgbClr val="3F3F3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45.0</a:t>
                      </a:r>
                      <a:endParaRPr sz="780"/>
                    </a:p>
                  </a:txBody>
                  <a:tcPr anchor="ctr" marL="45000" marR="45000" marT="15000" marB="150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80" b="1" i="0">
                          <a:solidFill>
                            <a:srgbClr val="3F3F3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16</a:t>
                      </a:r>
                      <a:endParaRPr sz="780"/>
                    </a:p>
                  </a:txBody>
                  <a:tcPr anchor="ctr" marL="45000" marR="45000" marT="15000" marB="150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80" b="1" i="0">
                          <a:solidFill>
                            <a:srgbClr val="3F3F3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3,040</a:t>
                      </a:r>
                      <a:endParaRPr sz="780"/>
                    </a:p>
                  </a:txBody>
                  <a:tcPr anchor="ctr" marL="45000" marR="45000" marT="15000" marB="150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80" b="1" i="0">
                          <a:solidFill>
                            <a:srgbClr val="3F3F3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36.5 (참고)</a:t>
                      </a:r>
                      <a:endParaRPr sz="780"/>
                    </a:p>
                  </a:txBody>
                  <a:tcPr anchor="ctr" marL="45000" marR="45000" marT="15000" marB="150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630" b="0" i="0">
                          <a:solidFill>
                            <a:srgbClr val="7F7F7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720÷45 · 준비·전환·이송·세척·대기·보수 제외</a:t>
                      </a:r>
                      <a:endParaRPr sz="630"/>
                    </a:p>
                  </a:txBody>
                  <a:tcPr anchor="ctr" marL="45000" marR="45000" marT="15000" marB="150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160020">
                <a:tc>
                  <a:txBody>
                    <a:bodyPr/>
                    <a:lstStyle/>
                    <a:p>
                      <a:pPr algn="l"/>
                      <a:r>
                        <a:rPr sz="730" b="1" i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과거 월 최대 11 Batch</a:t>
                      </a:r>
                      <a:endParaRPr sz="730"/>
                    </a:p>
                  </a:txBody>
                  <a:tcPr anchor="ctr" marL="45000" marR="45000" marT="15000" marB="150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80" b="1" i="0">
                          <a:solidFill>
                            <a:srgbClr val="2E75B6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65.5</a:t>
                      </a:r>
                      <a:endParaRPr sz="780"/>
                    </a:p>
                  </a:txBody>
                  <a:tcPr anchor="ctr" marL="45000" marR="45000" marT="15000" marB="150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80" b="1" i="0">
                          <a:solidFill>
                            <a:srgbClr val="2E75B6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11</a:t>
                      </a:r>
                      <a:endParaRPr sz="780"/>
                    </a:p>
                  </a:txBody>
                  <a:tcPr anchor="ctr" marL="45000" marR="45000" marT="15000" marB="150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80" b="1" i="0">
                          <a:solidFill>
                            <a:srgbClr val="2E75B6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2,090</a:t>
                      </a:r>
                      <a:endParaRPr sz="780"/>
                    </a:p>
                  </a:txBody>
                  <a:tcPr anchor="ctr" marL="45000" marR="45000" marT="15000" marB="150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80" b="1" i="0">
                          <a:solidFill>
                            <a:srgbClr val="2E75B6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25.08</a:t>
                      </a:r>
                      <a:endParaRPr sz="780"/>
                    </a:p>
                  </a:txBody>
                  <a:tcPr anchor="ctr" marL="45000" marR="45000" marT="15000" marB="150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630" b="0" i="0">
                          <a:solidFill>
                            <a:srgbClr val="7F7F7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정제 11×45 = 495 h + 225 h (구성 확인)</a:t>
                      </a:r>
                      <a:endParaRPr sz="630"/>
                    </a:p>
                  </a:txBody>
                  <a:tcPr anchor="ctr" marL="45000" marR="45000" marT="15000" marB="150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160020">
                <a:tc>
                  <a:txBody>
                    <a:bodyPr/>
                    <a:lstStyle/>
                    <a:p>
                      <a:pPr algn="l"/>
                      <a:r>
                        <a:rPr sz="730" b="1" i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과거 일정 추정 (6~10월)</a:t>
                      </a:r>
                      <a:endParaRPr sz="730"/>
                    </a:p>
                  </a:txBody>
                  <a:tcPr anchor="ctr" marL="45000" marR="45000" marT="15000" marB="150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8E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80" b="1" i="0">
                          <a:solidFill>
                            <a:srgbClr val="7F6000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약 67.5</a:t>
                      </a:r>
                      <a:endParaRPr sz="780"/>
                    </a:p>
                  </a:txBody>
                  <a:tcPr anchor="ctr" marL="45000" marR="45000" marT="15000" marB="150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8E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80" b="1" i="0">
                          <a:solidFill>
                            <a:srgbClr val="7F6000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약 10.7</a:t>
                      </a:r>
                      <a:endParaRPr sz="780"/>
                    </a:p>
                  </a:txBody>
                  <a:tcPr anchor="ctr" marL="45000" marR="45000" marT="15000" marB="150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8E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80" b="1" i="0">
                          <a:solidFill>
                            <a:srgbClr val="7F6000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약 2,028</a:t>
                      </a:r>
                      <a:endParaRPr sz="780"/>
                    </a:p>
                  </a:txBody>
                  <a:tcPr anchor="ctr" marL="45000" marR="45000" marT="15000" marB="150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8E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80" b="1" i="0">
                          <a:solidFill>
                            <a:srgbClr val="7F6000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약 24.5</a:t>
                      </a:r>
                      <a:endParaRPr sz="780"/>
                    </a:p>
                  </a:txBody>
                  <a:tcPr anchor="ctr" marL="45000" marR="45000" marT="15000" marB="150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8E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630" b="0" i="0">
                          <a:solidFill>
                            <a:srgbClr val="7F7F7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149일×24÷53 · 중앙값 72 h · 표시일 기준</a:t>
                      </a:r>
                      <a:endParaRPr sz="630"/>
                    </a:p>
                  </a:txBody>
                  <a:tcPr anchor="ctr" marL="45000" marR="45000" marT="15000" marB="150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8E7"/>
                    </a:solidFill>
                  </a:tcPr>
                </a:tc>
              </a:tr>
              <a:tr h="160020">
                <a:tc>
                  <a:txBody>
                    <a:bodyPr/>
                    <a:lstStyle/>
                    <a:p>
                      <a:pPr algn="l"/>
                      <a:r>
                        <a:rPr sz="730" b="1" i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현재 Capa. 26.2톤 환산</a:t>
                      </a:r>
                      <a:endParaRPr sz="730"/>
                    </a:p>
                  </a:txBody>
                  <a:tcPr anchor="ctr" marL="45000" marR="45000" marT="15000" marB="150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DED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80" b="1" i="0">
                          <a:solidFill>
                            <a:srgbClr val="EB00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63.5</a:t>
                      </a:r>
                      <a:endParaRPr sz="780"/>
                    </a:p>
                  </a:txBody>
                  <a:tcPr anchor="ctr" marL="45000" marR="45000" marT="15000" marB="150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DED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80" b="1" i="0">
                          <a:solidFill>
                            <a:srgbClr val="EB00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11.49</a:t>
                      </a:r>
                      <a:endParaRPr sz="780"/>
                    </a:p>
                  </a:txBody>
                  <a:tcPr anchor="ctr" marL="45000" marR="45000" marT="15000" marB="150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DED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80" b="1" i="0">
                          <a:solidFill>
                            <a:srgbClr val="EB00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2,183</a:t>
                      </a:r>
                      <a:endParaRPr sz="780"/>
                    </a:p>
                  </a:txBody>
                  <a:tcPr anchor="ctr" marL="45000" marR="45000" marT="15000" marB="150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DED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80" b="1" i="0">
                          <a:solidFill>
                            <a:srgbClr val="EB00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26.2</a:t>
                      </a:r>
                      <a:endParaRPr sz="780"/>
                    </a:p>
                  </a:txBody>
                  <a:tcPr anchor="ctr" marL="45000" marR="45000" marT="15000" marB="150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DEDF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630" b="0" i="0">
                          <a:solidFill>
                            <a:srgbClr val="7F7F7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26,200÷190 = 137.9 Batch 상당 · 기준값</a:t>
                      </a:r>
                      <a:endParaRPr sz="630"/>
                    </a:p>
                  </a:txBody>
                  <a:tcPr anchor="ctr" marL="45000" marR="45000" marT="15000" marB="150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DEDF0"/>
                    </a:solidFill>
                  </a:tcPr>
                </a:tc>
              </a:tr>
            </a:tbl>
          </a:graphicData>
        </a:graphic>
      </p:graphicFrame>
      <p:sp>
        <p:nvSpPr>
          <p:cNvPr id="266" name="Rectangle 265"/>
          <p:cNvSpPr/>
          <p:nvPr/>
        </p:nvSpPr>
        <p:spPr>
          <a:xfrm>
            <a:off x="287000" y="3675887"/>
            <a:ext cx="50000" cy="165000"/>
          </a:xfrm>
          <a:prstGeom prst="rect">
            <a:avLst/>
          </a:prstGeom>
          <a:solidFill>
            <a:srgbClr val="EB002C"/>
          </a:solidFill>
          <a:ln>
            <a:noFill/>
          </a:ln>
        </p:spPr>
        <p:txBody>
          <a:bodyPr rtlCol="0" anchor="ctr" lIns="30000" rIns="30000" tIns="0" bIns="0" wrap="square"/>
          <a:lstStyle/>
          <a:p>
            <a:pPr algn="ctr"/>
          </a:p>
        </p:txBody>
      </p:sp>
      <p:sp>
        <p:nvSpPr>
          <p:cNvPr id="267" name="TextBox 266"/>
          <p:cNvSpPr txBox="1"/>
          <p:nvPr/>
        </p:nvSpPr>
        <p:spPr>
          <a:xfrm>
            <a:off x="397000" y="3648456"/>
            <a:ext cx="8000000" cy="22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1" i="0">
                <a:solidFill>
                  <a:srgbClr val="1A1A1A"/>
                </a:solidFill>
                <a:latin typeface="Noto Sans KR"/>
                <a:ea typeface="Noto Sans KR"/>
                <a:cs typeface="Noto Sans KR"/>
              </a:rPr>
              <a:t>④ 정제 · 검사 · 충진 병렬 운영 (관측 간격 67.5 h 기준 · 정제 45 h)</a:t>
            </a:r>
          </a:p>
        </p:txBody>
      </p:sp>
      <p:sp>
        <p:nvSpPr>
          <p:cNvPr id="268" name="TextBox 267"/>
          <p:cNvSpPr txBox="1"/>
          <p:nvPr/>
        </p:nvSpPr>
        <p:spPr>
          <a:xfrm>
            <a:off x="1187000" y="3904487"/>
            <a:ext cx="300000" cy="13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580" b="0" i="0">
                <a:solidFill>
                  <a:srgbClr val="7F7F7F"/>
                </a:solidFill>
                <a:latin typeface="Noto Sans KR"/>
                <a:ea typeface="Noto Sans KR"/>
                <a:cs typeface="Noto Sans KR"/>
              </a:rPr>
              <a:t>0h</a:t>
            </a:r>
          </a:p>
        </p:txBody>
      </p:sp>
      <p:cxnSp>
        <p:nvCxnSpPr>
          <p:cNvPr id="269" name="Connector 268"/>
          <p:cNvCxnSpPr/>
          <p:nvPr/>
        </p:nvCxnSpPr>
        <p:spPr>
          <a:xfrm>
            <a:off x="1337000" y="4023360"/>
            <a:ext cx="0" cy="749808"/>
          </a:xfrm>
          <a:prstGeom prst="line">
            <a:avLst/>
          </a:prstGeom>
          <a:ln w="6350">
            <a:solidFill>
              <a:srgbClr val="D9D9D9"/>
            </a:solidFill>
          </a:ln>
        </p:spPr>
      </p:cxnSp>
      <p:sp>
        <p:nvSpPr>
          <p:cNvPr id="270" name="TextBox 269"/>
          <p:cNvSpPr txBox="1"/>
          <p:nvPr/>
        </p:nvSpPr>
        <p:spPr>
          <a:xfrm>
            <a:off x="1822714" y="3904487"/>
            <a:ext cx="300000" cy="13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580" b="0" i="0">
                <a:solidFill>
                  <a:srgbClr val="7F7F7F"/>
                </a:solidFill>
                <a:latin typeface="Noto Sans KR"/>
                <a:ea typeface="Noto Sans KR"/>
                <a:cs typeface="Noto Sans KR"/>
              </a:rPr>
              <a:t>30h</a:t>
            </a:r>
          </a:p>
        </p:txBody>
      </p:sp>
      <p:cxnSp>
        <p:nvCxnSpPr>
          <p:cNvPr id="271" name="Connector 270"/>
          <p:cNvCxnSpPr/>
          <p:nvPr/>
        </p:nvCxnSpPr>
        <p:spPr>
          <a:xfrm>
            <a:off x="1972714" y="4023360"/>
            <a:ext cx="0" cy="749808"/>
          </a:xfrm>
          <a:prstGeom prst="line">
            <a:avLst/>
          </a:prstGeom>
          <a:ln w="6350">
            <a:solidFill>
              <a:srgbClr val="D9D9D9"/>
            </a:solidFill>
          </a:ln>
        </p:spPr>
      </p:cxnSp>
      <p:sp>
        <p:nvSpPr>
          <p:cNvPr id="272" name="TextBox 271"/>
          <p:cNvSpPr txBox="1"/>
          <p:nvPr/>
        </p:nvSpPr>
        <p:spPr>
          <a:xfrm>
            <a:off x="2458428" y="3904487"/>
            <a:ext cx="300000" cy="13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580" b="0" i="0">
                <a:solidFill>
                  <a:srgbClr val="7F7F7F"/>
                </a:solidFill>
                <a:latin typeface="Noto Sans KR"/>
                <a:ea typeface="Noto Sans KR"/>
                <a:cs typeface="Noto Sans KR"/>
              </a:rPr>
              <a:t>60h</a:t>
            </a:r>
          </a:p>
        </p:txBody>
      </p:sp>
      <p:cxnSp>
        <p:nvCxnSpPr>
          <p:cNvPr id="273" name="Connector 272"/>
          <p:cNvCxnSpPr/>
          <p:nvPr/>
        </p:nvCxnSpPr>
        <p:spPr>
          <a:xfrm>
            <a:off x="2608428" y="4023360"/>
            <a:ext cx="0" cy="749808"/>
          </a:xfrm>
          <a:prstGeom prst="line">
            <a:avLst/>
          </a:prstGeom>
          <a:ln w="6350">
            <a:solidFill>
              <a:srgbClr val="D9D9D9"/>
            </a:solidFill>
          </a:ln>
        </p:spPr>
      </p:cxnSp>
      <p:sp>
        <p:nvSpPr>
          <p:cNvPr id="274" name="TextBox 273"/>
          <p:cNvSpPr txBox="1"/>
          <p:nvPr/>
        </p:nvSpPr>
        <p:spPr>
          <a:xfrm>
            <a:off x="3094142" y="3904487"/>
            <a:ext cx="300000" cy="13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580" b="0" i="0">
                <a:solidFill>
                  <a:srgbClr val="7F7F7F"/>
                </a:solidFill>
                <a:latin typeface="Noto Sans KR"/>
                <a:ea typeface="Noto Sans KR"/>
                <a:cs typeface="Noto Sans KR"/>
              </a:rPr>
              <a:t>90h</a:t>
            </a:r>
          </a:p>
        </p:txBody>
      </p:sp>
      <p:cxnSp>
        <p:nvCxnSpPr>
          <p:cNvPr id="275" name="Connector 274"/>
          <p:cNvCxnSpPr/>
          <p:nvPr/>
        </p:nvCxnSpPr>
        <p:spPr>
          <a:xfrm>
            <a:off x="3244142" y="4023360"/>
            <a:ext cx="0" cy="749808"/>
          </a:xfrm>
          <a:prstGeom prst="line">
            <a:avLst/>
          </a:prstGeom>
          <a:ln w="6350">
            <a:solidFill>
              <a:srgbClr val="D9D9D9"/>
            </a:solidFill>
          </a:ln>
        </p:spPr>
      </p:cxnSp>
      <p:sp>
        <p:nvSpPr>
          <p:cNvPr id="276" name="TextBox 275"/>
          <p:cNvSpPr txBox="1"/>
          <p:nvPr/>
        </p:nvSpPr>
        <p:spPr>
          <a:xfrm>
            <a:off x="3729857" y="3904487"/>
            <a:ext cx="300000" cy="13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580" b="0" i="0">
                <a:solidFill>
                  <a:srgbClr val="7F7F7F"/>
                </a:solidFill>
                <a:latin typeface="Noto Sans KR"/>
                <a:ea typeface="Noto Sans KR"/>
                <a:cs typeface="Noto Sans KR"/>
              </a:rPr>
              <a:t>120h</a:t>
            </a:r>
          </a:p>
        </p:txBody>
      </p:sp>
      <p:cxnSp>
        <p:nvCxnSpPr>
          <p:cNvPr id="277" name="Connector 276"/>
          <p:cNvCxnSpPr/>
          <p:nvPr/>
        </p:nvCxnSpPr>
        <p:spPr>
          <a:xfrm>
            <a:off x="3879857" y="4023360"/>
            <a:ext cx="0" cy="749808"/>
          </a:xfrm>
          <a:prstGeom prst="line">
            <a:avLst/>
          </a:prstGeom>
          <a:ln w="6350">
            <a:solidFill>
              <a:srgbClr val="D9D9D9"/>
            </a:solidFill>
          </a:ln>
        </p:spPr>
      </p:cxnSp>
      <p:sp>
        <p:nvSpPr>
          <p:cNvPr id="278" name="TextBox 277"/>
          <p:cNvSpPr txBox="1"/>
          <p:nvPr/>
        </p:nvSpPr>
        <p:spPr>
          <a:xfrm>
            <a:off x="4365571" y="3904487"/>
            <a:ext cx="300000" cy="13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580" b="0" i="0">
                <a:solidFill>
                  <a:srgbClr val="7F7F7F"/>
                </a:solidFill>
                <a:latin typeface="Noto Sans KR"/>
                <a:ea typeface="Noto Sans KR"/>
                <a:cs typeface="Noto Sans KR"/>
              </a:rPr>
              <a:t>150h</a:t>
            </a:r>
          </a:p>
        </p:txBody>
      </p:sp>
      <p:cxnSp>
        <p:nvCxnSpPr>
          <p:cNvPr id="279" name="Connector 278"/>
          <p:cNvCxnSpPr/>
          <p:nvPr/>
        </p:nvCxnSpPr>
        <p:spPr>
          <a:xfrm>
            <a:off x="4515571" y="4023360"/>
            <a:ext cx="0" cy="749808"/>
          </a:xfrm>
          <a:prstGeom prst="line">
            <a:avLst/>
          </a:prstGeom>
          <a:ln w="6350">
            <a:solidFill>
              <a:srgbClr val="D9D9D9"/>
            </a:solidFill>
          </a:ln>
        </p:spPr>
      </p:cxnSp>
      <p:sp>
        <p:nvSpPr>
          <p:cNvPr id="280" name="TextBox 279"/>
          <p:cNvSpPr txBox="1"/>
          <p:nvPr/>
        </p:nvSpPr>
        <p:spPr>
          <a:xfrm>
            <a:off x="5001285" y="3904487"/>
            <a:ext cx="300000" cy="13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580" b="0" i="0">
                <a:solidFill>
                  <a:srgbClr val="7F7F7F"/>
                </a:solidFill>
                <a:latin typeface="Noto Sans KR"/>
                <a:ea typeface="Noto Sans KR"/>
                <a:cs typeface="Noto Sans KR"/>
              </a:rPr>
              <a:t>180h</a:t>
            </a:r>
          </a:p>
        </p:txBody>
      </p:sp>
      <p:cxnSp>
        <p:nvCxnSpPr>
          <p:cNvPr id="281" name="Connector 280"/>
          <p:cNvCxnSpPr/>
          <p:nvPr/>
        </p:nvCxnSpPr>
        <p:spPr>
          <a:xfrm>
            <a:off x="5151285" y="4023360"/>
            <a:ext cx="0" cy="749808"/>
          </a:xfrm>
          <a:prstGeom prst="line">
            <a:avLst/>
          </a:prstGeom>
          <a:ln w="6350">
            <a:solidFill>
              <a:srgbClr val="D9D9D9"/>
            </a:solidFill>
          </a:ln>
        </p:spPr>
      </p:cxnSp>
      <p:sp>
        <p:nvSpPr>
          <p:cNvPr id="282" name="TextBox 281"/>
          <p:cNvSpPr txBox="1"/>
          <p:nvPr/>
        </p:nvSpPr>
        <p:spPr>
          <a:xfrm>
            <a:off x="5637000" y="3904487"/>
            <a:ext cx="300000" cy="13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580" b="0" i="0">
                <a:solidFill>
                  <a:srgbClr val="7F7F7F"/>
                </a:solidFill>
                <a:latin typeface="Noto Sans KR"/>
                <a:ea typeface="Noto Sans KR"/>
                <a:cs typeface="Noto Sans KR"/>
              </a:rPr>
              <a:t>210h</a:t>
            </a:r>
          </a:p>
        </p:txBody>
      </p:sp>
      <p:cxnSp>
        <p:nvCxnSpPr>
          <p:cNvPr id="283" name="Connector 282"/>
          <p:cNvCxnSpPr/>
          <p:nvPr/>
        </p:nvCxnSpPr>
        <p:spPr>
          <a:xfrm>
            <a:off x="5787000" y="4023360"/>
            <a:ext cx="0" cy="749808"/>
          </a:xfrm>
          <a:prstGeom prst="line">
            <a:avLst/>
          </a:prstGeom>
          <a:ln w="6350">
            <a:solidFill>
              <a:srgbClr val="D9D9D9"/>
            </a:solidFill>
          </a:ln>
        </p:spPr>
      </p:cxnSp>
      <p:sp>
        <p:nvSpPr>
          <p:cNvPr id="284" name="TextBox 283"/>
          <p:cNvSpPr txBox="1"/>
          <p:nvPr/>
        </p:nvSpPr>
        <p:spPr>
          <a:xfrm>
            <a:off x="287000" y="4069080"/>
            <a:ext cx="1030000" cy="1645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680" b="1" i="0">
                <a:solidFill>
                  <a:srgbClr val="1A1A1A"/>
                </a:solidFill>
                <a:latin typeface="Noto Sans KR"/>
                <a:ea typeface="Noto Sans KR"/>
                <a:cs typeface="Noto Sans KR"/>
              </a:rPr>
              <a:t>정제기 (1대)</a:t>
            </a:r>
          </a:p>
        </p:txBody>
      </p:sp>
      <p:sp>
        <p:nvSpPr>
          <p:cNvPr id="285" name="TextBox 284"/>
          <p:cNvSpPr txBox="1"/>
          <p:nvPr/>
        </p:nvSpPr>
        <p:spPr>
          <a:xfrm>
            <a:off x="287000" y="4242816"/>
            <a:ext cx="1030000" cy="1645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680" b="1" i="0">
                <a:solidFill>
                  <a:srgbClr val="1A1A1A"/>
                </a:solidFill>
                <a:latin typeface="Noto Sans KR"/>
                <a:ea typeface="Noto Sans KR"/>
                <a:cs typeface="Noto Sans KR"/>
              </a:rPr>
              <a:t>PQC·이송·FQC</a:t>
            </a:r>
          </a:p>
        </p:txBody>
      </p:sp>
      <p:sp>
        <p:nvSpPr>
          <p:cNvPr id="286" name="TextBox 285"/>
          <p:cNvSpPr txBox="1"/>
          <p:nvPr/>
        </p:nvSpPr>
        <p:spPr>
          <a:xfrm>
            <a:off x="287000" y="4416552"/>
            <a:ext cx="1030000" cy="1645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680" b="1" i="0">
                <a:solidFill>
                  <a:srgbClr val="1A1A1A"/>
                </a:solidFill>
                <a:latin typeface="Noto Sans KR"/>
                <a:ea typeface="Noto Sans KR"/>
                <a:cs typeface="Noto Sans KR"/>
              </a:rPr>
              <a:t>5 Gal 충진</a:t>
            </a:r>
          </a:p>
        </p:txBody>
      </p:sp>
      <p:sp>
        <p:nvSpPr>
          <p:cNvPr id="287" name="TextBox 286"/>
          <p:cNvSpPr txBox="1"/>
          <p:nvPr/>
        </p:nvSpPr>
        <p:spPr>
          <a:xfrm>
            <a:off x="287000" y="4590288"/>
            <a:ext cx="1030000" cy="1645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680" b="1" i="0">
                <a:solidFill>
                  <a:srgbClr val="1A1A1A"/>
                </a:solidFill>
                <a:latin typeface="Noto Sans KR"/>
                <a:ea typeface="Noto Sans KR"/>
                <a:cs typeface="Noto Sans KR"/>
              </a:rPr>
              <a:t>OQC · 출하</a:t>
            </a:r>
          </a:p>
        </p:txBody>
      </p:sp>
      <p:sp>
        <p:nvSpPr>
          <p:cNvPr id="288" name="Rectangle 287"/>
          <p:cNvSpPr/>
          <p:nvPr/>
        </p:nvSpPr>
        <p:spPr>
          <a:xfrm>
            <a:off x="1335024" y="4087368"/>
            <a:ext cx="1002792" cy="146304"/>
          </a:xfrm>
          <a:prstGeom prst="rect">
            <a:avLst/>
          </a:prstGeom>
          <a:solidFill>
            <a:srgbClr val="FF7900"/>
          </a:solidFill>
          <a:ln>
            <a:noFill/>
          </a:ln>
        </p:spPr>
        <p:txBody>
          <a:bodyPr rtlCol="0" anchor="ctr" lIns="30000" rIns="30000" tIns="0" bIns="0" wrap="square"/>
          <a:lstStyle/>
          <a:p>
            <a:pPr algn="ctr"/>
            <a:r>
              <a:rPr sz="600" b="1" i="0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B n 준비·정제 47 h</a:t>
            </a:r>
          </a:p>
        </p:txBody>
      </p:sp>
      <p:sp>
        <p:nvSpPr>
          <p:cNvPr id="289" name="Rectangle 288"/>
          <p:cNvSpPr/>
          <p:nvPr/>
        </p:nvSpPr>
        <p:spPr>
          <a:xfrm>
            <a:off x="2337816" y="4087368"/>
            <a:ext cx="436784" cy="146304"/>
          </a:xfrm>
          <a:prstGeom prst="rect">
            <a:avLst/>
          </a:prstGeom>
          <a:solidFill>
            <a:srgbClr val="FFF2CC"/>
          </a:solidFill>
          <a:ln w="6350">
            <a:solidFill>
              <a:srgbClr val="BF9000"/>
            </a:solidFill>
            <a:prstDash val="dash"/>
          </a:ln>
        </p:spPr>
        <p:txBody>
          <a:bodyPr rtlCol="0" anchor="ctr" lIns="30000" rIns="30000" tIns="0" bIns="0" wrap="square"/>
          <a:lstStyle/>
          <a:p>
            <a:pPr algn="ctr"/>
          </a:p>
        </p:txBody>
      </p:sp>
      <p:sp>
        <p:nvSpPr>
          <p:cNvPr id="290" name="Rectangle 289"/>
          <p:cNvSpPr/>
          <p:nvPr/>
        </p:nvSpPr>
        <p:spPr>
          <a:xfrm>
            <a:off x="2337816" y="4261104"/>
            <a:ext cx="170688" cy="146304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txBody>
          <a:bodyPr rtlCol="0" anchor="ctr" lIns="30000" rIns="30000" tIns="0" bIns="0" wrap="square"/>
          <a:lstStyle/>
          <a:p>
            <a:pPr algn="ctr"/>
          </a:p>
        </p:txBody>
      </p:sp>
      <p:sp>
        <p:nvSpPr>
          <p:cNvPr id="291" name="Rectangle 290"/>
          <p:cNvSpPr/>
          <p:nvPr/>
        </p:nvSpPr>
        <p:spPr>
          <a:xfrm>
            <a:off x="2508504" y="4434840"/>
            <a:ext cx="384048" cy="146304"/>
          </a:xfrm>
          <a:prstGeom prst="rect">
            <a:avLst/>
          </a:prstGeom>
          <a:solidFill>
            <a:srgbClr val="548235"/>
          </a:solidFill>
          <a:ln>
            <a:noFill/>
          </a:ln>
        </p:spPr>
        <p:txBody>
          <a:bodyPr rtlCol="0" anchor="ctr" lIns="30000" rIns="30000" tIns="0" bIns="0" wrap="square"/>
          <a:lstStyle/>
          <a:p>
            <a:pPr algn="ctr"/>
          </a:p>
        </p:txBody>
      </p:sp>
      <p:sp>
        <p:nvSpPr>
          <p:cNvPr id="292" name="Rectangle 291"/>
          <p:cNvSpPr/>
          <p:nvPr/>
        </p:nvSpPr>
        <p:spPr>
          <a:xfrm>
            <a:off x="2892552" y="4608576"/>
            <a:ext cx="42672" cy="146304"/>
          </a:xfrm>
          <a:prstGeom prst="rect">
            <a:avLst/>
          </a:prstGeom>
          <a:solidFill>
            <a:srgbClr val="404040"/>
          </a:solidFill>
          <a:ln>
            <a:noFill/>
          </a:ln>
        </p:spPr>
        <p:txBody>
          <a:bodyPr rtlCol="0" anchor="ctr" lIns="30000" rIns="30000" tIns="0" bIns="0" wrap="square"/>
          <a:lstStyle/>
          <a:p>
            <a:pPr algn="ctr"/>
          </a:p>
        </p:txBody>
      </p:sp>
      <p:sp>
        <p:nvSpPr>
          <p:cNvPr id="293" name="Rectangle 292"/>
          <p:cNvSpPr/>
          <p:nvPr/>
        </p:nvSpPr>
        <p:spPr>
          <a:xfrm>
            <a:off x="2774600" y="4087368"/>
            <a:ext cx="1002792" cy="146304"/>
          </a:xfrm>
          <a:prstGeom prst="rect">
            <a:avLst/>
          </a:prstGeom>
          <a:solidFill>
            <a:srgbClr val="F4B183"/>
          </a:solidFill>
          <a:ln>
            <a:noFill/>
          </a:ln>
        </p:spPr>
        <p:txBody>
          <a:bodyPr rtlCol="0" anchor="ctr" lIns="30000" rIns="30000" tIns="0" bIns="0" wrap="square"/>
          <a:lstStyle/>
          <a:p>
            <a:pPr algn="ctr"/>
            <a:r>
              <a:rPr sz="600" b="1" i="0">
                <a:solidFill>
                  <a:srgbClr val="1A1A1A"/>
                </a:solidFill>
                <a:latin typeface="Noto Sans KR"/>
                <a:ea typeface="Noto Sans KR"/>
                <a:cs typeface="Noto Sans KR"/>
              </a:rPr>
              <a:t>B n+1 준비·정제 47 h</a:t>
            </a:r>
          </a:p>
        </p:txBody>
      </p:sp>
      <p:sp>
        <p:nvSpPr>
          <p:cNvPr id="294" name="Rectangle 293"/>
          <p:cNvSpPr/>
          <p:nvPr/>
        </p:nvSpPr>
        <p:spPr>
          <a:xfrm>
            <a:off x="3777392" y="4087368"/>
            <a:ext cx="436784" cy="146304"/>
          </a:xfrm>
          <a:prstGeom prst="rect">
            <a:avLst/>
          </a:prstGeom>
          <a:solidFill>
            <a:srgbClr val="FFF2CC"/>
          </a:solidFill>
          <a:ln w="6350">
            <a:solidFill>
              <a:srgbClr val="BF9000"/>
            </a:solidFill>
            <a:prstDash val="dash"/>
          </a:ln>
        </p:spPr>
        <p:txBody>
          <a:bodyPr rtlCol="0" anchor="ctr" lIns="30000" rIns="30000" tIns="0" bIns="0" wrap="square"/>
          <a:lstStyle/>
          <a:p>
            <a:pPr algn="ctr"/>
          </a:p>
        </p:txBody>
      </p:sp>
      <p:sp>
        <p:nvSpPr>
          <p:cNvPr id="295" name="Rectangle 294"/>
          <p:cNvSpPr/>
          <p:nvPr/>
        </p:nvSpPr>
        <p:spPr>
          <a:xfrm>
            <a:off x="3777392" y="4261104"/>
            <a:ext cx="170688" cy="146304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txBody>
          <a:bodyPr rtlCol="0" anchor="ctr" lIns="30000" rIns="30000" tIns="0" bIns="0" wrap="square"/>
          <a:lstStyle/>
          <a:p>
            <a:pPr algn="ctr"/>
          </a:p>
        </p:txBody>
      </p:sp>
      <p:sp>
        <p:nvSpPr>
          <p:cNvPr id="296" name="Rectangle 295"/>
          <p:cNvSpPr/>
          <p:nvPr/>
        </p:nvSpPr>
        <p:spPr>
          <a:xfrm>
            <a:off x="3948080" y="4434840"/>
            <a:ext cx="384048" cy="146304"/>
          </a:xfrm>
          <a:prstGeom prst="rect">
            <a:avLst/>
          </a:prstGeom>
          <a:solidFill>
            <a:srgbClr val="548235"/>
          </a:solidFill>
          <a:ln>
            <a:noFill/>
          </a:ln>
        </p:spPr>
        <p:txBody>
          <a:bodyPr rtlCol="0" anchor="ctr" lIns="30000" rIns="30000" tIns="0" bIns="0" wrap="square"/>
          <a:lstStyle/>
          <a:p>
            <a:pPr algn="ctr"/>
          </a:p>
        </p:txBody>
      </p:sp>
      <p:sp>
        <p:nvSpPr>
          <p:cNvPr id="297" name="Rectangle 296"/>
          <p:cNvSpPr/>
          <p:nvPr/>
        </p:nvSpPr>
        <p:spPr>
          <a:xfrm>
            <a:off x="4332128" y="4608576"/>
            <a:ext cx="42672" cy="146304"/>
          </a:xfrm>
          <a:prstGeom prst="rect">
            <a:avLst/>
          </a:prstGeom>
          <a:solidFill>
            <a:srgbClr val="404040"/>
          </a:solidFill>
          <a:ln>
            <a:noFill/>
          </a:ln>
        </p:spPr>
        <p:txBody>
          <a:bodyPr rtlCol="0" anchor="ctr" lIns="30000" rIns="30000" tIns="0" bIns="0" wrap="square"/>
          <a:lstStyle/>
          <a:p>
            <a:pPr algn="ctr"/>
          </a:p>
        </p:txBody>
      </p:sp>
      <p:sp>
        <p:nvSpPr>
          <p:cNvPr id="298" name="Rectangle 297"/>
          <p:cNvSpPr/>
          <p:nvPr/>
        </p:nvSpPr>
        <p:spPr>
          <a:xfrm>
            <a:off x="4214176" y="4087368"/>
            <a:ext cx="1002792" cy="146304"/>
          </a:xfrm>
          <a:prstGeom prst="rect">
            <a:avLst/>
          </a:prstGeom>
          <a:solidFill>
            <a:srgbClr val="F8CBAD"/>
          </a:solidFill>
          <a:ln>
            <a:noFill/>
          </a:ln>
        </p:spPr>
        <p:txBody>
          <a:bodyPr rtlCol="0" anchor="ctr" lIns="30000" rIns="30000" tIns="0" bIns="0" wrap="square"/>
          <a:lstStyle/>
          <a:p>
            <a:pPr algn="ctr"/>
            <a:r>
              <a:rPr sz="600" b="1" i="0">
                <a:solidFill>
                  <a:srgbClr val="1A1A1A"/>
                </a:solidFill>
                <a:latin typeface="Noto Sans KR"/>
                <a:ea typeface="Noto Sans KR"/>
                <a:cs typeface="Noto Sans KR"/>
              </a:rPr>
              <a:t>B n+2 준비·정제 47 h</a:t>
            </a:r>
          </a:p>
        </p:txBody>
      </p:sp>
      <p:sp>
        <p:nvSpPr>
          <p:cNvPr id="299" name="Rectangle 298"/>
          <p:cNvSpPr/>
          <p:nvPr/>
        </p:nvSpPr>
        <p:spPr>
          <a:xfrm>
            <a:off x="5216968" y="4261104"/>
            <a:ext cx="170688" cy="146304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txBody>
          <a:bodyPr rtlCol="0" anchor="ctr" lIns="30000" rIns="30000" tIns="0" bIns="0" wrap="square"/>
          <a:lstStyle/>
          <a:p>
            <a:pPr algn="ctr"/>
          </a:p>
        </p:txBody>
      </p:sp>
      <p:sp>
        <p:nvSpPr>
          <p:cNvPr id="300" name="Rectangle 299"/>
          <p:cNvSpPr/>
          <p:nvPr/>
        </p:nvSpPr>
        <p:spPr>
          <a:xfrm>
            <a:off x="5387656" y="4434840"/>
            <a:ext cx="384048" cy="146304"/>
          </a:xfrm>
          <a:prstGeom prst="rect">
            <a:avLst/>
          </a:prstGeom>
          <a:solidFill>
            <a:srgbClr val="548235"/>
          </a:solidFill>
          <a:ln>
            <a:noFill/>
          </a:ln>
        </p:spPr>
        <p:txBody>
          <a:bodyPr rtlCol="0" anchor="ctr" lIns="30000" rIns="30000" tIns="0" bIns="0" wrap="square"/>
          <a:lstStyle/>
          <a:p>
            <a:pPr algn="ctr"/>
          </a:p>
        </p:txBody>
      </p:sp>
      <p:sp>
        <p:nvSpPr>
          <p:cNvPr id="301" name="TextBox 300"/>
          <p:cNvSpPr txBox="1"/>
          <p:nvPr/>
        </p:nvSpPr>
        <p:spPr>
          <a:xfrm>
            <a:off x="2535936" y="4270248"/>
            <a:ext cx="1051560" cy="15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580" b="1" i="0">
                <a:solidFill>
                  <a:srgbClr val="7F6000"/>
                </a:solidFill>
                <a:latin typeface="Noto Sans KR"/>
                <a:ea typeface="Noto Sans KR"/>
                <a:cs typeface="Noto Sans KR"/>
              </a:rPr>
              <a:t>← 기타 약 20.5 h (구성 확인)</a:t>
            </a:r>
          </a:p>
        </p:txBody>
      </p:sp>
      <p:sp>
        <p:nvSpPr>
          <p:cNvPr id="302" name="TextBox 301"/>
          <p:cNvSpPr txBox="1"/>
          <p:nvPr/>
        </p:nvSpPr>
        <p:spPr>
          <a:xfrm>
            <a:off x="2980944" y="4617720"/>
            <a:ext cx="1280160" cy="15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600" b="1" i="0">
                <a:solidFill>
                  <a:srgbClr val="548235"/>
                </a:solidFill>
                <a:latin typeface="Noto Sans KR"/>
                <a:ea typeface="Noto Sans KR"/>
                <a:cs typeface="Noto Sans KR"/>
              </a:rPr>
              <a:t>↑ 충진은 다음 Batch 정제와 병렬</a:t>
            </a:r>
          </a:p>
        </p:txBody>
      </p:sp>
      <p:sp>
        <p:nvSpPr>
          <p:cNvPr id="303" name="TextBox 302"/>
          <p:cNvSpPr txBox="1"/>
          <p:nvPr/>
        </p:nvSpPr>
        <p:spPr>
          <a:xfrm>
            <a:off x="287000" y="4773168"/>
            <a:ext cx="5500000" cy="17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620" b="0" i="0">
                <a:solidFill>
                  <a:srgbClr val="7F7F7F"/>
                </a:solidFill>
                <a:latin typeface="Noto Sans KR"/>
                <a:ea typeface="Noto Sans KR"/>
                <a:cs typeface="Noto Sans KR"/>
              </a:rPr>
              <a:t>※ IQC(원료 Lot 공통 여부)·이송 중 정제기 점유·충진 인력·글로브 박스 근무시간이 다음 Batch를 제한하는지 확인</a:t>
            </a:r>
          </a:p>
        </p:txBody>
      </p:sp>
      <p:sp>
        <p:nvSpPr>
          <p:cNvPr id="304" name="Rectangle 303"/>
          <p:cNvSpPr/>
          <p:nvPr/>
        </p:nvSpPr>
        <p:spPr>
          <a:xfrm>
            <a:off x="5937000" y="3675887"/>
            <a:ext cx="2920000" cy="1243584"/>
          </a:xfrm>
          <a:prstGeom prst="rect">
            <a:avLst/>
          </a:prstGeom>
          <a:solidFill>
            <a:srgbClr val="FFF8E7"/>
          </a:solidFill>
          <a:ln w="12700">
            <a:solidFill>
              <a:srgbClr val="BF9000"/>
            </a:solidFill>
          </a:ln>
        </p:spPr>
        <p:txBody>
          <a:bodyPr rtlCol="0" anchor="ctr" lIns="30000" rIns="30000" tIns="0" bIns="0" wrap="square"/>
          <a:lstStyle/>
          <a:p>
            <a:pPr algn="ctr"/>
          </a:p>
        </p:txBody>
      </p:sp>
      <p:sp>
        <p:nvSpPr>
          <p:cNvPr id="305" name="TextBox 304"/>
          <p:cNvSpPr txBox="1"/>
          <p:nvPr/>
        </p:nvSpPr>
        <p:spPr>
          <a:xfrm>
            <a:off x="6027000" y="3703320"/>
            <a:ext cx="274000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750" b="1" i="0">
                <a:solidFill>
                  <a:srgbClr val="7F6000"/>
                </a:solidFill>
                <a:latin typeface="Noto Sans KR"/>
                <a:ea typeface="Noto Sans KR"/>
                <a:cs typeface="Noto Sans KR"/>
              </a:rPr>
              <a:t>추정 근거 · 가정 · 한계</a:t>
            </a:r>
          </a:p>
          <a:p>
            <a:pPr algn="l">
              <a:spcAft>
                <a:spcPts val="600"/>
              </a:spcAft>
            </a:pPr>
            <a:r>
              <a:rPr sz="620" b="0" i="0">
                <a:solidFill>
                  <a:srgbClr val="3F3F3F"/>
                </a:solidFill>
                <a:latin typeface="Noto Sans KR"/>
                <a:ea typeface="Noto Sans KR"/>
                <a:cs typeface="Noto Sans KR"/>
              </a:rPr>
              <a:t>데이터 : 6/2 #39~10/29 #92 (54개 일자 · 53간격) · 5월 일부 제외</a:t>
            </a:r>
          </a:p>
          <a:p>
            <a:pPr algn="l">
              <a:spcAft>
                <a:spcPts val="600"/>
              </a:spcAft>
            </a:pPr>
            <a:r>
              <a:rPr sz="620" b="0" i="0">
                <a:solidFill>
                  <a:srgbClr val="3F3F3F"/>
                </a:solidFill>
                <a:latin typeface="Noto Sans KR"/>
                <a:ea typeface="Noto Sans KR"/>
                <a:cs typeface="Noto Sans KR"/>
              </a:rPr>
              <a:t>방법 : 149일 × 24 ÷ 53 = 67.5 h (범위 67.0~67.9) · 중앙값 72 h</a:t>
            </a:r>
          </a:p>
          <a:p>
            <a:pPr algn="l">
              <a:spcAft>
                <a:spcPts val="600"/>
              </a:spcAft>
            </a:pPr>
            <a:r>
              <a:rPr sz="620" b="0" i="0">
                <a:solidFill>
                  <a:srgbClr val="3F3F3F"/>
                </a:solidFill>
                <a:latin typeface="Noto Sans KR"/>
                <a:ea typeface="Noto Sans KR"/>
                <a:cs typeface="Noto Sans KR"/>
              </a:rPr>
              <a:t>가정 : 표시일 = 매 Batch 같은 이벤트 · 번호 Batch 모두 수행</a:t>
            </a:r>
          </a:p>
          <a:p>
            <a:pPr algn="l">
              <a:spcAft>
                <a:spcPts val="600"/>
              </a:spcAft>
            </a:pPr>
            <a:r>
              <a:rPr sz="620" b="0" i="0">
                <a:solidFill>
                  <a:srgbClr val="3F3F3F"/>
                </a:solidFill>
                <a:latin typeface="Noto Sans KR"/>
                <a:ea typeface="Noto Sans KR"/>
                <a:cs typeface="Noto Sans KR"/>
              </a:rPr>
              <a:t>한계 : 날짜만 있는 계획 (실적 아님) · D일 = (D±1)×24 h, 2일≠48 h</a:t>
            </a:r>
          </a:p>
          <a:p>
            <a:pPr algn="l">
              <a:spcAft>
                <a:spcPts val="600"/>
              </a:spcAft>
            </a:pPr>
            <a:r>
              <a:rPr sz="620" b="0" i="0">
                <a:solidFill>
                  <a:srgbClr val="3F3F3F"/>
                </a:solidFill>
                <a:latin typeface="Noto Sans KR"/>
                <a:ea typeface="Noto Sans KR"/>
                <a:cs typeface="Noto Sans KR"/>
              </a:rPr>
              <a:t>차이 : 정제 45 h 대비 +22.5 h · 점유 47 h 대비 +20.5 h (구성 확인)</a:t>
            </a:r>
          </a:p>
          <a:p>
            <a:pPr algn="l">
              <a:spcAft>
                <a:spcPts val="600"/>
              </a:spcAft>
            </a:pPr>
            <a:r>
              <a:rPr sz="620" b="1" i="0">
                <a:solidFill>
                  <a:srgbClr val="3F3F3F"/>
                </a:solidFill>
                <a:latin typeface="Noto Sans KR"/>
                <a:ea typeface="Noto Sans KR"/>
                <a:cs typeface="Noto Sans KR"/>
              </a:rPr>
              <a:t>확인 : 표시일 의미 · 실제 시각 · Total 46 vs 번호 54 · 색상</a:t>
            </a:r>
          </a:p>
        </p:txBody>
      </p:sp>
      <p:graphicFrame>
        <p:nvGraphicFramePr>
          <p:cNvPr id="306" name="Table 166"/>
          <p:cNvGraphicFramePr>
            <a:graphicFrameLocks noGrp="1"/>
          </p:cNvGraphicFramePr>
          <p:nvPr/>
        </p:nvGraphicFramePr>
        <p:xfrm>
          <a:off x="283464" y="5193792"/>
          <a:ext cx="8567928" cy="1011325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900000"/>
                <a:gridCol w="490833"/>
                <a:gridCol w="490833"/>
                <a:gridCol w="490833"/>
                <a:gridCol w="490833"/>
                <a:gridCol w="490833"/>
                <a:gridCol w="490833"/>
                <a:gridCol w="490833"/>
                <a:gridCol w="490833"/>
                <a:gridCol w="490833"/>
                <a:gridCol w="490833"/>
                <a:gridCol w="490833"/>
                <a:gridCol w="490833"/>
                <a:gridCol w="780000"/>
              </a:tblGrid>
              <a:tr h="144475">
                <a:tc>
                  <a:txBody>
                    <a:bodyPr/>
                    <a:lstStyle/>
                    <a:p>
                      <a:pPr algn="l"/>
                      <a:r>
                        <a:rPr sz="580" b="1" i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구분</a:t>
                      </a:r>
                      <a:endParaRPr sz="580"/>
                    </a:p>
                  </a:txBody>
                  <a:tcPr anchor="ctr" marL="20000" marR="20000" marT="0" marB="0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1A1A1A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80" b="1" i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1월</a:t>
                      </a:r>
                      <a:endParaRPr sz="580"/>
                    </a:p>
                  </a:txBody>
                  <a:tcPr anchor="ctr" marL="20000" marR="20000" marT="0" marB="0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1A1A1A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80" b="1" i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2월</a:t>
                      </a:r>
                      <a:endParaRPr sz="580"/>
                    </a:p>
                  </a:txBody>
                  <a:tcPr anchor="ctr" marL="20000" marR="20000" marT="0" marB="0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1A1A1A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80" b="1" i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3월</a:t>
                      </a:r>
                      <a:endParaRPr sz="580"/>
                    </a:p>
                  </a:txBody>
                  <a:tcPr anchor="ctr" marL="20000" marR="20000" marT="0" marB="0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1A1A1A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80" b="1" i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4월</a:t>
                      </a:r>
                      <a:endParaRPr sz="580"/>
                    </a:p>
                  </a:txBody>
                  <a:tcPr anchor="ctr" marL="20000" marR="20000" marT="0" marB="0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1A1A1A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80" b="1" i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5월</a:t>
                      </a:r>
                      <a:endParaRPr sz="580"/>
                    </a:p>
                  </a:txBody>
                  <a:tcPr anchor="ctr" marL="20000" marR="20000" marT="0" marB="0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1A1A1A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80" b="1" i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6월</a:t>
                      </a:r>
                      <a:endParaRPr sz="580"/>
                    </a:p>
                  </a:txBody>
                  <a:tcPr anchor="ctr" marL="20000" marR="20000" marT="0" marB="0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1A1A1A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80" b="1" i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7월</a:t>
                      </a:r>
                      <a:endParaRPr sz="580"/>
                    </a:p>
                  </a:txBody>
                  <a:tcPr anchor="ctr" marL="20000" marR="20000" marT="0" marB="0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1A1A1A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80" b="1" i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8월</a:t>
                      </a:r>
                      <a:endParaRPr sz="580"/>
                    </a:p>
                  </a:txBody>
                  <a:tcPr anchor="ctr" marL="20000" marR="20000" marT="0" marB="0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1A1A1A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80" b="1" i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9월</a:t>
                      </a:r>
                      <a:endParaRPr sz="580"/>
                    </a:p>
                  </a:txBody>
                  <a:tcPr anchor="ctr" marL="20000" marR="20000" marT="0" marB="0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1A1A1A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80" b="1" i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10월</a:t>
                      </a:r>
                      <a:endParaRPr sz="580"/>
                    </a:p>
                  </a:txBody>
                  <a:tcPr anchor="ctr" marL="20000" marR="20000" marT="0" marB="0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1A1A1A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80" b="1" i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11월</a:t>
                      </a:r>
                      <a:endParaRPr sz="580"/>
                    </a:p>
                  </a:txBody>
                  <a:tcPr anchor="ctr" marL="20000" marR="20000" marT="0" marB="0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1A1A1A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80" b="1" i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12월</a:t>
                      </a:r>
                      <a:endParaRPr sz="580"/>
                    </a:p>
                  </a:txBody>
                  <a:tcPr anchor="ctr" marL="20000" marR="20000" marT="0" marB="0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1A1A1A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80" b="1" i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연간</a:t>
                      </a:r>
                      <a:endParaRPr sz="580"/>
                    </a:p>
                  </a:txBody>
                  <a:tcPr anchor="ctr" marL="20000" marR="20000" marT="0" marB="0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1A1A1A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DEDED"/>
                    </a:solidFill>
                  </a:tcPr>
                </a:tc>
              </a:tr>
              <a:tr h="144475">
                <a:tc>
                  <a:txBody>
                    <a:bodyPr/>
                    <a:lstStyle/>
                    <a:p>
                      <a:pPr algn="l"/>
                      <a:r>
                        <a:rPr sz="580" b="0" i="0">
                          <a:solidFill>
                            <a:srgbClr val="EB00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■ </a:t>
                      </a:r>
                      <a:r>
                        <a:rPr sz="580" b="1" i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SK하이닉스</a:t>
                      </a:r>
                      <a:endParaRPr sz="580"/>
                    </a:p>
                  </a:txBody>
                  <a:tcPr anchor="ctr" marL="20000" marR="20000" marT="0" marB="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80" b="0" i="0">
                          <a:solidFill>
                            <a:srgbClr val="2E75B6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1,600</a:t>
                      </a:r>
                      <a:endParaRPr sz="580"/>
                    </a:p>
                  </a:txBody>
                  <a:tcPr anchor="ctr" marL="20000" marR="20000" marT="0" marB="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80" b="0" i="0">
                          <a:solidFill>
                            <a:srgbClr val="2E75B6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1,420</a:t>
                      </a:r>
                      <a:endParaRPr sz="580"/>
                    </a:p>
                  </a:txBody>
                  <a:tcPr anchor="ctr" marL="20000" marR="20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80" b="0" i="0">
                          <a:solidFill>
                            <a:srgbClr val="2E75B6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1,440</a:t>
                      </a:r>
                      <a:endParaRPr sz="580"/>
                    </a:p>
                  </a:txBody>
                  <a:tcPr anchor="ctr" marL="20000" marR="20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80" b="0" i="0">
                          <a:solidFill>
                            <a:srgbClr val="2E75B6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1,580</a:t>
                      </a:r>
                      <a:endParaRPr sz="580"/>
                    </a:p>
                  </a:txBody>
                  <a:tcPr anchor="ctr" marL="20000" marR="20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80" b="0" i="0">
                          <a:solidFill>
                            <a:srgbClr val="2E75B6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1,200</a:t>
                      </a:r>
                      <a:endParaRPr sz="580"/>
                    </a:p>
                  </a:txBody>
                  <a:tcPr anchor="ctr" marL="20000" marR="20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80" b="0" i="0">
                          <a:solidFill>
                            <a:srgbClr val="2E75B6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1,200</a:t>
                      </a:r>
                      <a:endParaRPr sz="580"/>
                    </a:p>
                  </a:txBody>
                  <a:tcPr anchor="ctr" marL="20000" marR="20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80" b="0" i="0">
                          <a:solidFill>
                            <a:srgbClr val="2E75B6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1,360</a:t>
                      </a:r>
                      <a:endParaRPr sz="580"/>
                    </a:p>
                  </a:txBody>
                  <a:tcPr anchor="ctr" marL="20000" marR="20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80" b="0" i="0">
                          <a:solidFill>
                            <a:srgbClr val="2E75B6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1,420</a:t>
                      </a:r>
                      <a:endParaRPr sz="580"/>
                    </a:p>
                  </a:txBody>
                  <a:tcPr anchor="ctr" marL="20000" marR="20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80" b="0" i="0">
                          <a:solidFill>
                            <a:srgbClr val="2E75B6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1,380</a:t>
                      </a:r>
                      <a:endParaRPr sz="580"/>
                    </a:p>
                  </a:txBody>
                  <a:tcPr anchor="ctr" marL="20000" marR="20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80" b="0" i="0">
                          <a:solidFill>
                            <a:srgbClr val="2E75B6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1,480</a:t>
                      </a:r>
                      <a:endParaRPr sz="580"/>
                    </a:p>
                  </a:txBody>
                  <a:tcPr anchor="ctr" marL="20000" marR="20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80" b="0" i="0">
                          <a:solidFill>
                            <a:srgbClr val="2E75B6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1,480</a:t>
                      </a:r>
                      <a:endParaRPr sz="580"/>
                    </a:p>
                  </a:txBody>
                  <a:tcPr anchor="ctr" marL="20000" marR="20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80" b="0" i="0">
                          <a:solidFill>
                            <a:srgbClr val="2E75B6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1,420</a:t>
                      </a:r>
                      <a:endParaRPr sz="580"/>
                    </a:p>
                  </a:txBody>
                  <a:tcPr anchor="ctr" marL="20000" marR="20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80" b="1" i="0">
                          <a:solidFill>
                            <a:srgbClr val="2E75B6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16,980</a:t>
                      </a:r>
                      <a:endParaRPr sz="580"/>
                    </a:p>
                  </a:txBody>
                  <a:tcPr anchor="ctr" marL="20000" marR="20000" marT="0" marB="0">
                    <a:lnL w="6350">
                      <a:solidFill>
                        <a:srgbClr val="BFBFBF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</a:tr>
              <a:tr h="144475">
                <a:tc>
                  <a:txBody>
                    <a:bodyPr/>
                    <a:lstStyle/>
                    <a:p>
                      <a:pPr algn="l"/>
                      <a:r>
                        <a:rPr sz="580" b="0" i="0">
                          <a:solidFill>
                            <a:srgbClr val="FF7900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■ </a:t>
                      </a:r>
                      <a:r>
                        <a:rPr sz="580" b="1" i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이지켐</a:t>
                      </a:r>
                      <a:endParaRPr sz="580"/>
                    </a:p>
                  </a:txBody>
                  <a:tcPr anchor="ctr" marL="20000" marR="20000" marT="0" marB="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80" b="0" i="0">
                          <a:solidFill>
                            <a:srgbClr val="2E75B6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0</a:t>
                      </a:r>
                      <a:endParaRPr sz="580"/>
                    </a:p>
                  </a:txBody>
                  <a:tcPr anchor="ctr" marL="20000" marR="20000" marT="0" marB="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80" b="0" i="0">
                          <a:solidFill>
                            <a:srgbClr val="2E75B6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0</a:t>
                      </a:r>
                      <a:endParaRPr sz="580"/>
                    </a:p>
                  </a:txBody>
                  <a:tcPr anchor="ctr" marL="20000" marR="20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80" b="0" i="0">
                          <a:solidFill>
                            <a:srgbClr val="2E75B6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0</a:t>
                      </a:r>
                      <a:endParaRPr sz="580"/>
                    </a:p>
                  </a:txBody>
                  <a:tcPr anchor="ctr" marL="20000" marR="20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80" b="0" i="0">
                          <a:solidFill>
                            <a:srgbClr val="2E75B6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0</a:t>
                      </a:r>
                      <a:endParaRPr sz="580"/>
                    </a:p>
                  </a:txBody>
                  <a:tcPr anchor="ctr" marL="20000" marR="20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80" b="0" i="0">
                          <a:solidFill>
                            <a:srgbClr val="2E75B6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0</a:t>
                      </a:r>
                      <a:endParaRPr sz="580"/>
                    </a:p>
                  </a:txBody>
                  <a:tcPr anchor="ctr" marL="20000" marR="20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80" b="0" i="0">
                          <a:solidFill>
                            <a:srgbClr val="2E75B6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0</a:t>
                      </a:r>
                      <a:endParaRPr sz="580"/>
                    </a:p>
                  </a:txBody>
                  <a:tcPr anchor="ctr" marL="20000" marR="20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80" b="0" i="0">
                          <a:solidFill>
                            <a:srgbClr val="2E75B6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0</a:t>
                      </a:r>
                      <a:endParaRPr sz="580"/>
                    </a:p>
                  </a:txBody>
                  <a:tcPr anchor="ctr" marL="20000" marR="20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80" b="0" i="0">
                          <a:solidFill>
                            <a:srgbClr val="2E75B6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0</a:t>
                      </a:r>
                      <a:endParaRPr sz="580"/>
                    </a:p>
                  </a:txBody>
                  <a:tcPr anchor="ctr" marL="20000" marR="20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80" b="0" i="0">
                          <a:solidFill>
                            <a:srgbClr val="2E75B6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560</a:t>
                      </a:r>
                      <a:endParaRPr sz="580"/>
                    </a:p>
                  </a:txBody>
                  <a:tcPr anchor="ctr" marL="20000" marR="20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80" b="0" i="0">
                          <a:solidFill>
                            <a:srgbClr val="2E75B6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560</a:t>
                      </a:r>
                      <a:endParaRPr sz="580"/>
                    </a:p>
                  </a:txBody>
                  <a:tcPr anchor="ctr" marL="20000" marR="20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80" b="0" i="0">
                          <a:solidFill>
                            <a:srgbClr val="2E75B6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560</a:t>
                      </a:r>
                      <a:endParaRPr sz="580"/>
                    </a:p>
                  </a:txBody>
                  <a:tcPr anchor="ctr" marL="20000" marR="20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80" b="0" i="0">
                          <a:solidFill>
                            <a:srgbClr val="2E75B6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560</a:t>
                      </a:r>
                      <a:endParaRPr sz="580"/>
                    </a:p>
                  </a:txBody>
                  <a:tcPr anchor="ctr" marL="20000" marR="20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80" b="1" i="0">
                          <a:solidFill>
                            <a:srgbClr val="2E75B6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2,240</a:t>
                      </a:r>
                      <a:endParaRPr sz="580"/>
                    </a:p>
                  </a:txBody>
                  <a:tcPr anchor="ctr" marL="20000" marR="20000" marT="0" marB="0">
                    <a:lnL w="6350">
                      <a:solidFill>
                        <a:srgbClr val="BFBFBF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</a:tr>
              <a:tr h="144475">
                <a:tc>
                  <a:txBody>
                    <a:bodyPr/>
                    <a:lstStyle/>
                    <a:p>
                      <a:pPr algn="l"/>
                      <a:r>
                        <a:rPr sz="580" b="1" i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출하 합계 (제시분)</a:t>
                      </a:r>
                      <a:endParaRPr sz="580"/>
                    </a:p>
                  </a:txBody>
                  <a:tcPr anchor="ctr" marL="20000" marR="20000" marT="0" marB="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80" b="1" i="0">
                          <a:solidFill>
                            <a:srgbClr val="2E75B6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1,600</a:t>
                      </a:r>
                      <a:endParaRPr sz="580"/>
                    </a:p>
                  </a:txBody>
                  <a:tcPr anchor="ctr" marL="20000" marR="20000" marT="0" marB="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80" b="1" i="0">
                          <a:solidFill>
                            <a:srgbClr val="2E75B6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1,420</a:t>
                      </a:r>
                      <a:endParaRPr sz="580"/>
                    </a:p>
                  </a:txBody>
                  <a:tcPr anchor="ctr" marL="20000" marR="20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80" b="1" i="0">
                          <a:solidFill>
                            <a:srgbClr val="2E75B6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1,440</a:t>
                      </a:r>
                      <a:endParaRPr sz="580"/>
                    </a:p>
                  </a:txBody>
                  <a:tcPr anchor="ctr" marL="20000" marR="20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80" b="1" i="0">
                          <a:solidFill>
                            <a:srgbClr val="2E75B6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1,580</a:t>
                      </a:r>
                      <a:endParaRPr sz="580"/>
                    </a:p>
                  </a:txBody>
                  <a:tcPr anchor="ctr" marL="20000" marR="20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80" b="1" i="0">
                          <a:solidFill>
                            <a:srgbClr val="2E75B6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1,200</a:t>
                      </a:r>
                      <a:endParaRPr sz="580"/>
                    </a:p>
                  </a:txBody>
                  <a:tcPr anchor="ctr" marL="20000" marR="20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80" b="1" i="0">
                          <a:solidFill>
                            <a:srgbClr val="2E75B6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1,200</a:t>
                      </a:r>
                      <a:endParaRPr sz="580"/>
                    </a:p>
                  </a:txBody>
                  <a:tcPr anchor="ctr" marL="20000" marR="20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80" b="1" i="0">
                          <a:solidFill>
                            <a:srgbClr val="2E75B6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1,360</a:t>
                      </a:r>
                      <a:endParaRPr sz="580"/>
                    </a:p>
                  </a:txBody>
                  <a:tcPr anchor="ctr" marL="20000" marR="20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80" b="1" i="0">
                          <a:solidFill>
                            <a:srgbClr val="2E75B6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1,420</a:t>
                      </a:r>
                      <a:endParaRPr sz="580"/>
                    </a:p>
                  </a:txBody>
                  <a:tcPr anchor="ctr" marL="20000" marR="20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80" b="1" i="0">
                          <a:solidFill>
                            <a:srgbClr val="2E75B6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1,940</a:t>
                      </a:r>
                      <a:endParaRPr sz="580"/>
                    </a:p>
                  </a:txBody>
                  <a:tcPr anchor="ctr" marL="20000" marR="20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80" b="1" i="0">
                          <a:solidFill>
                            <a:srgbClr val="2E75B6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2,040</a:t>
                      </a:r>
                      <a:endParaRPr sz="580"/>
                    </a:p>
                  </a:txBody>
                  <a:tcPr anchor="ctr" marL="20000" marR="20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80" b="1" i="0">
                          <a:solidFill>
                            <a:srgbClr val="2E75B6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2,040</a:t>
                      </a:r>
                      <a:endParaRPr sz="580"/>
                    </a:p>
                  </a:txBody>
                  <a:tcPr anchor="ctr" marL="20000" marR="20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80" b="1" i="0">
                          <a:solidFill>
                            <a:srgbClr val="2E75B6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1,980</a:t>
                      </a:r>
                      <a:endParaRPr sz="580"/>
                    </a:p>
                  </a:txBody>
                  <a:tcPr anchor="ctr" marL="20000" marR="20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80" b="1" i="0">
                          <a:solidFill>
                            <a:srgbClr val="2E75B6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19,220</a:t>
                      </a:r>
                      <a:endParaRPr sz="580"/>
                    </a:p>
                  </a:txBody>
                  <a:tcPr anchor="ctr" marL="20000" marR="20000" marT="0" marB="0">
                    <a:lnL w="6350">
                      <a:solidFill>
                        <a:srgbClr val="BFBFBF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</a:tr>
              <a:tr h="144475">
                <a:tc>
                  <a:txBody>
                    <a:bodyPr/>
                    <a:lstStyle/>
                    <a:p>
                      <a:pPr algn="l"/>
                      <a:r>
                        <a:rPr sz="580" b="0" i="0">
                          <a:solidFill>
                            <a:srgbClr val="7F7F7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계획 Total×190 (번호 ①)</a:t>
                      </a:r>
                      <a:endParaRPr sz="580"/>
                    </a:p>
                  </a:txBody>
                  <a:tcPr anchor="ctr" marL="20000" marR="20000" marT="0" marB="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80" b="0" i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/>
                      </a:r>
                      <a:endParaRPr sz="580"/>
                    </a:p>
                  </a:txBody>
                  <a:tcPr anchor="ctr" marL="20000" marR="20000" marT="0" marB="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80" b="0" i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/>
                      </a:r>
                      <a:endParaRPr sz="580"/>
                    </a:p>
                  </a:txBody>
                  <a:tcPr anchor="ctr" marL="20000" marR="20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80" b="0" i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/>
                      </a:r>
                      <a:endParaRPr sz="580"/>
                    </a:p>
                  </a:txBody>
                  <a:tcPr anchor="ctr" marL="20000" marR="20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80" b="0" i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/>
                      </a:r>
                      <a:endParaRPr sz="580"/>
                    </a:p>
                  </a:txBody>
                  <a:tcPr anchor="ctr" marL="20000" marR="20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80" b="0" i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/>
                      </a:r>
                      <a:endParaRPr sz="580"/>
                    </a:p>
                  </a:txBody>
                  <a:tcPr anchor="ctr" marL="20000" marR="20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80" b="0" i="0">
                          <a:solidFill>
                            <a:srgbClr val="7F7F7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1,520</a:t>
                      </a:r>
                      <a:endParaRPr sz="580"/>
                    </a:p>
                  </a:txBody>
                  <a:tcPr anchor="ctr" marL="20000" marR="20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80" b="0" i="0">
                          <a:solidFill>
                            <a:srgbClr val="7F7F7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2,090</a:t>
                      </a:r>
                      <a:endParaRPr sz="580"/>
                    </a:p>
                  </a:txBody>
                  <a:tcPr anchor="ctr" marL="20000" marR="20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80" b="0" i="0">
                          <a:solidFill>
                            <a:srgbClr val="7F7F7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1,520</a:t>
                      </a:r>
                      <a:endParaRPr sz="580"/>
                    </a:p>
                  </a:txBody>
                  <a:tcPr anchor="ctr" marL="20000" marR="20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80" b="0" i="0">
                          <a:solidFill>
                            <a:srgbClr val="7F7F7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1,520</a:t>
                      </a:r>
                      <a:endParaRPr sz="580"/>
                    </a:p>
                  </a:txBody>
                  <a:tcPr anchor="ctr" marL="20000" marR="20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80" b="0" i="0">
                          <a:solidFill>
                            <a:srgbClr val="7F7F7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2,090</a:t>
                      </a:r>
                      <a:endParaRPr sz="580"/>
                    </a:p>
                  </a:txBody>
                  <a:tcPr anchor="ctr" marL="20000" marR="20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80" b="0" i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/>
                      </a:r>
                      <a:endParaRPr sz="580"/>
                    </a:p>
                  </a:txBody>
                  <a:tcPr anchor="ctr" marL="20000" marR="20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80" b="0" i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/>
                      </a:r>
                      <a:endParaRPr sz="580"/>
                    </a:p>
                  </a:txBody>
                  <a:tcPr anchor="ctr" marL="20000" marR="20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80" b="1" i="0">
                          <a:solidFill>
                            <a:srgbClr val="7F7F7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8,740*</a:t>
                      </a:r>
                      <a:endParaRPr sz="580"/>
                    </a:p>
                  </a:txBody>
                  <a:tcPr anchor="ctr" marL="20000" marR="20000" marT="0" marB="0">
                    <a:lnL w="6350">
                      <a:solidFill>
                        <a:srgbClr val="BFBFBF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</a:tr>
              <a:tr h="144475">
                <a:tc>
                  <a:txBody>
                    <a:bodyPr/>
                    <a:lstStyle/>
                    <a:p>
                      <a:pPr algn="l"/>
                      <a:r>
                        <a:rPr sz="580" b="0" i="0">
                          <a:solidFill>
                            <a:srgbClr val="7F7F7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추정 생산 가능 (관측)</a:t>
                      </a:r>
                      <a:endParaRPr sz="580"/>
                    </a:p>
                  </a:txBody>
                  <a:tcPr anchor="ctr" marL="20000" marR="20000" marT="0" marB="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80" b="0" i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2,090</a:t>
                      </a:r>
                      <a:endParaRPr sz="580"/>
                    </a:p>
                  </a:txBody>
                  <a:tcPr anchor="ctr" marL="20000" marR="20000" marT="0" marB="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80" b="0" i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1,710</a:t>
                      </a:r>
                      <a:endParaRPr sz="580"/>
                    </a:p>
                  </a:txBody>
                  <a:tcPr anchor="ctr" marL="20000" marR="20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80" b="0" i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2,280</a:t>
                      </a:r>
                      <a:endParaRPr sz="580"/>
                    </a:p>
                  </a:txBody>
                  <a:tcPr anchor="ctr" marL="20000" marR="20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80" b="0" i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1,900</a:t>
                      </a:r>
                      <a:endParaRPr sz="580"/>
                    </a:p>
                  </a:txBody>
                  <a:tcPr anchor="ctr" marL="20000" marR="20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80" b="0" i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2,090</a:t>
                      </a:r>
                      <a:endParaRPr sz="580"/>
                    </a:p>
                  </a:txBody>
                  <a:tcPr anchor="ctr" marL="20000" marR="20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80" b="0" i="0">
                          <a:solidFill>
                            <a:srgbClr val="7F7F7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2,090</a:t>
                      </a:r>
                      <a:endParaRPr sz="580"/>
                    </a:p>
                  </a:txBody>
                  <a:tcPr anchor="ctr" marL="20000" marR="20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80" b="0" i="0">
                          <a:solidFill>
                            <a:srgbClr val="7F7F7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2,090</a:t>
                      </a:r>
                      <a:endParaRPr sz="580"/>
                    </a:p>
                  </a:txBody>
                  <a:tcPr anchor="ctr" marL="20000" marR="20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80" b="0" i="0">
                          <a:solidFill>
                            <a:srgbClr val="7F7F7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2,090</a:t>
                      </a:r>
                      <a:endParaRPr sz="580"/>
                    </a:p>
                  </a:txBody>
                  <a:tcPr anchor="ctr" marL="20000" marR="20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80" b="0" i="0">
                          <a:solidFill>
                            <a:srgbClr val="7F7F7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2,090</a:t>
                      </a:r>
                      <a:endParaRPr sz="580"/>
                    </a:p>
                  </a:txBody>
                  <a:tcPr anchor="ctr" marL="20000" marR="20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80" b="0" i="0">
                          <a:solidFill>
                            <a:srgbClr val="7F7F7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2,090</a:t>
                      </a:r>
                      <a:endParaRPr sz="580"/>
                    </a:p>
                  </a:txBody>
                  <a:tcPr anchor="ctr" marL="20000" marR="20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80" b="0" i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1,900</a:t>
                      </a:r>
                      <a:endParaRPr sz="580"/>
                    </a:p>
                  </a:txBody>
                  <a:tcPr anchor="ctr" marL="20000" marR="20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80" b="0" i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2,090</a:t>
                      </a:r>
                      <a:endParaRPr sz="580"/>
                    </a:p>
                  </a:txBody>
                  <a:tcPr anchor="ctr" marL="20000" marR="20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80" b="1" i="0">
                          <a:solidFill>
                            <a:srgbClr val="7F7F7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24,510</a:t>
                      </a:r>
                      <a:endParaRPr sz="580"/>
                    </a:p>
                  </a:txBody>
                  <a:tcPr anchor="ctr" marL="20000" marR="20000" marT="0" marB="0">
                    <a:lnL w="6350">
                      <a:solidFill>
                        <a:srgbClr val="BFBFBF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</a:tr>
              <a:tr h="144475">
                <a:tc>
                  <a:txBody>
                    <a:bodyPr/>
                    <a:lstStyle/>
                    <a:p>
                      <a:pPr algn="l"/>
                      <a:r>
                        <a:rPr sz="580" b="1" i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추정 − 출하</a:t>
                      </a:r>
                      <a:endParaRPr sz="580"/>
                    </a:p>
                  </a:txBody>
                  <a:tcPr anchor="ctr" marL="20000" marR="20000" marT="0" marB="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80" b="0" i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+490</a:t>
                      </a:r>
                      <a:endParaRPr sz="580"/>
                    </a:p>
                  </a:txBody>
                  <a:tcPr anchor="ctr" marL="20000" marR="20000" marT="0" marB="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80" b="0" i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+290</a:t>
                      </a:r>
                      <a:endParaRPr sz="580"/>
                    </a:p>
                  </a:txBody>
                  <a:tcPr anchor="ctr" marL="20000" marR="20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80" b="0" i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+840</a:t>
                      </a:r>
                      <a:endParaRPr sz="580"/>
                    </a:p>
                  </a:txBody>
                  <a:tcPr anchor="ctr" marL="20000" marR="20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80" b="0" i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+320</a:t>
                      </a:r>
                      <a:endParaRPr sz="580"/>
                    </a:p>
                  </a:txBody>
                  <a:tcPr anchor="ctr" marL="20000" marR="20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80" b="0" i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+890</a:t>
                      </a:r>
                      <a:endParaRPr sz="580"/>
                    </a:p>
                  </a:txBody>
                  <a:tcPr anchor="ctr" marL="20000" marR="20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80" b="1" i="0">
                          <a:solidFill>
                            <a:srgbClr val="2E75B6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+890</a:t>
                      </a:r>
                      <a:endParaRPr sz="580"/>
                    </a:p>
                  </a:txBody>
                  <a:tcPr anchor="ctr" marL="20000" marR="20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80" b="1" i="0">
                          <a:solidFill>
                            <a:srgbClr val="2E75B6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+730</a:t>
                      </a:r>
                      <a:endParaRPr sz="580"/>
                    </a:p>
                  </a:txBody>
                  <a:tcPr anchor="ctr" marL="20000" marR="20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80" b="1" i="0">
                          <a:solidFill>
                            <a:srgbClr val="2E75B6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+670</a:t>
                      </a:r>
                      <a:endParaRPr sz="580"/>
                    </a:p>
                  </a:txBody>
                  <a:tcPr anchor="ctr" marL="20000" marR="20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80" b="1" i="0">
                          <a:solidFill>
                            <a:srgbClr val="EB00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+150</a:t>
                      </a:r>
                      <a:endParaRPr sz="580"/>
                    </a:p>
                  </a:txBody>
                  <a:tcPr anchor="ctr" marL="20000" marR="20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80" b="1" i="0">
                          <a:solidFill>
                            <a:srgbClr val="2E75B6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+50</a:t>
                      </a:r>
                      <a:endParaRPr sz="580"/>
                    </a:p>
                  </a:txBody>
                  <a:tcPr anchor="ctr" marL="20000" marR="20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80" b="0" i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−140</a:t>
                      </a:r>
                      <a:endParaRPr sz="580"/>
                    </a:p>
                  </a:txBody>
                  <a:tcPr anchor="ctr" marL="20000" marR="20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80" b="0" i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+110</a:t>
                      </a:r>
                      <a:endParaRPr sz="580"/>
                    </a:p>
                  </a:txBody>
                  <a:tcPr anchor="ctr" marL="20000" marR="20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80" b="1" i="0">
                          <a:solidFill>
                            <a:srgbClr val="2E75B6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+5,290</a:t>
                      </a:r>
                      <a:endParaRPr sz="580"/>
                    </a:p>
                  </a:txBody>
                  <a:tcPr anchor="ctr" marL="20000" marR="20000" marT="0" marB="0">
                    <a:lnL w="6350">
                      <a:solidFill>
                        <a:srgbClr val="BFBFBF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307" name="Rectangle 262"/>
          <p:cNvSpPr/>
          <p:nvPr/>
        </p:nvSpPr>
        <p:spPr>
          <a:xfrm>
            <a:off x="287000" y="5001768"/>
            <a:ext cx="50000" cy="165000"/>
          </a:xfrm>
          <a:prstGeom prst="rect">
            <a:avLst/>
          </a:prstGeom>
          <a:solidFill>
            <a:srgbClr val="EB002C"/>
          </a:solidFill>
          <a:ln>
            <a:noFill/>
          </a:ln>
        </p:spPr>
        <p:txBody>
          <a:bodyPr rtlCol="0" anchor="ctr" lIns="30000" rIns="30000" tIns="0" bIns="0" wrap="square"/>
          <a:lstStyle/>
          <a:p>
            <a:pPr algn="ctr"/>
          </a:p>
        </p:txBody>
      </p:sp>
      <p:sp>
        <p:nvSpPr>
          <p:cNvPr id="308" name="TextBox 263"/>
          <p:cNvSpPr txBox="1"/>
          <p:nvPr/>
        </p:nvSpPr>
        <p:spPr>
          <a:xfrm>
            <a:off x="397000" y="4974336"/>
            <a:ext cx="8000000" cy="22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1" i="0">
                <a:solidFill>
                  <a:srgbClr val="1A1A1A"/>
                </a:solidFill>
                <a:latin typeface="Noto Sans KR"/>
                <a:ea typeface="Noto Sans KR"/>
                <a:cs typeface="Noto Sans KR"/>
              </a:rPr>
              <a:t>⑤ 2026 출하 제시분 vs 현재 Capa. (kg)</a:t>
            </a:r>
            <a:r>
              <a:rPr sz="700" b="0" i="0">
                <a:solidFill>
                  <a:srgbClr val="7F7F7F"/>
                </a:solidFill>
                <a:latin typeface="Noto Sans KR"/>
                <a:ea typeface="Noto Sans KR"/>
                <a:cs typeface="Noto Sans KR"/>
              </a:rPr>
              <a:t>   19.22톤 (CXMT·한솔 미제시) = 26.2톤의 73.4% · 차이 6.98톤 (가동률·판매 가능량 아님)</a:t>
            </a:r>
          </a:p>
        </p:txBody>
      </p:sp>
      <p:sp>
        <p:nvSpPr>
          <p:cNvPr id="309" name="TextBox 308"/>
          <p:cNvSpPr txBox="1"/>
          <p:nvPr/>
        </p:nvSpPr>
        <p:spPr>
          <a:xfrm>
            <a:off x="283464" y="6300216"/>
            <a:ext cx="5303520" cy="914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530" b="0">
                <a:solidFill>
                  <a:srgbClr val="7F7F7F"/>
                </a:solidFill>
                <a:latin typeface="Noto Sans KR"/>
                <a:ea typeface="Noto Sans KR"/>
                <a:cs typeface="Noto Sans KR"/>
              </a:rPr>
              <a:t>* 6~10월 합계 (번호×190 기준 10,260) · 계획은 원자료 생산계획(실적 아님) · 추정 생산 가능 = 관측 67.5 h·190 kg·달력 연속(129 Batch) · 상세 Excel 02·04</a:t>
            </a:r>
          </a:p>
        </p:txBody>
      </p:sp>
    </p:spTree>
    <p:extLst>
      <p:ext uri="{BB962C8B-B14F-4D97-AF65-F5344CB8AC3E}">
        <p14:creationId xmlns:p14="http://schemas.microsoft.com/office/powerpoint/2010/main" val="129899069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32BE96E-E472-E164-23F2-95F3E9DCB42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75E2DD2F-BCF5-ECAE-E5D5-3CF0B6E970A6}"/>
              </a:ext>
            </a:extLst>
          </p:cNvPr>
          <p:cNvSpPr txBox="1"/>
          <p:nvPr/>
        </p:nvSpPr>
        <p:spPr>
          <a:xfrm>
            <a:off x="419241" y="188640"/>
            <a:ext cx="7400000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>
            <a:defPPr>
              <a:defRPr lang="ko-KR"/>
            </a:defPPr>
            <a:lvl1pPr algn="ctr">
              <a:defRPr kumimoji="1" sz="2800" b="1">
                <a:solidFill>
                  <a:schemeClr val="tx1">
                    <a:lumMod val="95000"/>
                    <a:lumOff val="5000"/>
                  </a:schemeClr>
                </a:solidFill>
                <a:latin typeface="Noto Sans KR" pitchFamily="2" charset="-127"/>
                <a:ea typeface="Noto Sans KR" pitchFamily="2" charset="-127"/>
              </a:defRPr>
            </a:lvl1pPr>
          </a:lstStyle>
          <a:p>
            <a:pPr algn="l"/>
            <a:r>
              <a:rPr lang="en-US" altLang="ko-KR" sz="1800" dirty="0" b="1">
                <a:gradFill>
                  <a:gsLst>
                    <a:gs pos="0">
                      <a:srgbClr val="FF7900"/>
                    </a:gs>
                    <a:gs pos="67000">
                      <a:srgbClr val="EB002C"/>
                    </a:gs>
                  </a:gsLst>
                  <a:lin ang="5400000" scaled="1"/>
                </a:gradFill>
              </a:rPr>
              <a:t>2027년 월별 출하와 공급 대응</a:t>
            </a: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F5E334A9-F66D-C6A4-7BE9-6D50F9536A48}"/>
              </a:ext>
            </a:extLst>
          </p:cNvPr>
          <p:cNvSpPr/>
          <p:nvPr/>
        </p:nvSpPr>
        <p:spPr>
          <a:xfrm>
            <a:off x="243076" y="0"/>
            <a:ext cx="45719" cy="900000"/>
          </a:xfrm>
          <a:prstGeom prst="rect">
            <a:avLst/>
          </a:prstGeom>
          <a:solidFill>
            <a:srgbClr val="EB002C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42E35880-4093-876B-A5F4-41C1E861B78E}"/>
              </a:ext>
            </a:extLst>
          </p:cNvPr>
          <p:cNvSpPr txBox="1"/>
          <p:nvPr/>
        </p:nvSpPr>
        <p:spPr>
          <a:xfrm>
            <a:off x="683568" y="649029"/>
            <a:ext cx="8217356" cy="24622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>
            <a:defPPr>
              <a:defRPr lang="ko-KR"/>
            </a:defPPr>
            <a:lvl1pPr algn="ctr">
              <a:defRPr kumimoji="1" sz="2800" b="1">
                <a:solidFill>
                  <a:schemeClr val="tx1">
                    <a:lumMod val="95000"/>
                    <a:lumOff val="5000"/>
                  </a:schemeClr>
                </a:solidFill>
                <a:latin typeface="Noto Sans KR" pitchFamily="2" charset="-127"/>
                <a:ea typeface="Noto Sans KR" pitchFamily="2" charset="-127"/>
              </a:defRPr>
            </a:lvl1pPr>
          </a:lstStyle>
          <a:p>
            <a:pPr algn="l"/>
            <a:r>
              <a:rPr lang="en-US" altLang="ko-KR" sz="1600" dirty="0"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출하계획 43.4톤 · 현재 26.2톤 대비 17.2톤 초과 · 하반기 24.56 vs 참고 23.6톤</a:t>
            </a:r>
            <a:endParaRPr lang="en-US" altLang="ko-KR" sz="1600" dirty="0">
              <a:solidFill>
                <a:srgbClr val="FB6306"/>
              </a:solidFill>
              <a:latin typeface="Noto Sans KR" panose="02000503000000020004" pitchFamily="2" charset="-127"/>
              <a:ea typeface="Noto Sans KR" panose="02000503000000020004" pitchFamily="2" charset="-127"/>
              <a:cs typeface="Noto Sans KR" panose="02000503000000020004" pitchFamily="2" charset="-127"/>
            </a:endParaRPr>
          </a:p>
        </p:txBody>
      </p:sp>
      <p:sp>
        <p:nvSpPr>
          <p:cNvPr id="7" name="타원 6">
            <a:extLst>
              <a:ext uri="{FF2B5EF4-FFF2-40B4-BE49-F238E27FC236}">
                <a16:creationId xmlns:a16="http://schemas.microsoft.com/office/drawing/2014/main" id="{8FCEA6BD-DE04-59B4-A8D4-190141D5218B}"/>
              </a:ext>
            </a:extLst>
          </p:cNvPr>
          <p:cNvSpPr>
            <a:spLocks noChangeAspect="1"/>
          </p:cNvSpPr>
          <p:nvPr/>
        </p:nvSpPr>
        <p:spPr>
          <a:xfrm>
            <a:off x="419241" y="682139"/>
            <a:ext cx="180000" cy="180000"/>
          </a:xfrm>
          <a:prstGeom prst="ellipse">
            <a:avLst/>
          </a:prstGeom>
          <a:solidFill>
            <a:srgbClr val="EB002C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 b="1" dirty="0">
                <a:latin typeface="Noto Sans KR" pitchFamily="2" charset="-127"/>
                <a:ea typeface="Noto Sans KR" pitchFamily="2" charset="-127"/>
              </a:rPr>
              <a:t>4</a:t>
            </a:r>
            <a:endParaRPr kumimoji="1" lang="ko-KR" altLang="en-US" sz="1000" b="1" dirty="0">
              <a:latin typeface="Noto Sans KR" pitchFamily="2" charset="-127"/>
              <a:ea typeface="Noto Sans KR" pitchFamily="2" charset="-127"/>
            </a:endParaRPr>
          </a:p>
        </p:txBody>
      </p:sp>
      <p:pic>
        <p:nvPicPr>
          <p:cNvPr id="8" name="그림 7">
            <a:extLst>
              <a:ext uri="{FF2B5EF4-FFF2-40B4-BE49-F238E27FC236}">
                <a16:creationId xmlns:a16="http://schemas.microsoft.com/office/drawing/2014/main" id="{B8A963E8-7BFA-8421-BB5D-9C25023F1E9B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028384" y="165102"/>
            <a:ext cx="872541" cy="372545"/>
          </a:xfrm>
          <a:prstGeom prst="rect">
            <a:avLst/>
          </a:prstGeom>
        </p:spPr>
      </p:pic>
      <p:sp>
        <p:nvSpPr>
          <p:cNvPr id="161" name="직사각형 160">
            <a:extLst>
              <a:ext uri="{FF2B5EF4-FFF2-40B4-BE49-F238E27FC236}">
                <a16:creationId xmlns:a16="http://schemas.microsoft.com/office/drawing/2014/main" id="{93943A90-8311-883B-A173-01407C63CEE4}"/>
              </a:ext>
            </a:extLst>
          </p:cNvPr>
          <p:cNvSpPr/>
          <p:nvPr/>
        </p:nvSpPr>
        <p:spPr>
          <a:xfrm>
            <a:off x="234424" y="6411907"/>
            <a:ext cx="1027462" cy="252555"/>
          </a:xfrm>
          <a:prstGeom prst="rect">
            <a:avLst/>
          </a:prstGeom>
          <a:noFill/>
          <a:ln w="9525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kumimoji="1" lang="en-US" altLang="ko-KR" sz="1100" dirty="0">
                <a:solidFill>
                  <a:schemeClr val="bg1">
                    <a:lumMod val="50000"/>
                  </a:schemeClr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Confidential</a:t>
            </a:r>
            <a:endParaRPr kumimoji="1" lang="ko-KR" altLang="en-US" sz="1100" dirty="0">
              <a:solidFill>
                <a:schemeClr val="bg1">
                  <a:lumMod val="50000"/>
                </a:schemeClr>
              </a:solidFill>
              <a:latin typeface="Noto Sans KR" panose="02000503000000020004" pitchFamily="2" charset="-127"/>
              <a:ea typeface="Noto Sans KR" panose="02000503000000020004" pitchFamily="2" charset="-127"/>
              <a:cs typeface="Noto Sans KR" panose="02000503000000020004" pitchFamily="2" charset="-127"/>
            </a:endParaRPr>
          </a:p>
        </p:txBody>
      </p:sp>
      <p:cxnSp>
        <p:nvCxnSpPr>
          <p:cNvPr id="163" name="직선 연결선[R] 162">
            <a:extLst>
              <a:ext uri="{FF2B5EF4-FFF2-40B4-BE49-F238E27FC236}">
                <a16:creationId xmlns:a16="http://schemas.microsoft.com/office/drawing/2014/main" id="{8DEBABA2-333E-086B-36F6-137958AA3974}"/>
              </a:ext>
            </a:extLst>
          </p:cNvPr>
          <p:cNvCxnSpPr>
            <a:cxnSpLocks/>
          </p:cNvCxnSpPr>
          <p:nvPr/>
        </p:nvCxnSpPr>
        <p:spPr>
          <a:xfrm>
            <a:off x="1442533" y="6538184"/>
            <a:ext cx="7200800" cy="0"/>
          </a:xfrm>
          <a:prstGeom prst="line">
            <a:avLst/>
          </a:prstGeom>
          <a:ln w="6350"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8D53F489-CBFB-4C6F-878D-02975AD51256}"/>
              </a:ext>
            </a:extLst>
          </p:cNvPr>
          <p:cNvSpPr txBox="1"/>
          <p:nvPr/>
        </p:nvSpPr>
        <p:spPr>
          <a:xfrm>
            <a:off x="3972000" y="6461240"/>
            <a:ext cx="1200000" cy="15388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kumimoji="1" lang="en-US" altLang="ko-KR" sz="1000" dirty="0" b="0" i="0">
                <a:solidFill>
                  <a:srgbClr val="7F7F7F"/>
                </a:solidFill>
                <a:latin typeface="Noto Sans KR" panose="02000403000000020004" pitchFamily="2" charset="-127"/>
                <a:ea typeface="Noto Sans KR" panose="02000403000000020004" pitchFamily="2" charset="-127"/>
                <a:cs typeface="Noto Sans KR" panose="02000403000000020004" pitchFamily="2" charset="-127"/>
              </a:rPr>
              <a:t>- 4 -</a:t>
            </a:r>
            <a:endParaRPr kumimoji="1" lang="ko-KR" altLang="en-US" sz="1000" dirty="0">
              <a:solidFill>
                <a:schemeClr val="bg1">
                  <a:lumMod val="50000"/>
                </a:schemeClr>
              </a:solidFill>
              <a:latin typeface="Noto Sans KR" panose="02000403000000020004" pitchFamily="2" charset="-127"/>
              <a:ea typeface="Noto Sans KR" panose="02000403000000020004" pitchFamily="2" charset="-127"/>
              <a:cs typeface="Noto Sans KR" panose="02000403000000020004" pitchFamily="2" charset="-127"/>
            </a:endParaRPr>
          </a:p>
        </p:txBody>
      </p:sp>
      <p:sp>
        <p:nvSpPr>
          <p:cNvPr id="164" name="TextBox 163"/>
          <p:cNvSpPr txBox="1"/>
          <p:nvPr/>
        </p:nvSpPr>
        <p:spPr>
          <a:xfrm>
            <a:off x="5657000" y="6300000"/>
            <a:ext cx="3200000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800" b="0" i="0">
                <a:solidFill>
                  <a:srgbClr val="7F7F7F"/>
                </a:solidFill>
                <a:latin typeface="Noto Sans KR"/>
                <a:ea typeface="Noto Sans KR"/>
                <a:cs typeface="Noto Sans KR"/>
              </a:rPr>
              <a:t>공란 : 담당부서 확인 후 입력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287000" y="980000"/>
            <a:ext cx="50000" cy="165000"/>
          </a:xfrm>
          <a:prstGeom prst="rect">
            <a:avLst/>
          </a:prstGeom>
          <a:solidFill>
            <a:srgbClr val="EB002C"/>
          </a:solidFill>
          <a:ln>
            <a:noFill/>
          </a:ln>
        </p:spPr>
        <p:txBody>
          <a:bodyPr rtlCol="0" anchor="ctr" lIns="30000" rIns="30000" tIns="0" bIns="0" wrap="square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397000" y="950000"/>
            <a:ext cx="8000000" cy="22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1" i="0">
                <a:solidFill>
                  <a:srgbClr val="1A1A1A"/>
                </a:solidFill>
                <a:latin typeface="Noto Sans KR"/>
                <a:ea typeface="Noto Sans KR"/>
                <a:cs typeface="Noto Sans KR"/>
              </a:rPr>
              <a:t>① 2027 월별 출하 · 참고 Capa. · 충진 (kg)</a:t>
            </a:r>
            <a:r>
              <a:rPr sz="700" b="0" i="0">
                <a:solidFill>
                  <a:srgbClr val="7F7F7F"/>
                </a:solidFill>
                <a:latin typeface="Noto Sans KR"/>
                <a:ea typeface="Noto Sans KR"/>
                <a:cs typeface="Noto Sans KR"/>
              </a:rPr>
              <a:t>   참고 Capa. = 연간 환산 ÷ 12 (공사·시운전·안정화 미반영) · 실제 생산 가능량은 조건 확인 후 계산</a:t>
            </a:r>
          </a:p>
        </p:txBody>
      </p:sp>
      <p:graphicFrame>
        <p:nvGraphicFramePr>
          <p:cNvPr id="167" name="Table 166"/>
          <p:cNvGraphicFramePr>
            <a:graphicFrameLocks noGrp="1"/>
          </p:cNvGraphicFramePr>
          <p:nvPr/>
        </p:nvGraphicFramePr>
        <p:xfrm>
          <a:off x="287000" y="1190000"/>
          <a:ext cx="8570000" cy="2611526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950000"/>
                <a:gridCol w="485000"/>
                <a:gridCol w="485000"/>
                <a:gridCol w="485000"/>
                <a:gridCol w="485000"/>
                <a:gridCol w="485000"/>
                <a:gridCol w="485000"/>
                <a:gridCol w="485000"/>
                <a:gridCol w="485000"/>
                <a:gridCol w="485000"/>
                <a:gridCol w="485000"/>
                <a:gridCol w="485000"/>
                <a:gridCol w="485000"/>
                <a:gridCol w="800000"/>
              </a:tblGrid>
              <a:tr h="153619">
                <a:tc>
                  <a:txBody>
                    <a:bodyPr/>
                    <a:lstStyle/>
                    <a:p>
                      <a:pPr algn="l"/>
                      <a:r>
                        <a:rPr sz="600" b="1" i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구분</a:t>
                      </a:r>
                      <a:endParaRPr sz="600"/>
                    </a:p>
                  </a:txBody>
                  <a:tcPr anchor="ctr" marL="27000" marR="27000" marT="0" marB="0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1A1A1A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1" i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1월</a:t>
                      </a:r>
                      <a:endParaRPr sz="600"/>
                    </a:p>
                  </a:txBody>
                  <a:tcPr anchor="ctr" marL="27000" marR="27000" marT="0" marB="0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1A1A1A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1" i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2월</a:t>
                      </a:r>
                      <a:endParaRPr sz="600"/>
                    </a:p>
                  </a:txBody>
                  <a:tcPr anchor="ctr" marL="27000" marR="27000" marT="0" marB="0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1A1A1A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1" i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3월</a:t>
                      </a:r>
                      <a:endParaRPr sz="600"/>
                    </a:p>
                  </a:txBody>
                  <a:tcPr anchor="ctr" marL="27000" marR="27000" marT="0" marB="0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1A1A1A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1" i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4월</a:t>
                      </a:r>
                      <a:endParaRPr sz="600"/>
                    </a:p>
                  </a:txBody>
                  <a:tcPr anchor="ctr" marL="27000" marR="27000" marT="0" marB="0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1A1A1A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1" i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5월</a:t>
                      </a:r>
                      <a:endParaRPr sz="600"/>
                    </a:p>
                  </a:txBody>
                  <a:tcPr anchor="ctr" marL="27000" marR="27000" marT="0" marB="0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1A1A1A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1" i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6월</a:t>
                      </a:r>
                      <a:endParaRPr sz="600"/>
                    </a:p>
                  </a:txBody>
                  <a:tcPr anchor="ctr" marL="27000" marR="27000" marT="0" marB="0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1A1A1A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1" i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7월</a:t>
                      </a:r>
                      <a:endParaRPr sz="600"/>
                    </a:p>
                  </a:txBody>
                  <a:tcPr anchor="ctr" marL="27000" marR="27000" marT="0" marB="0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1A1A1A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1" i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8월</a:t>
                      </a:r>
                      <a:endParaRPr sz="600"/>
                    </a:p>
                  </a:txBody>
                  <a:tcPr anchor="ctr" marL="27000" marR="27000" marT="0" marB="0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1A1A1A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1" i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9월</a:t>
                      </a:r>
                      <a:endParaRPr sz="600"/>
                    </a:p>
                  </a:txBody>
                  <a:tcPr anchor="ctr" marL="27000" marR="27000" marT="0" marB="0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1A1A1A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1" i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10월</a:t>
                      </a:r>
                      <a:endParaRPr sz="600"/>
                    </a:p>
                  </a:txBody>
                  <a:tcPr anchor="ctr" marL="27000" marR="27000" marT="0" marB="0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1A1A1A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1" i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11월</a:t>
                      </a:r>
                      <a:endParaRPr sz="600"/>
                    </a:p>
                  </a:txBody>
                  <a:tcPr anchor="ctr" marL="27000" marR="27000" marT="0" marB="0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1A1A1A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1" i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12월</a:t>
                      </a:r>
                      <a:endParaRPr sz="600"/>
                    </a:p>
                  </a:txBody>
                  <a:tcPr anchor="ctr" marL="27000" marR="27000" marT="0" marB="0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1A1A1A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1" i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연간</a:t>
                      </a:r>
                      <a:endParaRPr sz="600"/>
                    </a:p>
                  </a:txBody>
                  <a:tcPr anchor="ctr" marL="27000" marR="27000" marT="0" marB="0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1A1A1A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DEDED"/>
                    </a:solidFill>
                  </a:tcPr>
                </a:tc>
              </a:tr>
              <a:tr h="153619">
                <a:tc>
                  <a:txBody>
                    <a:bodyPr/>
                    <a:lstStyle/>
                    <a:p>
                      <a:pPr algn="l"/>
                      <a:r>
                        <a:rPr sz="600" b="1" i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적용 조건</a:t>
                      </a:r>
                      <a:endParaRPr sz="600"/>
                    </a:p>
                  </a:txBody>
                  <a:tcPr anchor="ctr" marL="27000" marR="27000" marT="0" marB="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1" i="0">
                          <a:solidFill>
                            <a:srgbClr val="404040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현재 1대</a:t>
                      </a:r>
                      <a:endParaRPr sz="600"/>
                    </a:p>
                  </a:txBody>
                  <a:tcPr anchor="ctr" marL="27000" marR="27000" marT="0" marB="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7E6E6"/>
                    </a:solidFill>
                  </a:tcPr>
                </a:tc>
                <a:tc gridSpan="4">
                  <a:txBody>
                    <a:bodyPr/>
                    <a:lstStyle/>
                    <a:p>
                      <a:pPr algn="ctr"/>
                      <a:r>
                        <a:rPr sz="600" b="1" i="0">
                          <a:solidFill>
                            <a:srgbClr val="404040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공사 (가동 여부 확인)</a:t>
                      </a:r>
                      <a:endParaRPr sz="600"/>
                    </a:p>
                  </a:txBody>
                  <a:tcPr anchor="ctr" marL="27000" marR="27000" marT="0" marB="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BE5D6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/>
                      <a:r>
                        <a:rPr sz="600" b="1" i="0">
                          <a:solidFill>
                            <a:srgbClr val="404040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/>
                      </a:r>
                      <a:endParaRPr sz="600"/>
                    </a:p>
                  </a:txBody>
                  <a:tcPr anchor="ctr" marL="27000" marR="27000" marT="0" marB="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7E6E6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/>
                      <a:r>
                        <a:rPr sz="600" b="1" i="0">
                          <a:solidFill>
                            <a:srgbClr val="404040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/>
                      </a:r>
                      <a:endParaRPr sz="600"/>
                    </a:p>
                  </a:txBody>
                  <a:tcPr anchor="ctr" marL="27000" marR="27000" marT="0" marB="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7E6E6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/>
                      <a:r>
                        <a:rPr sz="600" b="1" i="0">
                          <a:solidFill>
                            <a:srgbClr val="404040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/>
                      </a:r>
                      <a:endParaRPr sz="600"/>
                    </a:p>
                  </a:txBody>
                  <a:tcPr anchor="ctr" marL="27000" marR="27000" marT="0" marB="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1" i="0">
                          <a:solidFill>
                            <a:srgbClr val="404040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시운전</a:t>
                      </a:r>
                      <a:endParaRPr sz="600"/>
                    </a:p>
                  </a:txBody>
                  <a:tcPr anchor="ctr" marL="27000" marR="27000" marT="0" marB="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2CC"/>
                    </a:solidFill>
                  </a:tcPr>
                </a:tc>
                <a:tc gridSpan="6">
                  <a:txBody>
                    <a:bodyPr/>
                    <a:lstStyle/>
                    <a:p>
                      <a:pPr algn="ctr"/>
                      <a:r>
                        <a:rPr sz="600" b="1" i="0">
                          <a:solidFill>
                            <a:srgbClr val="EB00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정제기 2대 · 초기 안정화 확인</a:t>
                      </a:r>
                      <a:endParaRPr sz="600"/>
                    </a:p>
                  </a:txBody>
                  <a:tcPr anchor="ctr" marL="27000" marR="27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DEDF0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/>
                      <a:r>
                        <a:rPr sz="600" b="1" i="0">
                          <a:solidFill>
                            <a:srgbClr val="404040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/>
                      </a:r>
                      <a:endParaRPr sz="600"/>
                    </a:p>
                  </a:txBody>
                  <a:tcPr anchor="ctr" marL="27000" marR="27000" marT="0" marB="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7E6E6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/>
                      <a:r>
                        <a:rPr sz="600" b="1" i="0">
                          <a:solidFill>
                            <a:srgbClr val="404040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/>
                      </a:r>
                      <a:endParaRPr sz="600"/>
                    </a:p>
                  </a:txBody>
                  <a:tcPr anchor="ctr" marL="27000" marR="27000" marT="0" marB="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7E6E6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/>
                      <a:r>
                        <a:rPr sz="600" b="1" i="0">
                          <a:solidFill>
                            <a:srgbClr val="404040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/>
                      </a:r>
                      <a:endParaRPr sz="600"/>
                    </a:p>
                  </a:txBody>
                  <a:tcPr anchor="ctr" marL="27000" marR="27000" marT="0" marB="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7E6E6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/>
                      <a:r>
                        <a:rPr sz="600" b="1" i="0">
                          <a:solidFill>
                            <a:srgbClr val="404040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/>
                      </a:r>
                      <a:endParaRPr sz="600"/>
                    </a:p>
                  </a:txBody>
                  <a:tcPr anchor="ctr" marL="27000" marR="27000" marT="0" marB="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7E6E6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/>
                      <a:r>
                        <a:rPr sz="600" b="1" i="0">
                          <a:solidFill>
                            <a:srgbClr val="404040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/>
                      </a:r>
                      <a:endParaRPr sz="600"/>
                    </a:p>
                  </a:txBody>
                  <a:tcPr anchor="ctr" marL="27000" marR="27000" marT="0" marB="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0" i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/>
                      </a:r>
                      <a:endParaRPr sz="600"/>
                    </a:p>
                  </a:txBody>
                  <a:tcPr anchor="ctr" marL="27000" marR="27000" marT="0" marB="0">
                    <a:lnL w="6350">
                      <a:solidFill>
                        <a:srgbClr val="BFBFBF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2F2F2"/>
                    </a:solidFill>
                  </a:tcPr>
                </a:tc>
              </a:tr>
              <a:tr h="153619">
                <a:tc>
                  <a:txBody>
                    <a:bodyPr/>
                    <a:lstStyle/>
                    <a:p>
                      <a:pPr algn="l"/>
                      <a:r>
                        <a:rPr sz="600" b="1" i="0">
                          <a:solidFill>
                            <a:srgbClr val="7F7F7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참고 Capa. 월 환산 (÷12)</a:t>
                      </a:r>
                      <a:endParaRPr sz="600"/>
                    </a:p>
                  </a:txBody>
                  <a:tcPr anchor="ctr" marL="27000" marR="27000" marT="0" marB="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0" i="0">
                          <a:solidFill>
                            <a:srgbClr val="3F3F3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2,183.3</a:t>
                      </a:r>
                      <a:endParaRPr sz="600"/>
                    </a:p>
                  </a:txBody>
                  <a:tcPr anchor="ctr" marL="27000" marR="27000" marT="0" marB="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0" i="0">
                          <a:solidFill>
                            <a:srgbClr val="3F3F3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2,183.3</a:t>
                      </a:r>
                      <a:endParaRPr sz="600"/>
                    </a:p>
                  </a:txBody>
                  <a:tcPr anchor="ctr" marL="27000" marR="27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0" i="0">
                          <a:solidFill>
                            <a:srgbClr val="3F3F3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2,183.3</a:t>
                      </a:r>
                      <a:endParaRPr sz="600"/>
                    </a:p>
                  </a:txBody>
                  <a:tcPr anchor="ctr" marL="27000" marR="27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0" i="0">
                          <a:solidFill>
                            <a:srgbClr val="3F3F3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2,183.3</a:t>
                      </a:r>
                      <a:endParaRPr sz="600"/>
                    </a:p>
                  </a:txBody>
                  <a:tcPr anchor="ctr" marL="27000" marR="27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0" i="0">
                          <a:solidFill>
                            <a:srgbClr val="3F3F3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2,183.3</a:t>
                      </a:r>
                      <a:endParaRPr sz="600"/>
                    </a:p>
                  </a:txBody>
                  <a:tcPr anchor="ctr" marL="27000" marR="27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0" i="0">
                          <a:solidFill>
                            <a:srgbClr val="3F3F3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2,183.3</a:t>
                      </a:r>
                      <a:endParaRPr sz="600"/>
                    </a:p>
                  </a:txBody>
                  <a:tcPr anchor="ctr" marL="27000" marR="27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0" i="0">
                          <a:solidFill>
                            <a:srgbClr val="3F3F3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3,933.3</a:t>
                      </a:r>
                      <a:endParaRPr sz="600"/>
                    </a:p>
                  </a:txBody>
                  <a:tcPr anchor="ctr" marL="27000" marR="27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0" i="0">
                          <a:solidFill>
                            <a:srgbClr val="3F3F3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3,933.3</a:t>
                      </a:r>
                      <a:endParaRPr sz="600"/>
                    </a:p>
                  </a:txBody>
                  <a:tcPr anchor="ctr" marL="27000" marR="27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0" i="0">
                          <a:solidFill>
                            <a:srgbClr val="3F3F3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3,933.3</a:t>
                      </a:r>
                      <a:endParaRPr sz="600"/>
                    </a:p>
                  </a:txBody>
                  <a:tcPr anchor="ctr" marL="27000" marR="27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0" i="0">
                          <a:solidFill>
                            <a:srgbClr val="3F3F3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3,933.3</a:t>
                      </a:r>
                      <a:endParaRPr sz="600"/>
                    </a:p>
                  </a:txBody>
                  <a:tcPr anchor="ctr" marL="27000" marR="27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0" i="0">
                          <a:solidFill>
                            <a:srgbClr val="3F3F3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3,933.3</a:t>
                      </a:r>
                      <a:endParaRPr sz="600"/>
                    </a:p>
                  </a:txBody>
                  <a:tcPr anchor="ctr" marL="27000" marR="27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0" i="0">
                          <a:solidFill>
                            <a:srgbClr val="3F3F3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3,933.3</a:t>
                      </a:r>
                      <a:endParaRPr sz="600"/>
                    </a:p>
                  </a:txBody>
                  <a:tcPr anchor="ctr" marL="27000" marR="27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1" i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36,700</a:t>
                      </a:r>
                      <a:endParaRPr sz="600"/>
                    </a:p>
                  </a:txBody>
                  <a:tcPr anchor="ctr" marL="27000" marR="27000" marT="0" marB="0">
                    <a:lnL w="6350">
                      <a:solidFill>
                        <a:srgbClr val="BFBFBF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</a:tr>
              <a:tr h="153619">
                <a:tc>
                  <a:txBody>
                    <a:bodyPr/>
                    <a:lstStyle/>
                    <a:p>
                      <a:pPr algn="l"/>
                      <a:r>
                        <a:rPr sz="600" b="1" i="0">
                          <a:solidFill>
                            <a:srgbClr val="7F7F7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실제 생산 가능량</a:t>
                      </a:r>
                      <a:endParaRPr sz="600"/>
                    </a:p>
                  </a:txBody>
                  <a:tcPr anchor="ctr" marL="27000" marR="27000" marT="0" marB="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1" i="0">
                          <a:solidFill>
                            <a:srgbClr val="EB00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2,090</a:t>
                      </a:r>
                      <a:endParaRPr sz="600"/>
                    </a:p>
                  </a:txBody>
                  <a:tcPr anchor="ctr" marL="27000" marR="27000" marT="0" marB="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 gridSpan="4">
                  <a:txBody>
                    <a:bodyPr/>
                    <a:lstStyle/>
                    <a:p>
                      <a:pPr algn="ctr"/>
                      <a:r>
                        <a:rPr sz="600" b="1" i="0">
                          <a:solidFill>
                            <a:srgbClr val="EB00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미확인 (공사 중 가용시간)</a:t>
                      </a:r>
                      <a:endParaRPr sz="600"/>
                    </a:p>
                  </a:txBody>
                  <a:tcPr anchor="ctr" marL="27000" marR="27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2CC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/>
                      <a:r>
                        <a:rPr sz="600" b="1" i="0">
                          <a:solidFill>
                            <a:srgbClr val="EB00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/>
                      </a:r>
                      <a:endParaRPr sz="600"/>
                    </a:p>
                  </a:txBody>
                  <a:tcPr anchor="ctr" marL="27000" marR="27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/>
                      <a:r>
                        <a:rPr sz="600" b="1" i="0">
                          <a:solidFill>
                            <a:srgbClr val="EB00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/>
                      </a:r>
                      <a:endParaRPr sz="600"/>
                    </a:p>
                  </a:txBody>
                  <a:tcPr anchor="ctr" marL="27000" marR="27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/>
                      <a:r>
                        <a:rPr sz="600" b="1" i="0">
                          <a:solidFill>
                            <a:srgbClr val="EB00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/>
                      </a:r>
                      <a:endParaRPr sz="600"/>
                    </a:p>
                  </a:txBody>
                  <a:tcPr anchor="ctr" marL="27000" marR="27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1" i="0">
                          <a:solidFill>
                            <a:srgbClr val="EB00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미확인</a:t>
                      </a:r>
                      <a:endParaRPr sz="600"/>
                    </a:p>
                  </a:txBody>
                  <a:tcPr anchor="ctr" marL="27000" marR="27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2CC"/>
                    </a:solidFill>
                  </a:tcPr>
                </a:tc>
                <a:tc gridSpan="6">
                  <a:txBody>
                    <a:bodyPr/>
                    <a:lstStyle/>
                    <a:p>
                      <a:pPr algn="ctr"/>
                      <a:r>
                        <a:rPr sz="600" b="1" i="0">
                          <a:solidFill>
                            <a:srgbClr val="EB00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미확인 (설비별 간격·Batch량)</a:t>
                      </a:r>
                      <a:endParaRPr sz="600"/>
                    </a:p>
                  </a:txBody>
                  <a:tcPr anchor="ctr" marL="27000" marR="27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2CC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/>
                      <a:r>
                        <a:rPr sz="600" b="1" i="0">
                          <a:solidFill>
                            <a:srgbClr val="EB00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/>
                      </a:r>
                      <a:endParaRPr sz="600"/>
                    </a:p>
                  </a:txBody>
                  <a:tcPr anchor="ctr" marL="27000" marR="27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/>
                      <a:r>
                        <a:rPr sz="600" b="1" i="0">
                          <a:solidFill>
                            <a:srgbClr val="EB00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/>
                      </a:r>
                      <a:endParaRPr sz="600"/>
                    </a:p>
                  </a:txBody>
                  <a:tcPr anchor="ctr" marL="27000" marR="27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/>
                      <a:r>
                        <a:rPr sz="600" b="1" i="0">
                          <a:solidFill>
                            <a:srgbClr val="EB00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/>
                      </a:r>
                      <a:endParaRPr sz="600"/>
                    </a:p>
                  </a:txBody>
                  <a:tcPr anchor="ctr" marL="27000" marR="27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/>
                      <a:r>
                        <a:rPr sz="600" b="1" i="0">
                          <a:solidFill>
                            <a:srgbClr val="EB00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/>
                      </a:r>
                      <a:endParaRPr sz="600"/>
                    </a:p>
                  </a:txBody>
                  <a:tcPr anchor="ctr" marL="27000" marR="27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/>
                      <a:r>
                        <a:rPr sz="600" b="1" i="0">
                          <a:solidFill>
                            <a:srgbClr val="EB00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/>
                      </a:r>
                      <a:endParaRPr sz="600"/>
                    </a:p>
                  </a:txBody>
                  <a:tcPr anchor="ctr" marL="27000" marR="27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1" i="0">
                          <a:solidFill>
                            <a:srgbClr val="EB00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부분 2,090</a:t>
                      </a:r>
                      <a:endParaRPr sz="600"/>
                    </a:p>
                  </a:txBody>
                  <a:tcPr anchor="ctr" marL="27000" marR="27000" marT="0" marB="0">
                    <a:lnL w="6350">
                      <a:solidFill>
                        <a:srgbClr val="BFBFBF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</a:tr>
              <a:tr h="153619">
                <a:tc>
                  <a:txBody>
                    <a:bodyPr/>
                    <a:lstStyle/>
                    <a:p>
                      <a:pPr algn="l"/>
                      <a:r>
                        <a:rPr sz="600" b="1" i="0">
                          <a:solidFill>
                            <a:srgbClr val="7F7F7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참고 Capa. − 출하</a:t>
                      </a:r>
                      <a:endParaRPr sz="600"/>
                    </a:p>
                  </a:txBody>
                  <a:tcPr anchor="ctr" marL="27000" marR="27000" marT="0" marB="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1" i="0">
                          <a:solidFill>
                            <a:srgbClr val="C00000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−570</a:t>
                      </a:r>
                      <a:endParaRPr sz="600"/>
                    </a:p>
                  </a:txBody>
                  <a:tcPr anchor="ctr" marL="27000" marR="27000" marT="0" marB="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1" i="0">
                          <a:solidFill>
                            <a:srgbClr val="C00000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−570</a:t>
                      </a:r>
                      <a:endParaRPr sz="600"/>
                    </a:p>
                  </a:txBody>
                  <a:tcPr anchor="ctr" marL="27000" marR="27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1" i="0">
                          <a:solidFill>
                            <a:srgbClr val="C00000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−1,150</a:t>
                      </a:r>
                      <a:endParaRPr sz="600"/>
                    </a:p>
                  </a:txBody>
                  <a:tcPr anchor="ctr" marL="27000" marR="27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1" i="0">
                          <a:solidFill>
                            <a:srgbClr val="C00000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−1,150</a:t>
                      </a:r>
                      <a:endParaRPr sz="600"/>
                    </a:p>
                  </a:txBody>
                  <a:tcPr anchor="ctr" marL="27000" marR="27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1" i="0">
                          <a:solidFill>
                            <a:srgbClr val="C00000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−1,150</a:t>
                      </a:r>
                      <a:endParaRPr sz="600"/>
                    </a:p>
                  </a:txBody>
                  <a:tcPr anchor="ctr" marL="27000" marR="27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1" i="0">
                          <a:solidFill>
                            <a:srgbClr val="C00000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−1,150</a:t>
                      </a:r>
                      <a:endParaRPr sz="600"/>
                    </a:p>
                  </a:txBody>
                  <a:tcPr anchor="ctr" marL="27000" marR="27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1" i="0">
                          <a:solidFill>
                            <a:srgbClr val="C00000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−160</a:t>
                      </a:r>
                      <a:endParaRPr sz="600"/>
                    </a:p>
                  </a:txBody>
                  <a:tcPr anchor="ctr" marL="27000" marR="27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1" i="0">
                          <a:solidFill>
                            <a:srgbClr val="C00000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−160</a:t>
                      </a:r>
                      <a:endParaRPr sz="600"/>
                    </a:p>
                  </a:txBody>
                  <a:tcPr anchor="ctr" marL="27000" marR="27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1" i="0">
                          <a:solidFill>
                            <a:srgbClr val="C00000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−160</a:t>
                      </a:r>
                      <a:endParaRPr sz="600"/>
                    </a:p>
                  </a:txBody>
                  <a:tcPr anchor="ctr" marL="27000" marR="27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1" i="0">
                          <a:solidFill>
                            <a:srgbClr val="C00000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−160</a:t>
                      </a:r>
                      <a:endParaRPr sz="600"/>
                    </a:p>
                  </a:txBody>
                  <a:tcPr anchor="ctr" marL="27000" marR="27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1" i="0">
                          <a:solidFill>
                            <a:srgbClr val="C00000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−160</a:t>
                      </a:r>
                      <a:endParaRPr sz="600"/>
                    </a:p>
                  </a:txBody>
                  <a:tcPr anchor="ctr" marL="27000" marR="27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1" i="0">
                          <a:solidFill>
                            <a:srgbClr val="C00000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−160</a:t>
                      </a:r>
                      <a:endParaRPr sz="600"/>
                    </a:p>
                  </a:txBody>
                  <a:tcPr anchor="ctr" marL="27000" marR="27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1" i="0">
                          <a:solidFill>
                            <a:srgbClr val="C00000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−6,700</a:t>
                      </a:r>
                      <a:endParaRPr sz="600"/>
                    </a:p>
                  </a:txBody>
                  <a:tcPr anchor="ctr" marL="27000" marR="27000" marT="0" marB="0">
                    <a:lnL w="6350">
                      <a:solidFill>
                        <a:srgbClr val="BFBFBF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2F2F2"/>
                    </a:solidFill>
                  </a:tcPr>
                </a:tc>
              </a:tr>
              <a:tr h="153619">
                <a:tc>
                  <a:txBody>
                    <a:bodyPr/>
                    <a:lstStyle/>
                    <a:p>
                      <a:pPr algn="l"/>
                      <a:r>
                        <a:rPr sz="600" b="1" i="0">
                          <a:solidFill>
                            <a:srgbClr val="7F7F7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■ SK하이닉스</a:t>
                      </a:r>
                      <a:endParaRPr sz="600"/>
                    </a:p>
                  </a:txBody>
                  <a:tcPr anchor="ctr" marL="27000" marR="27000" marT="0" marB="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0" i="0">
                          <a:solidFill>
                            <a:srgbClr val="2E75B6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1,893.3</a:t>
                      </a:r>
                      <a:endParaRPr sz="600"/>
                    </a:p>
                  </a:txBody>
                  <a:tcPr anchor="ctr" marL="27000" marR="27000" marT="0" marB="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0" i="0">
                          <a:solidFill>
                            <a:srgbClr val="2E75B6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1,893.3</a:t>
                      </a:r>
                      <a:endParaRPr sz="600"/>
                    </a:p>
                  </a:txBody>
                  <a:tcPr anchor="ctr" marL="27000" marR="27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0" i="0">
                          <a:solidFill>
                            <a:srgbClr val="2E75B6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1,893.3</a:t>
                      </a:r>
                      <a:endParaRPr sz="600"/>
                    </a:p>
                  </a:txBody>
                  <a:tcPr anchor="ctr" marL="27000" marR="27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0" i="0">
                          <a:solidFill>
                            <a:srgbClr val="2E75B6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1,893.3</a:t>
                      </a:r>
                      <a:endParaRPr sz="600"/>
                    </a:p>
                  </a:txBody>
                  <a:tcPr anchor="ctr" marL="27000" marR="27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0" i="0">
                          <a:solidFill>
                            <a:srgbClr val="2E75B6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1,893.3</a:t>
                      </a:r>
                      <a:endParaRPr sz="600"/>
                    </a:p>
                  </a:txBody>
                  <a:tcPr anchor="ctr" marL="27000" marR="27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0" i="0">
                          <a:solidFill>
                            <a:srgbClr val="2E75B6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1,893.3</a:t>
                      </a:r>
                      <a:endParaRPr sz="600"/>
                    </a:p>
                  </a:txBody>
                  <a:tcPr anchor="ctr" marL="27000" marR="27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0" i="0">
                          <a:solidFill>
                            <a:srgbClr val="2E75B6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1,893.3</a:t>
                      </a:r>
                      <a:endParaRPr sz="600"/>
                    </a:p>
                  </a:txBody>
                  <a:tcPr anchor="ctr" marL="27000" marR="27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0" i="0">
                          <a:solidFill>
                            <a:srgbClr val="2E75B6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1,893.3</a:t>
                      </a:r>
                      <a:endParaRPr sz="600"/>
                    </a:p>
                  </a:txBody>
                  <a:tcPr anchor="ctr" marL="27000" marR="27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0" i="0">
                          <a:solidFill>
                            <a:srgbClr val="2E75B6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1,893.3</a:t>
                      </a:r>
                      <a:endParaRPr sz="600"/>
                    </a:p>
                  </a:txBody>
                  <a:tcPr anchor="ctr" marL="27000" marR="27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0" i="0">
                          <a:solidFill>
                            <a:srgbClr val="2E75B6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1,893.3</a:t>
                      </a:r>
                      <a:endParaRPr sz="600"/>
                    </a:p>
                  </a:txBody>
                  <a:tcPr anchor="ctr" marL="27000" marR="27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0" i="0">
                          <a:solidFill>
                            <a:srgbClr val="2E75B6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1,893.3</a:t>
                      </a:r>
                      <a:endParaRPr sz="600"/>
                    </a:p>
                  </a:txBody>
                  <a:tcPr anchor="ctr" marL="27000" marR="27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0" i="0">
                          <a:solidFill>
                            <a:srgbClr val="2E75B6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1,893.3</a:t>
                      </a:r>
                      <a:endParaRPr sz="600"/>
                    </a:p>
                  </a:txBody>
                  <a:tcPr anchor="ctr" marL="27000" marR="27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1" i="0">
                          <a:solidFill>
                            <a:srgbClr val="2E75B6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22,720</a:t>
                      </a:r>
                      <a:endParaRPr sz="600"/>
                    </a:p>
                  </a:txBody>
                  <a:tcPr anchor="ctr" marL="27000" marR="27000" marT="0" marB="0">
                    <a:lnL w="6350">
                      <a:solidFill>
                        <a:srgbClr val="BFBFBF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</a:tr>
              <a:tr h="153619">
                <a:tc>
                  <a:txBody>
                    <a:bodyPr/>
                    <a:lstStyle/>
                    <a:p>
                      <a:pPr algn="l"/>
                      <a:r>
                        <a:rPr sz="600" b="1" i="0">
                          <a:solidFill>
                            <a:srgbClr val="7F7F7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■ CXMT</a:t>
                      </a:r>
                      <a:endParaRPr sz="600"/>
                    </a:p>
                  </a:txBody>
                  <a:tcPr anchor="ctr" marL="27000" marR="27000" marT="0" marB="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0" i="0">
                          <a:solidFill>
                            <a:srgbClr val="2E75B6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0</a:t>
                      </a:r>
                      <a:endParaRPr sz="600"/>
                    </a:p>
                  </a:txBody>
                  <a:tcPr anchor="ctr" marL="27000" marR="27000" marT="0" marB="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0" i="0">
                          <a:solidFill>
                            <a:srgbClr val="2E75B6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0</a:t>
                      </a:r>
                      <a:endParaRPr sz="600"/>
                    </a:p>
                  </a:txBody>
                  <a:tcPr anchor="ctr" marL="27000" marR="27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0" i="0">
                          <a:solidFill>
                            <a:srgbClr val="2E75B6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580</a:t>
                      </a:r>
                      <a:endParaRPr sz="600"/>
                    </a:p>
                  </a:txBody>
                  <a:tcPr anchor="ctr" marL="27000" marR="27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0" i="0">
                          <a:solidFill>
                            <a:srgbClr val="2E75B6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580</a:t>
                      </a:r>
                      <a:endParaRPr sz="600"/>
                    </a:p>
                  </a:txBody>
                  <a:tcPr anchor="ctr" marL="27000" marR="27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0" i="0">
                          <a:solidFill>
                            <a:srgbClr val="2E75B6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580</a:t>
                      </a:r>
                      <a:endParaRPr sz="600"/>
                    </a:p>
                  </a:txBody>
                  <a:tcPr anchor="ctr" marL="27000" marR="27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0" i="0">
                          <a:solidFill>
                            <a:srgbClr val="2E75B6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580</a:t>
                      </a:r>
                      <a:endParaRPr sz="600"/>
                    </a:p>
                  </a:txBody>
                  <a:tcPr anchor="ctr" marL="27000" marR="27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0" i="0">
                          <a:solidFill>
                            <a:srgbClr val="2E75B6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780</a:t>
                      </a:r>
                      <a:endParaRPr sz="600"/>
                    </a:p>
                  </a:txBody>
                  <a:tcPr anchor="ctr" marL="27000" marR="27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0" i="0">
                          <a:solidFill>
                            <a:srgbClr val="2E75B6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780</a:t>
                      </a:r>
                      <a:endParaRPr sz="600"/>
                    </a:p>
                  </a:txBody>
                  <a:tcPr anchor="ctr" marL="27000" marR="27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0" i="0">
                          <a:solidFill>
                            <a:srgbClr val="2E75B6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780</a:t>
                      </a:r>
                      <a:endParaRPr sz="600"/>
                    </a:p>
                  </a:txBody>
                  <a:tcPr anchor="ctr" marL="27000" marR="27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0" i="0">
                          <a:solidFill>
                            <a:srgbClr val="2E75B6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780</a:t>
                      </a:r>
                      <a:endParaRPr sz="600"/>
                    </a:p>
                  </a:txBody>
                  <a:tcPr anchor="ctr" marL="27000" marR="27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0" i="0">
                          <a:solidFill>
                            <a:srgbClr val="2E75B6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780</a:t>
                      </a:r>
                      <a:endParaRPr sz="600"/>
                    </a:p>
                  </a:txBody>
                  <a:tcPr anchor="ctr" marL="27000" marR="27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0" i="0">
                          <a:solidFill>
                            <a:srgbClr val="2E75B6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780</a:t>
                      </a:r>
                      <a:endParaRPr sz="600"/>
                    </a:p>
                  </a:txBody>
                  <a:tcPr anchor="ctr" marL="27000" marR="27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1" i="0">
                          <a:solidFill>
                            <a:srgbClr val="2E75B6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7,000</a:t>
                      </a:r>
                      <a:endParaRPr sz="600"/>
                    </a:p>
                  </a:txBody>
                  <a:tcPr anchor="ctr" marL="27000" marR="27000" marT="0" marB="0">
                    <a:lnL w="6350">
                      <a:solidFill>
                        <a:srgbClr val="BFBFBF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</a:tr>
              <a:tr h="153619">
                <a:tc>
                  <a:txBody>
                    <a:bodyPr/>
                    <a:lstStyle/>
                    <a:p>
                      <a:pPr algn="l"/>
                      <a:r>
                        <a:rPr sz="600" b="1" i="0">
                          <a:solidFill>
                            <a:srgbClr val="7F7F7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■ 이지켐</a:t>
                      </a:r>
                      <a:endParaRPr sz="600"/>
                    </a:p>
                  </a:txBody>
                  <a:tcPr anchor="ctr" marL="27000" marR="27000" marT="0" marB="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0" i="0">
                          <a:solidFill>
                            <a:srgbClr val="7F7F7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560</a:t>
                      </a:r>
                      <a:endParaRPr sz="600"/>
                    </a:p>
                  </a:txBody>
                  <a:tcPr anchor="ctr" marL="27000" marR="27000" marT="0" marB="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0" i="0">
                          <a:solidFill>
                            <a:srgbClr val="7F7F7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560</a:t>
                      </a:r>
                      <a:endParaRPr sz="600"/>
                    </a:p>
                  </a:txBody>
                  <a:tcPr anchor="ctr" marL="27000" marR="27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0" i="0">
                          <a:solidFill>
                            <a:srgbClr val="7F7F7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560</a:t>
                      </a:r>
                      <a:endParaRPr sz="600"/>
                    </a:p>
                  </a:txBody>
                  <a:tcPr anchor="ctr" marL="27000" marR="27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0" i="0">
                          <a:solidFill>
                            <a:srgbClr val="7F7F7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560</a:t>
                      </a:r>
                      <a:endParaRPr sz="600"/>
                    </a:p>
                  </a:txBody>
                  <a:tcPr anchor="ctr" marL="27000" marR="27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0" i="0">
                          <a:solidFill>
                            <a:srgbClr val="7F7F7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560</a:t>
                      </a:r>
                      <a:endParaRPr sz="600"/>
                    </a:p>
                  </a:txBody>
                  <a:tcPr anchor="ctr" marL="27000" marR="27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0" i="0">
                          <a:solidFill>
                            <a:srgbClr val="7F7F7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560</a:t>
                      </a:r>
                      <a:endParaRPr sz="600"/>
                    </a:p>
                  </a:txBody>
                  <a:tcPr anchor="ctr" marL="27000" marR="27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0" i="0">
                          <a:solidFill>
                            <a:srgbClr val="7F7F7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1,120</a:t>
                      </a:r>
                      <a:endParaRPr sz="600"/>
                    </a:p>
                  </a:txBody>
                  <a:tcPr anchor="ctr" marL="27000" marR="27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0" i="0">
                          <a:solidFill>
                            <a:srgbClr val="7F7F7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1,120</a:t>
                      </a:r>
                      <a:endParaRPr sz="600"/>
                    </a:p>
                  </a:txBody>
                  <a:tcPr anchor="ctr" marL="27000" marR="27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0" i="0">
                          <a:solidFill>
                            <a:srgbClr val="7F7F7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1,120</a:t>
                      </a:r>
                      <a:endParaRPr sz="600"/>
                    </a:p>
                  </a:txBody>
                  <a:tcPr anchor="ctr" marL="27000" marR="27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0" i="0">
                          <a:solidFill>
                            <a:srgbClr val="7F7F7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1,120</a:t>
                      </a:r>
                      <a:endParaRPr sz="600"/>
                    </a:p>
                  </a:txBody>
                  <a:tcPr anchor="ctr" marL="27000" marR="27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0" i="0">
                          <a:solidFill>
                            <a:srgbClr val="7F7F7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1,120</a:t>
                      </a:r>
                      <a:endParaRPr sz="600"/>
                    </a:p>
                  </a:txBody>
                  <a:tcPr anchor="ctr" marL="27000" marR="27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0" i="0">
                          <a:solidFill>
                            <a:srgbClr val="7F7F7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1,120</a:t>
                      </a:r>
                      <a:endParaRPr sz="600"/>
                    </a:p>
                  </a:txBody>
                  <a:tcPr anchor="ctr" marL="27000" marR="27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1" i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10,080</a:t>
                      </a:r>
                      <a:endParaRPr sz="600"/>
                    </a:p>
                  </a:txBody>
                  <a:tcPr anchor="ctr" marL="27000" marR="27000" marT="0" marB="0">
                    <a:lnL w="6350">
                      <a:solidFill>
                        <a:srgbClr val="BFBFBF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</a:tr>
              <a:tr h="153619">
                <a:tc>
                  <a:txBody>
                    <a:bodyPr/>
                    <a:lstStyle/>
                    <a:p>
                      <a:pPr algn="l"/>
                      <a:r>
                        <a:rPr sz="600" b="1" i="0">
                          <a:solidFill>
                            <a:srgbClr val="7F7F7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■ 한솔</a:t>
                      </a:r>
                      <a:endParaRPr sz="600"/>
                    </a:p>
                  </a:txBody>
                  <a:tcPr anchor="ctr" marL="27000" marR="27000" marT="0" marB="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0" i="0">
                          <a:solidFill>
                            <a:srgbClr val="2E75B6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300</a:t>
                      </a:r>
                      <a:endParaRPr sz="600"/>
                    </a:p>
                  </a:txBody>
                  <a:tcPr anchor="ctr" marL="27000" marR="27000" marT="0" marB="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0" i="0">
                          <a:solidFill>
                            <a:srgbClr val="2E75B6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300</a:t>
                      </a:r>
                      <a:endParaRPr sz="600"/>
                    </a:p>
                  </a:txBody>
                  <a:tcPr anchor="ctr" marL="27000" marR="27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0" i="0">
                          <a:solidFill>
                            <a:srgbClr val="2E75B6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300</a:t>
                      </a:r>
                      <a:endParaRPr sz="600"/>
                    </a:p>
                  </a:txBody>
                  <a:tcPr anchor="ctr" marL="27000" marR="27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0" i="0">
                          <a:solidFill>
                            <a:srgbClr val="2E75B6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300</a:t>
                      </a:r>
                      <a:endParaRPr sz="600"/>
                    </a:p>
                  </a:txBody>
                  <a:tcPr anchor="ctr" marL="27000" marR="27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0" i="0">
                          <a:solidFill>
                            <a:srgbClr val="2E75B6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300</a:t>
                      </a:r>
                      <a:endParaRPr sz="600"/>
                    </a:p>
                  </a:txBody>
                  <a:tcPr anchor="ctr" marL="27000" marR="27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0" i="0">
                          <a:solidFill>
                            <a:srgbClr val="2E75B6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300</a:t>
                      </a:r>
                      <a:endParaRPr sz="600"/>
                    </a:p>
                  </a:txBody>
                  <a:tcPr anchor="ctr" marL="27000" marR="27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0" i="0">
                          <a:solidFill>
                            <a:srgbClr val="2E75B6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300</a:t>
                      </a:r>
                      <a:endParaRPr sz="600"/>
                    </a:p>
                  </a:txBody>
                  <a:tcPr anchor="ctr" marL="27000" marR="27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0" i="0">
                          <a:solidFill>
                            <a:srgbClr val="2E75B6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300</a:t>
                      </a:r>
                      <a:endParaRPr sz="600"/>
                    </a:p>
                  </a:txBody>
                  <a:tcPr anchor="ctr" marL="27000" marR="27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0" i="0">
                          <a:solidFill>
                            <a:srgbClr val="2E75B6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300</a:t>
                      </a:r>
                      <a:endParaRPr sz="600"/>
                    </a:p>
                  </a:txBody>
                  <a:tcPr anchor="ctr" marL="27000" marR="27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0" i="0">
                          <a:solidFill>
                            <a:srgbClr val="2E75B6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300</a:t>
                      </a:r>
                      <a:endParaRPr sz="600"/>
                    </a:p>
                  </a:txBody>
                  <a:tcPr anchor="ctr" marL="27000" marR="27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0" i="0">
                          <a:solidFill>
                            <a:srgbClr val="2E75B6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300</a:t>
                      </a:r>
                      <a:endParaRPr sz="600"/>
                    </a:p>
                  </a:txBody>
                  <a:tcPr anchor="ctr" marL="27000" marR="27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0" i="0">
                          <a:solidFill>
                            <a:srgbClr val="2E75B6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300</a:t>
                      </a:r>
                      <a:endParaRPr sz="600"/>
                    </a:p>
                  </a:txBody>
                  <a:tcPr anchor="ctr" marL="27000" marR="27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1" i="0">
                          <a:solidFill>
                            <a:srgbClr val="2E75B6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3,600</a:t>
                      </a:r>
                      <a:endParaRPr sz="600"/>
                    </a:p>
                  </a:txBody>
                  <a:tcPr anchor="ctr" marL="27000" marR="27000" marT="0" marB="0">
                    <a:lnL w="6350">
                      <a:solidFill>
                        <a:srgbClr val="BFBFBF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</a:tr>
              <a:tr h="153619">
                <a:tc>
                  <a:txBody>
                    <a:bodyPr/>
                    <a:lstStyle/>
                    <a:p>
                      <a:pPr algn="l"/>
                      <a:r>
                        <a:rPr sz="600" b="1" i="0">
                          <a:solidFill>
                            <a:srgbClr val="7F7F7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출하 합계</a:t>
                      </a:r>
                      <a:endParaRPr sz="600"/>
                    </a:p>
                  </a:txBody>
                  <a:tcPr anchor="ctr" marL="27000" marR="27000" marT="0" marB="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0" i="0">
                          <a:solidFill>
                            <a:srgbClr val="7F7F7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2,753.3</a:t>
                      </a:r>
                      <a:endParaRPr sz="600"/>
                    </a:p>
                  </a:txBody>
                  <a:tcPr anchor="ctr" marL="27000" marR="27000" marT="0" marB="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0" i="0">
                          <a:solidFill>
                            <a:srgbClr val="7F7F7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2,753.3</a:t>
                      </a:r>
                      <a:endParaRPr sz="600"/>
                    </a:p>
                  </a:txBody>
                  <a:tcPr anchor="ctr" marL="27000" marR="27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0" i="0">
                          <a:solidFill>
                            <a:srgbClr val="7F7F7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3,333.3</a:t>
                      </a:r>
                      <a:endParaRPr sz="600"/>
                    </a:p>
                  </a:txBody>
                  <a:tcPr anchor="ctr" marL="27000" marR="27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0" i="0">
                          <a:solidFill>
                            <a:srgbClr val="7F7F7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3,333.3</a:t>
                      </a:r>
                      <a:endParaRPr sz="600"/>
                    </a:p>
                  </a:txBody>
                  <a:tcPr anchor="ctr" marL="27000" marR="27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0" i="0">
                          <a:solidFill>
                            <a:srgbClr val="7F7F7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3,333.3</a:t>
                      </a:r>
                      <a:endParaRPr sz="600"/>
                    </a:p>
                  </a:txBody>
                  <a:tcPr anchor="ctr" marL="27000" marR="27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0" i="0">
                          <a:solidFill>
                            <a:srgbClr val="7F7F7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3,333.3</a:t>
                      </a:r>
                      <a:endParaRPr sz="600"/>
                    </a:p>
                  </a:txBody>
                  <a:tcPr anchor="ctr" marL="27000" marR="27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0" i="0">
                          <a:solidFill>
                            <a:srgbClr val="7F7F7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4,093.3</a:t>
                      </a:r>
                      <a:endParaRPr sz="600"/>
                    </a:p>
                  </a:txBody>
                  <a:tcPr anchor="ctr" marL="27000" marR="27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0" i="0">
                          <a:solidFill>
                            <a:srgbClr val="7F7F7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4,093.3</a:t>
                      </a:r>
                      <a:endParaRPr sz="600"/>
                    </a:p>
                  </a:txBody>
                  <a:tcPr anchor="ctr" marL="27000" marR="27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0" i="0">
                          <a:solidFill>
                            <a:srgbClr val="7F7F7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4,093.3</a:t>
                      </a:r>
                      <a:endParaRPr sz="600"/>
                    </a:p>
                  </a:txBody>
                  <a:tcPr anchor="ctr" marL="27000" marR="27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0" i="0">
                          <a:solidFill>
                            <a:srgbClr val="7F7F7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4,093.3</a:t>
                      </a:r>
                      <a:endParaRPr sz="600"/>
                    </a:p>
                  </a:txBody>
                  <a:tcPr anchor="ctr" marL="27000" marR="27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0" i="0">
                          <a:solidFill>
                            <a:srgbClr val="7F7F7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4,093.3</a:t>
                      </a:r>
                      <a:endParaRPr sz="600"/>
                    </a:p>
                  </a:txBody>
                  <a:tcPr anchor="ctr" marL="27000" marR="27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0" i="0">
                          <a:solidFill>
                            <a:srgbClr val="7F7F7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4,093.3</a:t>
                      </a:r>
                      <a:endParaRPr sz="600"/>
                    </a:p>
                  </a:txBody>
                  <a:tcPr anchor="ctr" marL="27000" marR="27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1" i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43,400</a:t>
                      </a:r>
                      <a:endParaRPr sz="600"/>
                    </a:p>
                  </a:txBody>
                  <a:tcPr anchor="ctr" marL="27000" marR="27000" marT="0" marB="0">
                    <a:lnL w="6350">
                      <a:solidFill>
                        <a:srgbClr val="BFBFBF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</a:tr>
              <a:tr h="153619">
                <a:tc>
                  <a:txBody>
                    <a:bodyPr/>
                    <a:lstStyle/>
                    <a:p>
                      <a:pPr algn="l"/>
                      <a:r>
                        <a:rPr sz="600" b="1" i="0">
                          <a:solidFill>
                            <a:srgbClr val="7F7F7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필요 Batch (÷190)</a:t>
                      </a:r>
                      <a:endParaRPr sz="600"/>
                    </a:p>
                  </a:txBody>
                  <a:tcPr anchor="ctr" marL="27000" marR="27000" marT="0" marB="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1" i="0">
                          <a:solidFill>
                            <a:srgbClr val="2E75B6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14.5</a:t>
                      </a:r>
                      <a:endParaRPr sz="600"/>
                    </a:p>
                  </a:txBody>
                  <a:tcPr anchor="ctr" marL="27000" marR="27000" marT="0" marB="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1" i="0">
                          <a:solidFill>
                            <a:srgbClr val="2E75B6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14.5</a:t>
                      </a:r>
                      <a:endParaRPr sz="600"/>
                    </a:p>
                  </a:txBody>
                  <a:tcPr anchor="ctr" marL="27000" marR="27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1" i="0">
                          <a:solidFill>
                            <a:srgbClr val="2E75B6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17.5</a:t>
                      </a:r>
                      <a:endParaRPr sz="600"/>
                    </a:p>
                  </a:txBody>
                  <a:tcPr anchor="ctr" marL="27000" marR="27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1" i="0">
                          <a:solidFill>
                            <a:srgbClr val="2E75B6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17.5</a:t>
                      </a:r>
                      <a:endParaRPr sz="600"/>
                    </a:p>
                  </a:txBody>
                  <a:tcPr anchor="ctr" marL="27000" marR="27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1" i="0">
                          <a:solidFill>
                            <a:srgbClr val="2E75B6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17.5</a:t>
                      </a:r>
                      <a:endParaRPr sz="600"/>
                    </a:p>
                  </a:txBody>
                  <a:tcPr anchor="ctr" marL="27000" marR="27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1" i="0">
                          <a:solidFill>
                            <a:srgbClr val="2E75B6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17.5</a:t>
                      </a:r>
                      <a:endParaRPr sz="600"/>
                    </a:p>
                  </a:txBody>
                  <a:tcPr anchor="ctr" marL="27000" marR="27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1" i="0">
                          <a:solidFill>
                            <a:srgbClr val="2E75B6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21.5</a:t>
                      </a:r>
                      <a:endParaRPr sz="600"/>
                    </a:p>
                  </a:txBody>
                  <a:tcPr anchor="ctr" marL="27000" marR="27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1" i="0">
                          <a:solidFill>
                            <a:srgbClr val="2E75B6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21.5</a:t>
                      </a:r>
                      <a:endParaRPr sz="600"/>
                    </a:p>
                  </a:txBody>
                  <a:tcPr anchor="ctr" marL="27000" marR="27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1" i="0">
                          <a:solidFill>
                            <a:srgbClr val="2E75B6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21.5</a:t>
                      </a:r>
                      <a:endParaRPr sz="600"/>
                    </a:p>
                  </a:txBody>
                  <a:tcPr anchor="ctr" marL="27000" marR="27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1" i="0">
                          <a:solidFill>
                            <a:srgbClr val="2E75B6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21.5</a:t>
                      </a:r>
                      <a:endParaRPr sz="600"/>
                    </a:p>
                  </a:txBody>
                  <a:tcPr anchor="ctr" marL="27000" marR="27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1" i="0">
                          <a:solidFill>
                            <a:srgbClr val="2E75B6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21.5</a:t>
                      </a:r>
                      <a:endParaRPr sz="600"/>
                    </a:p>
                  </a:txBody>
                  <a:tcPr anchor="ctr" marL="27000" marR="27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1" i="0">
                          <a:solidFill>
                            <a:srgbClr val="2E75B6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21.5</a:t>
                      </a:r>
                      <a:endParaRPr sz="600"/>
                    </a:p>
                  </a:txBody>
                  <a:tcPr anchor="ctr" marL="27000" marR="27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1" i="0">
                          <a:solidFill>
                            <a:srgbClr val="2E75B6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228.4</a:t>
                      </a:r>
                      <a:endParaRPr sz="600"/>
                    </a:p>
                  </a:txBody>
                  <a:tcPr anchor="ctr" marL="27000" marR="27000" marT="0" marB="0">
                    <a:lnL w="6350">
                      <a:solidFill>
                        <a:srgbClr val="BFBFBF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2F2F2"/>
                    </a:solidFill>
                  </a:tcPr>
                </a:tc>
              </a:tr>
              <a:tr h="153619">
                <a:tc>
                  <a:txBody>
                    <a:bodyPr/>
                    <a:lstStyle/>
                    <a:p>
                      <a:pPr algn="l"/>
                      <a:r>
                        <a:rPr sz="600" b="1" i="0">
                          <a:solidFill>
                            <a:srgbClr val="7F7F7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5 Gal 충진 h (병 상당×2)</a:t>
                      </a:r>
                      <a:endParaRPr sz="600"/>
                    </a:p>
                  </a:txBody>
                  <a:tcPr anchor="ctr" marL="27000" marR="27000" marT="0" marB="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EAF1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1" i="0">
                          <a:solidFill>
                            <a:srgbClr val="2E75B6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189.3</a:t>
                      </a:r>
                      <a:endParaRPr sz="600"/>
                    </a:p>
                  </a:txBody>
                  <a:tcPr anchor="ctr" marL="27000" marR="27000" marT="0" marB="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EAF1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1" i="0">
                          <a:solidFill>
                            <a:srgbClr val="2E75B6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189.3</a:t>
                      </a:r>
                      <a:endParaRPr sz="600"/>
                    </a:p>
                  </a:txBody>
                  <a:tcPr anchor="ctr" marL="27000" marR="27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EAF1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1" i="0">
                          <a:solidFill>
                            <a:srgbClr val="2E75B6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247.3</a:t>
                      </a:r>
                      <a:endParaRPr sz="600"/>
                    </a:p>
                  </a:txBody>
                  <a:tcPr anchor="ctr" marL="27000" marR="27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EAF1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1" i="0">
                          <a:solidFill>
                            <a:srgbClr val="2E75B6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247.3</a:t>
                      </a:r>
                      <a:endParaRPr sz="600"/>
                    </a:p>
                  </a:txBody>
                  <a:tcPr anchor="ctr" marL="27000" marR="27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EAF1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1" i="0">
                          <a:solidFill>
                            <a:srgbClr val="2E75B6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247.3</a:t>
                      </a:r>
                      <a:endParaRPr sz="600"/>
                    </a:p>
                  </a:txBody>
                  <a:tcPr anchor="ctr" marL="27000" marR="27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EAF1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1" i="0">
                          <a:solidFill>
                            <a:srgbClr val="2E75B6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247.3</a:t>
                      </a:r>
                      <a:endParaRPr sz="600"/>
                    </a:p>
                  </a:txBody>
                  <a:tcPr anchor="ctr" marL="27000" marR="27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EAF1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1" i="0">
                          <a:solidFill>
                            <a:srgbClr val="2E75B6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267.3</a:t>
                      </a:r>
                      <a:endParaRPr sz="600"/>
                    </a:p>
                  </a:txBody>
                  <a:tcPr anchor="ctr" marL="27000" marR="27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EAF1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1" i="0">
                          <a:solidFill>
                            <a:srgbClr val="2E75B6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267.3</a:t>
                      </a:r>
                      <a:endParaRPr sz="600"/>
                    </a:p>
                  </a:txBody>
                  <a:tcPr anchor="ctr" marL="27000" marR="27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EAF1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1" i="0">
                          <a:solidFill>
                            <a:srgbClr val="2E75B6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267.3</a:t>
                      </a:r>
                      <a:endParaRPr sz="600"/>
                    </a:p>
                  </a:txBody>
                  <a:tcPr anchor="ctr" marL="27000" marR="27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EAF1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1" i="0">
                          <a:solidFill>
                            <a:srgbClr val="2E75B6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267.3</a:t>
                      </a:r>
                      <a:endParaRPr sz="600"/>
                    </a:p>
                  </a:txBody>
                  <a:tcPr anchor="ctr" marL="27000" marR="27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EAF1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1" i="0">
                          <a:solidFill>
                            <a:srgbClr val="2E75B6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267.3</a:t>
                      </a:r>
                      <a:endParaRPr sz="600"/>
                    </a:p>
                  </a:txBody>
                  <a:tcPr anchor="ctr" marL="27000" marR="27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EAF1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1" i="0">
                          <a:solidFill>
                            <a:srgbClr val="2E75B6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267.3</a:t>
                      </a:r>
                      <a:endParaRPr sz="600"/>
                    </a:p>
                  </a:txBody>
                  <a:tcPr anchor="ctr" marL="27000" marR="27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EAF1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1" i="0">
                          <a:solidFill>
                            <a:srgbClr val="2E75B6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2,972</a:t>
                      </a:r>
                      <a:endParaRPr sz="600"/>
                    </a:p>
                  </a:txBody>
                  <a:tcPr anchor="ctr" marL="27000" marR="27000" marT="0" marB="0">
                    <a:lnL w="6350">
                      <a:solidFill>
                        <a:srgbClr val="BFBFBF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</a:tr>
              <a:tr h="153619">
                <a:tc>
                  <a:txBody>
                    <a:bodyPr/>
                    <a:lstStyle/>
                    <a:p>
                      <a:pPr algn="l"/>
                      <a:r>
                        <a:rPr sz="600" b="1" i="0">
                          <a:solidFill>
                            <a:srgbClr val="7F7F7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이지켐 용기 (140 kg)</a:t>
                      </a:r>
                      <a:endParaRPr sz="600"/>
                    </a:p>
                  </a:txBody>
                  <a:tcPr anchor="ctr" marL="27000" marR="27000" marT="0" marB="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1" i="0">
                          <a:solidFill>
                            <a:srgbClr val="EB00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4</a:t>
                      </a:r>
                      <a:endParaRPr sz="600"/>
                    </a:p>
                  </a:txBody>
                  <a:tcPr anchor="ctr" marL="27000" marR="27000" marT="0" marB="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1" i="0">
                          <a:solidFill>
                            <a:srgbClr val="EB00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4</a:t>
                      </a:r>
                      <a:endParaRPr sz="600"/>
                    </a:p>
                  </a:txBody>
                  <a:tcPr anchor="ctr" marL="27000" marR="27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1" i="0">
                          <a:solidFill>
                            <a:srgbClr val="EB00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4</a:t>
                      </a:r>
                      <a:endParaRPr sz="600"/>
                    </a:p>
                  </a:txBody>
                  <a:tcPr anchor="ctr" marL="27000" marR="27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1" i="0">
                          <a:solidFill>
                            <a:srgbClr val="EB00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4</a:t>
                      </a:r>
                      <a:endParaRPr sz="600"/>
                    </a:p>
                  </a:txBody>
                  <a:tcPr anchor="ctr" marL="27000" marR="27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1" i="0">
                          <a:solidFill>
                            <a:srgbClr val="EB00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4</a:t>
                      </a:r>
                      <a:endParaRPr sz="600"/>
                    </a:p>
                  </a:txBody>
                  <a:tcPr anchor="ctr" marL="27000" marR="27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1" i="0">
                          <a:solidFill>
                            <a:srgbClr val="EB00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4</a:t>
                      </a:r>
                      <a:endParaRPr sz="600"/>
                    </a:p>
                  </a:txBody>
                  <a:tcPr anchor="ctr" marL="27000" marR="27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1" i="0">
                          <a:solidFill>
                            <a:srgbClr val="2E75B6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8</a:t>
                      </a:r>
                      <a:endParaRPr sz="600"/>
                    </a:p>
                  </a:txBody>
                  <a:tcPr anchor="ctr" marL="27000" marR="27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1" i="0">
                          <a:solidFill>
                            <a:srgbClr val="2E75B6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8</a:t>
                      </a:r>
                      <a:endParaRPr sz="600"/>
                    </a:p>
                  </a:txBody>
                  <a:tcPr anchor="ctr" marL="27000" marR="27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1" i="0">
                          <a:solidFill>
                            <a:srgbClr val="2E75B6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8</a:t>
                      </a:r>
                      <a:endParaRPr sz="600"/>
                    </a:p>
                  </a:txBody>
                  <a:tcPr anchor="ctr" marL="27000" marR="27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1" i="0">
                          <a:solidFill>
                            <a:srgbClr val="2E75B6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8</a:t>
                      </a:r>
                      <a:endParaRPr sz="600"/>
                    </a:p>
                  </a:txBody>
                  <a:tcPr anchor="ctr" marL="27000" marR="27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1" i="0">
                          <a:solidFill>
                            <a:srgbClr val="2E75B6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8</a:t>
                      </a:r>
                      <a:endParaRPr sz="600"/>
                    </a:p>
                  </a:txBody>
                  <a:tcPr anchor="ctr" marL="27000" marR="27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1" i="0">
                          <a:solidFill>
                            <a:srgbClr val="2E75B6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8</a:t>
                      </a:r>
                      <a:endParaRPr sz="600"/>
                    </a:p>
                  </a:txBody>
                  <a:tcPr anchor="ctr" marL="27000" marR="27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1" i="0">
                          <a:solidFill>
                            <a:srgbClr val="EB00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72용기</a:t>
                      </a:r>
                      <a:endParaRPr sz="600"/>
                    </a:p>
                  </a:txBody>
                  <a:tcPr anchor="ctr" marL="27000" marR="27000" marT="0" marB="0">
                    <a:lnL w="6350">
                      <a:solidFill>
                        <a:srgbClr val="BFBFBF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</a:tr>
              <a:tr h="153619">
                <a:tc>
                  <a:txBody>
                    <a:bodyPr/>
                    <a:lstStyle/>
                    <a:p>
                      <a:pPr algn="l"/>
                      <a:r>
                        <a:rPr sz="600" b="1" i="0">
                          <a:solidFill>
                            <a:srgbClr val="7F7F7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한솔 용기 (150 kg)</a:t>
                      </a:r>
                      <a:endParaRPr sz="600"/>
                    </a:p>
                  </a:txBody>
                  <a:tcPr anchor="ctr" marL="27000" marR="27000" marT="0" marB="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1" i="0">
                          <a:solidFill>
                            <a:srgbClr val="EB00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</a:t>
                      </a:r>
                      <a:endParaRPr sz="600"/>
                    </a:p>
                  </a:txBody>
                  <a:tcPr anchor="ctr" marL="27000" marR="27000" marT="0" marB="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1" i="0">
                          <a:solidFill>
                            <a:srgbClr val="EB00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</a:t>
                      </a:r>
                      <a:endParaRPr sz="600"/>
                    </a:p>
                  </a:txBody>
                  <a:tcPr anchor="ctr" marL="27000" marR="27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1" i="0">
                          <a:solidFill>
                            <a:srgbClr val="EB00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</a:t>
                      </a:r>
                      <a:endParaRPr sz="600"/>
                    </a:p>
                  </a:txBody>
                  <a:tcPr anchor="ctr" marL="27000" marR="27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1" i="0">
                          <a:solidFill>
                            <a:srgbClr val="EB00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</a:t>
                      </a:r>
                      <a:endParaRPr sz="600"/>
                    </a:p>
                  </a:txBody>
                  <a:tcPr anchor="ctr" marL="27000" marR="27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1" i="0">
                          <a:solidFill>
                            <a:srgbClr val="EB00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</a:t>
                      </a:r>
                      <a:endParaRPr sz="600"/>
                    </a:p>
                  </a:txBody>
                  <a:tcPr anchor="ctr" marL="27000" marR="27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1" i="0">
                          <a:solidFill>
                            <a:srgbClr val="EB00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</a:t>
                      </a:r>
                      <a:endParaRPr sz="600"/>
                    </a:p>
                  </a:txBody>
                  <a:tcPr anchor="ctr" marL="27000" marR="27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1" i="0">
                          <a:solidFill>
                            <a:srgbClr val="2E75B6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</a:t>
                      </a:r>
                      <a:endParaRPr sz="600"/>
                    </a:p>
                  </a:txBody>
                  <a:tcPr anchor="ctr" marL="27000" marR="27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1" i="0">
                          <a:solidFill>
                            <a:srgbClr val="2E75B6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</a:t>
                      </a:r>
                      <a:endParaRPr sz="600"/>
                    </a:p>
                  </a:txBody>
                  <a:tcPr anchor="ctr" marL="27000" marR="27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1" i="0">
                          <a:solidFill>
                            <a:srgbClr val="2E75B6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</a:t>
                      </a:r>
                      <a:endParaRPr sz="600"/>
                    </a:p>
                  </a:txBody>
                  <a:tcPr anchor="ctr" marL="27000" marR="27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1" i="0">
                          <a:solidFill>
                            <a:srgbClr val="2E75B6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</a:t>
                      </a:r>
                      <a:endParaRPr sz="600"/>
                    </a:p>
                  </a:txBody>
                  <a:tcPr anchor="ctr" marL="27000" marR="27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1" i="0">
                          <a:solidFill>
                            <a:srgbClr val="2E75B6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</a:t>
                      </a:r>
                      <a:endParaRPr sz="600"/>
                    </a:p>
                  </a:txBody>
                  <a:tcPr anchor="ctr" marL="27000" marR="27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1" i="0">
                          <a:solidFill>
                            <a:srgbClr val="2E75B6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</a:t>
                      </a:r>
                      <a:endParaRPr sz="600"/>
                    </a:p>
                  </a:txBody>
                  <a:tcPr anchor="ctr" marL="27000" marR="27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1" i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24용기</a:t>
                      </a:r>
                      <a:endParaRPr sz="600"/>
                    </a:p>
                  </a:txBody>
                  <a:tcPr anchor="ctr" marL="27000" marR="27000" marT="0" marB="0">
                    <a:lnL w="6350">
                      <a:solidFill>
                        <a:srgbClr val="BFBFBF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2F2F2"/>
                    </a:solidFill>
                  </a:tcPr>
                </a:tc>
              </a:tr>
              <a:tr h="153619">
                <a:tc>
                  <a:txBody>
                    <a:bodyPr/>
                    <a:lstStyle/>
                    <a:p>
                      <a:pPr algn="l"/>
                      <a:r>
                        <a:rPr sz="600" b="1" i="0">
                          <a:solidFill>
                            <a:srgbClr val="7F7F7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200 L 충진 방식</a:t>
                      </a:r>
                      <a:endParaRPr sz="600"/>
                    </a:p>
                  </a:txBody>
                  <a:tcPr anchor="ctr" marL="27000" marR="27000" marT="0" marB="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 gridSpan="6">
                  <a:txBody>
                    <a:bodyPr/>
                    <a:lstStyle/>
                    <a:p>
                      <a:pPr algn="ctr"/>
                      <a:r>
                        <a:rPr sz="600" b="1" i="0">
                          <a:solidFill>
                            <a:srgbClr val="EB00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한솔 수동 · 이지켐 ARS 전환 월 확인 ('27~ 계획)</a:t>
                      </a:r>
                      <a:endParaRPr sz="600"/>
                    </a:p>
                  </a:txBody>
                  <a:tcPr anchor="ctr" marL="27000" marR="27000" marT="0" marB="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/>
                      <a:r>
                        <a:rPr sz="600" b="1" i="0">
                          <a:solidFill>
                            <a:srgbClr val="EB00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/>
                      </a:r>
                      <a:endParaRPr sz="600"/>
                    </a:p>
                  </a:txBody>
                  <a:tcPr anchor="ctr" marL="27000" marR="27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/>
                      <a:r>
                        <a:rPr sz="600" b="1" i="0">
                          <a:solidFill>
                            <a:srgbClr val="EB00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/>
                      </a:r>
                      <a:endParaRPr sz="600"/>
                    </a:p>
                  </a:txBody>
                  <a:tcPr anchor="ctr" marL="27000" marR="27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/>
                      <a:r>
                        <a:rPr sz="600" b="1" i="0">
                          <a:solidFill>
                            <a:srgbClr val="EB00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/>
                      </a:r>
                      <a:endParaRPr sz="600"/>
                    </a:p>
                  </a:txBody>
                  <a:tcPr anchor="ctr" marL="27000" marR="27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/>
                      <a:r>
                        <a:rPr sz="600" b="1" i="0">
                          <a:solidFill>
                            <a:srgbClr val="EB00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/>
                      </a:r>
                      <a:endParaRPr sz="600"/>
                    </a:p>
                  </a:txBody>
                  <a:tcPr anchor="ctr" marL="27000" marR="27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/>
                      <a:r>
                        <a:rPr sz="600" b="1" i="0">
                          <a:solidFill>
                            <a:srgbClr val="EB00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/>
                      </a:r>
                      <a:endParaRPr sz="600"/>
                    </a:p>
                  </a:txBody>
                  <a:tcPr anchor="ctr" marL="27000" marR="27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 gridSpan="6">
                  <a:txBody>
                    <a:bodyPr/>
                    <a:lstStyle/>
                    <a:p>
                      <a:pPr algn="ctr"/>
                      <a:r>
                        <a:rPr sz="600" b="1" i="0">
                          <a:solidFill>
                            <a:srgbClr val="2E75B6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한솔 ARS · 이지켐 ARS (충진시간 확인 입력)</a:t>
                      </a:r>
                      <a:endParaRPr sz="600"/>
                    </a:p>
                  </a:txBody>
                  <a:tcPr anchor="ctr" marL="27000" marR="27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/>
                      <a:r>
                        <a:rPr sz="600" b="1" i="0">
                          <a:solidFill>
                            <a:srgbClr val="2E75B6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/>
                      </a:r>
                      <a:endParaRPr sz="600"/>
                    </a:p>
                  </a:txBody>
                  <a:tcPr anchor="ctr" marL="27000" marR="27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/>
                      <a:r>
                        <a:rPr sz="600" b="1" i="0">
                          <a:solidFill>
                            <a:srgbClr val="2E75B6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/>
                      </a:r>
                      <a:endParaRPr sz="600"/>
                    </a:p>
                  </a:txBody>
                  <a:tcPr anchor="ctr" marL="27000" marR="27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/>
                      <a:r>
                        <a:rPr sz="600" b="1" i="0">
                          <a:solidFill>
                            <a:srgbClr val="2E75B6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/>
                      </a:r>
                      <a:endParaRPr sz="600"/>
                    </a:p>
                  </a:txBody>
                  <a:tcPr anchor="ctr" marL="27000" marR="27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/>
                      <a:r>
                        <a:rPr sz="600" b="1" i="0">
                          <a:solidFill>
                            <a:srgbClr val="2E75B6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/>
                      </a:r>
                      <a:endParaRPr sz="600"/>
                    </a:p>
                  </a:txBody>
                  <a:tcPr anchor="ctr" marL="27000" marR="27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/>
                      <a:r>
                        <a:rPr sz="600" b="1" i="0">
                          <a:solidFill>
                            <a:srgbClr val="2E75B6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/>
                      </a:r>
                      <a:endParaRPr sz="600"/>
                    </a:p>
                  </a:txBody>
                  <a:tcPr anchor="ctr" marL="27000" marR="27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1" i="0">
                          <a:solidFill>
                            <a:srgbClr val="EB00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확인</a:t>
                      </a:r>
                      <a:endParaRPr sz="600"/>
                    </a:p>
                  </a:txBody>
                  <a:tcPr anchor="ctr" marL="27000" marR="27000" marT="0" marB="0">
                    <a:lnL w="6350">
                      <a:solidFill>
                        <a:srgbClr val="BFBFBF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</a:tr>
              <a:tr h="153619">
                <a:tc>
                  <a:txBody>
                    <a:bodyPr/>
                    <a:lstStyle/>
                    <a:p>
                      <a:pPr algn="l"/>
                      <a:r>
                        <a:rPr sz="600" b="1" i="0">
                          <a:solidFill>
                            <a:srgbClr val="7F7F7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상·하반기 비교 (t)</a:t>
                      </a:r>
                      <a:endParaRPr sz="600"/>
                    </a:p>
                  </a:txBody>
                  <a:tcPr anchor="ctr" marL="27000" marR="27000" marT="0" marB="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DEDF0"/>
                    </a:solidFill>
                  </a:tcPr>
                </a:tc>
                <a:tc gridSpan="6">
                  <a:txBody>
                    <a:bodyPr/>
                    <a:lstStyle/>
                    <a:p>
                      <a:pPr algn="ctr"/>
                      <a:r>
                        <a:rPr sz="600" b="1" i="0">
                          <a:solidFill>
                            <a:srgbClr val="EB00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상반기 출하 18.84 vs 26.2×6/12 = 13.1 (참고)</a:t>
                      </a:r>
                      <a:endParaRPr sz="600"/>
                    </a:p>
                  </a:txBody>
                  <a:tcPr anchor="ctr" marL="27000" marR="27000" marT="0" marB="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DEDF0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/>
                      <a:r>
                        <a:rPr sz="600" b="1" i="0">
                          <a:solidFill>
                            <a:srgbClr val="EB00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/>
                      </a:r>
                      <a:endParaRPr sz="600"/>
                    </a:p>
                  </a:txBody>
                  <a:tcPr anchor="ctr" marL="27000" marR="27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DEDF0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/>
                      <a:r>
                        <a:rPr sz="600" b="1" i="0">
                          <a:solidFill>
                            <a:srgbClr val="EB00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/>
                      </a:r>
                      <a:endParaRPr sz="600"/>
                    </a:p>
                  </a:txBody>
                  <a:tcPr anchor="ctr" marL="27000" marR="27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DEDF0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/>
                      <a:r>
                        <a:rPr sz="600" b="1" i="0">
                          <a:solidFill>
                            <a:srgbClr val="EB00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/>
                      </a:r>
                      <a:endParaRPr sz="600"/>
                    </a:p>
                  </a:txBody>
                  <a:tcPr anchor="ctr" marL="27000" marR="27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DEDF0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/>
                      <a:r>
                        <a:rPr sz="600" b="1" i="0">
                          <a:solidFill>
                            <a:srgbClr val="EB00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/>
                      </a:r>
                      <a:endParaRPr sz="600"/>
                    </a:p>
                  </a:txBody>
                  <a:tcPr anchor="ctr" marL="27000" marR="27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DEDF0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/>
                      <a:r>
                        <a:rPr sz="600" b="1" i="0">
                          <a:solidFill>
                            <a:srgbClr val="EB00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/>
                      </a:r>
                      <a:endParaRPr sz="600"/>
                    </a:p>
                  </a:txBody>
                  <a:tcPr anchor="ctr" marL="27000" marR="27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DEDF0"/>
                    </a:solidFill>
                  </a:tcPr>
                </a:tc>
                <a:tc gridSpan="6">
                  <a:txBody>
                    <a:bodyPr/>
                    <a:lstStyle/>
                    <a:p>
                      <a:pPr algn="ctr"/>
                      <a:r>
                        <a:rPr sz="600" b="1" i="0">
                          <a:solidFill>
                            <a:srgbClr val="EB00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하반기 출하 24.56 vs 47.2×6/12 = 23.6 → 0.96 부족 방향</a:t>
                      </a:r>
                      <a:endParaRPr sz="600"/>
                    </a:p>
                  </a:txBody>
                  <a:tcPr anchor="ctr" marL="27000" marR="27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DEDF0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/>
                      <a:r>
                        <a:rPr sz="600" b="1" i="0">
                          <a:solidFill>
                            <a:srgbClr val="EB00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/>
                      </a:r>
                      <a:endParaRPr sz="600"/>
                    </a:p>
                  </a:txBody>
                  <a:tcPr anchor="ctr" marL="27000" marR="27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DEDF0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/>
                      <a:r>
                        <a:rPr sz="600" b="1" i="0">
                          <a:solidFill>
                            <a:srgbClr val="EB00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/>
                      </a:r>
                      <a:endParaRPr sz="600"/>
                    </a:p>
                  </a:txBody>
                  <a:tcPr anchor="ctr" marL="27000" marR="27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DEDF0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/>
                      <a:r>
                        <a:rPr sz="600" b="1" i="0">
                          <a:solidFill>
                            <a:srgbClr val="EB00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/>
                      </a:r>
                      <a:endParaRPr sz="600"/>
                    </a:p>
                  </a:txBody>
                  <a:tcPr anchor="ctr" marL="27000" marR="27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DEDF0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/>
                      <a:r>
                        <a:rPr sz="600" b="1" i="0">
                          <a:solidFill>
                            <a:srgbClr val="EB00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/>
                      </a:r>
                      <a:endParaRPr sz="600"/>
                    </a:p>
                  </a:txBody>
                  <a:tcPr anchor="ctr" marL="27000" marR="27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DEDF0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/>
                      <a:r>
                        <a:rPr sz="600" b="1" i="0">
                          <a:solidFill>
                            <a:srgbClr val="EB00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/>
                      </a:r>
                      <a:endParaRPr sz="600"/>
                    </a:p>
                  </a:txBody>
                  <a:tcPr anchor="ctr" marL="27000" marR="27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DED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1" i="0">
                          <a:solidFill>
                            <a:srgbClr val="EB00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43.4</a:t>
                      </a:r>
                      <a:endParaRPr sz="600"/>
                    </a:p>
                  </a:txBody>
                  <a:tcPr anchor="ctr" marL="27000" marR="27000" marT="0" marB="0">
                    <a:lnL w="6350">
                      <a:solidFill>
                        <a:srgbClr val="BFBFBF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2F2F2"/>
                    </a:solidFill>
                  </a:tcPr>
                </a:tc>
              </a:tr>
              <a:tr h="153619">
                <a:tc>
                  <a:txBody>
                    <a:bodyPr/>
                    <a:lstStyle/>
                    <a:p>
                      <a:pPr algn="l"/>
                      <a:r>
                        <a:rPr sz="600" b="1" i="0">
                          <a:solidFill>
                            <a:srgbClr val="7F7F7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재고 (기초 / 기말)</a:t>
                      </a:r>
                      <a:endParaRPr sz="600"/>
                    </a:p>
                  </a:txBody>
                  <a:tcPr anchor="ctr" marL="27000" marR="27000" marT="0" marB="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 gridSpan="12">
                  <a:txBody>
                    <a:bodyPr/>
                    <a:lstStyle/>
                    <a:p>
                      <a:pPr algn="ctr"/>
                      <a:r>
                        <a:rPr sz="600" b="0" i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기초재고 미입력 → 계산 보류 · 2027.12 기말재고 → 2028.1 기초재고로 연결 (Excel 04)</a:t>
                      </a:r>
                      <a:endParaRPr sz="600"/>
                    </a:p>
                  </a:txBody>
                  <a:tcPr anchor="ctr" marL="27000" marR="27000" marT="0" marB="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2CC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/>
                      <a:r>
                        <a:rPr sz="600" b="0" i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/>
                      </a:r>
                      <a:endParaRPr sz="600"/>
                    </a:p>
                  </a:txBody>
                  <a:tcPr anchor="ctr" marL="27000" marR="27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2CC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/>
                      <a:r>
                        <a:rPr sz="600" b="0" i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/>
                      </a:r>
                      <a:endParaRPr sz="600"/>
                    </a:p>
                  </a:txBody>
                  <a:tcPr anchor="ctr" marL="27000" marR="27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2CC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/>
                      <a:r>
                        <a:rPr sz="600" b="0" i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/>
                      </a:r>
                      <a:endParaRPr sz="600"/>
                    </a:p>
                  </a:txBody>
                  <a:tcPr anchor="ctr" marL="27000" marR="27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2CC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/>
                      <a:r>
                        <a:rPr sz="600" b="0" i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/>
                      </a:r>
                      <a:endParaRPr sz="600"/>
                    </a:p>
                  </a:txBody>
                  <a:tcPr anchor="ctr" marL="27000" marR="27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2CC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/>
                      <a:r>
                        <a:rPr sz="600" b="0" i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/>
                      </a:r>
                      <a:endParaRPr sz="600"/>
                    </a:p>
                  </a:txBody>
                  <a:tcPr anchor="ctr" marL="27000" marR="27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2CC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/>
                      <a:r>
                        <a:rPr sz="600" b="0" i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/>
                      </a:r>
                      <a:endParaRPr sz="600"/>
                    </a:p>
                  </a:txBody>
                  <a:tcPr anchor="ctr" marL="27000" marR="27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2CC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/>
                      <a:r>
                        <a:rPr sz="600" b="0" i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/>
                      </a:r>
                      <a:endParaRPr sz="600"/>
                    </a:p>
                  </a:txBody>
                  <a:tcPr anchor="ctr" marL="27000" marR="27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2CC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/>
                      <a:r>
                        <a:rPr sz="600" b="0" i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/>
                      </a:r>
                      <a:endParaRPr sz="600"/>
                    </a:p>
                  </a:txBody>
                  <a:tcPr anchor="ctr" marL="27000" marR="27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2CC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/>
                      <a:r>
                        <a:rPr sz="600" b="0" i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/>
                      </a:r>
                      <a:endParaRPr sz="600"/>
                    </a:p>
                  </a:txBody>
                  <a:tcPr anchor="ctr" marL="27000" marR="27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2CC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/>
                      <a:r>
                        <a:rPr sz="600" b="0" i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/>
                      </a:r>
                      <a:endParaRPr sz="600"/>
                    </a:p>
                  </a:txBody>
                  <a:tcPr anchor="ctr" marL="27000" marR="27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2CC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/>
                      <a:r>
                        <a:rPr sz="600" b="0" i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/>
                      </a:r>
                      <a:endParaRPr sz="600"/>
                    </a:p>
                  </a:txBody>
                  <a:tcPr anchor="ctr" marL="27000" marR="27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1" i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보류</a:t>
                      </a:r>
                      <a:endParaRPr sz="600"/>
                    </a:p>
                  </a:txBody>
                  <a:tcPr anchor="ctr" marL="27000" marR="27000" marT="0" marB="0">
                    <a:lnL w="6350">
                      <a:solidFill>
                        <a:srgbClr val="BFBFBF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168" name="TextBox 167"/>
          <p:cNvSpPr txBox="1"/>
          <p:nvPr/>
        </p:nvSpPr>
        <p:spPr>
          <a:xfrm>
            <a:off x="287000" y="4114800"/>
            <a:ext cx="85700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580" b="0" i="0">
                <a:solidFill>
                  <a:srgbClr val="7F7F7F"/>
                </a:solidFill>
                <a:latin typeface="Noto Sans KR"/>
                <a:ea typeface="Noto Sans KR"/>
                <a:cs typeface="Noto Sans KR"/>
              </a:rPr>
              <a:t>* 하이닉스 22,720÷12 = 1,893.33 kg/월(표시 반올림) · CXMT 7,000 · 이지켐 10,080 (72용기) · 한솔 3,600 (24용기) · 5 Gal 병 상당 = (하이닉스+CXMT)÷20, 실제 20 kg 정수 배분 · 실제 생산 1월 = 관측 67.5 h 기준 11 Batch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287000" y="4342024"/>
            <a:ext cx="50000" cy="165000"/>
          </a:xfrm>
          <a:prstGeom prst="rect">
            <a:avLst/>
          </a:prstGeom>
          <a:solidFill>
            <a:srgbClr val="EB002C"/>
          </a:solidFill>
          <a:ln>
            <a:noFill/>
          </a:ln>
        </p:spPr>
        <p:txBody>
          <a:bodyPr rtlCol="0" anchor="ctr" lIns="30000" rIns="30000" tIns="0" bIns="0" wrap="square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397000" y="4312024"/>
            <a:ext cx="8000000" cy="22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1" i="0">
                <a:solidFill>
                  <a:srgbClr val="1A1A1A"/>
                </a:solidFill>
                <a:latin typeface="Noto Sans KR"/>
                <a:ea typeface="Noto Sans KR"/>
                <a:cs typeface="Noto Sans KR"/>
              </a:rPr>
              <a:t>② 2027 연간 환산 기준 비교 (확정 부족량 아님)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287000" y="4542024"/>
            <a:ext cx="2082500" cy="640000"/>
          </a:xfrm>
          <a:prstGeom prst="rect">
            <a:avLst/>
          </a:prstGeom>
          <a:solidFill>
            <a:srgbClr val="FDEDF0"/>
          </a:solidFill>
          <a:ln w="15240">
            <a:solidFill>
              <a:srgbClr val="EB002C"/>
            </a:solidFill>
          </a:ln>
        </p:spPr>
        <p:txBody>
          <a:bodyPr rtlCol="0" anchor="ctr" lIns="30000" rIns="30000" tIns="0" bIns="0" wrap="square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317000" y="4582024"/>
            <a:ext cx="2022500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720" b="1" i="0">
                <a:solidFill>
                  <a:srgbClr val="1A1A1A"/>
                </a:solidFill>
                <a:latin typeface="Noto Sans KR"/>
                <a:ea typeface="Noto Sans KR"/>
                <a:cs typeface="Noto Sans KR"/>
              </a:rPr>
              <a:t>현재 Capa. 대비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307000" y="4732024"/>
            <a:ext cx="2042500" cy="260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400" b="1" i="0">
                <a:solidFill>
                  <a:srgbClr val="EB002C"/>
                </a:solidFill>
                <a:latin typeface="Noto Sans KR"/>
                <a:ea typeface="Noto Sans KR"/>
                <a:cs typeface="Noto Sans KR"/>
              </a:rPr>
              <a:t>43.4 vs 26.2</a:t>
            </a:r>
            <a:r>
              <a:rPr sz="700" b="1" i="0">
                <a:solidFill>
                  <a:srgbClr val="EB002C"/>
                </a:solidFill>
                <a:latin typeface="Noto Sans KR"/>
                <a:ea typeface="Noto Sans KR"/>
                <a:cs typeface="Noto Sans KR"/>
              </a:rPr>
              <a:t> 톤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307000" y="5017024"/>
            <a:ext cx="2042500" cy="15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600" b="0" i="0">
                <a:solidFill>
                  <a:srgbClr val="7F7F7F"/>
                </a:solidFill>
                <a:latin typeface="Noto Sans KR"/>
                <a:ea typeface="Noto Sans KR"/>
                <a:cs typeface="Noto Sans KR"/>
              </a:rPr>
              <a:t>17.2톤 초과 → 개선·선행 생산 필요</a:t>
            </a:r>
          </a:p>
        </p:txBody>
      </p:sp>
      <p:sp>
        <p:nvSpPr>
          <p:cNvPr id="175" name="Rectangle 174"/>
          <p:cNvSpPr/>
          <p:nvPr/>
        </p:nvSpPr>
        <p:spPr>
          <a:xfrm>
            <a:off x="2449500" y="4542024"/>
            <a:ext cx="2082500" cy="640000"/>
          </a:xfrm>
          <a:prstGeom prst="rect">
            <a:avLst/>
          </a:prstGeom>
          <a:solidFill>
            <a:srgbClr val="EAF1FA"/>
          </a:solidFill>
          <a:ln w="15240">
            <a:solidFill>
              <a:srgbClr val="2E75B6"/>
            </a:solidFill>
          </a:ln>
        </p:spPr>
        <p:txBody>
          <a:bodyPr rtlCol="0" anchor="ctr" lIns="30000" rIns="30000" tIns="0" bIns="0" wrap="square"/>
          <a:lstStyle/>
          <a:p>
            <a:pPr algn="ctr"/>
          </a:p>
        </p:txBody>
      </p:sp>
      <p:sp>
        <p:nvSpPr>
          <p:cNvPr id="176" name="TextBox 175"/>
          <p:cNvSpPr txBox="1"/>
          <p:nvPr/>
        </p:nvSpPr>
        <p:spPr>
          <a:xfrm>
            <a:off x="2479500" y="4582024"/>
            <a:ext cx="2022500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720" b="1" i="0">
                <a:solidFill>
                  <a:srgbClr val="1A1A1A"/>
                </a:solidFill>
                <a:latin typeface="Noto Sans KR"/>
                <a:ea typeface="Noto Sans KR"/>
                <a:cs typeface="Noto Sans KR"/>
              </a:rPr>
              <a:t>개선 환산 47.2톤 대비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2469500" y="4732024"/>
            <a:ext cx="2042500" cy="260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1" i="0">
                <a:solidFill>
                  <a:srgbClr val="2E75B6"/>
                </a:solidFill>
                <a:latin typeface="Noto Sans KR"/>
                <a:ea typeface="Noto Sans KR"/>
                <a:cs typeface="Noto Sans KR"/>
              </a:rPr>
              <a:t>+3.8</a:t>
            </a:r>
            <a:r>
              <a:rPr sz="700" b="1" i="0">
                <a:solidFill>
                  <a:srgbClr val="2E75B6"/>
                </a:solidFill>
                <a:latin typeface="Noto Sans KR"/>
                <a:ea typeface="Noto Sans KR"/>
                <a:cs typeface="Noto Sans KR"/>
              </a:rPr>
              <a:t> 톤</a:t>
            </a:r>
          </a:p>
        </p:txBody>
      </p:sp>
      <p:sp>
        <p:nvSpPr>
          <p:cNvPr id="178" name="TextBox 177"/>
          <p:cNvSpPr txBox="1"/>
          <p:nvPr/>
        </p:nvSpPr>
        <p:spPr>
          <a:xfrm>
            <a:off x="2469500" y="5017024"/>
            <a:ext cx="2042500" cy="15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600" b="0" i="0">
                <a:solidFill>
                  <a:srgbClr val="7F7F7F"/>
                </a:solidFill>
                <a:latin typeface="Noto Sans KR"/>
                <a:ea typeface="Noto Sans KR"/>
                <a:cs typeface="Noto Sans KR"/>
              </a:rPr>
              <a:t>연간 환산값 — 2027 실제 여유 아님</a:t>
            </a:r>
          </a:p>
        </p:txBody>
      </p:sp>
      <p:sp>
        <p:nvSpPr>
          <p:cNvPr id="179" name="Rectangle 178"/>
          <p:cNvSpPr/>
          <p:nvPr/>
        </p:nvSpPr>
        <p:spPr>
          <a:xfrm>
            <a:off x="4612000" y="4542024"/>
            <a:ext cx="2082500" cy="640000"/>
          </a:xfrm>
          <a:prstGeom prst="rect">
            <a:avLst/>
          </a:prstGeom>
          <a:solidFill>
            <a:srgbClr val="FDEDF0"/>
          </a:solidFill>
          <a:ln w="15240">
            <a:solidFill>
              <a:srgbClr val="EB002C"/>
            </a:solidFill>
          </a:ln>
        </p:spPr>
        <p:txBody>
          <a:bodyPr rtlCol="0" anchor="ctr" lIns="30000" rIns="30000" tIns="0" bIns="0" wrap="square"/>
          <a:lstStyle/>
          <a:p>
            <a:pPr algn="ctr"/>
          </a:p>
        </p:txBody>
      </p:sp>
      <p:sp>
        <p:nvSpPr>
          <p:cNvPr id="180" name="TextBox 179"/>
          <p:cNvSpPr txBox="1"/>
          <p:nvPr/>
        </p:nvSpPr>
        <p:spPr>
          <a:xfrm>
            <a:off x="4642000" y="4582024"/>
            <a:ext cx="2022500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720" b="1" i="0">
                <a:solidFill>
                  <a:srgbClr val="1A1A1A"/>
                </a:solidFill>
                <a:latin typeface="Noto Sans KR"/>
                <a:ea typeface="Noto Sans KR"/>
                <a:cs typeface="Noto Sans KR"/>
              </a:rPr>
              <a:t>하반기 출하 vs 참고 Capa.</a:t>
            </a:r>
          </a:p>
        </p:txBody>
      </p:sp>
      <p:sp>
        <p:nvSpPr>
          <p:cNvPr id="181" name="TextBox 180"/>
          <p:cNvSpPr txBox="1"/>
          <p:nvPr/>
        </p:nvSpPr>
        <p:spPr>
          <a:xfrm>
            <a:off x="4632000" y="4732024"/>
            <a:ext cx="2042500" cy="260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400" b="1" i="0">
                <a:solidFill>
                  <a:srgbClr val="EB002C"/>
                </a:solidFill>
                <a:latin typeface="Noto Sans KR"/>
                <a:ea typeface="Noto Sans KR"/>
                <a:cs typeface="Noto Sans KR"/>
              </a:rPr>
              <a:t>24.56 vs 23.6</a:t>
            </a:r>
            <a:r>
              <a:rPr sz="700" b="1" i="0">
                <a:solidFill>
                  <a:srgbClr val="EB002C"/>
                </a:solidFill>
                <a:latin typeface="Noto Sans KR"/>
                <a:ea typeface="Noto Sans KR"/>
                <a:cs typeface="Noto Sans KR"/>
              </a:rPr>
              <a:t> 톤</a:t>
            </a:r>
          </a:p>
        </p:txBody>
      </p:sp>
      <p:sp>
        <p:nvSpPr>
          <p:cNvPr id="182" name="TextBox 181"/>
          <p:cNvSpPr txBox="1"/>
          <p:nvPr/>
        </p:nvSpPr>
        <p:spPr>
          <a:xfrm>
            <a:off x="4632000" y="5017024"/>
            <a:ext cx="2042500" cy="15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600" b="0" i="0">
                <a:solidFill>
                  <a:srgbClr val="7F7F7F"/>
                </a:solidFill>
                <a:latin typeface="Noto Sans KR"/>
                <a:ea typeface="Noto Sans KR"/>
                <a:cs typeface="Noto Sans KR"/>
              </a:rPr>
              <a:t>0.96톤 부족 방향 (47.2×6/12 균등 참고)</a:t>
            </a:r>
          </a:p>
        </p:txBody>
      </p:sp>
      <p:sp>
        <p:nvSpPr>
          <p:cNvPr id="183" name="Rectangle 182"/>
          <p:cNvSpPr/>
          <p:nvPr/>
        </p:nvSpPr>
        <p:spPr>
          <a:xfrm>
            <a:off x="6774500" y="4542024"/>
            <a:ext cx="2082500" cy="640000"/>
          </a:xfrm>
          <a:prstGeom prst="rect">
            <a:avLst/>
          </a:prstGeom>
          <a:solidFill>
            <a:srgbClr val="FFFFFF"/>
          </a:solidFill>
          <a:ln w="15240">
            <a:solidFill>
              <a:srgbClr val="7F7F7F"/>
            </a:solidFill>
            <a:prstDash val="dash"/>
          </a:ln>
        </p:spPr>
        <p:txBody>
          <a:bodyPr rtlCol="0" anchor="ctr" lIns="30000" rIns="30000" tIns="0" bIns="0" wrap="square"/>
          <a:lstStyle/>
          <a:p>
            <a:pPr algn="ctr"/>
          </a:p>
        </p:txBody>
      </p:sp>
      <p:sp>
        <p:nvSpPr>
          <p:cNvPr id="184" name="TextBox 183"/>
          <p:cNvSpPr txBox="1"/>
          <p:nvPr/>
        </p:nvSpPr>
        <p:spPr>
          <a:xfrm>
            <a:off x="6804500" y="4582024"/>
            <a:ext cx="2022500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720" b="1" i="0">
                <a:solidFill>
                  <a:srgbClr val="1A1A1A"/>
                </a:solidFill>
                <a:latin typeface="Noto Sans KR"/>
                <a:ea typeface="Noto Sans KR"/>
                <a:cs typeface="Noto Sans KR"/>
              </a:rPr>
              <a:t>2027 생산 − 출하 (시나리오)</a:t>
            </a:r>
          </a:p>
        </p:txBody>
      </p:sp>
      <p:sp>
        <p:nvSpPr>
          <p:cNvPr id="185" name="TextBox 184"/>
          <p:cNvSpPr txBox="1"/>
          <p:nvPr/>
        </p:nvSpPr>
        <p:spPr>
          <a:xfrm>
            <a:off x="6794500" y="4732024"/>
            <a:ext cx="2042500" cy="260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 i="0">
                <a:solidFill>
                  <a:srgbClr val="3F3F3F"/>
                </a:solidFill>
                <a:latin typeface="Noto Sans KR"/>
                <a:ea typeface="Noto Sans KR"/>
                <a:cs typeface="Noto Sans KR"/>
              </a:rPr>
              <a:t>−9.6 ~ −19.2</a:t>
            </a:r>
            <a:r>
              <a:rPr sz="700" b="1" i="0">
                <a:solidFill>
                  <a:srgbClr val="3F3F3F"/>
                </a:solidFill>
                <a:latin typeface="Noto Sans KR"/>
                <a:ea typeface="Noto Sans KR"/>
                <a:cs typeface="Noto Sans KR"/>
              </a:rPr>
              <a:t> 톤</a:t>
            </a:r>
          </a:p>
        </p:txBody>
      </p:sp>
      <p:sp>
        <p:nvSpPr>
          <p:cNvPr id="186" name="TextBox 185"/>
          <p:cNvSpPr txBox="1"/>
          <p:nvPr/>
        </p:nvSpPr>
        <p:spPr>
          <a:xfrm>
            <a:off x="6794500" y="5017024"/>
            <a:ext cx="2042500" cy="15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600" b="0" i="0">
                <a:solidFill>
                  <a:srgbClr val="7F7F7F"/>
                </a:solidFill>
                <a:latin typeface="Noto Sans KR"/>
                <a:ea typeface="Noto Sans KR"/>
                <a:cs typeface="Noto Sans KR"/>
              </a:rPr>
              <a:t>S2 공사 중 유지 ~ S3 50%·안정화 3개월 (Excel 05)</a:t>
            </a:r>
          </a:p>
        </p:txBody>
      </p:sp>
      <p:sp>
        <p:nvSpPr>
          <p:cNvPr id="187" name="Rectangle 186"/>
          <p:cNvSpPr/>
          <p:nvPr/>
        </p:nvSpPr>
        <p:spPr>
          <a:xfrm>
            <a:off x="287000" y="5282024"/>
            <a:ext cx="50000" cy="165000"/>
          </a:xfrm>
          <a:prstGeom prst="rect">
            <a:avLst/>
          </a:prstGeom>
          <a:solidFill>
            <a:srgbClr val="EB002C"/>
          </a:solidFill>
          <a:ln>
            <a:noFill/>
          </a:ln>
        </p:spPr>
        <p:txBody>
          <a:bodyPr rtlCol="0" anchor="ctr" lIns="30000" rIns="30000" tIns="0" bIns="0" wrap="square"/>
          <a:lstStyle/>
          <a:p>
            <a:pPr algn="ctr"/>
          </a:p>
        </p:txBody>
      </p:sp>
      <p:sp>
        <p:nvSpPr>
          <p:cNvPr id="188" name="TextBox 187"/>
          <p:cNvSpPr txBox="1"/>
          <p:nvPr/>
        </p:nvSpPr>
        <p:spPr>
          <a:xfrm>
            <a:off x="397000" y="5252024"/>
            <a:ext cx="8000000" cy="22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1" i="0">
                <a:solidFill>
                  <a:srgbClr val="1A1A1A"/>
                </a:solidFill>
                <a:latin typeface="Noto Sans KR"/>
                <a:ea typeface="Noto Sans KR"/>
                <a:cs typeface="Noto Sans KR"/>
              </a:rPr>
              <a:t>③ 정제 · 충진 자원 제약 (월 기준)</a:t>
            </a:r>
          </a:p>
        </p:txBody>
      </p:sp>
      <p:sp>
        <p:nvSpPr>
          <p:cNvPr id="189" name="Rectangle 188"/>
          <p:cNvSpPr/>
          <p:nvPr/>
        </p:nvSpPr>
        <p:spPr>
          <a:xfrm>
            <a:off x="287000" y="5482024"/>
            <a:ext cx="2082500" cy="640000"/>
          </a:xfrm>
          <a:prstGeom prst="rect">
            <a:avLst/>
          </a:prstGeom>
          <a:solidFill>
            <a:srgbClr val="FFF8E7"/>
          </a:solidFill>
          <a:ln w="15240">
            <a:solidFill>
              <a:srgbClr val="BF9000"/>
            </a:solidFill>
          </a:ln>
        </p:spPr>
        <p:txBody>
          <a:bodyPr rtlCol="0" anchor="ctr" lIns="30000" rIns="30000" tIns="0" bIns="0" wrap="square"/>
          <a:lstStyle/>
          <a:p>
            <a:pPr algn="ctr"/>
          </a:p>
        </p:txBody>
      </p:sp>
      <p:sp>
        <p:nvSpPr>
          <p:cNvPr id="190" name="TextBox 189"/>
          <p:cNvSpPr txBox="1"/>
          <p:nvPr/>
        </p:nvSpPr>
        <p:spPr>
          <a:xfrm>
            <a:off x="317000" y="5522024"/>
            <a:ext cx="2022500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720" b="1" i="0">
                <a:solidFill>
                  <a:srgbClr val="1A1A1A"/>
                </a:solidFill>
                <a:latin typeface="Noto Sans KR"/>
                <a:ea typeface="Noto Sans KR"/>
                <a:cs typeface="Noto Sans KR"/>
              </a:rPr>
              <a:t>정제기 1~6월 (1대)</a:t>
            </a:r>
          </a:p>
        </p:txBody>
      </p:sp>
      <p:sp>
        <p:nvSpPr>
          <p:cNvPr id="191" name="TextBox 190"/>
          <p:cNvSpPr txBox="1"/>
          <p:nvPr/>
        </p:nvSpPr>
        <p:spPr>
          <a:xfrm>
            <a:off x="307000" y="5672024"/>
            <a:ext cx="2042500" cy="260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1" i="0">
                <a:solidFill>
                  <a:srgbClr val="7F6000"/>
                </a:solidFill>
                <a:latin typeface="Noto Sans KR"/>
                <a:ea typeface="Noto Sans KR"/>
                <a:cs typeface="Noto Sans KR"/>
              </a:rPr>
              <a:t>필요 14.5~17.5 vs 약 11</a:t>
            </a:r>
            <a:r>
              <a:rPr sz="700" b="1" i="0">
                <a:solidFill>
                  <a:srgbClr val="7F6000"/>
                </a:solidFill>
                <a:latin typeface="Noto Sans KR"/>
                <a:ea typeface="Noto Sans KR"/>
                <a:cs typeface="Noto Sans KR"/>
              </a:rPr>
              <a:t> Batch/월</a:t>
            </a:r>
          </a:p>
        </p:txBody>
      </p:sp>
      <p:sp>
        <p:nvSpPr>
          <p:cNvPr id="192" name="TextBox 191"/>
          <p:cNvSpPr txBox="1"/>
          <p:nvPr/>
        </p:nvSpPr>
        <p:spPr>
          <a:xfrm>
            <a:off x="307000" y="5957024"/>
            <a:ext cx="2042500" cy="15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600" b="0" i="0">
                <a:solidFill>
                  <a:srgbClr val="7F7F7F"/>
                </a:solidFill>
                <a:latin typeface="Noto Sans KR"/>
                <a:ea typeface="Noto Sans KR"/>
                <a:cs typeface="Noto Sans KR"/>
              </a:rPr>
              <a:t>관측 67.5 h 기준 · 공사 중 가동 미확인</a:t>
            </a:r>
          </a:p>
        </p:txBody>
      </p:sp>
      <p:sp>
        <p:nvSpPr>
          <p:cNvPr id="193" name="Rectangle 192"/>
          <p:cNvSpPr/>
          <p:nvPr/>
        </p:nvSpPr>
        <p:spPr>
          <a:xfrm>
            <a:off x="2449500" y="5482024"/>
            <a:ext cx="2082500" cy="640000"/>
          </a:xfrm>
          <a:prstGeom prst="rect">
            <a:avLst/>
          </a:prstGeom>
          <a:solidFill>
            <a:srgbClr val="FFFFFF"/>
          </a:solidFill>
          <a:ln w="15240">
            <a:solidFill>
              <a:srgbClr val="7F7F7F"/>
            </a:solidFill>
            <a:prstDash val="dash"/>
          </a:ln>
        </p:spPr>
        <p:txBody>
          <a:bodyPr rtlCol="0" anchor="ctr" lIns="30000" rIns="30000" tIns="0" bIns="0" wrap="square"/>
          <a:lstStyle/>
          <a:p>
            <a:pPr algn="ctr"/>
          </a:p>
        </p:txBody>
      </p:sp>
      <p:sp>
        <p:nvSpPr>
          <p:cNvPr id="194" name="TextBox 193"/>
          <p:cNvSpPr txBox="1"/>
          <p:nvPr/>
        </p:nvSpPr>
        <p:spPr>
          <a:xfrm>
            <a:off x="2479500" y="5522024"/>
            <a:ext cx="2022500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720" b="1" i="0">
                <a:solidFill>
                  <a:srgbClr val="1A1A1A"/>
                </a:solidFill>
                <a:latin typeface="Noto Sans KR"/>
                <a:ea typeface="Noto Sans KR"/>
                <a:cs typeface="Noto Sans KR"/>
              </a:rPr>
              <a:t>정제기 7~12월 (2대)</a:t>
            </a:r>
          </a:p>
        </p:txBody>
      </p:sp>
      <p:sp>
        <p:nvSpPr>
          <p:cNvPr id="195" name="TextBox 194"/>
          <p:cNvSpPr txBox="1"/>
          <p:nvPr/>
        </p:nvSpPr>
        <p:spPr>
          <a:xfrm>
            <a:off x="2469500" y="5672024"/>
            <a:ext cx="2042500" cy="260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1" i="0">
                <a:solidFill>
                  <a:srgbClr val="3F3F3F"/>
                </a:solidFill>
                <a:latin typeface="Noto Sans KR"/>
                <a:ea typeface="Noto Sans KR"/>
                <a:cs typeface="Noto Sans KR"/>
              </a:rPr>
              <a:t>필요 21.5 vs 20.7</a:t>
            </a:r>
            <a:r>
              <a:rPr sz="700" b="1" i="0">
                <a:solidFill>
                  <a:srgbClr val="3F3F3F"/>
                </a:solidFill>
                <a:latin typeface="Noto Sans KR"/>
                <a:ea typeface="Noto Sans KR"/>
                <a:cs typeface="Noto Sans KR"/>
              </a:rPr>
              <a:t> Batch/월</a:t>
            </a:r>
          </a:p>
        </p:txBody>
      </p:sp>
      <p:sp>
        <p:nvSpPr>
          <p:cNvPr id="196" name="TextBox 195"/>
          <p:cNvSpPr txBox="1"/>
          <p:nvPr/>
        </p:nvSpPr>
        <p:spPr>
          <a:xfrm>
            <a:off x="2469500" y="5957024"/>
            <a:ext cx="2042500" cy="15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600" b="0" i="0">
                <a:solidFill>
                  <a:srgbClr val="7F7F7F"/>
                </a:solidFill>
                <a:latin typeface="Noto Sans KR"/>
                <a:ea typeface="Noto Sans KR"/>
                <a:cs typeface="Noto Sans KR"/>
              </a:rPr>
              <a:t>47.2톤÷12÷190 · 설비별 간격 미확인</a:t>
            </a:r>
          </a:p>
        </p:txBody>
      </p:sp>
      <p:sp>
        <p:nvSpPr>
          <p:cNvPr id="197" name="Rectangle 196"/>
          <p:cNvSpPr/>
          <p:nvPr/>
        </p:nvSpPr>
        <p:spPr>
          <a:xfrm>
            <a:off x="4612000" y="5482024"/>
            <a:ext cx="2082500" cy="640000"/>
          </a:xfrm>
          <a:prstGeom prst="rect">
            <a:avLst/>
          </a:prstGeom>
          <a:solidFill>
            <a:srgbClr val="F5F6F8"/>
          </a:solidFill>
          <a:ln>
            <a:noFill/>
          </a:ln>
        </p:spPr>
        <p:txBody>
          <a:bodyPr rtlCol="0" anchor="ctr" lIns="30000" rIns="30000" tIns="0" bIns="0" wrap="square"/>
          <a:lstStyle/>
          <a:p>
            <a:pPr algn="ctr"/>
          </a:p>
        </p:txBody>
      </p:sp>
      <p:sp>
        <p:nvSpPr>
          <p:cNvPr id="198" name="TextBox 197"/>
          <p:cNvSpPr txBox="1"/>
          <p:nvPr/>
        </p:nvSpPr>
        <p:spPr>
          <a:xfrm>
            <a:off x="4642000" y="5522024"/>
            <a:ext cx="2022500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720" b="1" i="0">
                <a:solidFill>
                  <a:srgbClr val="1A1A1A"/>
                </a:solidFill>
                <a:latin typeface="Noto Sans KR"/>
                <a:ea typeface="Noto Sans KR"/>
                <a:cs typeface="Noto Sans KR"/>
              </a:rPr>
              <a:t>5 Gal 글로브 박스</a:t>
            </a:r>
          </a:p>
        </p:txBody>
      </p:sp>
      <p:sp>
        <p:nvSpPr>
          <p:cNvPr id="199" name="TextBox 198"/>
          <p:cNvSpPr txBox="1"/>
          <p:nvPr/>
        </p:nvSpPr>
        <p:spPr>
          <a:xfrm>
            <a:off x="4632000" y="5672024"/>
            <a:ext cx="2042500" cy="260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 i="0">
                <a:solidFill>
                  <a:srgbClr val="1A1A1A"/>
                </a:solidFill>
                <a:latin typeface="Noto Sans KR"/>
                <a:ea typeface="Noto Sans KR"/>
                <a:cs typeface="Noto Sans KR"/>
              </a:rPr>
              <a:t>189.3 ~ 267.3</a:t>
            </a:r>
            <a:r>
              <a:rPr sz="700" b="1" i="0">
                <a:solidFill>
                  <a:srgbClr val="1A1A1A"/>
                </a:solidFill>
                <a:latin typeface="Noto Sans KR"/>
                <a:ea typeface="Noto Sans KR"/>
                <a:cs typeface="Noto Sans KR"/>
              </a:rPr>
              <a:t> h/월</a:t>
            </a:r>
          </a:p>
        </p:txBody>
      </p:sp>
      <p:sp>
        <p:nvSpPr>
          <p:cNvPr id="200" name="TextBox 199"/>
          <p:cNvSpPr txBox="1"/>
          <p:nvPr/>
        </p:nvSpPr>
        <p:spPr>
          <a:xfrm>
            <a:off x="4632000" y="5957024"/>
            <a:ext cx="2042500" cy="15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600" b="0" i="0">
                <a:solidFill>
                  <a:srgbClr val="7F7F7F"/>
                </a:solidFill>
                <a:latin typeface="Noto Sans KR"/>
                <a:ea typeface="Noto Sans KR"/>
                <a:cs typeface="Noto Sans KR"/>
              </a:rPr>
              <a:t>연 2,972 h · 1교대 176 h의 152% (최대)</a:t>
            </a:r>
          </a:p>
        </p:txBody>
      </p:sp>
      <p:sp>
        <p:nvSpPr>
          <p:cNvPr id="201" name="Rectangle 200"/>
          <p:cNvSpPr/>
          <p:nvPr/>
        </p:nvSpPr>
        <p:spPr>
          <a:xfrm>
            <a:off x="6774500" y="5482024"/>
            <a:ext cx="2082500" cy="640000"/>
          </a:xfrm>
          <a:prstGeom prst="rect">
            <a:avLst/>
          </a:prstGeom>
          <a:solidFill>
            <a:srgbClr val="F5F6F8"/>
          </a:solidFill>
          <a:ln>
            <a:noFill/>
          </a:ln>
        </p:spPr>
        <p:txBody>
          <a:bodyPr rtlCol="0" anchor="ctr" lIns="30000" rIns="30000" tIns="0" bIns="0" wrap="square"/>
          <a:lstStyle/>
          <a:p>
            <a:pPr algn="ctr"/>
          </a:p>
        </p:txBody>
      </p:sp>
      <p:sp>
        <p:nvSpPr>
          <p:cNvPr id="202" name="TextBox 201"/>
          <p:cNvSpPr txBox="1"/>
          <p:nvPr/>
        </p:nvSpPr>
        <p:spPr>
          <a:xfrm>
            <a:off x="6804500" y="5522024"/>
            <a:ext cx="2022500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720" b="1" i="0">
                <a:solidFill>
                  <a:srgbClr val="1A1A1A"/>
                </a:solidFill>
                <a:latin typeface="Noto Sans KR"/>
                <a:ea typeface="Noto Sans KR"/>
                <a:cs typeface="Noto Sans KR"/>
              </a:rPr>
              <a:t>200 L (이지켐+한솔)</a:t>
            </a:r>
          </a:p>
        </p:txBody>
      </p:sp>
      <p:sp>
        <p:nvSpPr>
          <p:cNvPr id="203" name="TextBox 202"/>
          <p:cNvSpPr txBox="1"/>
          <p:nvPr/>
        </p:nvSpPr>
        <p:spPr>
          <a:xfrm>
            <a:off x="6794500" y="5672024"/>
            <a:ext cx="2042500" cy="260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200" b="1" i="0">
                <a:solidFill>
                  <a:srgbClr val="1A1A1A"/>
                </a:solidFill>
                <a:latin typeface="Noto Sans KR"/>
                <a:ea typeface="Noto Sans KR"/>
                <a:cs typeface="Noto Sans KR"/>
              </a:rPr>
              <a:t>6 → 10</a:t>
            </a:r>
            <a:r>
              <a:rPr sz="700" b="1" i="0">
                <a:solidFill>
                  <a:srgbClr val="1A1A1A"/>
                </a:solidFill>
                <a:latin typeface="Noto Sans KR"/>
                <a:ea typeface="Noto Sans KR"/>
                <a:cs typeface="Noto Sans KR"/>
              </a:rPr>
              <a:t> 용기/월</a:t>
            </a:r>
          </a:p>
        </p:txBody>
      </p:sp>
      <p:sp>
        <p:nvSpPr>
          <p:cNvPr id="204" name="TextBox 203"/>
          <p:cNvSpPr txBox="1"/>
          <p:nvPr/>
        </p:nvSpPr>
        <p:spPr>
          <a:xfrm>
            <a:off x="6794500" y="5957024"/>
            <a:ext cx="2042500" cy="15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600" b="0" i="0">
                <a:solidFill>
                  <a:srgbClr val="7F7F7F"/>
                </a:solidFill>
                <a:latin typeface="Noto Sans KR"/>
                <a:ea typeface="Noto Sans KR"/>
                <a:cs typeface="Noto Sans KR"/>
              </a:rPr>
              <a:t>연 96용기 · OQC 2 h/용기 · 한솔·ARS 시간 확인</a:t>
            </a:r>
          </a:p>
        </p:txBody>
      </p:sp>
    </p:spTree>
    <p:extLst>
      <p:ext uri="{BB962C8B-B14F-4D97-AF65-F5344CB8AC3E}">
        <p14:creationId xmlns:p14="http://schemas.microsoft.com/office/powerpoint/2010/main" val="129899069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32BE96E-E472-E164-23F2-95F3E9DCB42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75E2DD2F-BCF5-ECAE-E5D5-3CF0B6E970A6}"/>
              </a:ext>
            </a:extLst>
          </p:cNvPr>
          <p:cNvSpPr txBox="1"/>
          <p:nvPr/>
        </p:nvSpPr>
        <p:spPr>
          <a:xfrm>
            <a:off x="419241" y="188640"/>
            <a:ext cx="7400000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>
            <a:defPPr>
              <a:defRPr lang="ko-KR"/>
            </a:defPPr>
            <a:lvl1pPr algn="ctr">
              <a:defRPr kumimoji="1" sz="2800" b="1">
                <a:solidFill>
                  <a:schemeClr val="tx1">
                    <a:lumMod val="95000"/>
                    <a:lumOff val="5000"/>
                  </a:schemeClr>
                </a:solidFill>
                <a:latin typeface="Noto Sans KR" pitchFamily="2" charset="-127"/>
                <a:ea typeface="Noto Sans KR" pitchFamily="2" charset="-127"/>
              </a:defRPr>
            </a:lvl1pPr>
          </a:lstStyle>
          <a:p>
            <a:pPr algn="l"/>
            <a:r>
              <a:rPr lang="en-US" altLang="ko-KR" sz="1800" dirty="0" b="1">
                <a:gradFill>
                  <a:gsLst>
                    <a:gs pos="0">
                      <a:srgbClr val="FF7900"/>
                    </a:gs>
                    <a:gs pos="67000">
                      <a:srgbClr val="EB002C"/>
                    </a:gs>
                  </a:gsLst>
                  <a:lin ang="5400000" scaled="1"/>
                </a:gradFill>
              </a:rPr>
              <a:t>2028년 월별 출하 가정과 Capa. 대응</a:t>
            </a: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F5E334A9-F66D-C6A4-7BE9-6D50F9536A48}"/>
              </a:ext>
            </a:extLst>
          </p:cNvPr>
          <p:cNvSpPr/>
          <p:nvPr/>
        </p:nvSpPr>
        <p:spPr>
          <a:xfrm>
            <a:off x="243076" y="0"/>
            <a:ext cx="45719" cy="900000"/>
          </a:xfrm>
          <a:prstGeom prst="rect">
            <a:avLst/>
          </a:prstGeom>
          <a:solidFill>
            <a:srgbClr val="EB002C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42E35880-4093-876B-A5F4-41C1E861B78E}"/>
              </a:ext>
            </a:extLst>
          </p:cNvPr>
          <p:cNvSpPr txBox="1"/>
          <p:nvPr/>
        </p:nvSpPr>
        <p:spPr>
          <a:xfrm>
            <a:off x="683568" y="649029"/>
            <a:ext cx="8217356" cy="24622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>
            <a:defPPr>
              <a:defRPr lang="ko-KR"/>
            </a:defPPr>
            <a:lvl1pPr algn="ctr">
              <a:defRPr kumimoji="1" sz="2800" b="1">
                <a:solidFill>
                  <a:schemeClr val="tx1">
                    <a:lumMod val="95000"/>
                    <a:lumOff val="5000"/>
                  </a:schemeClr>
                </a:solidFill>
                <a:latin typeface="Noto Sans KR" pitchFamily="2" charset="-127"/>
                <a:ea typeface="Noto Sans KR" pitchFamily="2" charset="-127"/>
              </a:defRPr>
            </a:lvl1pPr>
          </a:lstStyle>
          <a:p>
            <a:pPr algn="l"/>
            <a:r>
              <a:rPr lang="en-US" altLang="ko-KR" sz="1600" dirty="0"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출하 가정 45.76톤 · 47.2톤 대비 +1.44톤 (여유 방향) · 105℃ 50.2톤 검토</a:t>
            </a:r>
            <a:endParaRPr lang="en-US" altLang="ko-KR" sz="1600" dirty="0">
              <a:solidFill>
                <a:srgbClr val="FB6306"/>
              </a:solidFill>
              <a:latin typeface="Noto Sans KR" panose="02000503000000020004" pitchFamily="2" charset="-127"/>
              <a:ea typeface="Noto Sans KR" panose="02000503000000020004" pitchFamily="2" charset="-127"/>
              <a:cs typeface="Noto Sans KR" panose="02000503000000020004" pitchFamily="2" charset="-127"/>
            </a:endParaRPr>
          </a:p>
        </p:txBody>
      </p:sp>
      <p:sp>
        <p:nvSpPr>
          <p:cNvPr id="7" name="타원 6">
            <a:extLst>
              <a:ext uri="{FF2B5EF4-FFF2-40B4-BE49-F238E27FC236}">
                <a16:creationId xmlns:a16="http://schemas.microsoft.com/office/drawing/2014/main" id="{8FCEA6BD-DE04-59B4-A8D4-190141D5218B}"/>
              </a:ext>
            </a:extLst>
          </p:cNvPr>
          <p:cNvSpPr>
            <a:spLocks noChangeAspect="1"/>
          </p:cNvSpPr>
          <p:nvPr/>
        </p:nvSpPr>
        <p:spPr>
          <a:xfrm>
            <a:off x="419241" y="682139"/>
            <a:ext cx="180000" cy="180000"/>
          </a:xfrm>
          <a:prstGeom prst="ellipse">
            <a:avLst/>
          </a:prstGeom>
          <a:solidFill>
            <a:srgbClr val="EB002C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 b="1" dirty="0">
                <a:latin typeface="Noto Sans KR" pitchFamily="2" charset="-127"/>
                <a:ea typeface="Noto Sans KR" pitchFamily="2" charset="-127"/>
              </a:rPr>
              <a:t>5</a:t>
            </a:r>
            <a:endParaRPr kumimoji="1" lang="ko-KR" altLang="en-US" sz="1000" b="1" dirty="0">
              <a:latin typeface="Noto Sans KR" pitchFamily="2" charset="-127"/>
              <a:ea typeface="Noto Sans KR" pitchFamily="2" charset="-127"/>
            </a:endParaRPr>
          </a:p>
        </p:txBody>
      </p:sp>
      <p:pic>
        <p:nvPicPr>
          <p:cNvPr id="8" name="그림 7">
            <a:extLst>
              <a:ext uri="{FF2B5EF4-FFF2-40B4-BE49-F238E27FC236}">
                <a16:creationId xmlns:a16="http://schemas.microsoft.com/office/drawing/2014/main" id="{B8A963E8-7BFA-8421-BB5D-9C25023F1E9B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028384" y="165102"/>
            <a:ext cx="872541" cy="372545"/>
          </a:xfrm>
          <a:prstGeom prst="rect">
            <a:avLst/>
          </a:prstGeom>
        </p:spPr>
      </p:pic>
      <p:sp>
        <p:nvSpPr>
          <p:cNvPr id="161" name="직사각형 160">
            <a:extLst>
              <a:ext uri="{FF2B5EF4-FFF2-40B4-BE49-F238E27FC236}">
                <a16:creationId xmlns:a16="http://schemas.microsoft.com/office/drawing/2014/main" id="{93943A90-8311-883B-A173-01407C63CEE4}"/>
              </a:ext>
            </a:extLst>
          </p:cNvPr>
          <p:cNvSpPr/>
          <p:nvPr/>
        </p:nvSpPr>
        <p:spPr>
          <a:xfrm>
            <a:off x="234424" y="6411907"/>
            <a:ext cx="1027462" cy="252555"/>
          </a:xfrm>
          <a:prstGeom prst="rect">
            <a:avLst/>
          </a:prstGeom>
          <a:noFill/>
          <a:ln w="9525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kumimoji="1" lang="en-US" altLang="ko-KR" sz="1100" dirty="0">
                <a:solidFill>
                  <a:schemeClr val="bg1">
                    <a:lumMod val="50000"/>
                  </a:schemeClr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Confidential</a:t>
            </a:r>
            <a:endParaRPr kumimoji="1" lang="ko-KR" altLang="en-US" sz="1100" dirty="0">
              <a:solidFill>
                <a:schemeClr val="bg1">
                  <a:lumMod val="50000"/>
                </a:schemeClr>
              </a:solidFill>
              <a:latin typeface="Noto Sans KR" panose="02000503000000020004" pitchFamily="2" charset="-127"/>
              <a:ea typeface="Noto Sans KR" panose="02000503000000020004" pitchFamily="2" charset="-127"/>
              <a:cs typeface="Noto Sans KR" panose="02000503000000020004" pitchFamily="2" charset="-127"/>
            </a:endParaRPr>
          </a:p>
        </p:txBody>
      </p:sp>
      <p:cxnSp>
        <p:nvCxnSpPr>
          <p:cNvPr id="163" name="직선 연결선[R] 162">
            <a:extLst>
              <a:ext uri="{FF2B5EF4-FFF2-40B4-BE49-F238E27FC236}">
                <a16:creationId xmlns:a16="http://schemas.microsoft.com/office/drawing/2014/main" id="{8DEBABA2-333E-086B-36F6-137958AA3974}"/>
              </a:ext>
            </a:extLst>
          </p:cNvPr>
          <p:cNvCxnSpPr>
            <a:cxnSpLocks/>
          </p:cNvCxnSpPr>
          <p:nvPr/>
        </p:nvCxnSpPr>
        <p:spPr>
          <a:xfrm>
            <a:off x="1442533" y="6538184"/>
            <a:ext cx="7200800" cy="0"/>
          </a:xfrm>
          <a:prstGeom prst="line">
            <a:avLst/>
          </a:prstGeom>
          <a:ln w="6350"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8D53F489-CBFB-4C6F-878D-02975AD51256}"/>
              </a:ext>
            </a:extLst>
          </p:cNvPr>
          <p:cNvSpPr txBox="1"/>
          <p:nvPr/>
        </p:nvSpPr>
        <p:spPr>
          <a:xfrm>
            <a:off x="3972000" y="6461240"/>
            <a:ext cx="1200000" cy="15388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kumimoji="1" lang="en-US" altLang="ko-KR" sz="1000" dirty="0" b="0" i="0">
                <a:solidFill>
                  <a:srgbClr val="7F7F7F"/>
                </a:solidFill>
                <a:latin typeface="Noto Sans KR" panose="02000403000000020004" pitchFamily="2" charset="-127"/>
                <a:ea typeface="Noto Sans KR" panose="02000403000000020004" pitchFamily="2" charset="-127"/>
                <a:cs typeface="Noto Sans KR" panose="02000403000000020004" pitchFamily="2" charset="-127"/>
              </a:rPr>
              <a:t>- 5 -</a:t>
            </a:r>
            <a:endParaRPr kumimoji="1" lang="ko-KR" altLang="en-US" sz="1000" dirty="0">
              <a:solidFill>
                <a:schemeClr val="bg1">
                  <a:lumMod val="50000"/>
                </a:schemeClr>
              </a:solidFill>
              <a:latin typeface="Noto Sans KR" panose="02000403000000020004" pitchFamily="2" charset="-127"/>
              <a:ea typeface="Noto Sans KR" panose="02000403000000020004" pitchFamily="2" charset="-127"/>
              <a:cs typeface="Noto Sans KR" panose="02000403000000020004" pitchFamily="2" charset="-127"/>
            </a:endParaRPr>
          </a:p>
        </p:txBody>
      </p:sp>
      <p:sp>
        <p:nvSpPr>
          <p:cNvPr id="164" name="TextBox 163"/>
          <p:cNvSpPr txBox="1"/>
          <p:nvPr/>
        </p:nvSpPr>
        <p:spPr>
          <a:xfrm>
            <a:off x="5657000" y="6300000"/>
            <a:ext cx="3200000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800" b="0" i="0">
                <a:solidFill>
                  <a:srgbClr val="7F7F7F"/>
                </a:solidFill>
                <a:latin typeface="Noto Sans KR"/>
                <a:ea typeface="Noto Sans KR"/>
                <a:cs typeface="Noto Sans KR"/>
              </a:rPr>
              <a:t>공란 : 담당부서 확인 후 입력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287000" y="980000"/>
            <a:ext cx="50000" cy="165000"/>
          </a:xfrm>
          <a:prstGeom prst="rect">
            <a:avLst/>
          </a:prstGeom>
          <a:solidFill>
            <a:srgbClr val="EB002C"/>
          </a:solidFill>
          <a:ln>
            <a:noFill/>
          </a:ln>
        </p:spPr>
        <p:txBody>
          <a:bodyPr rtlCol="0" anchor="ctr" lIns="30000" rIns="30000" tIns="0" bIns="0" wrap="square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397000" y="950000"/>
            <a:ext cx="8000000" cy="22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1" i="0">
                <a:solidFill>
                  <a:srgbClr val="1A1A1A"/>
                </a:solidFill>
                <a:latin typeface="Noto Sans KR"/>
                <a:ea typeface="Noto Sans KR"/>
                <a:cs typeface="Noto Sans KR"/>
              </a:rPr>
              <a:t>① 2028 월별 출하 가정 · 참고 Capa. · 충진 (kg)</a:t>
            </a:r>
            <a:r>
              <a:rPr sz="700" b="0" i="0">
                <a:solidFill>
                  <a:srgbClr val="7F7F7F"/>
                </a:solidFill>
                <a:latin typeface="Noto Sans KR"/>
                <a:ea typeface="Noto Sans KR"/>
                <a:cs typeface="Noto Sans KR"/>
              </a:rPr>
              <a:t>   하이닉스·CXMT·한솔 2027 하반기 수준 유지 · 이지켐 월 840 kg — 확정 고객 수요 아님</a:t>
            </a:r>
          </a:p>
        </p:txBody>
      </p:sp>
      <p:graphicFrame>
        <p:nvGraphicFramePr>
          <p:cNvPr id="167" name="Table 166"/>
          <p:cNvGraphicFramePr>
            <a:graphicFrameLocks noGrp="1"/>
          </p:cNvGraphicFramePr>
          <p:nvPr/>
        </p:nvGraphicFramePr>
        <p:xfrm>
          <a:off x="287000" y="1190000"/>
          <a:ext cx="8570000" cy="2611526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950000"/>
                <a:gridCol w="485000"/>
                <a:gridCol w="485000"/>
                <a:gridCol w="485000"/>
                <a:gridCol w="485000"/>
                <a:gridCol w="485000"/>
                <a:gridCol w="485000"/>
                <a:gridCol w="485000"/>
                <a:gridCol w="485000"/>
                <a:gridCol w="485000"/>
                <a:gridCol w="485000"/>
                <a:gridCol w="485000"/>
                <a:gridCol w="485000"/>
                <a:gridCol w="800000"/>
              </a:tblGrid>
              <a:tr h="153619">
                <a:tc>
                  <a:txBody>
                    <a:bodyPr/>
                    <a:lstStyle/>
                    <a:p>
                      <a:pPr algn="l"/>
                      <a:r>
                        <a:rPr sz="600" b="1" i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구분</a:t>
                      </a:r>
                      <a:endParaRPr sz="600"/>
                    </a:p>
                  </a:txBody>
                  <a:tcPr anchor="ctr" marL="27000" marR="27000" marT="0" marB="0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1A1A1A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1" i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1월</a:t>
                      </a:r>
                      <a:endParaRPr sz="600"/>
                    </a:p>
                  </a:txBody>
                  <a:tcPr anchor="ctr" marL="27000" marR="27000" marT="0" marB="0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1A1A1A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1" i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2월</a:t>
                      </a:r>
                      <a:endParaRPr sz="600"/>
                    </a:p>
                  </a:txBody>
                  <a:tcPr anchor="ctr" marL="27000" marR="27000" marT="0" marB="0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1A1A1A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1" i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3월</a:t>
                      </a:r>
                      <a:endParaRPr sz="600"/>
                    </a:p>
                  </a:txBody>
                  <a:tcPr anchor="ctr" marL="27000" marR="27000" marT="0" marB="0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1A1A1A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1" i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4월</a:t>
                      </a:r>
                      <a:endParaRPr sz="600"/>
                    </a:p>
                  </a:txBody>
                  <a:tcPr anchor="ctr" marL="27000" marR="27000" marT="0" marB="0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1A1A1A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1" i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5월</a:t>
                      </a:r>
                      <a:endParaRPr sz="600"/>
                    </a:p>
                  </a:txBody>
                  <a:tcPr anchor="ctr" marL="27000" marR="27000" marT="0" marB="0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1A1A1A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1" i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6월</a:t>
                      </a:r>
                      <a:endParaRPr sz="600"/>
                    </a:p>
                  </a:txBody>
                  <a:tcPr anchor="ctr" marL="27000" marR="27000" marT="0" marB="0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1A1A1A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1" i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7월</a:t>
                      </a:r>
                      <a:endParaRPr sz="600"/>
                    </a:p>
                  </a:txBody>
                  <a:tcPr anchor="ctr" marL="27000" marR="27000" marT="0" marB="0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1A1A1A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1" i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8월</a:t>
                      </a:r>
                      <a:endParaRPr sz="600"/>
                    </a:p>
                  </a:txBody>
                  <a:tcPr anchor="ctr" marL="27000" marR="27000" marT="0" marB="0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1A1A1A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1" i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9월</a:t>
                      </a:r>
                      <a:endParaRPr sz="600"/>
                    </a:p>
                  </a:txBody>
                  <a:tcPr anchor="ctr" marL="27000" marR="27000" marT="0" marB="0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1A1A1A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1" i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10월</a:t>
                      </a:r>
                      <a:endParaRPr sz="600"/>
                    </a:p>
                  </a:txBody>
                  <a:tcPr anchor="ctr" marL="27000" marR="27000" marT="0" marB="0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1A1A1A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1" i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11월</a:t>
                      </a:r>
                      <a:endParaRPr sz="600"/>
                    </a:p>
                  </a:txBody>
                  <a:tcPr anchor="ctr" marL="27000" marR="27000" marT="0" marB="0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1A1A1A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1" i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12월</a:t>
                      </a:r>
                      <a:endParaRPr sz="600"/>
                    </a:p>
                  </a:txBody>
                  <a:tcPr anchor="ctr" marL="27000" marR="27000" marT="0" marB="0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1A1A1A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1" i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연간</a:t>
                      </a:r>
                      <a:endParaRPr sz="600"/>
                    </a:p>
                  </a:txBody>
                  <a:tcPr anchor="ctr" marL="27000" marR="27000" marT="0" marB="0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1A1A1A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DEDED"/>
                    </a:solidFill>
                  </a:tcPr>
                </a:tc>
              </a:tr>
              <a:tr h="153619">
                <a:tc>
                  <a:txBody>
                    <a:bodyPr/>
                    <a:lstStyle/>
                    <a:p>
                      <a:pPr algn="l"/>
                      <a:r>
                        <a:rPr sz="600" b="1" i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적용 조건</a:t>
                      </a:r>
                      <a:endParaRPr sz="600"/>
                    </a:p>
                  </a:txBody>
                  <a:tcPr anchor="ctr" marL="27000" marR="27000" marT="0" marB="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9F9F9"/>
                    </a:solidFill>
                  </a:tcPr>
                </a:tc>
                <a:tc gridSpan="6">
                  <a:txBody>
                    <a:bodyPr/>
                    <a:lstStyle/>
                    <a:p>
                      <a:pPr algn="ctr"/>
                      <a:r>
                        <a:rPr sz="600" b="1" i="0">
                          <a:solidFill>
                            <a:srgbClr val="404040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정제기 2대 · 최초 12개월 ('27.7~'28.6)</a:t>
                      </a:r>
                      <a:endParaRPr sz="600"/>
                    </a:p>
                  </a:txBody>
                  <a:tcPr anchor="ctr" marL="27000" marR="27000" marT="0" marB="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7E6E6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/>
                      <a:r>
                        <a:rPr sz="600" b="1" i="0">
                          <a:solidFill>
                            <a:srgbClr val="404040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/>
                      </a:r>
                      <a:endParaRPr sz="600"/>
                    </a:p>
                  </a:txBody>
                  <a:tcPr anchor="ctr" marL="27000" marR="27000" marT="0" marB="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7E6E6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/>
                      <a:r>
                        <a:rPr sz="600" b="1" i="0">
                          <a:solidFill>
                            <a:srgbClr val="404040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/>
                      </a:r>
                      <a:endParaRPr sz="600"/>
                    </a:p>
                  </a:txBody>
                  <a:tcPr anchor="ctr" marL="27000" marR="27000" marT="0" marB="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7E6E6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/>
                      <a:r>
                        <a:rPr sz="600" b="1" i="0">
                          <a:solidFill>
                            <a:srgbClr val="404040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/>
                      </a:r>
                      <a:endParaRPr sz="600"/>
                    </a:p>
                  </a:txBody>
                  <a:tcPr anchor="ctr" marL="27000" marR="27000" marT="0" marB="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7E6E6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/>
                      <a:r>
                        <a:rPr sz="600" b="1" i="0">
                          <a:solidFill>
                            <a:srgbClr val="404040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/>
                      </a:r>
                      <a:endParaRPr sz="600"/>
                    </a:p>
                  </a:txBody>
                  <a:tcPr anchor="ctr" marL="27000" marR="27000" marT="0" marB="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7E6E6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/>
                      <a:r>
                        <a:rPr sz="600" b="1" i="0">
                          <a:solidFill>
                            <a:srgbClr val="404040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/>
                      </a:r>
                      <a:endParaRPr sz="600"/>
                    </a:p>
                  </a:txBody>
                  <a:tcPr anchor="ctr" marL="27000" marR="27000" marT="0" marB="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7E6E6"/>
                    </a:solidFill>
                  </a:tcPr>
                </a:tc>
                <a:tc gridSpan="6">
                  <a:txBody>
                    <a:bodyPr/>
                    <a:lstStyle/>
                    <a:p>
                      <a:pPr algn="ctr"/>
                      <a:r>
                        <a:rPr sz="600" b="1" i="0">
                          <a:solidFill>
                            <a:srgbClr val="EB00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정제기 2대 · 47.2톤 기준 (105℃ 적용 시점 미정)</a:t>
                      </a:r>
                      <a:endParaRPr sz="600"/>
                    </a:p>
                  </a:txBody>
                  <a:tcPr anchor="ctr" marL="27000" marR="27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DEDF0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/>
                      <a:r>
                        <a:rPr sz="600" b="1" i="0">
                          <a:solidFill>
                            <a:srgbClr val="404040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/>
                      </a:r>
                      <a:endParaRPr sz="600"/>
                    </a:p>
                  </a:txBody>
                  <a:tcPr anchor="ctr" marL="27000" marR="27000" marT="0" marB="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7E6E6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/>
                      <a:r>
                        <a:rPr sz="600" b="1" i="0">
                          <a:solidFill>
                            <a:srgbClr val="404040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/>
                      </a:r>
                      <a:endParaRPr sz="600"/>
                    </a:p>
                  </a:txBody>
                  <a:tcPr anchor="ctr" marL="27000" marR="27000" marT="0" marB="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7E6E6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/>
                      <a:r>
                        <a:rPr sz="600" b="1" i="0">
                          <a:solidFill>
                            <a:srgbClr val="404040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/>
                      </a:r>
                      <a:endParaRPr sz="600"/>
                    </a:p>
                  </a:txBody>
                  <a:tcPr anchor="ctr" marL="27000" marR="27000" marT="0" marB="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7E6E6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/>
                      <a:r>
                        <a:rPr sz="600" b="1" i="0">
                          <a:solidFill>
                            <a:srgbClr val="404040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/>
                      </a:r>
                      <a:endParaRPr sz="600"/>
                    </a:p>
                  </a:txBody>
                  <a:tcPr anchor="ctr" marL="27000" marR="27000" marT="0" marB="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7E6E6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/>
                      <a:r>
                        <a:rPr sz="600" b="1" i="0">
                          <a:solidFill>
                            <a:srgbClr val="404040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/>
                      </a:r>
                      <a:endParaRPr sz="600"/>
                    </a:p>
                  </a:txBody>
                  <a:tcPr anchor="ctr" marL="27000" marR="27000" marT="0" marB="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0" i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/>
                      </a:r>
                      <a:endParaRPr sz="600"/>
                    </a:p>
                  </a:txBody>
                  <a:tcPr anchor="ctr" marL="27000" marR="27000" marT="0" marB="0">
                    <a:lnL w="6350">
                      <a:solidFill>
                        <a:srgbClr val="BFBFBF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2F2F2"/>
                    </a:solidFill>
                  </a:tcPr>
                </a:tc>
              </a:tr>
              <a:tr h="153619">
                <a:tc>
                  <a:txBody>
                    <a:bodyPr/>
                    <a:lstStyle/>
                    <a:p>
                      <a:pPr algn="l"/>
                      <a:r>
                        <a:rPr sz="600" b="1" i="0">
                          <a:solidFill>
                            <a:srgbClr val="7F7F7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참고 Capa. 47.2 (÷12)</a:t>
                      </a:r>
                      <a:endParaRPr sz="600"/>
                    </a:p>
                  </a:txBody>
                  <a:tcPr anchor="ctr" marL="27000" marR="27000" marT="0" marB="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0" i="0">
                          <a:solidFill>
                            <a:srgbClr val="3F3F3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3,933.3</a:t>
                      </a:r>
                      <a:endParaRPr sz="600"/>
                    </a:p>
                  </a:txBody>
                  <a:tcPr anchor="ctr" marL="27000" marR="27000" marT="0" marB="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0" i="0">
                          <a:solidFill>
                            <a:srgbClr val="3F3F3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3,933.3</a:t>
                      </a:r>
                      <a:endParaRPr sz="600"/>
                    </a:p>
                  </a:txBody>
                  <a:tcPr anchor="ctr" marL="27000" marR="27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0" i="0">
                          <a:solidFill>
                            <a:srgbClr val="3F3F3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3,933.3</a:t>
                      </a:r>
                      <a:endParaRPr sz="600"/>
                    </a:p>
                  </a:txBody>
                  <a:tcPr anchor="ctr" marL="27000" marR="27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0" i="0">
                          <a:solidFill>
                            <a:srgbClr val="3F3F3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3,933.3</a:t>
                      </a:r>
                      <a:endParaRPr sz="600"/>
                    </a:p>
                  </a:txBody>
                  <a:tcPr anchor="ctr" marL="27000" marR="27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0" i="0">
                          <a:solidFill>
                            <a:srgbClr val="3F3F3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3,933.3</a:t>
                      </a:r>
                      <a:endParaRPr sz="600"/>
                    </a:p>
                  </a:txBody>
                  <a:tcPr anchor="ctr" marL="27000" marR="27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0" i="0">
                          <a:solidFill>
                            <a:srgbClr val="3F3F3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3,933.3</a:t>
                      </a:r>
                      <a:endParaRPr sz="600"/>
                    </a:p>
                  </a:txBody>
                  <a:tcPr anchor="ctr" marL="27000" marR="27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0" i="0">
                          <a:solidFill>
                            <a:srgbClr val="3F3F3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3,933.3</a:t>
                      </a:r>
                      <a:endParaRPr sz="600"/>
                    </a:p>
                  </a:txBody>
                  <a:tcPr anchor="ctr" marL="27000" marR="27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0" i="0">
                          <a:solidFill>
                            <a:srgbClr val="3F3F3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3,933.3</a:t>
                      </a:r>
                      <a:endParaRPr sz="600"/>
                    </a:p>
                  </a:txBody>
                  <a:tcPr anchor="ctr" marL="27000" marR="27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0" i="0">
                          <a:solidFill>
                            <a:srgbClr val="3F3F3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3,933.3</a:t>
                      </a:r>
                      <a:endParaRPr sz="600"/>
                    </a:p>
                  </a:txBody>
                  <a:tcPr anchor="ctr" marL="27000" marR="27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0" i="0">
                          <a:solidFill>
                            <a:srgbClr val="3F3F3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3,933.3</a:t>
                      </a:r>
                      <a:endParaRPr sz="600"/>
                    </a:p>
                  </a:txBody>
                  <a:tcPr anchor="ctr" marL="27000" marR="27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0" i="0">
                          <a:solidFill>
                            <a:srgbClr val="3F3F3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3,933.3</a:t>
                      </a:r>
                      <a:endParaRPr sz="600"/>
                    </a:p>
                  </a:txBody>
                  <a:tcPr anchor="ctr" marL="27000" marR="27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0" i="0">
                          <a:solidFill>
                            <a:srgbClr val="3F3F3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3,933.3</a:t>
                      </a:r>
                      <a:endParaRPr sz="600"/>
                    </a:p>
                  </a:txBody>
                  <a:tcPr anchor="ctr" marL="27000" marR="27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1" i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47,200</a:t>
                      </a:r>
                      <a:endParaRPr sz="600"/>
                    </a:p>
                  </a:txBody>
                  <a:tcPr anchor="ctr" marL="27000" marR="27000" marT="0" marB="0">
                    <a:lnL w="6350">
                      <a:solidFill>
                        <a:srgbClr val="BFBFBF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</a:tr>
              <a:tr h="153619">
                <a:tc>
                  <a:txBody>
                    <a:bodyPr/>
                    <a:lstStyle/>
                    <a:p>
                      <a:pPr algn="l"/>
                      <a:r>
                        <a:rPr sz="600" b="1" i="0">
                          <a:solidFill>
                            <a:srgbClr val="7F7F7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105℃ 검토안 50.2 (÷12)</a:t>
                      </a:r>
                      <a:endParaRPr sz="600"/>
                    </a:p>
                  </a:txBody>
                  <a:tcPr anchor="ctr" marL="27000" marR="27000" marT="0" marB="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1" i="0">
                          <a:solidFill>
                            <a:srgbClr val="EB00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4,183.3</a:t>
                      </a:r>
                      <a:endParaRPr sz="600"/>
                    </a:p>
                  </a:txBody>
                  <a:tcPr anchor="ctr" marL="27000" marR="27000" marT="0" marB="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1" i="0">
                          <a:solidFill>
                            <a:srgbClr val="EB00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4,183.3</a:t>
                      </a:r>
                      <a:endParaRPr sz="600"/>
                    </a:p>
                  </a:txBody>
                  <a:tcPr anchor="ctr" marL="27000" marR="27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1" i="0">
                          <a:solidFill>
                            <a:srgbClr val="EB00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4,183.3</a:t>
                      </a:r>
                      <a:endParaRPr sz="600"/>
                    </a:p>
                  </a:txBody>
                  <a:tcPr anchor="ctr" marL="27000" marR="27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1" i="0">
                          <a:solidFill>
                            <a:srgbClr val="EB00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4,183.3</a:t>
                      </a:r>
                      <a:endParaRPr sz="600"/>
                    </a:p>
                  </a:txBody>
                  <a:tcPr anchor="ctr" marL="27000" marR="27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1" i="0">
                          <a:solidFill>
                            <a:srgbClr val="EB00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4,183.3</a:t>
                      </a:r>
                      <a:endParaRPr sz="600"/>
                    </a:p>
                  </a:txBody>
                  <a:tcPr anchor="ctr" marL="27000" marR="27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1" i="0">
                          <a:solidFill>
                            <a:srgbClr val="EB00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4,183.3</a:t>
                      </a:r>
                      <a:endParaRPr sz="600"/>
                    </a:p>
                  </a:txBody>
                  <a:tcPr anchor="ctr" marL="27000" marR="27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1" i="0">
                          <a:solidFill>
                            <a:srgbClr val="EB00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4,183.3</a:t>
                      </a:r>
                      <a:endParaRPr sz="600"/>
                    </a:p>
                  </a:txBody>
                  <a:tcPr anchor="ctr" marL="27000" marR="27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1" i="0">
                          <a:solidFill>
                            <a:srgbClr val="EB00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4,183.3</a:t>
                      </a:r>
                      <a:endParaRPr sz="600"/>
                    </a:p>
                  </a:txBody>
                  <a:tcPr anchor="ctr" marL="27000" marR="27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1" i="0">
                          <a:solidFill>
                            <a:srgbClr val="EB00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4,183.3</a:t>
                      </a:r>
                      <a:endParaRPr sz="600"/>
                    </a:p>
                  </a:txBody>
                  <a:tcPr anchor="ctr" marL="27000" marR="27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1" i="0">
                          <a:solidFill>
                            <a:srgbClr val="EB00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4,183.3</a:t>
                      </a:r>
                      <a:endParaRPr sz="600"/>
                    </a:p>
                  </a:txBody>
                  <a:tcPr anchor="ctr" marL="27000" marR="27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1" i="0">
                          <a:solidFill>
                            <a:srgbClr val="EB00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4,183.3</a:t>
                      </a:r>
                      <a:endParaRPr sz="600"/>
                    </a:p>
                  </a:txBody>
                  <a:tcPr anchor="ctr" marL="27000" marR="27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1" i="0">
                          <a:solidFill>
                            <a:srgbClr val="EB00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4,183.3</a:t>
                      </a:r>
                      <a:endParaRPr sz="600"/>
                    </a:p>
                  </a:txBody>
                  <a:tcPr anchor="ctr" marL="27000" marR="27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1" i="0">
                          <a:solidFill>
                            <a:srgbClr val="EB00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50,200</a:t>
                      </a:r>
                      <a:endParaRPr sz="600"/>
                    </a:p>
                  </a:txBody>
                  <a:tcPr anchor="ctr" marL="27000" marR="27000" marT="0" marB="0">
                    <a:lnL w="6350">
                      <a:solidFill>
                        <a:srgbClr val="BFBFBF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</a:tr>
              <a:tr h="153619">
                <a:tc>
                  <a:txBody>
                    <a:bodyPr/>
                    <a:lstStyle/>
                    <a:p>
                      <a:pPr algn="l"/>
                      <a:r>
                        <a:rPr sz="600" b="1" i="0">
                          <a:solidFill>
                            <a:srgbClr val="7F7F7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참고 Capa. − 출하</a:t>
                      </a:r>
                      <a:endParaRPr sz="600"/>
                    </a:p>
                  </a:txBody>
                  <a:tcPr anchor="ctr" marL="27000" marR="27000" marT="0" marB="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1" i="0">
                          <a:solidFill>
                            <a:srgbClr val="385723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+120</a:t>
                      </a:r>
                      <a:endParaRPr sz="600"/>
                    </a:p>
                  </a:txBody>
                  <a:tcPr anchor="ctr" marL="27000" marR="27000" marT="0" marB="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1" i="0">
                          <a:solidFill>
                            <a:srgbClr val="385723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+120</a:t>
                      </a:r>
                      <a:endParaRPr sz="600"/>
                    </a:p>
                  </a:txBody>
                  <a:tcPr anchor="ctr" marL="27000" marR="27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1" i="0">
                          <a:solidFill>
                            <a:srgbClr val="385723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+120</a:t>
                      </a:r>
                      <a:endParaRPr sz="600"/>
                    </a:p>
                  </a:txBody>
                  <a:tcPr anchor="ctr" marL="27000" marR="27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1" i="0">
                          <a:solidFill>
                            <a:srgbClr val="385723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+120</a:t>
                      </a:r>
                      <a:endParaRPr sz="600"/>
                    </a:p>
                  </a:txBody>
                  <a:tcPr anchor="ctr" marL="27000" marR="27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1" i="0">
                          <a:solidFill>
                            <a:srgbClr val="385723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+120</a:t>
                      </a:r>
                      <a:endParaRPr sz="600"/>
                    </a:p>
                  </a:txBody>
                  <a:tcPr anchor="ctr" marL="27000" marR="27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1" i="0">
                          <a:solidFill>
                            <a:srgbClr val="385723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+120</a:t>
                      </a:r>
                      <a:endParaRPr sz="600"/>
                    </a:p>
                  </a:txBody>
                  <a:tcPr anchor="ctr" marL="27000" marR="27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1" i="0">
                          <a:solidFill>
                            <a:srgbClr val="385723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+120</a:t>
                      </a:r>
                      <a:endParaRPr sz="600"/>
                    </a:p>
                  </a:txBody>
                  <a:tcPr anchor="ctr" marL="27000" marR="27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1" i="0">
                          <a:solidFill>
                            <a:srgbClr val="385723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+120</a:t>
                      </a:r>
                      <a:endParaRPr sz="600"/>
                    </a:p>
                  </a:txBody>
                  <a:tcPr anchor="ctr" marL="27000" marR="27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1" i="0">
                          <a:solidFill>
                            <a:srgbClr val="385723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+120</a:t>
                      </a:r>
                      <a:endParaRPr sz="600"/>
                    </a:p>
                  </a:txBody>
                  <a:tcPr anchor="ctr" marL="27000" marR="27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1" i="0">
                          <a:solidFill>
                            <a:srgbClr val="385723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+120</a:t>
                      </a:r>
                      <a:endParaRPr sz="600"/>
                    </a:p>
                  </a:txBody>
                  <a:tcPr anchor="ctr" marL="27000" marR="27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1" i="0">
                          <a:solidFill>
                            <a:srgbClr val="385723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+120</a:t>
                      </a:r>
                      <a:endParaRPr sz="600"/>
                    </a:p>
                  </a:txBody>
                  <a:tcPr anchor="ctr" marL="27000" marR="27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1" i="0">
                          <a:solidFill>
                            <a:srgbClr val="385723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+120</a:t>
                      </a:r>
                      <a:endParaRPr sz="600"/>
                    </a:p>
                  </a:txBody>
                  <a:tcPr anchor="ctr" marL="27000" marR="27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1" i="0">
                          <a:solidFill>
                            <a:srgbClr val="385723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+1,440</a:t>
                      </a:r>
                      <a:endParaRPr sz="600"/>
                    </a:p>
                  </a:txBody>
                  <a:tcPr anchor="ctr" marL="27000" marR="27000" marT="0" marB="0">
                    <a:lnL w="6350">
                      <a:solidFill>
                        <a:srgbClr val="BFBFBF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2F2F2"/>
                    </a:solidFill>
                  </a:tcPr>
                </a:tc>
              </a:tr>
              <a:tr h="153619">
                <a:tc>
                  <a:txBody>
                    <a:bodyPr/>
                    <a:lstStyle/>
                    <a:p>
                      <a:pPr algn="l"/>
                      <a:r>
                        <a:rPr sz="600" b="1" i="0">
                          <a:solidFill>
                            <a:srgbClr val="7F7F7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■ SK하이닉스</a:t>
                      </a:r>
                      <a:endParaRPr sz="600"/>
                    </a:p>
                  </a:txBody>
                  <a:tcPr anchor="ctr" marL="27000" marR="27000" marT="0" marB="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0" i="0">
                          <a:solidFill>
                            <a:srgbClr val="2E75B6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1,893.3</a:t>
                      </a:r>
                      <a:endParaRPr sz="600"/>
                    </a:p>
                  </a:txBody>
                  <a:tcPr anchor="ctr" marL="27000" marR="27000" marT="0" marB="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0" i="0">
                          <a:solidFill>
                            <a:srgbClr val="2E75B6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1,893.3</a:t>
                      </a:r>
                      <a:endParaRPr sz="600"/>
                    </a:p>
                  </a:txBody>
                  <a:tcPr anchor="ctr" marL="27000" marR="27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0" i="0">
                          <a:solidFill>
                            <a:srgbClr val="2E75B6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1,893.3</a:t>
                      </a:r>
                      <a:endParaRPr sz="600"/>
                    </a:p>
                  </a:txBody>
                  <a:tcPr anchor="ctr" marL="27000" marR="27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0" i="0">
                          <a:solidFill>
                            <a:srgbClr val="2E75B6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1,893.3</a:t>
                      </a:r>
                      <a:endParaRPr sz="600"/>
                    </a:p>
                  </a:txBody>
                  <a:tcPr anchor="ctr" marL="27000" marR="27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0" i="0">
                          <a:solidFill>
                            <a:srgbClr val="2E75B6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1,893.3</a:t>
                      </a:r>
                      <a:endParaRPr sz="600"/>
                    </a:p>
                  </a:txBody>
                  <a:tcPr anchor="ctr" marL="27000" marR="27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0" i="0">
                          <a:solidFill>
                            <a:srgbClr val="2E75B6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1,893.3</a:t>
                      </a:r>
                      <a:endParaRPr sz="600"/>
                    </a:p>
                  </a:txBody>
                  <a:tcPr anchor="ctr" marL="27000" marR="27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0" i="0">
                          <a:solidFill>
                            <a:srgbClr val="2E75B6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1,893.3</a:t>
                      </a:r>
                      <a:endParaRPr sz="600"/>
                    </a:p>
                  </a:txBody>
                  <a:tcPr anchor="ctr" marL="27000" marR="27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0" i="0">
                          <a:solidFill>
                            <a:srgbClr val="2E75B6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1,893.3</a:t>
                      </a:r>
                      <a:endParaRPr sz="600"/>
                    </a:p>
                  </a:txBody>
                  <a:tcPr anchor="ctr" marL="27000" marR="27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0" i="0">
                          <a:solidFill>
                            <a:srgbClr val="2E75B6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1,893.3</a:t>
                      </a:r>
                      <a:endParaRPr sz="600"/>
                    </a:p>
                  </a:txBody>
                  <a:tcPr anchor="ctr" marL="27000" marR="27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0" i="0">
                          <a:solidFill>
                            <a:srgbClr val="2E75B6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1,893.3</a:t>
                      </a:r>
                      <a:endParaRPr sz="600"/>
                    </a:p>
                  </a:txBody>
                  <a:tcPr anchor="ctr" marL="27000" marR="27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0" i="0">
                          <a:solidFill>
                            <a:srgbClr val="2E75B6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1,893.3</a:t>
                      </a:r>
                      <a:endParaRPr sz="600"/>
                    </a:p>
                  </a:txBody>
                  <a:tcPr anchor="ctr" marL="27000" marR="27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0" i="0">
                          <a:solidFill>
                            <a:srgbClr val="2E75B6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1,893.3</a:t>
                      </a:r>
                      <a:endParaRPr sz="600"/>
                    </a:p>
                  </a:txBody>
                  <a:tcPr anchor="ctr" marL="27000" marR="27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1" i="0">
                          <a:solidFill>
                            <a:srgbClr val="2E75B6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22,720</a:t>
                      </a:r>
                      <a:endParaRPr sz="600"/>
                    </a:p>
                  </a:txBody>
                  <a:tcPr anchor="ctr" marL="27000" marR="27000" marT="0" marB="0">
                    <a:lnL w="6350">
                      <a:solidFill>
                        <a:srgbClr val="BFBFBF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</a:tr>
              <a:tr h="153619">
                <a:tc>
                  <a:txBody>
                    <a:bodyPr/>
                    <a:lstStyle/>
                    <a:p>
                      <a:pPr algn="l"/>
                      <a:r>
                        <a:rPr sz="600" b="1" i="0">
                          <a:solidFill>
                            <a:srgbClr val="7F7F7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■ CXMT</a:t>
                      </a:r>
                      <a:endParaRPr sz="600"/>
                    </a:p>
                  </a:txBody>
                  <a:tcPr anchor="ctr" marL="27000" marR="27000" marT="0" marB="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0" i="0">
                          <a:solidFill>
                            <a:srgbClr val="2E75B6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780</a:t>
                      </a:r>
                      <a:endParaRPr sz="600"/>
                    </a:p>
                  </a:txBody>
                  <a:tcPr anchor="ctr" marL="27000" marR="27000" marT="0" marB="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0" i="0">
                          <a:solidFill>
                            <a:srgbClr val="2E75B6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780</a:t>
                      </a:r>
                      <a:endParaRPr sz="600"/>
                    </a:p>
                  </a:txBody>
                  <a:tcPr anchor="ctr" marL="27000" marR="27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0" i="0">
                          <a:solidFill>
                            <a:srgbClr val="2E75B6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780</a:t>
                      </a:r>
                      <a:endParaRPr sz="600"/>
                    </a:p>
                  </a:txBody>
                  <a:tcPr anchor="ctr" marL="27000" marR="27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0" i="0">
                          <a:solidFill>
                            <a:srgbClr val="2E75B6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780</a:t>
                      </a:r>
                      <a:endParaRPr sz="600"/>
                    </a:p>
                  </a:txBody>
                  <a:tcPr anchor="ctr" marL="27000" marR="27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0" i="0">
                          <a:solidFill>
                            <a:srgbClr val="2E75B6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780</a:t>
                      </a:r>
                      <a:endParaRPr sz="600"/>
                    </a:p>
                  </a:txBody>
                  <a:tcPr anchor="ctr" marL="27000" marR="27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0" i="0">
                          <a:solidFill>
                            <a:srgbClr val="2E75B6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780</a:t>
                      </a:r>
                      <a:endParaRPr sz="600"/>
                    </a:p>
                  </a:txBody>
                  <a:tcPr anchor="ctr" marL="27000" marR="27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0" i="0">
                          <a:solidFill>
                            <a:srgbClr val="2E75B6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780</a:t>
                      </a:r>
                      <a:endParaRPr sz="600"/>
                    </a:p>
                  </a:txBody>
                  <a:tcPr anchor="ctr" marL="27000" marR="27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0" i="0">
                          <a:solidFill>
                            <a:srgbClr val="2E75B6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780</a:t>
                      </a:r>
                      <a:endParaRPr sz="600"/>
                    </a:p>
                  </a:txBody>
                  <a:tcPr anchor="ctr" marL="27000" marR="27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0" i="0">
                          <a:solidFill>
                            <a:srgbClr val="2E75B6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780</a:t>
                      </a:r>
                      <a:endParaRPr sz="600"/>
                    </a:p>
                  </a:txBody>
                  <a:tcPr anchor="ctr" marL="27000" marR="27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0" i="0">
                          <a:solidFill>
                            <a:srgbClr val="2E75B6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780</a:t>
                      </a:r>
                      <a:endParaRPr sz="600"/>
                    </a:p>
                  </a:txBody>
                  <a:tcPr anchor="ctr" marL="27000" marR="27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0" i="0">
                          <a:solidFill>
                            <a:srgbClr val="2E75B6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780</a:t>
                      </a:r>
                      <a:endParaRPr sz="600"/>
                    </a:p>
                  </a:txBody>
                  <a:tcPr anchor="ctr" marL="27000" marR="27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0" i="0">
                          <a:solidFill>
                            <a:srgbClr val="2E75B6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780</a:t>
                      </a:r>
                      <a:endParaRPr sz="600"/>
                    </a:p>
                  </a:txBody>
                  <a:tcPr anchor="ctr" marL="27000" marR="27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1" i="0">
                          <a:solidFill>
                            <a:srgbClr val="2E75B6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9,360</a:t>
                      </a:r>
                      <a:endParaRPr sz="600"/>
                    </a:p>
                  </a:txBody>
                  <a:tcPr anchor="ctr" marL="27000" marR="27000" marT="0" marB="0">
                    <a:lnL w="6350">
                      <a:solidFill>
                        <a:srgbClr val="BFBFBF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</a:tr>
              <a:tr h="153619">
                <a:tc>
                  <a:txBody>
                    <a:bodyPr/>
                    <a:lstStyle/>
                    <a:p>
                      <a:pPr algn="l"/>
                      <a:r>
                        <a:rPr sz="600" b="1" i="0">
                          <a:solidFill>
                            <a:srgbClr val="7F7F7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■ 이지켐</a:t>
                      </a:r>
                      <a:endParaRPr sz="600"/>
                    </a:p>
                  </a:txBody>
                  <a:tcPr anchor="ctr" marL="27000" marR="27000" marT="0" marB="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0" i="0">
                          <a:solidFill>
                            <a:srgbClr val="7F7F7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840</a:t>
                      </a:r>
                      <a:endParaRPr sz="600"/>
                    </a:p>
                  </a:txBody>
                  <a:tcPr anchor="ctr" marL="27000" marR="27000" marT="0" marB="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0" i="0">
                          <a:solidFill>
                            <a:srgbClr val="7F7F7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840</a:t>
                      </a:r>
                      <a:endParaRPr sz="600"/>
                    </a:p>
                  </a:txBody>
                  <a:tcPr anchor="ctr" marL="27000" marR="27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0" i="0">
                          <a:solidFill>
                            <a:srgbClr val="7F7F7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840</a:t>
                      </a:r>
                      <a:endParaRPr sz="600"/>
                    </a:p>
                  </a:txBody>
                  <a:tcPr anchor="ctr" marL="27000" marR="27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0" i="0">
                          <a:solidFill>
                            <a:srgbClr val="7F7F7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840</a:t>
                      </a:r>
                      <a:endParaRPr sz="600"/>
                    </a:p>
                  </a:txBody>
                  <a:tcPr anchor="ctr" marL="27000" marR="27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0" i="0">
                          <a:solidFill>
                            <a:srgbClr val="7F7F7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840</a:t>
                      </a:r>
                      <a:endParaRPr sz="600"/>
                    </a:p>
                  </a:txBody>
                  <a:tcPr anchor="ctr" marL="27000" marR="27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0" i="0">
                          <a:solidFill>
                            <a:srgbClr val="7F7F7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840</a:t>
                      </a:r>
                      <a:endParaRPr sz="600"/>
                    </a:p>
                  </a:txBody>
                  <a:tcPr anchor="ctr" marL="27000" marR="27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0" i="0">
                          <a:solidFill>
                            <a:srgbClr val="7F7F7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840</a:t>
                      </a:r>
                      <a:endParaRPr sz="600"/>
                    </a:p>
                  </a:txBody>
                  <a:tcPr anchor="ctr" marL="27000" marR="27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0" i="0">
                          <a:solidFill>
                            <a:srgbClr val="7F7F7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840</a:t>
                      </a:r>
                      <a:endParaRPr sz="600"/>
                    </a:p>
                  </a:txBody>
                  <a:tcPr anchor="ctr" marL="27000" marR="27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0" i="0">
                          <a:solidFill>
                            <a:srgbClr val="7F7F7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840</a:t>
                      </a:r>
                      <a:endParaRPr sz="600"/>
                    </a:p>
                  </a:txBody>
                  <a:tcPr anchor="ctr" marL="27000" marR="27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0" i="0">
                          <a:solidFill>
                            <a:srgbClr val="7F7F7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840</a:t>
                      </a:r>
                      <a:endParaRPr sz="600"/>
                    </a:p>
                  </a:txBody>
                  <a:tcPr anchor="ctr" marL="27000" marR="27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0" i="0">
                          <a:solidFill>
                            <a:srgbClr val="7F7F7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840</a:t>
                      </a:r>
                      <a:endParaRPr sz="600"/>
                    </a:p>
                  </a:txBody>
                  <a:tcPr anchor="ctr" marL="27000" marR="27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0" i="0">
                          <a:solidFill>
                            <a:srgbClr val="7F7F7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840</a:t>
                      </a:r>
                      <a:endParaRPr sz="600"/>
                    </a:p>
                  </a:txBody>
                  <a:tcPr anchor="ctr" marL="27000" marR="27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1" i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10,080</a:t>
                      </a:r>
                      <a:endParaRPr sz="600"/>
                    </a:p>
                  </a:txBody>
                  <a:tcPr anchor="ctr" marL="27000" marR="27000" marT="0" marB="0">
                    <a:lnL w="6350">
                      <a:solidFill>
                        <a:srgbClr val="BFBFBF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</a:tr>
              <a:tr h="153619">
                <a:tc>
                  <a:txBody>
                    <a:bodyPr/>
                    <a:lstStyle/>
                    <a:p>
                      <a:pPr algn="l"/>
                      <a:r>
                        <a:rPr sz="600" b="1" i="0">
                          <a:solidFill>
                            <a:srgbClr val="7F7F7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■ 한솔</a:t>
                      </a:r>
                      <a:endParaRPr sz="600"/>
                    </a:p>
                  </a:txBody>
                  <a:tcPr anchor="ctr" marL="27000" marR="27000" marT="0" marB="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0" i="0">
                          <a:solidFill>
                            <a:srgbClr val="2E75B6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300</a:t>
                      </a:r>
                      <a:endParaRPr sz="600"/>
                    </a:p>
                  </a:txBody>
                  <a:tcPr anchor="ctr" marL="27000" marR="27000" marT="0" marB="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0" i="0">
                          <a:solidFill>
                            <a:srgbClr val="2E75B6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300</a:t>
                      </a:r>
                      <a:endParaRPr sz="600"/>
                    </a:p>
                  </a:txBody>
                  <a:tcPr anchor="ctr" marL="27000" marR="27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0" i="0">
                          <a:solidFill>
                            <a:srgbClr val="2E75B6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300</a:t>
                      </a:r>
                      <a:endParaRPr sz="600"/>
                    </a:p>
                  </a:txBody>
                  <a:tcPr anchor="ctr" marL="27000" marR="27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0" i="0">
                          <a:solidFill>
                            <a:srgbClr val="2E75B6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300</a:t>
                      </a:r>
                      <a:endParaRPr sz="600"/>
                    </a:p>
                  </a:txBody>
                  <a:tcPr anchor="ctr" marL="27000" marR="27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0" i="0">
                          <a:solidFill>
                            <a:srgbClr val="2E75B6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300</a:t>
                      </a:r>
                      <a:endParaRPr sz="600"/>
                    </a:p>
                  </a:txBody>
                  <a:tcPr anchor="ctr" marL="27000" marR="27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0" i="0">
                          <a:solidFill>
                            <a:srgbClr val="2E75B6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300</a:t>
                      </a:r>
                      <a:endParaRPr sz="600"/>
                    </a:p>
                  </a:txBody>
                  <a:tcPr anchor="ctr" marL="27000" marR="27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0" i="0">
                          <a:solidFill>
                            <a:srgbClr val="2E75B6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300</a:t>
                      </a:r>
                      <a:endParaRPr sz="600"/>
                    </a:p>
                  </a:txBody>
                  <a:tcPr anchor="ctr" marL="27000" marR="27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0" i="0">
                          <a:solidFill>
                            <a:srgbClr val="2E75B6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300</a:t>
                      </a:r>
                      <a:endParaRPr sz="600"/>
                    </a:p>
                  </a:txBody>
                  <a:tcPr anchor="ctr" marL="27000" marR="27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0" i="0">
                          <a:solidFill>
                            <a:srgbClr val="2E75B6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300</a:t>
                      </a:r>
                      <a:endParaRPr sz="600"/>
                    </a:p>
                  </a:txBody>
                  <a:tcPr anchor="ctr" marL="27000" marR="27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0" i="0">
                          <a:solidFill>
                            <a:srgbClr val="2E75B6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300</a:t>
                      </a:r>
                      <a:endParaRPr sz="600"/>
                    </a:p>
                  </a:txBody>
                  <a:tcPr anchor="ctr" marL="27000" marR="27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0" i="0">
                          <a:solidFill>
                            <a:srgbClr val="2E75B6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300</a:t>
                      </a:r>
                      <a:endParaRPr sz="600"/>
                    </a:p>
                  </a:txBody>
                  <a:tcPr anchor="ctr" marL="27000" marR="27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0" i="0">
                          <a:solidFill>
                            <a:srgbClr val="2E75B6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300</a:t>
                      </a:r>
                      <a:endParaRPr sz="600"/>
                    </a:p>
                  </a:txBody>
                  <a:tcPr anchor="ctr" marL="27000" marR="27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1" i="0">
                          <a:solidFill>
                            <a:srgbClr val="2E75B6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3,600</a:t>
                      </a:r>
                      <a:endParaRPr sz="600"/>
                    </a:p>
                  </a:txBody>
                  <a:tcPr anchor="ctr" marL="27000" marR="27000" marT="0" marB="0">
                    <a:lnL w="6350">
                      <a:solidFill>
                        <a:srgbClr val="BFBFBF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</a:tr>
              <a:tr h="153619">
                <a:tc>
                  <a:txBody>
                    <a:bodyPr/>
                    <a:lstStyle/>
                    <a:p>
                      <a:pPr algn="l"/>
                      <a:r>
                        <a:rPr sz="600" b="1" i="0">
                          <a:solidFill>
                            <a:srgbClr val="7F7F7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출하 합계</a:t>
                      </a:r>
                      <a:endParaRPr sz="600"/>
                    </a:p>
                  </a:txBody>
                  <a:tcPr anchor="ctr" marL="27000" marR="27000" marT="0" marB="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0" i="0">
                          <a:solidFill>
                            <a:srgbClr val="7F7F7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3,813.3</a:t>
                      </a:r>
                      <a:endParaRPr sz="600"/>
                    </a:p>
                  </a:txBody>
                  <a:tcPr anchor="ctr" marL="27000" marR="27000" marT="0" marB="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0" i="0">
                          <a:solidFill>
                            <a:srgbClr val="7F7F7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3,813.3</a:t>
                      </a:r>
                      <a:endParaRPr sz="600"/>
                    </a:p>
                  </a:txBody>
                  <a:tcPr anchor="ctr" marL="27000" marR="27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0" i="0">
                          <a:solidFill>
                            <a:srgbClr val="7F7F7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3,813.3</a:t>
                      </a:r>
                      <a:endParaRPr sz="600"/>
                    </a:p>
                  </a:txBody>
                  <a:tcPr anchor="ctr" marL="27000" marR="27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0" i="0">
                          <a:solidFill>
                            <a:srgbClr val="7F7F7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3,813.3</a:t>
                      </a:r>
                      <a:endParaRPr sz="600"/>
                    </a:p>
                  </a:txBody>
                  <a:tcPr anchor="ctr" marL="27000" marR="27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0" i="0">
                          <a:solidFill>
                            <a:srgbClr val="7F7F7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3,813.3</a:t>
                      </a:r>
                      <a:endParaRPr sz="600"/>
                    </a:p>
                  </a:txBody>
                  <a:tcPr anchor="ctr" marL="27000" marR="27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0" i="0">
                          <a:solidFill>
                            <a:srgbClr val="7F7F7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3,813.3</a:t>
                      </a:r>
                      <a:endParaRPr sz="600"/>
                    </a:p>
                  </a:txBody>
                  <a:tcPr anchor="ctr" marL="27000" marR="27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0" i="0">
                          <a:solidFill>
                            <a:srgbClr val="7F7F7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3,813.3</a:t>
                      </a:r>
                      <a:endParaRPr sz="600"/>
                    </a:p>
                  </a:txBody>
                  <a:tcPr anchor="ctr" marL="27000" marR="27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0" i="0">
                          <a:solidFill>
                            <a:srgbClr val="7F7F7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3,813.3</a:t>
                      </a:r>
                      <a:endParaRPr sz="600"/>
                    </a:p>
                  </a:txBody>
                  <a:tcPr anchor="ctr" marL="27000" marR="27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0" i="0">
                          <a:solidFill>
                            <a:srgbClr val="7F7F7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3,813.3</a:t>
                      </a:r>
                      <a:endParaRPr sz="600"/>
                    </a:p>
                  </a:txBody>
                  <a:tcPr anchor="ctr" marL="27000" marR="27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0" i="0">
                          <a:solidFill>
                            <a:srgbClr val="7F7F7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3,813.3</a:t>
                      </a:r>
                      <a:endParaRPr sz="600"/>
                    </a:p>
                  </a:txBody>
                  <a:tcPr anchor="ctr" marL="27000" marR="27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0" i="0">
                          <a:solidFill>
                            <a:srgbClr val="7F7F7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3,813.3</a:t>
                      </a:r>
                      <a:endParaRPr sz="600"/>
                    </a:p>
                  </a:txBody>
                  <a:tcPr anchor="ctr" marL="27000" marR="27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0" i="0">
                          <a:solidFill>
                            <a:srgbClr val="7F7F7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3,813.3</a:t>
                      </a:r>
                      <a:endParaRPr sz="600"/>
                    </a:p>
                  </a:txBody>
                  <a:tcPr anchor="ctr" marL="27000" marR="27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1" i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45,760</a:t>
                      </a:r>
                      <a:endParaRPr sz="600"/>
                    </a:p>
                  </a:txBody>
                  <a:tcPr anchor="ctr" marL="27000" marR="27000" marT="0" marB="0">
                    <a:lnL w="6350">
                      <a:solidFill>
                        <a:srgbClr val="BFBFBF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</a:tr>
              <a:tr h="153619">
                <a:tc>
                  <a:txBody>
                    <a:bodyPr/>
                    <a:lstStyle/>
                    <a:p>
                      <a:pPr algn="l"/>
                      <a:r>
                        <a:rPr sz="600" b="1" i="0">
                          <a:solidFill>
                            <a:srgbClr val="7F7F7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필요 Batch (÷190)</a:t>
                      </a:r>
                      <a:endParaRPr sz="600"/>
                    </a:p>
                  </a:txBody>
                  <a:tcPr anchor="ctr" marL="27000" marR="27000" marT="0" marB="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1" i="0">
                          <a:solidFill>
                            <a:srgbClr val="2E75B6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20.1</a:t>
                      </a:r>
                      <a:endParaRPr sz="600"/>
                    </a:p>
                  </a:txBody>
                  <a:tcPr anchor="ctr" marL="27000" marR="27000" marT="0" marB="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1" i="0">
                          <a:solidFill>
                            <a:srgbClr val="2E75B6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20.1</a:t>
                      </a:r>
                      <a:endParaRPr sz="600"/>
                    </a:p>
                  </a:txBody>
                  <a:tcPr anchor="ctr" marL="27000" marR="27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1" i="0">
                          <a:solidFill>
                            <a:srgbClr val="2E75B6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20.1</a:t>
                      </a:r>
                      <a:endParaRPr sz="600"/>
                    </a:p>
                  </a:txBody>
                  <a:tcPr anchor="ctr" marL="27000" marR="27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1" i="0">
                          <a:solidFill>
                            <a:srgbClr val="2E75B6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20.1</a:t>
                      </a:r>
                      <a:endParaRPr sz="600"/>
                    </a:p>
                  </a:txBody>
                  <a:tcPr anchor="ctr" marL="27000" marR="27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1" i="0">
                          <a:solidFill>
                            <a:srgbClr val="2E75B6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20.1</a:t>
                      </a:r>
                      <a:endParaRPr sz="600"/>
                    </a:p>
                  </a:txBody>
                  <a:tcPr anchor="ctr" marL="27000" marR="27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1" i="0">
                          <a:solidFill>
                            <a:srgbClr val="2E75B6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20.1</a:t>
                      </a:r>
                      <a:endParaRPr sz="600"/>
                    </a:p>
                  </a:txBody>
                  <a:tcPr anchor="ctr" marL="27000" marR="27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1" i="0">
                          <a:solidFill>
                            <a:srgbClr val="2E75B6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20.1</a:t>
                      </a:r>
                      <a:endParaRPr sz="600"/>
                    </a:p>
                  </a:txBody>
                  <a:tcPr anchor="ctr" marL="27000" marR="27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1" i="0">
                          <a:solidFill>
                            <a:srgbClr val="2E75B6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20.1</a:t>
                      </a:r>
                      <a:endParaRPr sz="600"/>
                    </a:p>
                  </a:txBody>
                  <a:tcPr anchor="ctr" marL="27000" marR="27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1" i="0">
                          <a:solidFill>
                            <a:srgbClr val="2E75B6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20.1</a:t>
                      </a:r>
                      <a:endParaRPr sz="600"/>
                    </a:p>
                  </a:txBody>
                  <a:tcPr anchor="ctr" marL="27000" marR="27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1" i="0">
                          <a:solidFill>
                            <a:srgbClr val="2E75B6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20.1</a:t>
                      </a:r>
                      <a:endParaRPr sz="600"/>
                    </a:p>
                  </a:txBody>
                  <a:tcPr anchor="ctr" marL="27000" marR="27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1" i="0">
                          <a:solidFill>
                            <a:srgbClr val="2E75B6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20.1</a:t>
                      </a:r>
                      <a:endParaRPr sz="600"/>
                    </a:p>
                  </a:txBody>
                  <a:tcPr anchor="ctr" marL="27000" marR="27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1" i="0">
                          <a:solidFill>
                            <a:srgbClr val="2E75B6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20.1</a:t>
                      </a:r>
                      <a:endParaRPr sz="600"/>
                    </a:p>
                  </a:txBody>
                  <a:tcPr anchor="ctr" marL="27000" marR="27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1" i="0">
                          <a:solidFill>
                            <a:srgbClr val="2E75B6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240.8</a:t>
                      </a:r>
                      <a:endParaRPr sz="600"/>
                    </a:p>
                  </a:txBody>
                  <a:tcPr anchor="ctr" marL="27000" marR="27000" marT="0" marB="0">
                    <a:lnL w="6350">
                      <a:solidFill>
                        <a:srgbClr val="BFBFBF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2F2F2"/>
                    </a:solidFill>
                  </a:tcPr>
                </a:tc>
              </a:tr>
              <a:tr h="153619">
                <a:tc>
                  <a:txBody>
                    <a:bodyPr/>
                    <a:lstStyle/>
                    <a:p>
                      <a:pPr algn="l"/>
                      <a:r>
                        <a:rPr sz="600" b="1" i="0">
                          <a:solidFill>
                            <a:srgbClr val="7F7F7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5 Gal 충진 h (병 상당×2)</a:t>
                      </a:r>
                      <a:endParaRPr sz="600"/>
                    </a:p>
                  </a:txBody>
                  <a:tcPr anchor="ctr" marL="27000" marR="27000" marT="0" marB="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EAF1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1" i="0">
                          <a:solidFill>
                            <a:srgbClr val="2E75B6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267.3</a:t>
                      </a:r>
                      <a:endParaRPr sz="600"/>
                    </a:p>
                  </a:txBody>
                  <a:tcPr anchor="ctr" marL="27000" marR="27000" marT="0" marB="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EAF1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1" i="0">
                          <a:solidFill>
                            <a:srgbClr val="2E75B6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267.3</a:t>
                      </a:r>
                      <a:endParaRPr sz="600"/>
                    </a:p>
                  </a:txBody>
                  <a:tcPr anchor="ctr" marL="27000" marR="27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EAF1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1" i="0">
                          <a:solidFill>
                            <a:srgbClr val="2E75B6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267.3</a:t>
                      </a:r>
                      <a:endParaRPr sz="600"/>
                    </a:p>
                  </a:txBody>
                  <a:tcPr anchor="ctr" marL="27000" marR="27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EAF1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1" i="0">
                          <a:solidFill>
                            <a:srgbClr val="2E75B6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267.3</a:t>
                      </a:r>
                      <a:endParaRPr sz="600"/>
                    </a:p>
                  </a:txBody>
                  <a:tcPr anchor="ctr" marL="27000" marR="27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EAF1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1" i="0">
                          <a:solidFill>
                            <a:srgbClr val="2E75B6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267.3</a:t>
                      </a:r>
                      <a:endParaRPr sz="600"/>
                    </a:p>
                  </a:txBody>
                  <a:tcPr anchor="ctr" marL="27000" marR="27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EAF1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1" i="0">
                          <a:solidFill>
                            <a:srgbClr val="2E75B6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267.3</a:t>
                      </a:r>
                      <a:endParaRPr sz="600"/>
                    </a:p>
                  </a:txBody>
                  <a:tcPr anchor="ctr" marL="27000" marR="27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EAF1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1" i="0">
                          <a:solidFill>
                            <a:srgbClr val="2E75B6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267.3</a:t>
                      </a:r>
                      <a:endParaRPr sz="600"/>
                    </a:p>
                  </a:txBody>
                  <a:tcPr anchor="ctr" marL="27000" marR="27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EAF1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1" i="0">
                          <a:solidFill>
                            <a:srgbClr val="2E75B6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267.3</a:t>
                      </a:r>
                      <a:endParaRPr sz="600"/>
                    </a:p>
                  </a:txBody>
                  <a:tcPr anchor="ctr" marL="27000" marR="27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EAF1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1" i="0">
                          <a:solidFill>
                            <a:srgbClr val="2E75B6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267.3</a:t>
                      </a:r>
                      <a:endParaRPr sz="600"/>
                    </a:p>
                  </a:txBody>
                  <a:tcPr anchor="ctr" marL="27000" marR="27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EAF1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1" i="0">
                          <a:solidFill>
                            <a:srgbClr val="2E75B6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267.3</a:t>
                      </a:r>
                      <a:endParaRPr sz="600"/>
                    </a:p>
                  </a:txBody>
                  <a:tcPr anchor="ctr" marL="27000" marR="27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EAF1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1" i="0">
                          <a:solidFill>
                            <a:srgbClr val="2E75B6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267.3</a:t>
                      </a:r>
                      <a:endParaRPr sz="600"/>
                    </a:p>
                  </a:txBody>
                  <a:tcPr anchor="ctr" marL="27000" marR="27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EAF1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1" i="0">
                          <a:solidFill>
                            <a:srgbClr val="2E75B6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267.3</a:t>
                      </a:r>
                      <a:endParaRPr sz="600"/>
                    </a:p>
                  </a:txBody>
                  <a:tcPr anchor="ctr" marL="27000" marR="27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EAF1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1" i="0">
                          <a:solidFill>
                            <a:srgbClr val="2E75B6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3,208</a:t>
                      </a:r>
                      <a:endParaRPr sz="600"/>
                    </a:p>
                  </a:txBody>
                  <a:tcPr anchor="ctr" marL="27000" marR="27000" marT="0" marB="0">
                    <a:lnL w="6350">
                      <a:solidFill>
                        <a:srgbClr val="BFBFBF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</a:tr>
              <a:tr h="153619">
                <a:tc>
                  <a:txBody>
                    <a:bodyPr/>
                    <a:lstStyle/>
                    <a:p>
                      <a:pPr algn="l"/>
                      <a:r>
                        <a:rPr sz="600" b="1" i="0">
                          <a:solidFill>
                            <a:srgbClr val="7F7F7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이지켐 용기 (140 kg)</a:t>
                      </a:r>
                      <a:endParaRPr sz="600"/>
                    </a:p>
                  </a:txBody>
                  <a:tcPr anchor="ctr" marL="27000" marR="27000" marT="0" marB="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1" i="0">
                          <a:solidFill>
                            <a:srgbClr val="EB00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6</a:t>
                      </a:r>
                      <a:endParaRPr sz="600"/>
                    </a:p>
                  </a:txBody>
                  <a:tcPr anchor="ctr" marL="27000" marR="27000" marT="0" marB="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1" i="0">
                          <a:solidFill>
                            <a:srgbClr val="EB00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6</a:t>
                      </a:r>
                      <a:endParaRPr sz="600"/>
                    </a:p>
                  </a:txBody>
                  <a:tcPr anchor="ctr" marL="27000" marR="27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1" i="0">
                          <a:solidFill>
                            <a:srgbClr val="EB00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6</a:t>
                      </a:r>
                      <a:endParaRPr sz="600"/>
                    </a:p>
                  </a:txBody>
                  <a:tcPr anchor="ctr" marL="27000" marR="27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1" i="0">
                          <a:solidFill>
                            <a:srgbClr val="EB00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6</a:t>
                      </a:r>
                      <a:endParaRPr sz="600"/>
                    </a:p>
                  </a:txBody>
                  <a:tcPr anchor="ctr" marL="27000" marR="27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1" i="0">
                          <a:solidFill>
                            <a:srgbClr val="EB00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6</a:t>
                      </a:r>
                      <a:endParaRPr sz="600"/>
                    </a:p>
                  </a:txBody>
                  <a:tcPr anchor="ctr" marL="27000" marR="27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1" i="0">
                          <a:solidFill>
                            <a:srgbClr val="EB00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6</a:t>
                      </a:r>
                      <a:endParaRPr sz="600"/>
                    </a:p>
                  </a:txBody>
                  <a:tcPr anchor="ctr" marL="27000" marR="27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1" i="0">
                          <a:solidFill>
                            <a:srgbClr val="2E75B6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6</a:t>
                      </a:r>
                      <a:endParaRPr sz="600"/>
                    </a:p>
                  </a:txBody>
                  <a:tcPr anchor="ctr" marL="27000" marR="27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1" i="0">
                          <a:solidFill>
                            <a:srgbClr val="2E75B6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6</a:t>
                      </a:r>
                      <a:endParaRPr sz="600"/>
                    </a:p>
                  </a:txBody>
                  <a:tcPr anchor="ctr" marL="27000" marR="27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1" i="0">
                          <a:solidFill>
                            <a:srgbClr val="2E75B6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6</a:t>
                      </a:r>
                      <a:endParaRPr sz="600"/>
                    </a:p>
                  </a:txBody>
                  <a:tcPr anchor="ctr" marL="27000" marR="27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1" i="0">
                          <a:solidFill>
                            <a:srgbClr val="2E75B6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6</a:t>
                      </a:r>
                      <a:endParaRPr sz="600"/>
                    </a:p>
                  </a:txBody>
                  <a:tcPr anchor="ctr" marL="27000" marR="27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1" i="0">
                          <a:solidFill>
                            <a:srgbClr val="2E75B6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6</a:t>
                      </a:r>
                      <a:endParaRPr sz="600"/>
                    </a:p>
                  </a:txBody>
                  <a:tcPr anchor="ctr" marL="27000" marR="27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1" i="0">
                          <a:solidFill>
                            <a:srgbClr val="2E75B6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6</a:t>
                      </a:r>
                      <a:endParaRPr sz="600"/>
                    </a:p>
                  </a:txBody>
                  <a:tcPr anchor="ctr" marL="27000" marR="27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1" i="0">
                          <a:solidFill>
                            <a:srgbClr val="EB00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72용기</a:t>
                      </a:r>
                      <a:endParaRPr sz="600"/>
                    </a:p>
                  </a:txBody>
                  <a:tcPr anchor="ctr" marL="27000" marR="27000" marT="0" marB="0">
                    <a:lnL w="6350">
                      <a:solidFill>
                        <a:srgbClr val="BFBFBF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</a:tr>
              <a:tr h="153619">
                <a:tc>
                  <a:txBody>
                    <a:bodyPr/>
                    <a:lstStyle/>
                    <a:p>
                      <a:pPr algn="l"/>
                      <a:r>
                        <a:rPr sz="600" b="1" i="0">
                          <a:solidFill>
                            <a:srgbClr val="7F7F7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한솔 용기 (150 kg)</a:t>
                      </a:r>
                      <a:endParaRPr sz="600"/>
                    </a:p>
                  </a:txBody>
                  <a:tcPr anchor="ctr" marL="27000" marR="27000" marT="0" marB="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1" i="0">
                          <a:solidFill>
                            <a:srgbClr val="EB00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</a:t>
                      </a:r>
                      <a:endParaRPr sz="600"/>
                    </a:p>
                  </a:txBody>
                  <a:tcPr anchor="ctr" marL="27000" marR="27000" marT="0" marB="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1" i="0">
                          <a:solidFill>
                            <a:srgbClr val="EB00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</a:t>
                      </a:r>
                      <a:endParaRPr sz="600"/>
                    </a:p>
                  </a:txBody>
                  <a:tcPr anchor="ctr" marL="27000" marR="27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1" i="0">
                          <a:solidFill>
                            <a:srgbClr val="EB00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</a:t>
                      </a:r>
                      <a:endParaRPr sz="600"/>
                    </a:p>
                  </a:txBody>
                  <a:tcPr anchor="ctr" marL="27000" marR="27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1" i="0">
                          <a:solidFill>
                            <a:srgbClr val="EB00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</a:t>
                      </a:r>
                      <a:endParaRPr sz="600"/>
                    </a:p>
                  </a:txBody>
                  <a:tcPr anchor="ctr" marL="27000" marR="27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1" i="0">
                          <a:solidFill>
                            <a:srgbClr val="EB00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</a:t>
                      </a:r>
                      <a:endParaRPr sz="600"/>
                    </a:p>
                  </a:txBody>
                  <a:tcPr anchor="ctr" marL="27000" marR="27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1" i="0">
                          <a:solidFill>
                            <a:srgbClr val="EB00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</a:t>
                      </a:r>
                      <a:endParaRPr sz="600"/>
                    </a:p>
                  </a:txBody>
                  <a:tcPr anchor="ctr" marL="27000" marR="27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1" i="0">
                          <a:solidFill>
                            <a:srgbClr val="2E75B6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</a:t>
                      </a:r>
                      <a:endParaRPr sz="600"/>
                    </a:p>
                  </a:txBody>
                  <a:tcPr anchor="ctr" marL="27000" marR="27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1" i="0">
                          <a:solidFill>
                            <a:srgbClr val="2E75B6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</a:t>
                      </a:r>
                      <a:endParaRPr sz="600"/>
                    </a:p>
                  </a:txBody>
                  <a:tcPr anchor="ctr" marL="27000" marR="27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1" i="0">
                          <a:solidFill>
                            <a:srgbClr val="2E75B6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</a:t>
                      </a:r>
                      <a:endParaRPr sz="600"/>
                    </a:p>
                  </a:txBody>
                  <a:tcPr anchor="ctr" marL="27000" marR="27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1" i="0">
                          <a:solidFill>
                            <a:srgbClr val="2E75B6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</a:t>
                      </a:r>
                      <a:endParaRPr sz="600"/>
                    </a:p>
                  </a:txBody>
                  <a:tcPr anchor="ctr" marL="27000" marR="27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1" i="0">
                          <a:solidFill>
                            <a:srgbClr val="2E75B6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</a:t>
                      </a:r>
                      <a:endParaRPr sz="600"/>
                    </a:p>
                  </a:txBody>
                  <a:tcPr anchor="ctr" marL="27000" marR="27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1" i="0">
                          <a:solidFill>
                            <a:srgbClr val="2E75B6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</a:t>
                      </a:r>
                      <a:endParaRPr sz="600"/>
                    </a:p>
                  </a:txBody>
                  <a:tcPr anchor="ctr" marL="27000" marR="27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1" i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24용기</a:t>
                      </a:r>
                      <a:endParaRPr sz="600"/>
                    </a:p>
                  </a:txBody>
                  <a:tcPr anchor="ctr" marL="27000" marR="27000" marT="0" marB="0">
                    <a:lnL w="6350">
                      <a:solidFill>
                        <a:srgbClr val="BFBFBF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2F2F2"/>
                    </a:solidFill>
                  </a:tcPr>
                </a:tc>
              </a:tr>
              <a:tr h="153619">
                <a:tc>
                  <a:txBody>
                    <a:bodyPr/>
                    <a:lstStyle/>
                    <a:p>
                      <a:pPr algn="l"/>
                      <a:r>
                        <a:rPr sz="600" b="1" i="0">
                          <a:solidFill>
                            <a:srgbClr val="7F7F7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200 L 충진 방식</a:t>
                      </a:r>
                      <a:endParaRPr sz="600"/>
                    </a:p>
                  </a:txBody>
                  <a:tcPr anchor="ctr" marL="27000" marR="27000" marT="0" marB="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 gridSpan="12">
                  <a:txBody>
                    <a:bodyPr/>
                    <a:lstStyle/>
                    <a:p>
                      <a:pPr algn="ctr"/>
                      <a:r>
                        <a:rPr sz="600" b="1" i="0">
                          <a:solidFill>
                            <a:srgbClr val="EB00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이지켐 · 한솔 ARS (충진시간 확인 입력) · 5 Gal 글로브 박스 유지</a:t>
                      </a:r>
                      <a:endParaRPr sz="600"/>
                    </a:p>
                  </a:txBody>
                  <a:tcPr anchor="ctr" marL="27000" marR="27000" marT="0" marB="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/>
                      <a:r>
                        <a:rPr sz="600" b="1" i="0">
                          <a:solidFill>
                            <a:srgbClr val="EB00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/>
                      </a:r>
                      <a:endParaRPr sz="600"/>
                    </a:p>
                  </a:txBody>
                  <a:tcPr anchor="ctr" marL="27000" marR="27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/>
                      <a:r>
                        <a:rPr sz="600" b="1" i="0">
                          <a:solidFill>
                            <a:srgbClr val="EB00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/>
                      </a:r>
                      <a:endParaRPr sz="600"/>
                    </a:p>
                  </a:txBody>
                  <a:tcPr anchor="ctr" marL="27000" marR="27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/>
                      <a:r>
                        <a:rPr sz="600" b="1" i="0">
                          <a:solidFill>
                            <a:srgbClr val="EB00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/>
                      </a:r>
                      <a:endParaRPr sz="600"/>
                    </a:p>
                  </a:txBody>
                  <a:tcPr anchor="ctr" marL="27000" marR="27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/>
                      <a:r>
                        <a:rPr sz="600" b="1" i="0">
                          <a:solidFill>
                            <a:srgbClr val="EB00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/>
                      </a:r>
                      <a:endParaRPr sz="600"/>
                    </a:p>
                  </a:txBody>
                  <a:tcPr anchor="ctr" marL="27000" marR="27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/>
                      <a:r>
                        <a:rPr sz="600" b="1" i="0">
                          <a:solidFill>
                            <a:srgbClr val="EB00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/>
                      </a:r>
                      <a:endParaRPr sz="600"/>
                    </a:p>
                  </a:txBody>
                  <a:tcPr anchor="ctr" marL="27000" marR="27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/>
                      <a:r>
                        <a:rPr sz="600" b="1" i="0">
                          <a:solidFill>
                            <a:srgbClr val="2E75B6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/>
                      </a:r>
                      <a:endParaRPr sz="600"/>
                    </a:p>
                  </a:txBody>
                  <a:tcPr anchor="ctr" marL="27000" marR="27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/>
                      <a:r>
                        <a:rPr sz="600" b="1" i="0">
                          <a:solidFill>
                            <a:srgbClr val="2E75B6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/>
                      </a:r>
                      <a:endParaRPr sz="600"/>
                    </a:p>
                  </a:txBody>
                  <a:tcPr anchor="ctr" marL="27000" marR="27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/>
                      <a:r>
                        <a:rPr sz="600" b="1" i="0">
                          <a:solidFill>
                            <a:srgbClr val="2E75B6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/>
                      </a:r>
                      <a:endParaRPr sz="600"/>
                    </a:p>
                  </a:txBody>
                  <a:tcPr anchor="ctr" marL="27000" marR="27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/>
                      <a:r>
                        <a:rPr sz="600" b="1" i="0">
                          <a:solidFill>
                            <a:srgbClr val="2E75B6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/>
                      </a:r>
                      <a:endParaRPr sz="600"/>
                    </a:p>
                  </a:txBody>
                  <a:tcPr anchor="ctr" marL="27000" marR="27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/>
                      <a:r>
                        <a:rPr sz="600" b="1" i="0">
                          <a:solidFill>
                            <a:srgbClr val="2E75B6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/>
                      </a:r>
                      <a:endParaRPr sz="600"/>
                    </a:p>
                  </a:txBody>
                  <a:tcPr anchor="ctr" marL="27000" marR="27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/>
                      <a:r>
                        <a:rPr sz="600" b="1" i="0">
                          <a:solidFill>
                            <a:srgbClr val="2E75B6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/>
                      </a:r>
                      <a:endParaRPr sz="600"/>
                    </a:p>
                  </a:txBody>
                  <a:tcPr anchor="ctr" marL="27000" marR="27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1" i="0">
                          <a:solidFill>
                            <a:srgbClr val="EB00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확인</a:t>
                      </a:r>
                      <a:endParaRPr sz="600"/>
                    </a:p>
                  </a:txBody>
                  <a:tcPr anchor="ctr" marL="27000" marR="27000" marT="0" marB="0">
                    <a:lnL w="6350">
                      <a:solidFill>
                        <a:srgbClr val="BFBFBF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</a:tr>
              <a:tr h="153619">
                <a:tc>
                  <a:txBody>
                    <a:bodyPr/>
                    <a:lstStyle/>
                    <a:p>
                      <a:pPr algn="l"/>
                      <a:r>
                        <a:rPr sz="600" b="1" i="0">
                          <a:solidFill>
                            <a:srgbClr val="7F7F7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실제 생산 가능량</a:t>
                      </a:r>
                      <a:endParaRPr sz="600"/>
                    </a:p>
                  </a:txBody>
                  <a:tcPr anchor="ctr" marL="27000" marR="27000" marT="0" marB="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DEDF0"/>
                    </a:solidFill>
                  </a:tcPr>
                </a:tc>
                <a:tc gridSpan="12">
                  <a:txBody>
                    <a:bodyPr/>
                    <a:lstStyle/>
                    <a:p>
                      <a:pPr algn="ctr"/>
                      <a:r>
                        <a:rPr sz="600" b="1" i="0">
                          <a:solidFill>
                            <a:srgbClr val="EB00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미확인 — 설비별 간격·Batch량·양품률 입력 시 계산 (Excel 04) · 연간 환산값과 구분</a:t>
                      </a:r>
                      <a:endParaRPr sz="600"/>
                    </a:p>
                  </a:txBody>
                  <a:tcPr anchor="ctr" marL="27000" marR="27000" marT="0" marB="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2CC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/>
                      <a:r>
                        <a:rPr sz="600" b="1" i="0">
                          <a:solidFill>
                            <a:srgbClr val="EB00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/>
                      </a:r>
                      <a:endParaRPr sz="600"/>
                    </a:p>
                  </a:txBody>
                  <a:tcPr anchor="ctr" marL="27000" marR="27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DEDF0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/>
                      <a:r>
                        <a:rPr sz="600" b="1" i="0">
                          <a:solidFill>
                            <a:srgbClr val="EB00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/>
                      </a:r>
                      <a:endParaRPr sz="600"/>
                    </a:p>
                  </a:txBody>
                  <a:tcPr anchor="ctr" marL="27000" marR="27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DEDF0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/>
                      <a:r>
                        <a:rPr sz="600" b="1" i="0">
                          <a:solidFill>
                            <a:srgbClr val="EB00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/>
                      </a:r>
                      <a:endParaRPr sz="600"/>
                    </a:p>
                  </a:txBody>
                  <a:tcPr anchor="ctr" marL="27000" marR="27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DEDF0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/>
                      <a:r>
                        <a:rPr sz="600" b="1" i="0">
                          <a:solidFill>
                            <a:srgbClr val="EB00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/>
                      </a:r>
                      <a:endParaRPr sz="600"/>
                    </a:p>
                  </a:txBody>
                  <a:tcPr anchor="ctr" marL="27000" marR="27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DEDF0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/>
                      <a:r>
                        <a:rPr sz="600" b="1" i="0">
                          <a:solidFill>
                            <a:srgbClr val="EB00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/>
                      </a:r>
                      <a:endParaRPr sz="600"/>
                    </a:p>
                  </a:txBody>
                  <a:tcPr anchor="ctr" marL="27000" marR="27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DEDF0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/>
                      <a:r>
                        <a:rPr sz="600" b="1" i="0">
                          <a:solidFill>
                            <a:srgbClr val="EB00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/>
                      </a:r>
                      <a:endParaRPr sz="600"/>
                    </a:p>
                  </a:txBody>
                  <a:tcPr anchor="ctr" marL="27000" marR="27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DEDF0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/>
                      <a:r>
                        <a:rPr sz="600" b="1" i="0">
                          <a:solidFill>
                            <a:srgbClr val="EB00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/>
                      </a:r>
                      <a:endParaRPr sz="600"/>
                    </a:p>
                  </a:txBody>
                  <a:tcPr anchor="ctr" marL="27000" marR="27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DEDF0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/>
                      <a:r>
                        <a:rPr sz="600" b="1" i="0">
                          <a:solidFill>
                            <a:srgbClr val="EB00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/>
                      </a:r>
                      <a:endParaRPr sz="600"/>
                    </a:p>
                  </a:txBody>
                  <a:tcPr anchor="ctr" marL="27000" marR="27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DEDF0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/>
                      <a:r>
                        <a:rPr sz="600" b="1" i="0">
                          <a:solidFill>
                            <a:srgbClr val="EB00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/>
                      </a:r>
                      <a:endParaRPr sz="600"/>
                    </a:p>
                  </a:txBody>
                  <a:tcPr anchor="ctr" marL="27000" marR="27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DEDF0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/>
                      <a:r>
                        <a:rPr sz="600" b="1" i="0">
                          <a:solidFill>
                            <a:srgbClr val="EB00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/>
                      </a:r>
                      <a:endParaRPr sz="600"/>
                    </a:p>
                  </a:txBody>
                  <a:tcPr anchor="ctr" marL="27000" marR="27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DEDF0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/>
                      <a:r>
                        <a:rPr sz="600" b="1" i="0">
                          <a:solidFill>
                            <a:srgbClr val="EB00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/>
                      </a:r>
                      <a:endParaRPr sz="600"/>
                    </a:p>
                  </a:txBody>
                  <a:tcPr anchor="ctr" marL="27000" marR="27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DED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1" i="0">
                          <a:solidFill>
                            <a:srgbClr val="EB00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보류</a:t>
                      </a:r>
                      <a:endParaRPr sz="600"/>
                    </a:p>
                  </a:txBody>
                  <a:tcPr anchor="ctr" marL="27000" marR="27000" marT="0" marB="0">
                    <a:lnL w="6350">
                      <a:solidFill>
                        <a:srgbClr val="BFBFBF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2F2F2"/>
                    </a:solidFill>
                  </a:tcPr>
                </a:tc>
              </a:tr>
              <a:tr h="153619">
                <a:tc>
                  <a:txBody>
                    <a:bodyPr/>
                    <a:lstStyle/>
                    <a:p>
                      <a:pPr algn="l"/>
                      <a:r>
                        <a:rPr sz="600" b="1" i="0">
                          <a:solidFill>
                            <a:srgbClr val="7F7F7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재고 (기초 / 기말)</a:t>
                      </a:r>
                      <a:endParaRPr sz="600"/>
                    </a:p>
                  </a:txBody>
                  <a:tcPr anchor="ctr" marL="27000" marR="27000" marT="0" marB="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 gridSpan="12">
                  <a:txBody>
                    <a:bodyPr/>
                    <a:lstStyle/>
                    <a:p>
                      <a:pPr algn="ctr"/>
                      <a:r>
                        <a:rPr sz="600" b="0" i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2027.12 기말재고 → 2028.1 기초재고 연결 · 미확인 시 0 초기화 안 함</a:t>
                      </a:r>
                      <a:endParaRPr sz="600"/>
                    </a:p>
                  </a:txBody>
                  <a:tcPr anchor="ctr" marL="27000" marR="27000" marT="0" marB="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2CC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/>
                      <a:r>
                        <a:rPr sz="600" b="0" i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/>
                      </a:r>
                      <a:endParaRPr sz="600"/>
                    </a:p>
                  </a:txBody>
                  <a:tcPr anchor="ctr" marL="27000" marR="27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2CC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/>
                      <a:r>
                        <a:rPr sz="600" b="0" i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/>
                      </a:r>
                      <a:endParaRPr sz="600"/>
                    </a:p>
                  </a:txBody>
                  <a:tcPr anchor="ctr" marL="27000" marR="27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2CC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/>
                      <a:r>
                        <a:rPr sz="600" b="0" i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/>
                      </a:r>
                      <a:endParaRPr sz="600"/>
                    </a:p>
                  </a:txBody>
                  <a:tcPr anchor="ctr" marL="27000" marR="27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2CC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/>
                      <a:r>
                        <a:rPr sz="600" b="0" i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/>
                      </a:r>
                      <a:endParaRPr sz="600"/>
                    </a:p>
                  </a:txBody>
                  <a:tcPr anchor="ctr" marL="27000" marR="27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2CC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/>
                      <a:r>
                        <a:rPr sz="600" b="0" i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/>
                      </a:r>
                      <a:endParaRPr sz="600"/>
                    </a:p>
                  </a:txBody>
                  <a:tcPr anchor="ctr" marL="27000" marR="27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2CC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/>
                      <a:r>
                        <a:rPr sz="600" b="0" i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/>
                      </a:r>
                      <a:endParaRPr sz="600"/>
                    </a:p>
                  </a:txBody>
                  <a:tcPr anchor="ctr" marL="27000" marR="27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2CC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/>
                      <a:r>
                        <a:rPr sz="600" b="0" i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/>
                      </a:r>
                      <a:endParaRPr sz="600"/>
                    </a:p>
                  </a:txBody>
                  <a:tcPr anchor="ctr" marL="27000" marR="27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2CC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/>
                      <a:r>
                        <a:rPr sz="600" b="0" i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/>
                      </a:r>
                      <a:endParaRPr sz="600"/>
                    </a:p>
                  </a:txBody>
                  <a:tcPr anchor="ctr" marL="27000" marR="27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2CC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/>
                      <a:r>
                        <a:rPr sz="600" b="0" i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/>
                      </a:r>
                      <a:endParaRPr sz="600"/>
                    </a:p>
                  </a:txBody>
                  <a:tcPr anchor="ctr" marL="27000" marR="27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2CC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/>
                      <a:r>
                        <a:rPr sz="600" b="0" i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/>
                      </a:r>
                      <a:endParaRPr sz="600"/>
                    </a:p>
                  </a:txBody>
                  <a:tcPr anchor="ctr" marL="27000" marR="27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2CC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/>
                      <a:r>
                        <a:rPr sz="600" b="0" i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/>
                      </a:r>
                      <a:endParaRPr sz="600"/>
                    </a:p>
                  </a:txBody>
                  <a:tcPr anchor="ctr" marL="27000" marR="27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1" i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보류</a:t>
                      </a:r>
                      <a:endParaRPr sz="600"/>
                    </a:p>
                  </a:txBody>
                  <a:tcPr anchor="ctr" marL="27000" marR="27000" marT="0" marB="0">
                    <a:lnL w="6350">
                      <a:solidFill>
                        <a:srgbClr val="BFBFBF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168" name="TextBox 167"/>
          <p:cNvSpPr txBox="1"/>
          <p:nvPr/>
        </p:nvSpPr>
        <p:spPr>
          <a:xfrm>
            <a:off x="287000" y="4114800"/>
            <a:ext cx="85700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580" b="0" i="0">
                <a:solidFill>
                  <a:srgbClr val="7F7F7F"/>
                </a:solidFill>
                <a:latin typeface="Noto Sans KR"/>
                <a:ea typeface="Noto Sans KR"/>
                <a:cs typeface="Noto Sans KR"/>
              </a:rPr>
              <a:t>* 하이닉스 22,720÷12 · CXMT 780 · 이지켐 840 · 한솔 300 kg/월 (가정 — 2027 연간 43.4톤 복제 아님) · 105℃는 미확정 검토안으로 별도 비교 · 실제 생산량은 연간 환산값과 구분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287000" y="4342024"/>
            <a:ext cx="50000" cy="165000"/>
          </a:xfrm>
          <a:prstGeom prst="rect">
            <a:avLst/>
          </a:prstGeom>
          <a:solidFill>
            <a:srgbClr val="EB002C"/>
          </a:solidFill>
          <a:ln>
            <a:noFill/>
          </a:ln>
        </p:spPr>
        <p:txBody>
          <a:bodyPr rtlCol="0" anchor="ctr" lIns="30000" rIns="30000" tIns="0" bIns="0" wrap="square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397000" y="4312024"/>
            <a:ext cx="8000000" cy="22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1" i="0">
                <a:solidFill>
                  <a:srgbClr val="1A1A1A"/>
                </a:solidFill>
                <a:latin typeface="Noto Sans KR"/>
                <a:ea typeface="Noto Sans KR"/>
                <a:cs typeface="Noto Sans KR"/>
              </a:rPr>
              <a:t>② 2028 연간 환산 비교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287000" y="4542024"/>
            <a:ext cx="2082500" cy="640000"/>
          </a:xfrm>
          <a:prstGeom prst="rect">
            <a:avLst/>
          </a:prstGeom>
          <a:solidFill>
            <a:srgbClr val="FDEDF0"/>
          </a:solidFill>
          <a:ln w="15240">
            <a:solidFill>
              <a:srgbClr val="EB002C"/>
            </a:solidFill>
          </a:ln>
        </p:spPr>
        <p:txBody>
          <a:bodyPr rtlCol="0" anchor="ctr" lIns="30000" rIns="30000" tIns="0" bIns="0" wrap="square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317000" y="4582024"/>
            <a:ext cx="2022500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720" b="1" i="0">
                <a:solidFill>
                  <a:srgbClr val="1A1A1A"/>
                </a:solidFill>
                <a:latin typeface="Noto Sans KR"/>
                <a:ea typeface="Noto Sans KR"/>
                <a:cs typeface="Noto Sans KR"/>
              </a:rPr>
              <a:t>출하 가정 (2028)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307000" y="4732024"/>
            <a:ext cx="2042500" cy="260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400" b="1" i="0">
                <a:solidFill>
                  <a:srgbClr val="EB002C"/>
                </a:solidFill>
                <a:latin typeface="Noto Sans KR"/>
                <a:ea typeface="Noto Sans KR"/>
                <a:cs typeface="Noto Sans KR"/>
              </a:rPr>
              <a:t>45.76</a:t>
            </a:r>
            <a:r>
              <a:rPr sz="700" b="1" i="0">
                <a:solidFill>
                  <a:srgbClr val="EB002C"/>
                </a:solidFill>
                <a:latin typeface="Noto Sans KR"/>
                <a:ea typeface="Noto Sans KR"/>
                <a:cs typeface="Noto Sans KR"/>
              </a:rPr>
              <a:t> 톤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307000" y="5017024"/>
            <a:ext cx="2042500" cy="15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600" b="0" i="0">
                <a:solidFill>
                  <a:srgbClr val="7F7F7F"/>
                </a:solidFill>
                <a:latin typeface="Noto Sans KR"/>
                <a:ea typeface="Noto Sans KR"/>
                <a:cs typeface="Noto Sans KR"/>
              </a:rPr>
              <a:t>3,813.3 kg/월 × 12 · 확정 수요 아님</a:t>
            </a:r>
          </a:p>
        </p:txBody>
      </p:sp>
      <p:sp>
        <p:nvSpPr>
          <p:cNvPr id="175" name="Rectangle 174"/>
          <p:cNvSpPr/>
          <p:nvPr/>
        </p:nvSpPr>
        <p:spPr>
          <a:xfrm>
            <a:off x="2449500" y="4542024"/>
            <a:ext cx="2082500" cy="640000"/>
          </a:xfrm>
          <a:prstGeom prst="rect">
            <a:avLst/>
          </a:prstGeom>
          <a:solidFill>
            <a:srgbClr val="EAF1FA"/>
          </a:solidFill>
          <a:ln w="15240">
            <a:solidFill>
              <a:srgbClr val="2E75B6"/>
            </a:solidFill>
          </a:ln>
        </p:spPr>
        <p:txBody>
          <a:bodyPr rtlCol="0" anchor="ctr" lIns="30000" rIns="30000" tIns="0" bIns="0" wrap="square"/>
          <a:lstStyle/>
          <a:p>
            <a:pPr algn="ctr"/>
          </a:p>
        </p:txBody>
      </p:sp>
      <p:sp>
        <p:nvSpPr>
          <p:cNvPr id="176" name="TextBox 175"/>
          <p:cNvSpPr txBox="1"/>
          <p:nvPr/>
        </p:nvSpPr>
        <p:spPr>
          <a:xfrm>
            <a:off x="2479500" y="4582024"/>
            <a:ext cx="2022500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720" b="1" i="0">
                <a:solidFill>
                  <a:srgbClr val="1A1A1A"/>
                </a:solidFill>
                <a:latin typeface="Noto Sans KR"/>
                <a:ea typeface="Noto Sans KR"/>
                <a:cs typeface="Noto Sans KR"/>
              </a:rPr>
              <a:t>기본: 47.2톤 기준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2469500" y="4732024"/>
            <a:ext cx="2042500" cy="260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1" i="0">
                <a:solidFill>
                  <a:srgbClr val="385723"/>
                </a:solidFill>
                <a:latin typeface="Noto Sans KR"/>
                <a:ea typeface="Noto Sans KR"/>
                <a:cs typeface="Noto Sans KR"/>
              </a:rPr>
              <a:t>+1.44</a:t>
            </a:r>
            <a:r>
              <a:rPr sz="700" b="1" i="0">
                <a:solidFill>
                  <a:srgbClr val="385723"/>
                </a:solidFill>
                <a:latin typeface="Noto Sans KR"/>
                <a:ea typeface="Noto Sans KR"/>
                <a:cs typeface="Noto Sans KR"/>
              </a:rPr>
              <a:t> 톤</a:t>
            </a:r>
          </a:p>
        </p:txBody>
      </p:sp>
      <p:sp>
        <p:nvSpPr>
          <p:cNvPr id="178" name="TextBox 177"/>
          <p:cNvSpPr txBox="1"/>
          <p:nvPr/>
        </p:nvSpPr>
        <p:spPr>
          <a:xfrm>
            <a:off x="2469500" y="5017024"/>
            <a:ext cx="2042500" cy="15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600" b="0" i="0">
                <a:solidFill>
                  <a:srgbClr val="7F7F7F"/>
                </a:solidFill>
                <a:latin typeface="Noto Sans KR"/>
                <a:ea typeface="Noto Sans KR"/>
                <a:cs typeface="Noto Sans KR"/>
              </a:rPr>
              <a:t>여유 방향 · 확정 부족량·판매 가능량 아님</a:t>
            </a:r>
          </a:p>
        </p:txBody>
      </p:sp>
      <p:sp>
        <p:nvSpPr>
          <p:cNvPr id="179" name="Rectangle 178"/>
          <p:cNvSpPr/>
          <p:nvPr/>
        </p:nvSpPr>
        <p:spPr>
          <a:xfrm>
            <a:off x="4612000" y="4542024"/>
            <a:ext cx="2082500" cy="640000"/>
          </a:xfrm>
          <a:prstGeom prst="rect">
            <a:avLst/>
          </a:prstGeom>
          <a:solidFill>
            <a:srgbClr val="FDEDF0"/>
          </a:solidFill>
          <a:ln w="15240">
            <a:solidFill>
              <a:srgbClr val="EB002C"/>
            </a:solidFill>
          </a:ln>
        </p:spPr>
        <p:txBody>
          <a:bodyPr rtlCol="0" anchor="ctr" lIns="30000" rIns="30000" tIns="0" bIns="0" wrap="square"/>
          <a:lstStyle/>
          <a:p>
            <a:pPr algn="ctr"/>
          </a:p>
        </p:txBody>
      </p:sp>
      <p:sp>
        <p:nvSpPr>
          <p:cNvPr id="180" name="TextBox 179"/>
          <p:cNvSpPr txBox="1"/>
          <p:nvPr/>
        </p:nvSpPr>
        <p:spPr>
          <a:xfrm>
            <a:off x="4642000" y="4582024"/>
            <a:ext cx="2022500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720" b="1" i="0">
                <a:solidFill>
                  <a:srgbClr val="1A1A1A"/>
                </a:solidFill>
                <a:latin typeface="Noto Sans KR"/>
                <a:ea typeface="Noto Sans KR"/>
                <a:cs typeface="Noto Sans KR"/>
              </a:rPr>
              <a:t>105℃ 12개월 적용 시 (50.2)</a:t>
            </a:r>
          </a:p>
        </p:txBody>
      </p:sp>
      <p:sp>
        <p:nvSpPr>
          <p:cNvPr id="181" name="TextBox 180"/>
          <p:cNvSpPr txBox="1"/>
          <p:nvPr/>
        </p:nvSpPr>
        <p:spPr>
          <a:xfrm>
            <a:off x="4632000" y="4732024"/>
            <a:ext cx="2042500" cy="260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400" b="1" i="0">
                <a:solidFill>
                  <a:srgbClr val="385723"/>
                </a:solidFill>
                <a:latin typeface="Noto Sans KR"/>
                <a:ea typeface="Noto Sans KR"/>
                <a:cs typeface="Noto Sans KR"/>
              </a:rPr>
              <a:t>+4.44</a:t>
            </a:r>
            <a:r>
              <a:rPr sz="700" b="1" i="0">
                <a:solidFill>
                  <a:srgbClr val="385723"/>
                </a:solidFill>
                <a:latin typeface="Noto Sans KR"/>
                <a:ea typeface="Noto Sans KR"/>
                <a:cs typeface="Noto Sans KR"/>
              </a:rPr>
              <a:t> 톤</a:t>
            </a:r>
          </a:p>
        </p:txBody>
      </p:sp>
      <p:sp>
        <p:nvSpPr>
          <p:cNvPr id="182" name="TextBox 181"/>
          <p:cNvSpPr txBox="1"/>
          <p:nvPr/>
        </p:nvSpPr>
        <p:spPr>
          <a:xfrm>
            <a:off x="4632000" y="5017024"/>
            <a:ext cx="2042500" cy="15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600" b="0" i="0">
                <a:solidFill>
                  <a:srgbClr val="7F7F7F"/>
                </a:solidFill>
                <a:latin typeface="Noto Sans KR"/>
                <a:ea typeface="Noto Sans KR"/>
                <a:cs typeface="Noto Sans KR"/>
              </a:rPr>
              <a:t>여유 방향 · 검토안 · 승인·시점 미정</a:t>
            </a:r>
          </a:p>
        </p:txBody>
      </p:sp>
      <p:sp>
        <p:nvSpPr>
          <p:cNvPr id="183" name="Rectangle 182"/>
          <p:cNvSpPr/>
          <p:nvPr/>
        </p:nvSpPr>
        <p:spPr>
          <a:xfrm>
            <a:off x="6774500" y="4542024"/>
            <a:ext cx="2082500" cy="640000"/>
          </a:xfrm>
          <a:prstGeom prst="rect">
            <a:avLst/>
          </a:prstGeom>
          <a:solidFill>
            <a:srgbClr val="FFFFFF"/>
          </a:solidFill>
          <a:ln w="15240">
            <a:solidFill>
              <a:srgbClr val="7F7F7F"/>
            </a:solidFill>
            <a:prstDash val="dash"/>
          </a:ln>
        </p:spPr>
        <p:txBody>
          <a:bodyPr rtlCol="0" anchor="ctr" lIns="30000" rIns="30000" tIns="0" bIns="0" wrap="square"/>
          <a:lstStyle/>
          <a:p>
            <a:pPr algn="ctr"/>
          </a:p>
        </p:txBody>
      </p:sp>
      <p:sp>
        <p:nvSpPr>
          <p:cNvPr id="184" name="TextBox 183"/>
          <p:cNvSpPr txBox="1"/>
          <p:nvPr/>
        </p:nvSpPr>
        <p:spPr>
          <a:xfrm>
            <a:off x="6804500" y="4582024"/>
            <a:ext cx="2022500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720" b="1" i="0">
                <a:solidFill>
                  <a:srgbClr val="1A1A1A"/>
                </a:solidFill>
                <a:latin typeface="Noto Sans KR"/>
                <a:ea typeface="Noto Sans KR"/>
                <a:cs typeface="Noto Sans KR"/>
              </a:rPr>
              <a:t>24개월 필요 선행재고 (참고)</a:t>
            </a:r>
          </a:p>
        </p:txBody>
      </p:sp>
      <p:sp>
        <p:nvSpPr>
          <p:cNvPr id="185" name="TextBox 184"/>
          <p:cNvSpPr txBox="1"/>
          <p:nvPr/>
        </p:nvSpPr>
        <p:spPr>
          <a:xfrm>
            <a:off x="6794500" y="4732024"/>
            <a:ext cx="2042500" cy="260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 i="0">
                <a:solidFill>
                  <a:srgbClr val="3F3F3F"/>
                </a:solidFill>
                <a:latin typeface="Noto Sans KR"/>
                <a:ea typeface="Noto Sans KR"/>
                <a:cs typeface="Noto Sans KR"/>
              </a:rPr>
              <a:t>9.6 ~ 19.2</a:t>
            </a:r>
            <a:r>
              <a:rPr sz="700" b="1" i="0">
                <a:solidFill>
                  <a:srgbClr val="3F3F3F"/>
                </a:solidFill>
                <a:latin typeface="Noto Sans KR"/>
                <a:ea typeface="Noto Sans KR"/>
                <a:cs typeface="Noto Sans KR"/>
              </a:rPr>
              <a:t> 톤</a:t>
            </a:r>
          </a:p>
        </p:txBody>
      </p:sp>
      <p:sp>
        <p:nvSpPr>
          <p:cNvPr id="186" name="TextBox 185"/>
          <p:cNvSpPr txBox="1"/>
          <p:nvPr/>
        </p:nvSpPr>
        <p:spPr>
          <a:xfrm>
            <a:off x="6794500" y="5017024"/>
            <a:ext cx="2042500" cy="15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600" b="0" i="0">
                <a:solidFill>
                  <a:srgbClr val="7F7F7F"/>
                </a:solidFill>
                <a:latin typeface="Noto Sans KR"/>
                <a:ea typeface="Noto Sans KR"/>
                <a:cs typeface="Noto Sans KR"/>
              </a:rPr>
              <a:t>'27.1.1 기준 · 시나리오 S2~S3 (Excel 05)</a:t>
            </a:r>
          </a:p>
        </p:txBody>
      </p:sp>
      <p:sp>
        <p:nvSpPr>
          <p:cNvPr id="187" name="Rectangle 186"/>
          <p:cNvSpPr/>
          <p:nvPr/>
        </p:nvSpPr>
        <p:spPr>
          <a:xfrm>
            <a:off x="287000" y="5282024"/>
            <a:ext cx="50000" cy="165000"/>
          </a:xfrm>
          <a:prstGeom prst="rect">
            <a:avLst/>
          </a:prstGeom>
          <a:solidFill>
            <a:srgbClr val="EB002C"/>
          </a:solidFill>
          <a:ln>
            <a:noFill/>
          </a:ln>
        </p:spPr>
        <p:txBody>
          <a:bodyPr rtlCol="0" anchor="ctr" lIns="30000" rIns="30000" tIns="0" bIns="0" wrap="square"/>
          <a:lstStyle/>
          <a:p>
            <a:pPr algn="ctr"/>
          </a:p>
        </p:txBody>
      </p:sp>
      <p:sp>
        <p:nvSpPr>
          <p:cNvPr id="188" name="TextBox 187"/>
          <p:cNvSpPr txBox="1"/>
          <p:nvPr/>
        </p:nvSpPr>
        <p:spPr>
          <a:xfrm>
            <a:off x="397000" y="5252024"/>
            <a:ext cx="8000000" cy="22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1" i="0">
                <a:solidFill>
                  <a:srgbClr val="1A1A1A"/>
                </a:solidFill>
                <a:latin typeface="Noto Sans KR"/>
                <a:ea typeface="Noto Sans KR"/>
                <a:cs typeface="Noto Sans KR"/>
              </a:rPr>
              <a:t>③ 재고 이월 · 추가 개선 · 품질 · 충진 자원 검토</a:t>
            </a:r>
          </a:p>
        </p:txBody>
      </p:sp>
      <p:sp>
        <p:nvSpPr>
          <p:cNvPr id="189" name="Rectangle 188"/>
          <p:cNvSpPr/>
          <p:nvPr/>
        </p:nvSpPr>
        <p:spPr>
          <a:xfrm>
            <a:off x="287000" y="5482024"/>
            <a:ext cx="2082500" cy="640000"/>
          </a:xfrm>
          <a:prstGeom prst="rect">
            <a:avLst/>
          </a:prstGeom>
          <a:solidFill>
            <a:srgbClr val="FFF8E7"/>
          </a:solidFill>
          <a:ln w="15240">
            <a:solidFill>
              <a:srgbClr val="BF9000"/>
            </a:solidFill>
          </a:ln>
        </p:spPr>
        <p:txBody>
          <a:bodyPr rtlCol="0" anchor="ctr" lIns="30000" rIns="30000" tIns="0" bIns="0" wrap="square"/>
          <a:lstStyle/>
          <a:p>
            <a:pPr algn="ctr"/>
          </a:p>
        </p:txBody>
      </p:sp>
      <p:sp>
        <p:nvSpPr>
          <p:cNvPr id="190" name="TextBox 189"/>
          <p:cNvSpPr txBox="1"/>
          <p:nvPr/>
        </p:nvSpPr>
        <p:spPr>
          <a:xfrm>
            <a:off x="317000" y="5522024"/>
            <a:ext cx="2022500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720" b="1" i="0">
                <a:solidFill>
                  <a:srgbClr val="1A1A1A"/>
                </a:solidFill>
                <a:latin typeface="Noto Sans KR"/>
                <a:ea typeface="Noto Sans KR"/>
                <a:cs typeface="Noto Sans KR"/>
              </a:rPr>
              <a:t>재고 이월</a:t>
            </a:r>
          </a:p>
        </p:txBody>
      </p:sp>
      <p:sp>
        <p:nvSpPr>
          <p:cNvPr id="191" name="TextBox 190"/>
          <p:cNvSpPr txBox="1"/>
          <p:nvPr/>
        </p:nvSpPr>
        <p:spPr>
          <a:xfrm>
            <a:off x="307000" y="5672024"/>
            <a:ext cx="2042500" cy="260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1" i="0">
                <a:solidFill>
                  <a:srgbClr val="7F6000"/>
                </a:solidFill>
                <a:latin typeface="Noto Sans KR"/>
                <a:ea typeface="Noto Sans KR"/>
                <a:cs typeface="Noto Sans KR"/>
              </a:rPr>
              <a:t>'27.12 → '28.1</a:t>
            </a:r>
          </a:p>
        </p:txBody>
      </p:sp>
      <p:sp>
        <p:nvSpPr>
          <p:cNvPr id="192" name="TextBox 191"/>
          <p:cNvSpPr txBox="1"/>
          <p:nvPr/>
        </p:nvSpPr>
        <p:spPr>
          <a:xfrm>
            <a:off x="307000" y="5957024"/>
            <a:ext cx="2042500" cy="15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600" b="0" i="0">
                <a:solidFill>
                  <a:srgbClr val="7F7F7F"/>
                </a:solidFill>
                <a:latin typeface="Noto Sans KR"/>
                <a:ea typeface="Noto Sans KR"/>
                <a:cs typeface="Noto Sans KR"/>
              </a:rPr>
              <a:t>기초·목표재고 입력 · 하이닉스 우선 확보</a:t>
            </a:r>
          </a:p>
        </p:txBody>
      </p:sp>
      <p:sp>
        <p:nvSpPr>
          <p:cNvPr id="193" name="Rectangle 192"/>
          <p:cNvSpPr/>
          <p:nvPr/>
        </p:nvSpPr>
        <p:spPr>
          <a:xfrm>
            <a:off x="2449500" y="5482024"/>
            <a:ext cx="2082500" cy="640000"/>
          </a:xfrm>
          <a:prstGeom prst="rect">
            <a:avLst/>
          </a:prstGeom>
          <a:solidFill>
            <a:srgbClr val="FFFFFF"/>
          </a:solidFill>
          <a:ln w="15240">
            <a:solidFill>
              <a:srgbClr val="7F7F7F"/>
            </a:solidFill>
            <a:prstDash val="dash"/>
          </a:ln>
        </p:spPr>
        <p:txBody>
          <a:bodyPr rtlCol="0" anchor="ctr" lIns="30000" rIns="30000" tIns="0" bIns="0" wrap="square"/>
          <a:lstStyle/>
          <a:p>
            <a:pPr algn="ctr"/>
          </a:p>
        </p:txBody>
      </p:sp>
      <p:sp>
        <p:nvSpPr>
          <p:cNvPr id="194" name="TextBox 193"/>
          <p:cNvSpPr txBox="1"/>
          <p:nvPr/>
        </p:nvSpPr>
        <p:spPr>
          <a:xfrm>
            <a:off x="2479500" y="5522024"/>
            <a:ext cx="2022500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720" b="1" i="0">
                <a:solidFill>
                  <a:srgbClr val="1A1A1A"/>
                </a:solidFill>
                <a:latin typeface="Noto Sans KR"/>
                <a:ea typeface="Noto Sans KR"/>
                <a:cs typeface="Noto Sans KR"/>
              </a:rPr>
              <a:t>추가 개선</a:t>
            </a:r>
          </a:p>
        </p:txBody>
      </p:sp>
      <p:sp>
        <p:nvSpPr>
          <p:cNvPr id="195" name="TextBox 194"/>
          <p:cNvSpPr txBox="1"/>
          <p:nvPr/>
        </p:nvSpPr>
        <p:spPr>
          <a:xfrm>
            <a:off x="2469500" y="5672024"/>
            <a:ext cx="2042500" cy="260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1" i="0">
                <a:solidFill>
                  <a:srgbClr val="3F3F3F"/>
                </a:solidFill>
                <a:latin typeface="Noto Sans KR"/>
                <a:ea typeface="Noto Sans KR"/>
                <a:cs typeface="Noto Sans KR"/>
              </a:rPr>
              <a:t>설비별 ≤ 70.5</a:t>
            </a:r>
            <a:r>
              <a:rPr sz="700" b="1" i="0">
                <a:solidFill>
                  <a:srgbClr val="3F3F3F"/>
                </a:solidFill>
                <a:latin typeface="Noto Sans KR"/>
                <a:ea typeface="Noto Sans KR"/>
                <a:cs typeface="Noto Sans KR"/>
              </a:rPr>
              <a:t> h</a:t>
            </a:r>
          </a:p>
        </p:txBody>
      </p:sp>
      <p:sp>
        <p:nvSpPr>
          <p:cNvPr id="196" name="TextBox 195"/>
          <p:cNvSpPr txBox="1"/>
          <p:nvPr/>
        </p:nvSpPr>
        <p:spPr>
          <a:xfrm>
            <a:off x="2469500" y="5957024"/>
            <a:ext cx="2042500" cy="15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600" b="0" i="0">
                <a:solidFill>
                  <a:srgbClr val="7F7F7F"/>
                </a:solidFill>
                <a:latin typeface="Noto Sans KR"/>
                <a:ea typeface="Noto Sans KR"/>
                <a:cs typeface="Noto Sans KR"/>
              </a:rPr>
              <a:t>Mix·준비·대기 단축 · 105℃ 검토</a:t>
            </a:r>
          </a:p>
        </p:txBody>
      </p:sp>
      <p:sp>
        <p:nvSpPr>
          <p:cNvPr id="197" name="Rectangle 196"/>
          <p:cNvSpPr/>
          <p:nvPr/>
        </p:nvSpPr>
        <p:spPr>
          <a:xfrm>
            <a:off x="4612000" y="5482024"/>
            <a:ext cx="2082500" cy="640000"/>
          </a:xfrm>
          <a:prstGeom prst="rect">
            <a:avLst/>
          </a:prstGeom>
          <a:solidFill>
            <a:srgbClr val="F5F6F8"/>
          </a:solidFill>
          <a:ln>
            <a:noFill/>
          </a:ln>
        </p:spPr>
        <p:txBody>
          <a:bodyPr rtlCol="0" anchor="ctr" lIns="30000" rIns="30000" tIns="0" bIns="0" wrap="square"/>
          <a:lstStyle/>
          <a:p>
            <a:pPr algn="ctr"/>
          </a:p>
        </p:txBody>
      </p:sp>
      <p:sp>
        <p:nvSpPr>
          <p:cNvPr id="198" name="TextBox 197"/>
          <p:cNvSpPr txBox="1"/>
          <p:nvPr/>
        </p:nvSpPr>
        <p:spPr>
          <a:xfrm>
            <a:off x="4642000" y="5522024"/>
            <a:ext cx="2022500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720" b="1" i="0">
                <a:solidFill>
                  <a:srgbClr val="1A1A1A"/>
                </a:solidFill>
                <a:latin typeface="Noto Sans KR"/>
                <a:ea typeface="Noto Sans KR"/>
                <a:cs typeface="Noto Sans KR"/>
              </a:rPr>
              <a:t>충진 자원</a:t>
            </a:r>
          </a:p>
        </p:txBody>
      </p:sp>
      <p:sp>
        <p:nvSpPr>
          <p:cNvPr id="199" name="TextBox 198"/>
          <p:cNvSpPr txBox="1"/>
          <p:nvPr/>
        </p:nvSpPr>
        <p:spPr>
          <a:xfrm>
            <a:off x="4632000" y="5672024"/>
            <a:ext cx="2042500" cy="260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 i="0">
                <a:solidFill>
                  <a:srgbClr val="1A1A1A"/>
                </a:solidFill>
                <a:latin typeface="Noto Sans KR"/>
                <a:ea typeface="Noto Sans KR"/>
                <a:cs typeface="Noto Sans KR"/>
              </a:rPr>
              <a:t>267.3 h · 8</a:t>
            </a:r>
            <a:r>
              <a:rPr sz="700" b="1" i="0">
                <a:solidFill>
                  <a:srgbClr val="1A1A1A"/>
                </a:solidFill>
                <a:latin typeface="Noto Sans KR"/>
                <a:ea typeface="Noto Sans KR"/>
                <a:cs typeface="Noto Sans KR"/>
              </a:rPr>
              <a:t> 용기/월</a:t>
            </a:r>
          </a:p>
        </p:txBody>
      </p:sp>
      <p:sp>
        <p:nvSpPr>
          <p:cNvPr id="200" name="TextBox 199"/>
          <p:cNvSpPr txBox="1"/>
          <p:nvPr/>
        </p:nvSpPr>
        <p:spPr>
          <a:xfrm>
            <a:off x="4632000" y="5957024"/>
            <a:ext cx="2042500" cy="15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600" b="0" i="0">
                <a:solidFill>
                  <a:srgbClr val="7F7F7F"/>
                </a:solidFill>
                <a:latin typeface="Noto Sans KR"/>
                <a:ea typeface="Noto Sans KR"/>
                <a:cs typeface="Noto Sans KR"/>
              </a:rPr>
              <a:t>5 Gal 연 3,208 h (1교대 152%) · 200 L 연 96용기</a:t>
            </a:r>
          </a:p>
        </p:txBody>
      </p:sp>
      <p:sp>
        <p:nvSpPr>
          <p:cNvPr id="201" name="Rectangle 200"/>
          <p:cNvSpPr/>
          <p:nvPr/>
        </p:nvSpPr>
        <p:spPr>
          <a:xfrm>
            <a:off x="6774500" y="5482024"/>
            <a:ext cx="2082500" cy="640000"/>
          </a:xfrm>
          <a:prstGeom prst="rect">
            <a:avLst/>
          </a:prstGeom>
          <a:solidFill>
            <a:srgbClr val="F5F6F8"/>
          </a:solidFill>
          <a:ln>
            <a:noFill/>
          </a:ln>
        </p:spPr>
        <p:txBody>
          <a:bodyPr rtlCol="0" anchor="ctr" lIns="30000" rIns="30000" tIns="0" bIns="0" wrap="square"/>
          <a:lstStyle/>
          <a:p>
            <a:pPr algn="ctr"/>
          </a:p>
        </p:txBody>
      </p:sp>
      <p:sp>
        <p:nvSpPr>
          <p:cNvPr id="202" name="TextBox 201"/>
          <p:cNvSpPr txBox="1"/>
          <p:nvPr/>
        </p:nvSpPr>
        <p:spPr>
          <a:xfrm>
            <a:off x="6804500" y="5522024"/>
            <a:ext cx="2022500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720" b="1" i="0">
                <a:solidFill>
                  <a:srgbClr val="1A1A1A"/>
                </a:solidFill>
                <a:latin typeface="Noto Sans KR"/>
                <a:ea typeface="Noto Sans KR"/>
                <a:cs typeface="Noto Sans KR"/>
              </a:rPr>
              <a:t>105℃ 검토안 확인</a:t>
            </a:r>
          </a:p>
        </p:txBody>
      </p:sp>
      <p:sp>
        <p:nvSpPr>
          <p:cNvPr id="203" name="TextBox 202"/>
          <p:cNvSpPr txBox="1"/>
          <p:nvPr/>
        </p:nvSpPr>
        <p:spPr>
          <a:xfrm>
            <a:off x="6794500" y="5672024"/>
            <a:ext cx="2042500" cy="260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200" b="1" i="0">
                <a:solidFill>
                  <a:srgbClr val="1A1A1A"/>
                </a:solidFill>
                <a:latin typeface="Noto Sans KR"/>
                <a:ea typeface="Noto Sans KR"/>
                <a:cs typeface="Noto Sans KR"/>
              </a:rPr>
              <a:t>승인 · 적용 시점</a:t>
            </a:r>
          </a:p>
        </p:txBody>
      </p:sp>
      <p:sp>
        <p:nvSpPr>
          <p:cNvPr id="204" name="TextBox 203"/>
          <p:cNvSpPr txBox="1"/>
          <p:nvPr/>
        </p:nvSpPr>
        <p:spPr>
          <a:xfrm>
            <a:off x="6794500" y="5957024"/>
            <a:ext cx="2042500" cy="15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600" b="0" i="0">
                <a:solidFill>
                  <a:srgbClr val="7F7F7F"/>
                </a:solidFill>
                <a:latin typeface="Noto Sans KR"/>
                <a:ea typeface="Noto Sans KR"/>
                <a:cs typeface="Noto Sans KR"/>
              </a:rPr>
              <a:t>열 안정성·Dimer·Unknown·Yield · 이지켐 색도</a:t>
            </a:r>
          </a:p>
        </p:txBody>
      </p:sp>
    </p:spTree>
    <p:extLst>
      <p:ext uri="{BB962C8B-B14F-4D97-AF65-F5344CB8AC3E}">
        <p14:creationId xmlns:p14="http://schemas.microsoft.com/office/powerpoint/2010/main" val="129899069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95502</TotalTime>
  <Words>9459</Words>
  <Application>Microsoft Office PowerPoint</Application>
  <PresentationFormat>화면 슬라이드 쇼(4:3)</PresentationFormat>
  <Paragraphs>2567</Paragraphs>
  <Slides>54</Slides>
  <Notes>54</Notes>
  <HiddenSlides>0</HiddenSlides>
  <MMClips>0</MMClips>
  <ScaleCrop>false</ScaleCrop>
  <HeadingPairs>
    <vt:vector size="6" baseType="variant">
      <vt:variant>
        <vt:lpstr>사용한 글꼴</vt:lpstr>
      </vt:variant>
      <vt:variant>
        <vt:i4>18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54</vt:i4>
      </vt:variant>
    </vt:vector>
  </HeadingPairs>
  <TitlesOfParts>
    <vt:vector size="73" baseType="lpstr">
      <vt:lpstr>Meiryo UI</vt:lpstr>
      <vt:lpstr>ＭＳ Ｐゴシック</vt:lpstr>
      <vt:lpstr>Paperlogy 4 Regular</vt:lpstr>
      <vt:lpstr>Paperlogy 5 Medium</vt:lpstr>
      <vt:lpstr>Paperlogy 6 SemiBold</vt:lpstr>
      <vt:lpstr>Paperlogy 7 Bold</vt:lpstr>
      <vt:lpstr>Paperlogy 8 ExtraBold</vt:lpstr>
      <vt:lpstr>Pretendard</vt:lpstr>
      <vt:lpstr>Pretendard Light</vt:lpstr>
      <vt:lpstr>Pretendard Medium</vt:lpstr>
      <vt:lpstr>Pretendard SemiBold</vt:lpstr>
      <vt:lpstr>맑은 고딕</vt:lpstr>
      <vt:lpstr>맑은 고딕</vt:lpstr>
      <vt:lpstr>Arial</vt:lpstr>
      <vt:lpstr>Arial Narrow</vt:lpstr>
      <vt:lpstr>Tahoma</vt:lpstr>
      <vt:lpstr>Times New Roman</vt:lpstr>
      <vt:lpstr>Wingdings</vt:lpstr>
      <vt:lpstr>Office 테마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>XP R2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User</dc:creator>
  <cp:lastModifiedBy>김지현(JIHYUN KIM)/SK트리켐 마케팅팀/SKMR</cp:lastModifiedBy>
  <cp:revision>2121</cp:revision>
  <cp:lastPrinted>2024-01-02T22:30:24Z</cp:lastPrinted>
  <dcterms:created xsi:type="dcterms:W3CDTF">2016-08-27T13:10:56Z</dcterms:created>
  <dcterms:modified xsi:type="dcterms:W3CDTF">2026-09-10T02:13:59Z</dcterms:modified>
</cp:coreProperties>
</file>