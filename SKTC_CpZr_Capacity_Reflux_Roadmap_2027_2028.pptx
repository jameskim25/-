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75" r:id="rId13"/>
    <p:sldId id="269" r:id="rId62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10월 생산계획의 표시일은 해당 Batch의 생산과 충진이 모두 끝나는 완료 예정일이며, Batch 번호는 각각 독립된 생산 Batch입니다.</a:t>
            </a:r>
          </a:p>
          <a:p>
            <a:r>
              <a:t>10월에는 #82~#92 11 Batch가 완료되어 2,090 kg입니다. 9월 마지막 #81(9/28)부터 #92(10/29)까지 31일 동안 11번 완료되어 평균 간격은 2.82일 = 67.6 h입니다(3일 간격 9회, 2일 간격 2회).</a:t>
            </a:r>
          </a:p>
          <a:p>
            <a:r>
              <a:t>정제기는 Batch마다 준비·투입 2 h + 순수 정제 45 h = 47 h를 순수하게 사용하고, 나머지 20.6 h는 제품 이송 중 점유·세척·전환·투입 대기 등입니다.</a:t>
            </a:r>
          </a:p>
          <a:p>
            <a:r>
              <a:t>순수 정제만으로 계산한 720 ÷ 45 = 16 Batch는 이론값이고, 실제 계획은 대기를 포함해 11 Batch입니다. 현재 연간 Capa. 26.2톤은 월 11.5 Batch 상당입니다.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계산한 77 h(5 Gal)·67 h(200 L)는 각 공정의 순수 작업시간을 더한 값이라 대기시간이 들어 있지 않습니다.</a:t>
            </a:r>
          </a:p>
          <a:p>
            <a:r>
              <a:t>10월 생산계획의 평균 완료 간격 67.6 h에서 정제기 순수 점유 47 h(준비·투입 2 + 순수 정제 45)를 빼면 Batch마다 평균 20.6 h의 대기·전환이 있습니다(순수 비율 69%).</a:t>
            </a:r>
          </a:p>
          <a:p>
            <a:r>
              <a:t>이 대기를 더하면 1 Batch의 실제 소요는 5 Gal 약 97.6 h(4.1일), 200 L 약 87.6 h(3.7일)입니다. 완료 간격(67.6 h)보다 길기 때문에 앞 Batch를 충진하는 동안 다음 Batch를 정제하는 병행 운전이 전제입니다.</a:t>
            </a:r>
          </a:p>
          <a:p>
            <a:r>
              <a:t>마일스톤의 대기 위치는 평균값을 FQC 뒤에 모아 표시한 것으로, 실제로는 제품 이송 점유·세척·전환·투입 대기·충진 대기(근무시간)로 나뉩니다. 5 Gal 충진은 18 h 작업이지만 근무시간 기준 약 2일이 걸려 충진 단계만 봐도 대기가 약 30 h입니다.</a:t>
            </a:r>
          </a:p>
          <a:p>
            <a:r>
              <a:t>정제기 2대 운영 시 47.2톤을 내려면 설비별 대기를 20.6 h에서 17.6 h 수준으로 줄여야 합니다(5장).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운영 예시입니다. 47.2톤 기준 월 Capa. 4,290.9 kg ÷ 190 = 월 22.6 Batch를 평균 월 730 h에 2대로 나누면 설비별 주기는 64.6 h입니다. 정제기 2는 정제기 1보다 30 h 늦게 투입하는 것으로 가정했습니다(실제 시차는 초류 진행을 보고 결정).</a:t>
            </a:r>
          </a:p>
          <a:p>
            <a:r>
              <a:t>달력의 완료일은 투입 후 5 Gal 기준 실제 소요(순수 77 h + 대기 20.6 h = 97.6 h)가 지난 날짜입니다. 2027년 7월에는 정제기 ① 11 Batch, ② 11 Batch, 합계 22 Batch = 4,180 kg이 완료됩니다.</a:t>
            </a:r>
          </a:p>
          <a:p>
            <a:r>
              <a:t>설비별 주기 64.6 h는 순수 47 h + 대기 17.6 h입니다. 10월 생산계획의 대기 20.6 h를 그대로 두면 47.2톤에 못 미치므로, 세척·전환·투입 대기를 줄이고 Mix·Premix 준비를 정제기 운전과 겹치는 운영이 필요합니다.</a:t>
            </a:r>
          </a:p>
          <a:p>
            <a:r>
              <a:t>기존 생산계획(5~12월 3,564 kg)은 설비별 주기 77.8 h(대기 30.8 h)에 해당해 현재보다 여유가 있고, 2028년 50.2톤은 대기 13.8 h까지 줄여야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버전을 같은 출하계획(2027 41.72톤, 2028 45.76톤)과 비교했습니다. 2027년 1~4월은 확정 생산(2,178 · 2,178 · 3,168 · 1,188 kg)으로 두 버전이 같고, 재고는 2027.1.1 기초재고 2,882 kg에서 시작해 전월 재고 + 생산 − 출하로 이어집니다.</a:t>
            </a:r>
          </a:p>
          <a:p>
            <a:r>
              <a:t>① Capa. 기준: 2027년 5~12월 47,200 ÷ 11 = 4,290.9 kg/월, 2028년 105℃ 50,200 ÷ 11 = 4,563.6 kg/월(4월 대정비 1,188 kg 별도). 2027년 +1,319 kg, 2028년 +5,628 kg. 4월 대정비 달에 재고가 −579 kg까지 내려가고, '27 말 +4,201 kg, '28 말 +9,829 kg입니다.</a:t>
            </a:r>
          </a:p>
          <a:p>
            <a:r>
              <a:t>② 기존 생산계획: 2027년 5~12월 3,564 kg, 2028년 3,564 kg(4월 1,188 · 8~12월 3,168 kg). 2027년 −4,496 kg, 2028년 −7,348 kg으로 '27 말 −1,614 kg, '28 말 −8,962 kg까지 부족이 커집니다.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① Capa. 기준 (47.2톤). 생산 43,039 kg, 출하 41,720 kg, 차이 +1,319 kg. 2027년 1~4월은 확정 생산(2,178 · 2,178 · 3,168 · 1,188 kg, 4월 대정비)입니다. 5월부터 월 Capa. 47,200 ÷ 11 = 4,290.9 kg을 적용했습니다. 재고는 2027.1.1 기초재고 2,882 kg에서 전월 재고 + 생산 − 출하로 이어지며, 2027년 최저 −579 kg(4월), 연말 +4,201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② 기존 생산계획. 생산 37,224 kg, 출하 41,720 kg, 차이 −4,496 kg. 2027년 1~4월은 확정 생산(2,178 · 2,178 · 3,168 · 1,188 kg, 4월 대정비)입니다. 기존 생산계획 수치(3,564 · 3,168 · 2,178 · 1,188 kg)는 198 kg × 정수 Batch(18 · 16 · 11 · 6)와 일치합니다 — 계획 Batch량 기준 확인 필요. 재고는 2027.1.1 기초재고 2,882 kg에서 전월 재고 + 생산 − 출하로 이어지며, 2027년 최저 −1,614 kg(12월), 연말 −1,614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① Capa. 기준 (50.2톤). 생산 51,388 kg, 출하 45,760 kg, 차이 +5,628 kg. 105℃ 50.2톤 기준으로 50,200 ÷ 11 = 4,563.6 kg, 4월 대정비 1,188 kg입니다. 105℃는 품질 검증·승인이 전제입니다. 재고는 2027.1.1 기초재고 2,882 kg에서 전월 재고 + 생산 − 출하로 이어지며, 2028년 최저 +3,827 kg(4월), 연말 +9,829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② 기존 생산계획. 생산 38,412 kg, 출하 45,760 kg, 차이 −7,348 kg. 기존 생산계획 수치(3,564 · 3,168 · 2,178 · 1,188 kg)는 198 kg × 정수 Batch(18 · 16 · 11 · 6)와 일치합니다 — 계획 Batch량 기준 확인 필요. 재고는 2027.1.1 기초재고 2,882 kg에서 전월 재고 + 생산 − 출하로 이어지며, 2028년 최저 −8,962 kg(12월), 연말 −8,962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출하 물량으로 계산했습니다. 5 Gal은 (하이닉스 + CXMT) ÷ 20 kg × 2 h, 200 L은 이지켐 140 kg · 한솔 150 kg 용기 × 8 h(수동 기준)입니다.</a:t>
            </a:r>
          </a:p>
          <a:p>
            <a:r>
              <a:t>2027년 하반기부터 5 Gal 충진이 월 약 267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않고, 환산 기준은 190 kg/Batch를 유지했습니다.</a:t>
            </a:r>
          </a:p>
          <a:p>
            <a:r>
              <a:t>수율은 신규 Crude만이 아니라 재투입·Mix를 포함한 총 투입량 기준으로 따로 계산해야 합니다(Excel 09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190 kg과 5 Gal 9병 180 kg의 차이 10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겹칩니다(현장 설명: 다음 날 투입·초류 중간·초류 종료 무렵 — 투입 간격은 미확정).</a:t>
            </a:r>
          </a:p>
          <a:p>
            <a:r>
              <a:t>정제기별 Batch 시간이 절반으로 줄어드는 것이 아니라 두 설비의 생산을 겹쳐 전체 생산량을 늘리는 방식이며, 제품 회수 시점이 엇갈려 검사·충진 부하가 한꺼번에 몰리지 않습니다. 57 ÷ 2 = 28.5 h는 이상적인 경우의 도착 간격 설명일 뿐 정제기별 Batch 시간이 아닙니다.</a:t>
            </a:r>
          </a:p>
          <a:p>
            <a:r>
              <a:t>일정: '27.1~3 정제기 1대 확정 생산(2,178 · 2,178 · 3,168 kg) → '27.4 대정비(1,188 kg) → '27.5부터 정제기 2대. 대정비는 매년 4월로 반영했습니다. 200 L ARS는 '27.7부터(이지켐·한솔), 5 Gal은 글로브 박스를 유지합니다.</a:t>
            </a:r>
          </a:p>
          <a:p>
            <a:r>
              <a:t>Capa.: 26.2 + 21 = 47.2톤/년. 월 기준은 47,200 ÷ 11 = 4,290.9 kg이고 대정비 월(4월)은 1,188 kg을 따로 둡니다. 2028년은 105℃ 적용(+3톤)으로 50.2톤, 50,200 ÷ 11 = 월 4,563.6 kg — 열 안정성·Dimer·Unknown impurity·수율 검증과 승인이 전제입니다.</a:t>
            </a:r>
          </a:p>
          <a:p>
            <a:r>
              <a:t>47.2톤이 현재의 2배(52.4톤)가 아닌 것은 추가 투입용 Mix·Premix 준비 등에 설비 시간이 필요하기 때문이며, 각 요인의 손실량은 아직 정량화되지 않았습니다.</a:t>
            </a:r>
          </a:p>
          <a:p>
            <a:r>
              <a:t>리플럭스는 하이닉스 요구 품질 대응과 생산능력 확대를 함께 보는 프로젝트입니다. 추가 정제기가 기존 설비 개조인지 신규 설치인지,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마일스톤 — 순수 작업시간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단계별 시간 · 누적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785616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77 h</a:t>
            </a:r>
          </a:p>
        </p:txBody>
      </p:sp>
      <p:sp>
        <p:nvSpPr>
          <p:cNvPr id="262" name="Pentagon 261"/>
          <p:cNvSpPr/>
          <p:nvPr/>
        </p:nvSpPr>
        <p:spPr>
          <a:xfrm>
            <a:off x="1344168" y="3703320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63" name="Chevron 262"/>
          <p:cNvSpPr/>
          <p:nvPr/>
        </p:nvSpPr>
        <p:spPr>
          <a:xfrm>
            <a:off x="2415322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64" name="Chevron 263"/>
          <p:cNvSpPr/>
          <p:nvPr/>
        </p:nvSpPr>
        <p:spPr>
          <a:xfrm>
            <a:off x="3486476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65" name="Chevron 264"/>
          <p:cNvSpPr/>
          <p:nvPr/>
        </p:nvSpPr>
        <p:spPr>
          <a:xfrm>
            <a:off x="4557630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66" name="Chevron 265"/>
          <p:cNvSpPr/>
          <p:nvPr/>
        </p:nvSpPr>
        <p:spPr>
          <a:xfrm>
            <a:off x="5628785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67" name="Chevron 266"/>
          <p:cNvSpPr/>
          <p:nvPr/>
        </p:nvSpPr>
        <p:spPr>
          <a:xfrm>
            <a:off x="6699939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→75 h · 3.1일</a:t>
            </a:r>
          </a:p>
        </p:txBody>
      </p:sp>
      <p:sp>
        <p:nvSpPr>
          <p:cNvPr id="268" name="Chevron 267"/>
          <p:cNvSpPr/>
          <p:nvPr/>
        </p:nvSpPr>
        <p:spPr>
          <a:xfrm>
            <a:off x="7771093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→77 h · 3.2일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83464" y="455371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67 h</a:t>
            </a:r>
          </a:p>
        </p:txBody>
      </p:sp>
      <p:sp>
        <p:nvSpPr>
          <p:cNvPr id="270" name="Pentagon 269"/>
          <p:cNvSpPr/>
          <p:nvPr/>
        </p:nvSpPr>
        <p:spPr>
          <a:xfrm>
            <a:off x="1344168" y="4471416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71" name="Chevron 270"/>
          <p:cNvSpPr/>
          <p:nvPr/>
        </p:nvSpPr>
        <p:spPr>
          <a:xfrm>
            <a:off x="2415322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72" name="Chevron 271"/>
          <p:cNvSpPr/>
          <p:nvPr/>
        </p:nvSpPr>
        <p:spPr>
          <a:xfrm>
            <a:off x="3486476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73" name="Chevron 272"/>
          <p:cNvSpPr/>
          <p:nvPr/>
        </p:nvSpPr>
        <p:spPr>
          <a:xfrm>
            <a:off x="4557630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74" name="Chevron 273"/>
          <p:cNvSpPr/>
          <p:nvPr/>
        </p:nvSpPr>
        <p:spPr>
          <a:xfrm>
            <a:off x="5628785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75" name="Chevron 274"/>
          <p:cNvSpPr/>
          <p:nvPr/>
        </p:nvSpPr>
        <p:spPr>
          <a:xfrm>
            <a:off x="6699939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→65 h · 2.7일</a:t>
            </a:r>
          </a:p>
        </p:txBody>
      </p:sp>
      <p:sp>
        <p:nvSpPr>
          <p:cNvPr id="276" name="Chevron 275"/>
          <p:cNvSpPr/>
          <p:nvPr/>
        </p:nvSpPr>
        <p:spPr>
          <a:xfrm>
            <a:off x="7771093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→67 h · 2.8일</a:t>
            </a:r>
          </a:p>
        </p:txBody>
      </p:sp>
      <p:sp>
        <p:nvSpPr>
          <p:cNvPr id="277" name="Rectangle 257"/>
          <p:cNvSpPr/>
          <p:nvPr/>
        </p:nvSpPr>
        <p:spPr>
          <a:xfrm>
            <a:off x="283464" y="529437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8" name="TextBox 258"/>
          <p:cNvSpPr txBox="1"/>
          <p:nvPr/>
        </p:nvSpPr>
        <p:spPr>
          <a:xfrm>
            <a:off x="393192" y="52669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시간 구분 — 정제기는 47 h만 묶이고, 검사·충진은 다음 Batch 정제와 병행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9" name="Table 278"/>
          <p:cNvGraphicFramePr>
            <a:graphicFrameLocks noGrp="1"/>
          </p:cNvGraphicFramePr>
          <p:nvPr/>
        </p:nvGraphicFramePr>
        <p:xfrm>
          <a:off x="283464" y="5513832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822960"/>
                <a:gridCol w="822960"/>
                <a:gridCol w="440740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점유 (준비·투입 + 순수 정제)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1대가 묶이는 시간 → Batch 주기를 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· 이송 (IQC · PQC~이송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IQC는 원료 Lot 단위 · PQC~이송은 합계 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OQC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2 h/병 × 9병 + 2 h · 200 L 8 h/용기 + 2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매년 4월 대정비 · '27.5 정제기 2대 생산 시작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675887"/>
          <a:ext cx="8540496" cy="1504187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(확정)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· 2,178 · 3,168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(매년 4월)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4,290.9 kg (47,200 ÷ 11) · 기존 생산계획 3,564 kg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4,563.6 kg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(이지켐 · 한솔) · 5 Gal은 글로브 박스 유지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(2028)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103 → 105℃ · +3톤 (50.2톤)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31266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285232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기준 — 4월 대정비 1,188 kg · 나머지 11개월에 연간 Capa. ÷ 11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522976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1188720"/>
                <a:gridCol w="1371600"/>
                <a:gridCol w="1554480"/>
                <a:gridCol w="207568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Capa.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 (대정비)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나머지 11개월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정제기 1대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('27.5~)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 ÷ 11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적용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 ÷ 11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10월 생산계획 — Batch 완료 주기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10월 11 Batch (#82~#92) = 2,090 kg · 평균 완료 간격 2.8일 = 67.6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2026년 10월 생산계획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완료일 = 생산 및 충진 완료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 완료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#83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380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#84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570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#85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760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#86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950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#87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1,140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#88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1,330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#89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1,520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#90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1,710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1,900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2,090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완료 간격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822960"/>
                <a:gridCol w="88696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(#81→#92)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÷ 11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5870448" y="290779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5980176" y="288036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정제기 주기 구성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5870448" y="3136392"/>
          <a:ext cx="2990088" cy="1152144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777240"/>
                <a:gridCol w="749808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(준비·투입 +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· 전환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월 생산량 비교 — 정제기 1대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283464" y="4690872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14400"/>
                <a:gridCol w="1005840"/>
                <a:gridCol w="914400"/>
                <a:gridCol w="1143000"/>
                <a:gridCol w="2487168"/>
              </a:tblGrid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정제만)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h ÷ 45 h (점유·전환·대기 제외)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× 24 h ÷ 11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kg ÷ 12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Batch 소요시간 — 순수 작업 vs 대기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주기 67.6 h = 순수 47 h + 대기 20.6 h · 5 Gal 1 Batch 실제 약 98 h (4.1일)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순수 작업 vs 대기 (평균)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10월 생산계획 완료 간격 기준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822960"/>
                <a:gridCol w="777240"/>
                <a:gridCol w="914400"/>
                <a:gridCol w="731520"/>
                <a:gridCol w="777240"/>
                <a:gridCol w="2395728"/>
              </a:tblGrid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작업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소요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 환산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Batch 주기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− (준비·투입 + 순수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4.1일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77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3.7일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67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충진 (근무시간)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· 현장 설명 약 2일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8803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8529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평균 Batch 마일스톤 — 대기 포함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 시간 · 누적 시간 (일)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83464" y="3218688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97.6 h</a:t>
            </a:r>
          </a:p>
        </p:txBody>
      </p:sp>
      <p:sp>
        <p:nvSpPr>
          <p:cNvPr id="265" name="Pentagon 264"/>
          <p:cNvSpPr/>
          <p:nvPr/>
        </p:nvSpPr>
        <p:spPr>
          <a:xfrm>
            <a:off x="1344168" y="3127248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66" name="Chevron 265"/>
          <p:cNvSpPr/>
          <p:nvPr/>
        </p:nvSpPr>
        <p:spPr>
          <a:xfrm>
            <a:off x="228142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67" name="Chevron 266"/>
          <p:cNvSpPr/>
          <p:nvPr/>
        </p:nvSpPr>
        <p:spPr>
          <a:xfrm>
            <a:off x="321868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68" name="Chevron 267"/>
          <p:cNvSpPr/>
          <p:nvPr/>
        </p:nvSpPr>
        <p:spPr>
          <a:xfrm>
            <a:off x="415594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69" name="Chevron 268"/>
          <p:cNvSpPr/>
          <p:nvPr/>
        </p:nvSpPr>
        <p:spPr>
          <a:xfrm>
            <a:off x="509320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0" name="Chevron 269"/>
          <p:cNvSpPr/>
          <p:nvPr/>
        </p:nvSpPr>
        <p:spPr>
          <a:xfrm>
            <a:off x="603046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71" name="Chevron 270"/>
          <p:cNvSpPr/>
          <p:nvPr/>
        </p:nvSpPr>
        <p:spPr>
          <a:xfrm>
            <a:off x="696772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95.6 h</a:t>
            </a:r>
          </a:p>
        </p:txBody>
      </p:sp>
      <p:sp>
        <p:nvSpPr>
          <p:cNvPr id="272" name="Chevron 271"/>
          <p:cNvSpPr/>
          <p:nvPr/>
        </p:nvSpPr>
        <p:spPr>
          <a:xfrm>
            <a:off x="790498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97.6 h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83464" y="400507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87.6 h</a:t>
            </a:r>
          </a:p>
        </p:txBody>
      </p:sp>
      <p:sp>
        <p:nvSpPr>
          <p:cNvPr id="274" name="Pentagon 273"/>
          <p:cNvSpPr/>
          <p:nvPr/>
        </p:nvSpPr>
        <p:spPr>
          <a:xfrm>
            <a:off x="1344168" y="3913632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75" name="Chevron 274"/>
          <p:cNvSpPr/>
          <p:nvPr/>
        </p:nvSpPr>
        <p:spPr>
          <a:xfrm>
            <a:off x="228142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76" name="Chevron 275"/>
          <p:cNvSpPr/>
          <p:nvPr/>
        </p:nvSpPr>
        <p:spPr>
          <a:xfrm>
            <a:off x="321868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77" name="Chevron 276"/>
          <p:cNvSpPr/>
          <p:nvPr/>
        </p:nvSpPr>
        <p:spPr>
          <a:xfrm>
            <a:off x="415594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78" name="Chevron 277"/>
          <p:cNvSpPr/>
          <p:nvPr/>
        </p:nvSpPr>
        <p:spPr>
          <a:xfrm>
            <a:off x="509320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9" name="Chevron 278"/>
          <p:cNvSpPr/>
          <p:nvPr/>
        </p:nvSpPr>
        <p:spPr>
          <a:xfrm>
            <a:off x="603046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80" name="Chevron 279"/>
          <p:cNvSpPr/>
          <p:nvPr/>
        </p:nvSpPr>
        <p:spPr>
          <a:xfrm>
            <a:off x="696772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85.6 h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90498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87.6 h</a:t>
            </a:r>
          </a:p>
        </p:txBody>
      </p:sp>
      <p:sp>
        <p:nvSpPr>
          <p:cNvPr id="282" name="Rectangle 257"/>
          <p:cNvSpPr/>
          <p:nvPr/>
        </p:nvSpPr>
        <p:spPr>
          <a:xfrm>
            <a:off x="283464" y="48280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3" name="TextBox 258"/>
          <p:cNvSpPr txBox="1"/>
          <p:nvPr/>
        </p:nvSpPr>
        <p:spPr>
          <a:xfrm>
            <a:off x="393192" y="48006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대기 구성 — 실측으로 확인할 항목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84" name="Table 283"/>
          <p:cNvGraphicFramePr>
            <a:graphicFrameLocks noGrp="1"/>
          </p:cNvGraphicFramePr>
          <p:nvPr/>
        </p:nvGraphicFramePr>
        <p:xfrm>
          <a:off x="283464" y="5047488"/>
          <a:ext cx="8567928" cy="118872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4754880"/>
                <a:gridCol w="166420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이송 중 정제기 점유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중 정제기가 묶이는 시간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사이 정제기 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IQC 승인 · Mix·Premix 준비 · 작업 인원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대기 (근무시간)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18 h 작업 → 약 2일 경과 (대기 약 30 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조건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— 운영 마일스톤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47.2톤 주기 64.6 h = 순수 47 h + 대기 17.6 h (현재 대기 3.0 h 단축)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7월 운영 예시 — Batch 완료일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① 정제기 1 · ② 정제기 2 (시차 30 h 가정)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운영 결과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227228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389888"/>
              </a:tblGrid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①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②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생산량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월평균 (730 h)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Capa. (47.2톤)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생산량 비교 — 설비별 주기 = 순수 47 h + 대기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690872"/>
          <a:ext cx="8567928" cy="150876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731520"/>
                <a:gridCol w="914400"/>
                <a:gridCol w="1005840"/>
                <a:gridCol w="1234440"/>
                <a:gridCol w="914400"/>
                <a:gridCol w="157276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주기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생산계획 ('27.5~)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47.2톤 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50.2톤 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2027~2028 생산 계획 버전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'28 말 재고 — ① Capa. 기준 +9,829 kg · ② 기존 생산계획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연간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재고 = 전월 재고 + 생산 − 출하 · 2027.1.1 기초재고 2,882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93268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713232"/>
                <a:gridCol w="713232"/>
                <a:gridCol w="658368"/>
                <a:gridCol w="713232"/>
                <a:gridCol w="713232"/>
                <a:gridCol w="658368"/>
                <a:gridCol w="731520"/>
                <a:gridCol w="731520"/>
                <a:gridCol w="923544"/>
              </a:tblGrid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출하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출하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Capa. 기준 (47.2 / 50.2톤)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기존 생산계획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 ('28.12)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3134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2860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월별 생산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542032"/>
          <a:ext cx="8567928" cy="1591056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758952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28853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26110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2028 월별 생산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517136"/>
          <a:ext cx="8567928" cy="1591056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758952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① Capa. 기준 (47.2톤)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43.04톤 vs 출하 41.72톤 → +1,319 kg · 연말 재고 +4,201 kg (4월 −579)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1~3월 확정 · 4월 대정비 1,188 · 5~12월 47,200 ÷ 11 = 4,290.9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226.5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37.22톤 vs 출하 41.72톤 → −4,496 kg · 연말 재고 −1,614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1~3월 확정 · 4월 대정비 1,188 · 5~12월 3,564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195.9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① Capa. 기준 (50.2톤)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51.39톤 vs 출하 45.76톤 → +5,628 kg · 연말 재고 +9,829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4월 대정비 1,188 · 나머지 11개월 50,200 ÷ 11 = 4,563.6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270.5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38.41톤 vs 출하 45.76톤 → −7,348 kg · 연말 재고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4월 대정비 1,188 · 1~7월 3,564 · 8~12월 3,168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202.2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267 h = 1교대 176 h의 152%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(출하계획 기준)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출하 물량으로 계산 — 생산 버전과 무관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6032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60120"/>
                <a:gridCol w="960120"/>
                <a:gridCol w="960120"/>
                <a:gridCol w="960120"/>
                <a:gridCol w="2624328"/>
              </a:tblGrid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'27.3~6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'27.7~12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(월)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+ CXMT ÷ 20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가용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8 h × 22일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141%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140 · 한솔 150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h (PQC~FQC)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÷ 190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192024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468880"/>
                <a:gridCol w="2532888"/>
              </a:tblGrid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(약 2일)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267 h &gt; 1교대 176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인원 · 글로브 박스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(시간 비슷할 수 있음)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단계별 시간 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회수 시점 겹침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제품 보관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Batch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1~1.5일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83480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343400"/>
                <a:gridCol w="2990088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물량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대화 중 '약 40톤'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