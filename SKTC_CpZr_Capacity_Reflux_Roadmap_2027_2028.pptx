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69" r:id="rId62"/>
    <p:sldId id="270" r:id="rId63"/>
    <p:sldId id="272" r:id="rId65"/>
    <p:sldId id="273" r:id="rId66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Relationship Id="rId63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[5장 2028년 월별 생산 계획과 출하 가정 (Excel P5, 04_Monthly_2026_2028, 05_Reflux_Scenarios 3~5절)]</a:t>
            </a:r>
          </a:p>
          <a:p>
            <a:r>
              <a:t>■ 생산 계획: 2028년은 105℃ 적용으로 +3톤 → 50.2톤 기준(사용자 지시). 4월 대정비 1,188 kg + 나머지 11개월 × (50,200 − 1,188) ÷ 11 = 4,455.6 kg → 50,200 kg. 105℃ 미적용 시 참고 47.2톤 기준은 4,182.9 kg × 11 + 1,188.</a:t>
            </a:r>
          </a:p>
          <a:p>
            <a:r>
              <a:t>■ 출하 가정(확정 수요 아님): 하이닉스 22,720÷12 · CXMT 780 · 이지켐 840 · 한솔 300 kg/월 → 3,813.33 kg/월 × 12 = 45,760 kg = 45.76톤.</a:t>
            </a:r>
          </a:p>
          <a:p>
            <a:r>
              <a:t>■ 생산 계획 − 출하: 50.2톤 기준 +4.44톤(여유 방향) · 47.2톤 기준이면 +1.44톤. 월 +642.3 kg, 4월 대정비 월 −2,625 kg.</a:t>
            </a:r>
          </a:p>
          <a:p>
            <a:r>
              <a:t>■ 누적(생산 − 출하, '27.1~): '27.12 −1,225 kg에서 시작 → 1월 −582 / 2월 +60 / 3월 +702 / 4월 −1,923 / 5월 −1,281 / 6월 −639 / 7월 +4 / 8월 +646 / 9월 +1,288 / 10월 +1,931 / 11월 +2,573 / 12월 +3,215 kg. 4월 대정비 월 누적 −1,923 kg — 24개월 최저는 '27.4 −3,461 kg → 2027.1.1 필요 선행재고 3.46톤.</a:t>
            </a:r>
          </a:p>
          <a:p>
            <a:r>
              <a:t>■ 설비: 105℃ 월 4,455.6 kg ÷ 190 = 23.5 Batch/월(2대) — 설비별 등가 간격 약 62.3 h. 필요 Batch(출하÷190) 20.1 Batch/월.</a:t>
            </a:r>
          </a:p>
          <a:p>
            <a:r>
              <a:t>■ 충진: 5 Gal 267.3 h/월, 연 3,208 h (OQC 별도 연 356 h) · 200 L 이지켐 6 + 한솔 2 = 8용기/월, 연 96용기, 전월 ARS(충진시간 미확인).</a:t>
            </a:r>
          </a:p>
          <a:p>
            <a:r>
              <a:t>■ 확인: 105℃ 열 안정성·Dimer·Unknown impurity·Yield 영향·고객 승인(50.2톤 기준의 전제) / 이지켐 색도 합격률 / 글로브 박스 교대 / 2028 수요 확정.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[1장 As-is — 공정시간과 현재 생산능력 (Excel 01_Inputs B·C, 03_Capacity_Model 1~7절)]</a:t>
            </a:r>
          </a:p>
          <a:p>
            <a:r>
              <a:t>■ 운영 전제: 정제기 1대를 하이닉스·CXMT·이지켐(·한솔 '27~)이 공동 사용 — 고객 전용 설비 없음. 앞 Batch 검사·충진 중 다음 Batch 정제 가능(병렬).</a:t>
            </a:r>
          </a:p>
          <a:p>
            <a:r>
              <a:t>■ 공정시간 (사용자가 정한 자료 작성 기준 / 57시간에서 기타 공정시간 차감): IQC 2 + 준비·투입 2 + 정제 45 + PQC·제품 이송 합계 6 + FQC 2 = 충진 전까지 57 h. PQC와 이송은 그림에서 구분하되 시간은 합계 6 h(각 6 h 아님). 생산팀 대화 중 49 h 언급은 참고로만 보존.</a:t>
            </a:r>
          </a:p>
          <a:p>
            <a:r>
              <a:t>■ 충진·OQC: 5 Gal 2 h/병, 약 9병 18 h(18 ÷ 8 h = 2.25 근무일, 현장 '약 2일' 설명) · 5 Gal OQC 9병 합계 2 h · 이지켐 200 L 수동 8 h/용기 · 200 L OQC 1용기 2 h · 한솔 수동·ARS 시간은 미확인(이지켐 8 h 복제 안 함). 충진·포장 1~1.5일은 개선 과제(달성 실적 아님).</a:t>
            </a:r>
          </a:p>
          <a:p>
            <a:r>
              <a:t>■ 확인시간 단순 합계: 5 Gal 약 9병 57+18+2 = 77 h · 이지켐 1용기 57+8+2 = 67 h — 실제 달력 납기 아님, 다음 Batch 투입 간격 아님.</a:t>
            </a:r>
          </a:p>
          <a:p>
            <a:r>
              <a:t>■ 정제기 점유 확인분 = 준비 2 + 정제 45 = 47 h (이송 중 점유분 미확인 → 47~53 h). 과거 일정 관측 평균 간격 67.47 h → 비점유 약 20.5 h(구성 미확인).</a:t>
            </a:r>
          </a:p>
          <a:p>
            <a:r>
              <a:t>■ 이론(정제만): 720 ÷ 45 = 16 Batch/월 × 190 = 3,040 kg/월 — 준비·전환·이송·세척·대기·보수 제외 비교값, 실제 Capa. 아님.</a:t>
            </a:r>
          </a:p>
          <a:p>
            <a:r>
              <a:t>■ 과거 최대 11 Batch: 11×45 = 495 h, 720 − 495 = 225 h(전부 손실·충진으로 분류 안 함), 11×190 = 2,090 kg/월, 매월 11회 반복 참고 25.08톤/년. 11월 예시 막대는 65.5 h 균등 배분(준비·정제 47 h + PQC·이송 6 h + FQC·충진·OQC 22 h는 다음 Batch와 병렬).</a:t>
            </a:r>
          </a:p>
          <a:p>
            <a:r>
              <a:t>■ 26.2톤: 26,200 ÷ 190 = 137.895 Batch 상당 → 138 × 190 = 26,220 kg = 26.22톤 → 26.2톤. 시간·가동률·수율을 조정해 맞추지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[2장 To-be — 정제기 2대 운영과 투자 계획 (Excel P2·01_Inputs F·G, 03_Capacity_Model 8절, 05_Reflux_Scenarios 1~2절)]</a:t>
            </a:r>
          </a:p>
          <a:p>
            <a:r>
              <a:t>■ 일정: '27.1~3 정제기 1대 확정 생산 계획 2,178 / 2,178 / 3,168 kg → '27.4 대정비(생산 1,188 kg, 확정) → '27.5부터 정제기 2대 시간차 운전. 최초 12개월 '27.5~'28.4. 대정비는 매년 4월(1,188 kg) 반영. ARS 200 L 운영 '27.7~(이지켐·한솔 '27.1~6 수동).</a:t>
            </a:r>
          </a:p>
          <a:p>
            <a:r>
              <a:t>■ Capa. 기준: 연간 47.2톤(26.2 + 21)은 유지하되 대정비 월이 있으므로 월 기준 = (47,200 − 1,188) ÷ 11 = 4,182.9 kg/월 → 대정비 월 1,188 + 11개월 × 4,182.9 = 47,200 kg. 2028년은 105℃ +3톤 → 50.2톤 기준: (50,200 − 1,188) ÷ 11 = 4,455.6 kg/월.</a:t>
            </a:r>
          </a:p>
          <a:p>
            <a:r>
              <a:t>■ 정제기: As-is 1대 단일 설비 순차 생산 → To-be 정제기 1·2 시간차 병행 운전. 정제기 1을 먼저 투입·가동한 뒤 충진 처리능력을 고려해 정제기 2를 기동, 제품이 한꺼번에 충진으로 몰리지 않도록 배치. 고객별 전용 정제기 없음.</a:t>
            </a:r>
          </a:p>
          <a:p>
            <a:r>
              <a:t>■ 시차·설비별 간격: 미확정. Gantt의 시차 30 h·설비별 66.3 h는 설명용 가정 — 월 4,182.9 kg ÷ 190 = 22.0 Batch/월(2대 합산)을 평균 월 730 h로 역산한 참고값(현재 1대 26.2톤 등가 63.5 h). 정제 45 h를 22.5 h로 단축하는 계산이 아님.</a:t>
            </a:r>
          </a:p>
          <a:p>
            <a:r>
              <a:t>■ 단순 2배 52.4톤과 47.2톤의 차이 5.2톤은 Mix·리사이클 준비 등 가능성 — 확정 손실로 표시하지 않음.</a:t>
            </a:r>
          </a:p>
          <a:p>
            <a:r>
              <a:t>■ 충진: 5 Gal 글로브 박스 유지(ARS 미적용). ARS 충진시간 미확인. ARS 효과는 정제 Capa.에 가산하지 않음. 공용 후공정: 2대 합산 평균 투입 간격 33.2 h — 1교대 충진 시 Tank·충진 회전 -22.8 h, 2교대 시 4.2 h (Product Tank 1기 가정).</a:t>
            </a:r>
          </a:p>
          <a:p>
            <a:r>
              <a:t>■ 105℃(2028 50.2톤 기준): 열 안정성, Dimer, Unknown impurity, Yield, 고객 승인 — 품질 검증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[3장 과거 Batch 분석 및 2026년 기준 검토 (Excel 02_Batch_Raw, 03_Capacity_Model 3~7절, 04_Monthly_2026_2028)]</a:t>
            </a:r>
          </a:p>
          <a:p>
            <a:r>
              <a:t>■ 원자료(첨부 PPT 원본·수정본 3장 발표자 노트, 원본 분포도 좌표, 사용자 지시 목록 3중 대조 → 차이 0건). 원본 이미지 5개는 미첨부. 연도 미표기 → 2026 가정.</a:t>
            </a:r>
          </a:p>
          <a:p>
            <a:r>
              <a:t>- 5월(일부): 5/23 #37, 5/26 #38</a:t>
            </a:r>
          </a:p>
          <a:p>
            <a:r>
              <a:t>- 6월: 6/2 #39, 6/5 #40, 6/8 #41, 6/11 #42, 6/14 #43, 6/17 #44, 6/20 #45, 6/23 #46, 6/25 #47, 6/27 #48, 6/28 #49</a:t>
            </a:r>
          </a:p>
          <a:p>
            <a:r>
              <a:t>- 7월: 7/1 #50, 7/3 #51, 7/6 #52, 7/8 #53, 7/11 #54, 7/14 #55, 7/17 #56, 7/20 #57, 7/23 #58, 7/26 #59, 7/29 #60</a:t>
            </a:r>
          </a:p>
          <a:p>
            <a:r>
              <a:t>- 8월: 8/1 #61, 8/4 #62, 8/7 #63, 8/10 #64, 8/13 #65, 8/16 #66, 8/19 #67, 8/22 #68, 8/25 #69, 8/28 #70, 8/31 #71</a:t>
            </a:r>
          </a:p>
          <a:p>
            <a:r>
              <a:t>- 9월: 9/3 #72, 9/5 #73, 9/7 #74, 9/9 #75, 9/11 #76, 9/14 #77, 9/19 #78, 9/23 #79, 9/26 #80, 9/28 #81</a:t>
            </a:r>
          </a:p>
          <a:p>
            <a:r>
              <a:t>- 10월: 10/1 #82, 10/4 #83, 10/7 #84, 10/10 #85, 10/12 #86, 10/15 #87, 10/18 #88, 10/20 #89, 10/23 #90, 10/26 #91, 10/29 #92</a:t>
            </a:r>
          </a:p>
          <a:p>
            <a:r>
              <a:t>■ 집계: 원자료 Total 6월 8 / 7월 11 / 8월 8 / 9월 8 / 10월 11 = 46, 번호 개수 11/11/11/10/11 = 54 — 번호 개수를 양품 완료 Batch로 확정하지 않음. 색상·표시일자 의미 확인.</a:t>
            </a:r>
          </a:p>
          <a:p>
            <a:r>
              <a:t>■ 관측 간격: 주 범위 6/2 #39~10/29 #92, 54개 일자·53개 간격, 149일 × 24 ÷ 53 = 67.47 h(범위 67.02~67.92), 중앙값 72 h, 3일 간격 74%. 월 경계 간격 포함, 5월 일부 제외.</a:t>
            </a:r>
          </a:p>
          <a:p>
            <a:r>
              <a:t>- 한계: 날짜만 있는 계획 — 실제 정제시간과 구분. 정제 45 h 대비 +22.5 h, 점유 47 h 대비 +20.5 h는 PQC·이송·세척·대기·계획 여유 등 가능성(구성 미확인).</a:t>
            </a:r>
          </a:p>
          <a:p>
            <a:r>
              <a:t>- 57 h 연속 가정에서 확인 필요였던 고밀도 구간(6/23~7/3, 9/3~9/11, 4간격 평균 최대 54 h)은 점유 하한 47 h 기준으로는 양립 가능 — 이송 중 점유·세척 반영 시 재확인.</a:t>
            </a:r>
          </a:p>
          <a:p>
            <a:r>
              <a:t>■ 비교: 이론 720÷45 = 16 Batch·3,040 kg/월(실제 Capa. 아님) · 과거 최대 11 Batch 495 h + 225 h · 관측 10.7 Batch/30일(31일 11.0) · 26.2톤 = 월 11.49 Batch 상당(역산 63.5 h).</a:t>
            </a:r>
          </a:p>
          <a:p>
            <a:r>
              <a:t>■ 2026: 제시 출하 19,220 kg(하이닉스 16,980 + 이지켐 2,240) — CXMT·한솔 미제시(0으로 확정 안 함). 현재 26.2톤 대비 73.4%, 산술 차이 6.98톤. 관측 기준 추정 생산 가능 24,510 kg(129 Batch, 정지·보수 미반영 상한) — 9~12월 월 출하 1,940~2,040 kg은 월 생산 가능량(10~11 Batch)에 근접, 재고 활용 필요. 상세 월별은 Excel 04 시트.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[4장 2027년 월별 생산 계획 · 출하 · 공급 대응 (Excel P4, 04_Monthly_2026_2028, 05_Reflux_Scenarios 3~5절)]</a:t>
            </a:r>
          </a:p>
          <a:p>
            <a:r>
              <a:t>■ 생산 계획(kg): 1월 2,178 / 2월 2,178 / 3월 3,168 / 4월 1,188(대정비) = 8,712 kg 확정. 5~12월은 Capa. 기준 = (47,200 − 대정비 1,188) ÷ 11 = 4,182.9 kg/월 × 8 = 33,463 kg → 2027 생산 계획 42,175 kg = 42.18톤. (47.2톤 = 대정비 월 1,188 + 11개월 × 4,182.9 — 대정비가 있으므로 ÷12가 아니라 ÷11.)</a:t>
            </a:r>
          </a:p>
          <a:p>
            <a:r>
              <a:t>■ 출하계획(kg): 하이닉스 22,720÷12 = 1,893.33/월 · CXMT 1~2월 0 / 3~6월 580 / 7~12월 780 = 7,000 · 이지켐 1~6월 560 / 7~12월 1,120 = 10,080 · 한솔 300/월 = 3,600 → 43,400 kg. 월 합계 1~2월 2,753.3 / 3~6월 3,333.3 / 7~12월 4,093.3.</a:t>
            </a:r>
          </a:p>
          <a:p>
            <a:r>
              <a:t>■ 생산 계획 − 출하: 연간 −1.22톤 · 상반기 출하 18.84 vs 계획 17.08톤(−1.76) · 하반기 24.56 vs 25.10톤(+0.54).</a:t>
            </a:r>
          </a:p>
          <a:p>
            <a:r>
              <a:t>■ 누적(생산 − 출하, '27.1~): 1월 −575 / 2월 −1,151 / 3월 −1,316 / 4월 −3,461 / 5월 −2,612 / 6월 −1,762 / 7월 −1,673 / 8월 −1,583 / 9월 −1,493 / 10월 −1,404 / 11월 −1,314 / 12월 −1,225 kg → 최저 '27.4 −3,461 kg = 2027.1.1 기준 필요 선행재고 3.46톤(양품률 100% 상한 기준 — 양품률·목표재고 반영 시 증가). 5월 이후 월 +849.6(5~6월) / +89.6(7~12월) kg씩 회복.</a:t>
            </a:r>
          </a:p>
          <a:p>
            <a:r>
              <a:t>■ 확인: 3월 3,168 kg = 16.7 Batch로 현재 정제기 1대 과거 최대 11 Batch(관측 약 11.0 Batch/31일)를 넘음 — 확정 계획의 근거(재고·선행 생산 포함 여부) 확인 필요. 5~12월 22.0 Batch/월(2대 합산, 설비별 등가 66.3 h).</a:t>
            </a:r>
          </a:p>
          <a:p>
            <a:r>
              <a:t>■ 필요 Batch(출하÷190): 1~2월 14.5 / 3~6월 17.5 / 7~12월 21.5 Batch/월, 연 228.4 Batch.</a:t>
            </a:r>
          </a:p>
          <a:p>
            <a:r>
              <a:t>■ 충진: 5 Gal (하이닉스+CXMT)÷20×2 h = 189.3 / 247.3 / 267.3 h/월, 연 2,972 h (OQC 별도 연 330 h). 200 L: 이지켐 4→8용기, 한솔 2용기 → 연 96용기, OQC 연 192 h. 이지켐·한솔 1~6월 수동, 7월~ ARS(충진시간 미확인).</a:t>
            </a:r>
          </a:p>
          <a:p>
            <a:r>
              <a:t>■ 재고: 기말재고 = 기초재고 + 양품 생산 − 출하. 기초재고 미입력 → 재고 계산 보류. 2027.12 기말재고 → 2028.1 기초재고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공정시간과 현재 생산능력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공용 정제기 1대 · 정제 45 h / 충진 전 57 h · 검사·충진은 다음 Batch 정제와 병렬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noFill/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40940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900940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00940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공용 정제기 1대 · 103℃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공동 (한솔 '27~)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139771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280940" y="1310000"/>
            <a:ext cx="113895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422949" y="1915000"/>
            <a:ext cx="1335982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정제 45 h/Batch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 + 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약 9병 18 h (≈2.25 근무일)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FFF3E6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200 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이지켐 8 h/용기 · 한솔 시간 확인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92594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46427" y="251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92594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46427" y="303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한솔('27~)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 (운송 별도)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090940" y="975000"/>
            <a:ext cx="168052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090940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0187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42514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287000" y="34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443129" y="3400000"/>
            <a:ext cx="11250374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한 Batch 확인 공정시간 — 단순 합계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달력 납기 · 다음 Batch 투입 간격 아님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5537000" y="3455000"/>
            <a:ext cx="150000" cy="10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572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확정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6077000" y="3455000"/>
            <a:ext cx="150000" cy="100000"/>
          </a:xfrm>
          <a:prstGeom prst="rect">
            <a:avLst/>
          </a:prstGeom>
          <a:solidFill>
            <a:srgbClr val="EAF1FA"/>
          </a:solidFill>
          <a:ln w="1270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26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계획·제시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842000" y="3455000"/>
            <a:ext cx="150000" cy="100000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7032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추정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382000" y="3455000"/>
            <a:ext cx="150000" cy="1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572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환산 참고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8147000" y="3455000"/>
            <a:ext cx="150000" cy="10000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833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검토안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87000" y="3680000"/>
            <a:ext cx="13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약 9병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636776" y="370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899224" y="3700000"/>
            <a:ext cx="2952549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 45 h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5245447" y="370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5376672" y="3700000"/>
            <a:ext cx="1181019" cy="210000"/>
          </a:xfrm>
          <a:prstGeom prst="rect">
            <a:avLst/>
          </a:prstGeom>
          <a:solidFill>
            <a:srgbClr val="548235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18 h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557691" y="3700000"/>
            <a:ext cx="131224" cy="210000"/>
          </a:xfrm>
          <a:prstGeom prst="rect">
            <a:avLst/>
          </a:prstGeom>
          <a:solidFill>
            <a:srgbClr val="40404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698060" y="3700000"/>
            <a:ext cx="502920" cy="21000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0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7255844" y="3680000"/>
            <a:ext cx="15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77 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+ 미확인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287000" y="4010000"/>
            <a:ext cx="13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이지켐 200 L 1용기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1636776" y="403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899224" y="4030000"/>
            <a:ext cx="2952549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 45 h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245447" y="403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5376672" y="4030000"/>
            <a:ext cx="524897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8 h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901569" y="4030000"/>
            <a:ext cx="131224" cy="210000"/>
          </a:xfrm>
          <a:prstGeom prst="rect">
            <a:avLst/>
          </a:prstGeom>
          <a:solidFill>
            <a:srgbClr val="40404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041938" y="4030000"/>
            <a:ext cx="502920" cy="21000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0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6599722" y="4010000"/>
            <a:ext cx="15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67 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+ 미확인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287000" y="4350000"/>
            <a:ext cx="857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IQC 2 + 준비·투입 2 + 정제 45 + PQC·이송 6 + FQC 2 = 57 h (중복 가산 없음) · OQC 2 h · 77 h·67 h는 확인시간 단순 합계 — 실제 달력 납기 아님 · 미확인: 대기·세척·전환·한솔 충진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287000" y="455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397000" y="452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11월 운전 예시 — 정제기 1대 월 11 Batch (과거 최대)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간격 65.5 h = 720÷11 (구성 확인)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1167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1167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167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1423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423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679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679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1936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936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2192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2192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2448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48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705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705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05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2961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2961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2961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217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3217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474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3474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3730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3730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986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3986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4243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4243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499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4499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499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755666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4755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755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012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5012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5268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268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5524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5524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5781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781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6037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6037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6293666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293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6293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6550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550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6550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6806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806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7062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062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7319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7319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7575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7575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7831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7831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88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088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8088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8344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44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8344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8600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8600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cxnSp>
        <p:nvCxnSpPr>
          <p:cNvPr id="358" name="Connector 357"/>
          <p:cNvCxnSpPr/>
          <p:nvPr/>
        </p:nvCxnSpPr>
        <p:spPr>
          <a:xfrm>
            <a:off x="1167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59" name="Connector 358"/>
          <p:cNvCxnSpPr/>
          <p:nvPr/>
        </p:nvCxnSpPr>
        <p:spPr>
          <a:xfrm>
            <a:off x="1423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0" name="Connector 359"/>
          <p:cNvCxnSpPr/>
          <p:nvPr/>
        </p:nvCxnSpPr>
        <p:spPr>
          <a:xfrm>
            <a:off x="1679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1" name="Connector 360"/>
          <p:cNvCxnSpPr/>
          <p:nvPr/>
        </p:nvCxnSpPr>
        <p:spPr>
          <a:xfrm>
            <a:off x="1936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2" name="Connector 361"/>
          <p:cNvCxnSpPr/>
          <p:nvPr/>
        </p:nvCxnSpPr>
        <p:spPr>
          <a:xfrm>
            <a:off x="2192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3" name="Connector 362"/>
          <p:cNvCxnSpPr/>
          <p:nvPr/>
        </p:nvCxnSpPr>
        <p:spPr>
          <a:xfrm>
            <a:off x="2448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4" name="Connector 363"/>
          <p:cNvCxnSpPr/>
          <p:nvPr/>
        </p:nvCxnSpPr>
        <p:spPr>
          <a:xfrm>
            <a:off x="2705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5" name="Connector 364"/>
          <p:cNvCxnSpPr/>
          <p:nvPr/>
        </p:nvCxnSpPr>
        <p:spPr>
          <a:xfrm>
            <a:off x="2961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6" name="Connector 365"/>
          <p:cNvCxnSpPr/>
          <p:nvPr/>
        </p:nvCxnSpPr>
        <p:spPr>
          <a:xfrm>
            <a:off x="3217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7" name="Connector 366"/>
          <p:cNvCxnSpPr/>
          <p:nvPr/>
        </p:nvCxnSpPr>
        <p:spPr>
          <a:xfrm>
            <a:off x="3474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8" name="Connector 367"/>
          <p:cNvCxnSpPr/>
          <p:nvPr/>
        </p:nvCxnSpPr>
        <p:spPr>
          <a:xfrm>
            <a:off x="3730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9" name="Connector 368"/>
          <p:cNvCxnSpPr/>
          <p:nvPr/>
        </p:nvCxnSpPr>
        <p:spPr>
          <a:xfrm>
            <a:off x="3986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0" name="Connector 369"/>
          <p:cNvCxnSpPr/>
          <p:nvPr/>
        </p:nvCxnSpPr>
        <p:spPr>
          <a:xfrm>
            <a:off x="4243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1" name="Connector 370"/>
          <p:cNvCxnSpPr/>
          <p:nvPr/>
        </p:nvCxnSpPr>
        <p:spPr>
          <a:xfrm>
            <a:off x="4499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2" name="Connector 371"/>
          <p:cNvCxnSpPr/>
          <p:nvPr/>
        </p:nvCxnSpPr>
        <p:spPr>
          <a:xfrm>
            <a:off x="4755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3" name="Connector 372"/>
          <p:cNvCxnSpPr/>
          <p:nvPr/>
        </p:nvCxnSpPr>
        <p:spPr>
          <a:xfrm>
            <a:off x="5012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4" name="Connector 373"/>
          <p:cNvCxnSpPr/>
          <p:nvPr/>
        </p:nvCxnSpPr>
        <p:spPr>
          <a:xfrm>
            <a:off x="5268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5" name="Connector 374"/>
          <p:cNvCxnSpPr/>
          <p:nvPr/>
        </p:nvCxnSpPr>
        <p:spPr>
          <a:xfrm>
            <a:off x="5524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6" name="Connector 375"/>
          <p:cNvCxnSpPr/>
          <p:nvPr/>
        </p:nvCxnSpPr>
        <p:spPr>
          <a:xfrm>
            <a:off x="5781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7" name="Connector 376"/>
          <p:cNvCxnSpPr/>
          <p:nvPr/>
        </p:nvCxnSpPr>
        <p:spPr>
          <a:xfrm>
            <a:off x="6037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8" name="Connector 377"/>
          <p:cNvCxnSpPr/>
          <p:nvPr/>
        </p:nvCxnSpPr>
        <p:spPr>
          <a:xfrm>
            <a:off x="6293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9" name="Connector 378"/>
          <p:cNvCxnSpPr/>
          <p:nvPr/>
        </p:nvCxnSpPr>
        <p:spPr>
          <a:xfrm>
            <a:off x="6550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0" name="Connector 379"/>
          <p:cNvCxnSpPr/>
          <p:nvPr/>
        </p:nvCxnSpPr>
        <p:spPr>
          <a:xfrm>
            <a:off x="6806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1" name="Connector 380"/>
          <p:cNvCxnSpPr/>
          <p:nvPr/>
        </p:nvCxnSpPr>
        <p:spPr>
          <a:xfrm>
            <a:off x="7062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2" name="Connector 381"/>
          <p:cNvCxnSpPr/>
          <p:nvPr/>
        </p:nvCxnSpPr>
        <p:spPr>
          <a:xfrm>
            <a:off x="7319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3" name="Connector 382"/>
          <p:cNvCxnSpPr/>
          <p:nvPr/>
        </p:nvCxnSpPr>
        <p:spPr>
          <a:xfrm>
            <a:off x="7575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4" name="Connector 383"/>
          <p:cNvCxnSpPr/>
          <p:nvPr/>
        </p:nvCxnSpPr>
        <p:spPr>
          <a:xfrm>
            <a:off x="7831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5" name="Connector 384"/>
          <p:cNvCxnSpPr/>
          <p:nvPr/>
        </p:nvCxnSpPr>
        <p:spPr>
          <a:xfrm>
            <a:off x="8088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6" name="Connector 385"/>
          <p:cNvCxnSpPr/>
          <p:nvPr/>
        </p:nvCxnSpPr>
        <p:spPr>
          <a:xfrm>
            <a:off x="8344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7" name="Connector 386"/>
          <p:cNvCxnSpPr/>
          <p:nvPr/>
        </p:nvCxnSpPr>
        <p:spPr>
          <a:xfrm>
            <a:off x="8600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8" name="Connector 387"/>
          <p:cNvCxnSpPr/>
          <p:nvPr/>
        </p:nvCxnSpPr>
        <p:spPr>
          <a:xfrm>
            <a:off x="8857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9" name="Connector 388"/>
          <p:cNvCxnSpPr/>
          <p:nvPr/>
        </p:nvCxnSpPr>
        <p:spPr>
          <a:xfrm>
            <a:off x="1167000" y="5025000"/>
            <a:ext cx="7690000" cy="0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390" name="Connector 389"/>
          <p:cNvCxnSpPr/>
          <p:nvPr/>
        </p:nvCxnSpPr>
        <p:spPr>
          <a:xfrm>
            <a:off x="1167000" y="5615000"/>
            <a:ext cx="7690000" cy="0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sp>
        <p:nvSpPr>
          <p:cNvPr id="391" name="TextBox 390"/>
          <p:cNvSpPr txBox="1"/>
          <p:nvPr/>
        </p:nvSpPr>
        <p:spPr>
          <a:xfrm>
            <a:off x="287000" y="4770000"/>
            <a:ext cx="85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11월 (2026)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87000" y="4910000"/>
            <a:ext cx="850000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24 h 연속 · 720 h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87000" y="5025000"/>
            <a:ext cx="85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1대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87000" y="5275000"/>
            <a:ext cx="85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FQC·충진·OQC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87000" y="5465000"/>
            <a:ext cx="85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생산 kg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1191768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1693164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757172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1555791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1890037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2391433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2455441" y="5310000"/>
            <a:ext cx="234695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2254882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2588306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3089702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3153710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2953973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3286575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3787971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3851979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3653064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3984844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4486240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4550248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4352155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4683113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  <p:sp>
        <p:nvSpPr>
          <p:cNvPr id="417" name="Rectangle 416"/>
          <p:cNvSpPr/>
          <p:nvPr/>
        </p:nvSpPr>
        <p:spPr>
          <a:xfrm>
            <a:off x="5184509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5248517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5051246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5381382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B7</a:t>
            </a:r>
          </a:p>
        </p:txBody>
      </p:sp>
      <p:sp>
        <p:nvSpPr>
          <p:cNvPr id="421" name="Rectangle 420"/>
          <p:cNvSpPr/>
          <p:nvPr/>
        </p:nvSpPr>
        <p:spPr>
          <a:xfrm>
            <a:off x="5882778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5946786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5750337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6079651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B8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6581047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6645055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6449428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6777920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B9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7279316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7343324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7148518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432" name="Rectangle 431"/>
          <p:cNvSpPr/>
          <p:nvPr/>
        </p:nvSpPr>
        <p:spPr>
          <a:xfrm>
            <a:off x="7476189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B10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7977585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041593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7847609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8174458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B11</a:t>
            </a:r>
          </a:p>
        </p:txBody>
      </p:sp>
      <p:sp>
        <p:nvSpPr>
          <p:cNvPr id="437" name="Rectangle 436"/>
          <p:cNvSpPr/>
          <p:nvPr/>
        </p:nvSpPr>
        <p:spPr>
          <a:xfrm>
            <a:off x="8675854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739862" y="5310000"/>
            <a:ext cx="111529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8546700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5989320" y="4560000"/>
            <a:ext cx="150000" cy="10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6153912" y="4535000"/>
            <a:ext cx="77724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준비·정제 47 h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6931152" y="4560000"/>
            <a:ext cx="150000" cy="100000"/>
          </a:xfrm>
          <a:prstGeom prst="rect">
            <a:avLst/>
          </a:prstGeom>
          <a:solidFill>
            <a:srgbClr val="9DC3E6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7095744" y="4535000"/>
            <a:ext cx="6858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PQC·이송 6 h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7790688" y="4560000"/>
            <a:ext cx="150000" cy="10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7955279" y="4535000"/>
            <a:ext cx="9144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FQC·충진·OQC 22 h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287000" y="566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33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과거 최대  </a:t>
            </a: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11 Batch · 2,090 kg/월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매월 11회 반복 참고 25.08톤/년 (11×190×12)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2447000" y="5665000"/>
            <a:ext cx="2090000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249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시간 비교  </a:t>
            </a:r>
            <a:r>
              <a:rPr sz="9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495 h + 225 h = 720 h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정제 11×45 + 225 h (점유·전환·대기·보수·월 경계 확인)</a:t>
            </a:r>
          </a:p>
        </p:txBody>
      </p:sp>
      <p:sp>
        <p:nvSpPr>
          <p:cNvPr id="450" name="Rectangle 449"/>
          <p:cNvSpPr/>
          <p:nvPr/>
        </p:nvSpPr>
        <p:spPr>
          <a:xfrm>
            <a:off x="4607000" y="5665000"/>
            <a:ext cx="2090000" cy="420000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465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이론 (정제만)  </a:t>
            </a:r>
            <a:r>
              <a:rPr sz="9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720÷45 = 16 Batch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3,040 kg/월 · 실제 Capa. 아님 · 관측 67.5 h → 10.7</a:t>
            </a:r>
          </a:p>
        </p:txBody>
      </p:sp>
      <p:sp>
        <p:nvSpPr>
          <p:cNvPr id="452" name="Rectangle 451"/>
          <p:cNvSpPr/>
          <p:nvPr/>
        </p:nvSpPr>
        <p:spPr>
          <a:xfrm>
            <a:off x="6767000" y="566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681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현재 연간 Capa.  </a:t>
            </a: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26.2톤 (기준값)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26,200÷190 = 137.9 · 138×190 = 26,220 kg · 월 11.49</a:t>
            </a:r>
          </a:p>
        </p:txBody>
      </p:sp>
      <p:sp>
        <p:nvSpPr>
          <p:cNvPr id="454" name="Rectangle 271"/>
          <p:cNvSpPr/>
          <p:nvPr/>
        </p:nvSpPr>
        <p:spPr>
          <a:xfrm>
            <a:off x="1768000" y="3700000"/>
            <a:ext cx="131224" cy="210000"/>
          </a:xfrm>
          <a:prstGeom prst="rect">
            <a:avLst/>
          </a:prstGeom>
          <a:solidFill>
            <a:srgbClr val="F4B183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455" name="Rectangle 272"/>
          <p:cNvSpPr/>
          <p:nvPr/>
        </p:nvSpPr>
        <p:spPr>
          <a:xfrm>
            <a:off x="4851774" y="3700000"/>
            <a:ext cx="393673" cy="21000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4851774" y="3736576"/>
            <a:ext cx="39367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" b="1">
                <a:solidFill>
                  <a:srgbClr val="1F3864"/>
                </a:solidFill>
                <a:latin typeface="Noto Sans KR"/>
                <a:ea typeface="Noto Sans KR"/>
                <a:cs typeface="Noto Sans KR"/>
              </a:rPr>
              <a:t>PQC·이송 6</a:t>
            </a:r>
          </a:p>
        </p:txBody>
      </p:sp>
      <p:sp>
        <p:nvSpPr>
          <p:cNvPr id="457" name="Rectangle 279"/>
          <p:cNvSpPr/>
          <p:nvPr/>
        </p:nvSpPr>
        <p:spPr>
          <a:xfrm>
            <a:off x="1768000" y="4030000"/>
            <a:ext cx="131224" cy="210000"/>
          </a:xfrm>
          <a:prstGeom prst="rect">
            <a:avLst/>
          </a:prstGeom>
          <a:solidFill>
            <a:srgbClr val="F4B183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458" name="Rectangle 280"/>
          <p:cNvSpPr/>
          <p:nvPr/>
        </p:nvSpPr>
        <p:spPr>
          <a:xfrm>
            <a:off x="4851774" y="4030000"/>
            <a:ext cx="393673" cy="21000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851774" y="4066576"/>
            <a:ext cx="39367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" b="1">
                <a:solidFill>
                  <a:srgbClr val="1F3864"/>
                </a:solidFill>
                <a:latin typeface="Noto Sans KR"/>
                <a:ea typeface="Noto Sans KR"/>
                <a:cs typeface="Noto Sans KR"/>
              </a:rPr>
              <a:t>PQC·이송 6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965192" y="3593592"/>
            <a:ext cx="82296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▼ 충진 전 57 h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운영과 투자 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1·2 시간차 운전 · '27.4 대정비 → '27.5 생산 · 월 4,182.9 kg · '28 50.2톤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solidFill>
            <a:srgbClr val="FDEDF0"/>
          </a:solidFill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78009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438009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438009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1·2 · 시간차 병행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공용 배정 (전용 없음)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930895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721496" y="1310000"/>
            <a:ext cx="69839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95527" y="1915000"/>
            <a:ext cx="159453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정제 45 h (설비별)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 + 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 (유지)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ARS 미적용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약 9병 18 h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EFE6F7"/>
          </a:solidFill>
          <a:ln w="15875">
            <a:solidFill>
              <a:srgbClr val="7030A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→ ARS 자동 충진 ('27.7~)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kg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'27.1~6 수동 → '27.7~ ARS · ARS 충진시간 확인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792193" y="251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12256" y="251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792193" y="303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12256" y="303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 (운송 별도)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102622" y="975000"/>
            <a:ext cx="1668842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102622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26615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67256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287000" y="34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443129" y="3400000"/>
            <a:ext cx="11250374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투자 · 운영 일정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'27.1~3 정제기 1대 확정 계획 → '27.4 대정비 1,188 kg → '27.5~ 정제기 2대 월 4,182.9 kg (47.2톤) · '28 105℃ 월 4,455.6 kg (50.2톤)</a:t>
            </a:r>
          </a:p>
        </p:txBody>
      </p:sp>
      <p:graphicFrame>
        <p:nvGraphicFramePr>
          <p:cNvPr id="257" name="Table 256"/>
          <p:cNvGraphicFramePr>
            <a:graphicFrameLocks noGrp="1"/>
          </p:cNvGraphicFramePr>
          <p:nvPr/>
        </p:nvGraphicFramePr>
        <p:xfrm>
          <a:off x="287000" y="3620000"/>
          <a:ext cx="8569988" cy="89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0000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</a:tblGrid>
              <a:tr h="150000">
                <a:tc rowSpan="2"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2028년</a:t>
                      </a:r>
                      <a:endParaRPr sz="70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45000">
                <a:tc v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정제기 1대 (확정 계획)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 · 2,178 · 3,168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8C9D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8C9D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8C9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대정비 (매년 4월 · 1,188 kg)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정제기 2대 개선 생산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'27.5~ · 월 4,182.9 kg = (47,200 − 1,188) ÷ 11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105℃ 월 4,455.6 kg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105℃ 4,455.6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600"/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ARS 200 L 충진 ('27.7~)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'26 설치 · 1~6월 200 L 수동 충진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운영 '27.7~ · 이지켐·한솔 200 L · 2028 전월 ARS (5 Gal 미적용)</a:t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FE6F7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58" name="Rectangle 257"/>
          <p:cNvSpPr/>
          <p:nvPr/>
        </p:nvSpPr>
        <p:spPr>
          <a:xfrm>
            <a:off x="287000" y="46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397000" y="460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정제기 2대 시간차 운전 개념 — 30일(720 h) 예시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시차 30 h · 설비별 66.3 h (설명용 가정) · 완료 22 Batch = 4,180 kg (이월 포함)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287000" y="573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32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Capa. 기준 (월 · 대정비 반영)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4,182.9 kg/월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(47,200 − 대정비 1,188) ÷ 11 · 12개월 47.2톤</a:t>
            </a:r>
          </a:p>
        </p:txBody>
      </p:sp>
      <p:sp>
        <p:nvSpPr>
          <p:cNvPr id="456" name="Rectangle 455"/>
          <p:cNvSpPr/>
          <p:nvPr/>
        </p:nvSpPr>
        <p:spPr>
          <a:xfrm>
            <a:off x="2447000" y="5735000"/>
            <a:ext cx="2090000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248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단순 2배 vs 개선 환산</a:t>
            </a:r>
          </a:p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52.4 vs 47.2톤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차이 5.2톤 = Mix·리사이클 준비 등 (확정 손실 아님)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4607000" y="573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64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설비별 등가 투입 간격</a:t>
            </a:r>
          </a:p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약 66.3 h (2대)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4,182.9÷190 = 22.0 Batch/월 역산 · 현재 1대 63.5 h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6767000" y="5735000"/>
            <a:ext cx="2090000" cy="42000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680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2028 105℃ 기준</a:t>
            </a:r>
          </a:p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D7D31"/>
                </a:solidFill>
                <a:latin typeface="Noto Sans KR"/>
                <a:ea typeface="Noto Sans KR"/>
                <a:cs typeface="Noto Sans KR"/>
              </a:rPr>
              <a:t>50.2톤 · 4,455.6 kg/월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+3톤 · (50,200 − 1,188) ÷ 11 · 품질 검증·승인 필요</a:t>
            </a:r>
          </a:p>
        </p:txBody>
      </p:sp>
      <p:sp>
        <p:nvSpPr>
          <p:cNvPr id="462" name="Round Same Side Corner Rectangle 178"/>
          <p:cNvSpPr/>
          <p:nvPr/>
        </p:nvSpPr>
        <p:spPr>
          <a:xfrm rot="10800000">
            <a:off x="5338152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3" name="Rectangle 177"/>
          <p:cNvSpPr/>
          <p:nvPr/>
        </p:nvSpPr>
        <p:spPr>
          <a:xfrm>
            <a:off x="5478152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4" name="TextBox 179"/>
          <p:cNvSpPr txBox="1"/>
          <p:nvPr/>
        </p:nvSpPr>
        <p:spPr>
          <a:xfrm>
            <a:off x="5338152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994214" y="1280160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시차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1170432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467" name="Rectangle 466"/>
          <p:cNvSpPr/>
          <p:nvPr/>
        </p:nvSpPr>
        <p:spPr>
          <a:xfrm>
            <a:off x="1170432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68" name="TextBox 467"/>
          <p:cNvSpPr txBox="1"/>
          <p:nvPr/>
        </p:nvSpPr>
        <p:spPr>
          <a:xfrm>
            <a:off x="1426768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469" name="Rectangle 468"/>
          <p:cNvSpPr/>
          <p:nvPr/>
        </p:nvSpPr>
        <p:spPr>
          <a:xfrm>
            <a:off x="1426768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0" name="TextBox 469"/>
          <p:cNvSpPr txBox="1"/>
          <p:nvPr/>
        </p:nvSpPr>
        <p:spPr>
          <a:xfrm>
            <a:off x="1683105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471" name="Rectangle 470"/>
          <p:cNvSpPr/>
          <p:nvPr/>
        </p:nvSpPr>
        <p:spPr>
          <a:xfrm>
            <a:off x="1683105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2" name="TextBox 471"/>
          <p:cNvSpPr txBox="1"/>
          <p:nvPr/>
        </p:nvSpPr>
        <p:spPr>
          <a:xfrm>
            <a:off x="1939442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473" name="Rectangle 472"/>
          <p:cNvSpPr/>
          <p:nvPr/>
        </p:nvSpPr>
        <p:spPr>
          <a:xfrm>
            <a:off x="1939442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4" name="TextBox 473"/>
          <p:cNvSpPr txBox="1"/>
          <p:nvPr/>
        </p:nvSpPr>
        <p:spPr>
          <a:xfrm>
            <a:off x="2195779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2195779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6" name="TextBox 475"/>
          <p:cNvSpPr txBox="1"/>
          <p:nvPr/>
        </p:nvSpPr>
        <p:spPr>
          <a:xfrm>
            <a:off x="2452116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452116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2708452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479" name="Rectangle 478"/>
          <p:cNvSpPr/>
          <p:nvPr/>
        </p:nvSpPr>
        <p:spPr>
          <a:xfrm>
            <a:off x="2708452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2964789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481" name="Rectangle 480"/>
          <p:cNvSpPr/>
          <p:nvPr/>
        </p:nvSpPr>
        <p:spPr>
          <a:xfrm>
            <a:off x="2964789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3221126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483" name="Rectangle 482"/>
          <p:cNvSpPr/>
          <p:nvPr/>
        </p:nvSpPr>
        <p:spPr>
          <a:xfrm>
            <a:off x="3221126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4" name="TextBox 483"/>
          <p:cNvSpPr txBox="1"/>
          <p:nvPr/>
        </p:nvSpPr>
        <p:spPr>
          <a:xfrm>
            <a:off x="3477463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485" name="Rectangle 484"/>
          <p:cNvSpPr/>
          <p:nvPr/>
        </p:nvSpPr>
        <p:spPr>
          <a:xfrm>
            <a:off x="3477463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6" name="TextBox 485"/>
          <p:cNvSpPr txBox="1"/>
          <p:nvPr/>
        </p:nvSpPr>
        <p:spPr>
          <a:xfrm>
            <a:off x="3733799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487" name="Rectangle 486"/>
          <p:cNvSpPr/>
          <p:nvPr/>
        </p:nvSpPr>
        <p:spPr>
          <a:xfrm>
            <a:off x="3733799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3990136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489" name="Rectangle 488"/>
          <p:cNvSpPr/>
          <p:nvPr/>
        </p:nvSpPr>
        <p:spPr>
          <a:xfrm>
            <a:off x="3990136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0" name="TextBox 489"/>
          <p:cNvSpPr txBox="1"/>
          <p:nvPr/>
        </p:nvSpPr>
        <p:spPr>
          <a:xfrm>
            <a:off x="4246473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491" name="Rectangle 490"/>
          <p:cNvSpPr/>
          <p:nvPr/>
        </p:nvSpPr>
        <p:spPr>
          <a:xfrm>
            <a:off x="4246473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2" name="TextBox 491"/>
          <p:cNvSpPr txBox="1"/>
          <p:nvPr/>
        </p:nvSpPr>
        <p:spPr>
          <a:xfrm>
            <a:off x="4502810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493" name="Rectangle 492"/>
          <p:cNvSpPr/>
          <p:nvPr/>
        </p:nvSpPr>
        <p:spPr>
          <a:xfrm>
            <a:off x="4502810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4759147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495" name="Rectangle 494"/>
          <p:cNvSpPr/>
          <p:nvPr/>
        </p:nvSpPr>
        <p:spPr>
          <a:xfrm>
            <a:off x="4759147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6" name="TextBox 495"/>
          <p:cNvSpPr txBox="1"/>
          <p:nvPr/>
        </p:nvSpPr>
        <p:spPr>
          <a:xfrm>
            <a:off x="5015484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497" name="Rectangle 496"/>
          <p:cNvSpPr/>
          <p:nvPr/>
        </p:nvSpPr>
        <p:spPr>
          <a:xfrm>
            <a:off x="5015484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8" name="TextBox 497"/>
          <p:cNvSpPr txBox="1"/>
          <p:nvPr/>
        </p:nvSpPr>
        <p:spPr>
          <a:xfrm>
            <a:off x="5271820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499" name="Rectangle 498"/>
          <p:cNvSpPr/>
          <p:nvPr/>
        </p:nvSpPr>
        <p:spPr>
          <a:xfrm>
            <a:off x="5271820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5528157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501" name="Rectangle 500"/>
          <p:cNvSpPr/>
          <p:nvPr/>
        </p:nvSpPr>
        <p:spPr>
          <a:xfrm>
            <a:off x="5528157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2" name="TextBox 501"/>
          <p:cNvSpPr txBox="1"/>
          <p:nvPr/>
        </p:nvSpPr>
        <p:spPr>
          <a:xfrm>
            <a:off x="5784494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503" name="Rectangle 502"/>
          <p:cNvSpPr/>
          <p:nvPr/>
        </p:nvSpPr>
        <p:spPr>
          <a:xfrm>
            <a:off x="5784494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4" name="TextBox 503"/>
          <p:cNvSpPr txBox="1"/>
          <p:nvPr/>
        </p:nvSpPr>
        <p:spPr>
          <a:xfrm>
            <a:off x="6040831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505" name="Rectangle 504"/>
          <p:cNvSpPr/>
          <p:nvPr/>
        </p:nvSpPr>
        <p:spPr>
          <a:xfrm>
            <a:off x="6040831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6297168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507" name="Rectangle 506"/>
          <p:cNvSpPr/>
          <p:nvPr/>
        </p:nvSpPr>
        <p:spPr>
          <a:xfrm>
            <a:off x="6297168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8" name="TextBox 507"/>
          <p:cNvSpPr txBox="1"/>
          <p:nvPr/>
        </p:nvSpPr>
        <p:spPr>
          <a:xfrm>
            <a:off x="6553504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509" name="Rectangle 508"/>
          <p:cNvSpPr/>
          <p:nvPr/>
        </p:nvSpPr>
        <p:spPr>
          <a:xfrm>
            <a:off x="6553504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0" name="TextBox 509"/>
          <p:cNvSpPr txBox="1"/>
          <p:nvPr/>
        </p:nvSpPr>
        <p:spPr>
          <a:xfrm>
            <a:off x="6809841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511" name="Rectangle 510"/>
          <p:cNvSpPr/>
          <p:nvPr/>
        </p:nvSpPr>
        <p:spPr>
          <a:xfrm>
            <a:off x="6809841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7066178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513" name="Rectangle 512"/>
          <p:cNvSpPr/>
          <p:nvPr/>
        </p:nvSpPr>
        <p:spPr>
          <a:xfrm>
            <a:off x="7066178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7322515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515" name="Rectangle 514"/>
          <p:cNvSpPr/>
          <p:nvPr/>
        </p:nvSpPr>
        <p:spPr>
          <a:xfrm>
            <a:off x="7322515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6" name="TextBox 515"/>
          <p:cNvSpPr txBox="1"/>
          <p:nvPr/>
        </p:nvSpPr>
        <p:spPr>
          <a:xfrm>
            <a:off x="7578851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517" name="Rectangle 516"/>
          <p:cNvSpPr/>
          <p:nvPr/>
        </p:nvSpPr>
        <p:spPr>
          <a:xfrm>
            <a:off x="7578851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8" name="TextBox 517"/>
          <p:cNvSpPr txBox="1"/>
          <p:nvPr/>
        </p:nvSpPr>
        <p:spPr>
          <a:xfrm>
            <a:off x="7835188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519" name="Rectangle 518"/>
          <p:cNvSpPr/>
          <p:nvPr/>
        </p:nvSpPr>
        <p:spPr>
          <a:xfrm>
            <a:off x="7835188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91525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521" name="Rectangle 520"/>
          <p:cNvSpPr/>
          <p:nvPr/>
        </p:nvSpPr>
        <p:spPr>
          <a:xfrm>
            <a:off x="8091525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22" name="TextBox 521"/>
          <p:cNvSpPr txBox="1"/>
          <p:nvPr/>
        </p:nvSpPr>
        <p:spPr>
          <a:xfrm>
            <a:off x="8347862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8347862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24" name="TextBox 523"/>
          <p:cNvSpPr txBox="1"/>
          <p:nvPr/>
        </p:nvSpPr>
        <p:spPr>
          <a:xfrm>
            <a:off x="8604199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525" name="Rectangle 524"/>
          <p:cNvSpPr/>
          <p:nvPr/>
        </p:nvSpPr>
        <p:spPr>
          <a:xfrm>
            <a:off x="8604199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26" name="Rectangle 525"/>
          <p:cNvSpPr/>
          <p:nvPr/>
        </p:nvSpPr>
        <p:spPr>
          <a:xfrm>
            <a:off x="8860536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27" name="TextBox 526"/>
          <p:cNvSpPr txBox="1"/>
          <p:nvPr/>
        </p:nvSpPr>
        <p:spPr>
          <a:xfrm>
            <a:off x="283464" y="4937759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283464" y="5084064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2</a:t>
            </a:r>
          </a:p>
        </p:txBody>
      </p:sp>
      <p:sp>
        <p:nvSpPr>
          <p:cNvPr id="529" name="TextBox 528"/>
          <p:cNvSpPr txBox="1"/>
          <p:nvPr/>
        </p:nvSpPr>
        <p:spPr>
          <a:xfrm>
            <a:off x="283464" y="5230368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PQC·이송·FQC</a:t>
            </a:r>
          </a:p>
        </p:txBody>
      </p:sp>
      <p:sp>
        <p:nvSpPr>
          <p:cNvPr id="530" name="TextBox 529"/>
          <p:cNvSpPr txBox="1"/>
          <p:nvPr/>
        </p:nvSpPr>
        <p:spPr>
          <a:xfrm>
            <a:off x="283464" y="5376672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 (공용)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283464" y="5522976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생산 kg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283464" y="4809744"/>
            <a:ext cx="868680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30일 · 720 h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1170432" y="4928616"/>
            <a:ext cx="21361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1170432" y="5367528"/>
            <a:ext cx="9292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1191793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</a:t>
            </a:r>
          </a:p>
        </p:txBody>
      </p:sp>
      <p:sp>
        <p:nvSpPr>
          <p:cNvPr id="536" name="Rectangle 535"/>
          <p:cNvSpPr/>
          <p:nvPr/>
        </p:nvSpPr>
        <p:spPr>
          <a:xfrm>
            <a:off x="1693786" y="4928616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1693786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38" name="Rectangle 537"/>
          <p:cNvSpPr/>
          <p:nvPr/>
        </p:nvSpPr>
        <p:spPr>
          <a:xfrm>
            <a:off x="1779231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1899923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1-2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2401916" y="4928616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2401916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2487362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2608054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1-3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3110047" y="4928616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3110047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3195492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3316184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1-4</a:t>
            </a:r>
          </a:p>
        </p:txBody>
      </p:sp>
      <p:sp>
        <p:nvSpPr>
          <p:cNvPr id="548" name="Rectangle 547"/>
          <p:cNvSpPr/>
          <p:nvPr/>
        </p:nvSpPr>
        <p:spPr>
          <a:xfrm>
            <a:off x="3818177" y="4928616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3818177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3903623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4024315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1-5</a:t>
            </a:r>
          </a:p>
        </p:txBody>
      </p:sp>
      <p:sp>
        <p:nvSpPr>
          <p:cNvPr id="552" name="Rectangle 551"/>
          <p:cNvSpPr/>
          <p:nvPr/>
        </p:nvSpPr>
        <p:spPr>
          <a:xfrm>
            <a:off x="4526307" y="4928616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4526307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4611753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4732445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1-6</a:t>
            </a:r>
          </a:p>
        </p:txBody>
      </p:sp>
      <p:sp>
        <p:nvSpPr>
          <p:cNvPr id="556" name="Rectangle 555"/>
          <p:cNvSpPr/>
          <p:nvPr/>
        </p:nvSpPr>
        <p:spPr>
          <a:xfrm>
            <a:off x="5234438" y="4928616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5234438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5319883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5440575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1-7</a:t>
            </a:r>
          </a:p>
        </p:txBody>
      </p:sp>
      <p:sp>
        <p:nvSpPr>
          <p:cNvPr id="560" name="Rectangle 559"/>
          <p:cNvSpPr/>
          <p:nvPr/>
        </p:nvSpPr>
        <p:spPr>
          <a:xfrm>
            <a:off x="5942568" y="4928616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5942568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6028014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6148706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1-8</a:t>
            </a:r>
          </a:p>
        </p:txBody>
      </p:sp>
      <p:sp>
        <p:nvSpPr>
          <p:cNvPr id="564" name="Rectangle 563"/>
          <p:cNvSpPr/>
          <p:nvPr/>
        </p:nvSpPr>
        <p:spPr>
          <a:xfrm>
            <a:off x="6650699" y="4928616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6650699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6736144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6856836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1-9</a:t>
            </a:r>
          </a:p>
        </p:txBody>
      </p:sp>
      <p:sp>
        <p:nvSpPr>
          <p:cNvPr id="568" name="Rectangle 567"/>
          <p:cNvSpPr/>
          <p:nvPr/>
        </p:nvSpPr>
        <p:spPr>
          <a:xfrm>
            <a:off x="7358829" y="4928616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7358829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7444275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7564967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1-10</a:t>
            </a:r>
          </a:p>
        </p:txBody>
      </p:sp>
      <p:sp>
        <p:nvSpPr>
          <p:cNvPr id="572" name="Rectangle 571"/>
          <p:cNvSpPr/>
          <p:nvPr/>
        </p:nvSpPr>
        <p:spPr>
          <a:xfrm>
            <a:off x="8066959" y="4928616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8066959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8152405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8273097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1-11</a:t>
            </a:r>
          </a:p>
        </p:txBody>
      </p:sp>
      <p:sp>
        <p:nvSpPr>
          <p:cNvPr id="576" name="Rectangle 575"/>
          <p:cNvSpPr/>
          <p:nvPr/>
        </p:nvSpPr>
        <p:spPr>
          <a:xfrm>
            <a:off x="8775090" y="4928616"/>
            <a:ext cx="85445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8775090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1170432" y="5074920"/>
            <a:ext cx="135644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1306076" y="5074920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1306076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1" name="Rectangle 580"/>
          <p:cNvSpPr/>
          <p:nvPr/>
        </p:nvSpPr>
        <p:spPr>
          <a:xfrm>
            <a:off x="1391522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1512214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</a:t>
            </a:r>
          </a:p>
        </p:txBody>
      </p:sp>
      <p:sp>
        <p:nvSpPr>
          <p:cNvPr id="583" name="Rectangle 582"/>
          <p:cNvSpPr/>
          <p:nvPr/>
        </p:nvSpPr>
        <p:spPr>
          <a:xfrm>
            <a:off x="2014207" y="5074920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4" name="Rectangle 583"/>
          <p:cNvSpPr/>
          <p:nvPr/>
        </p:nvSpPr>
        <p:spPr>
          <a:xfrm>
            <a:off x="2014207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5" name="Rectangle 584"/>
          <p:cNvSpPr/>
          <p:nvPr/>
        </p:nvSpPr>
        <p:spPr>
          <a:xfrm>
            <a:off x="2099652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6" name="Rectangle 585"/>
          <p:cNvSpPr/>
          <p:nvPr/>
        </p:nvSpPr>
        <p:spPr>
          <a:xfrm>
            <a:off x="2220344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2-2</a:t>
            </a:r>
          </a:p>
        </p:txBody>
      </p:sp>
      <p:sp>
        <p:nvSpPr>
          <p:cNvPr id="587" name="Rectangle 586"/>
          <p:cNvSpPr/>
          <p:nvPr/>
        </p:nvSpPr>
        <p:spPr>
          <a:xfrm>
            <a:off x="2722337" y="5074920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8" name="Rectangle 587"/>
          <p:cNvSpPr/>
          <p:nvPr/>
        </p:nvSpPr>
        <p:spPr>
          <a:xfrm>
            <a:off x="2722337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9" name="Rectangle 588"/>
          <p:cNvSpPr/>
          <p:nvPr/>
        </p:nvSpPr>
        <p:spPr>
          <a:xfrm>
            <a:off x="2807783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0" name="Rectangle 589"/>
          <p:cNvSpPr/>
          <p:nvPr/>
        </p:nvSpPr>
        <p:spPr>
          <a:xfrm>
            <a:off x="2928475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2-3</a:t>
            </a:r>
          </a:p>
        </p:txBody>
      </p:sp>
      <p:sp>
        <p:nvSpPr>
          <p:cNvPr id="591" name="Rectangle 590"/>
          <p:cNvSpPr/>
          <p:nvPr/>
        </p:nvSpPr>
        <p:spPr>
          <a:xfrm>
            <a:off x="3430468" y="5074920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2" name="Rectangle 591"/>
          <p:cNvSpPr/>
          <p:nvPr/>
        </p:nvSpPr>
        <p:spPr>
          <a:xfrm>
            <a:off x="3430468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3" name="Rectangle 592"/>
          <p:cNvSpPr/>
          <p:nvPr/>
        </p:nvSpPr>
        <p:spPr>
          <a:xfrm>
            <a:off x="3515913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3636605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2-4</a:t>
            </a:r>
          </a:p>
        </p:txBody>
      </p:sp>
      <p:sp>
        <p:nvSpPr>
          <p:cNvPr id="595" name="Rectangle 594"/>
          <p:cNvSpPr/>
          <p:nvPr/>
        </p:nvSpPr>
        <p:spPr>
          <a:xfrm>
            <a:off x="4138598" y="5074920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6" name="Rectangle 595"/>
          <p:cNvSpPr/>
          <p:nvPr/>
        </p:nvSpPr>
        <p:spPr>
          <a:xfrm>
            <a:off x="4138598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7" name="Rectangle 596"/>
          <p:cNvSpPr/>
          <p:nvPr/>
        </p:nvSpPr>
        <p:spPr>
          <a:xfrm>
            <a:off x="4224044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4344736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2-5</a:t>
            </a:r>
          </a:p>
        </p:txBody>
      </p:sp>
      <p:sp>
        <p:nvSpPr>
          <p:cNvPr id="599" name="Rectangle 598"/>
          <p:cNvSpPr/>
          <p:nvPr/>
        </p:nvSpPr>
        <p:spPr>
          <a:xfrm>
            <a:off x="4846728" y="5074920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4846728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1" name="Rectangle 600"/>
          <p:cNvSpPr/>
          <p:nvPr/>
        </p:nvSpPr>
        <p:spPr>
          <a:xfrm>
            <a:off x="4932174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2" name="Rectangle 601"/>
          <p:cNvSpPr/>
          <p:nvPr/>
        </p:nvSpPr>
        <p:spPr>
          <a:xfrm>
            <a:off x="5052866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2-6</a:t>
            </a:r>
          </a:p>
        </p:txBody>
      </p:sp>
      <p:sp>
        <p:nvSpPr>
          <p:cNvPr id="603" name="Rectangle 602"/>
          <p:cNvSpPr/>
          <p:nvPr/>
        </p:nvSpPr>
        <p:spPr>
          <a:xfrm>
            <a:off x="5554859" y="5074920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4" name="Rectangle 603"/>
          <p:cNvSpPr/>
          <p:nvPr/>
        </p:nvSpPr>
        <p:spPr>
          <a:xfrm>
            <a:off x="5554859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5" name="Rectangle 604"/>
          <p:cNvSpPr/>
          <p:nvPr/>
        </p:nvSpPr>
        <p:spPr>
          <a:xfrm>
            <a:off x="5640304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6" name="Rectangle 605"/>
          <p:cNvSpPr/>
          <p:nvPr/>
        </p:nvSpPr>
        <p:spPr>
          <a:xfrm>
            <a:off x="5760996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2-7</a:t>
            </a:r>
          </a:p>
        </p:txBody>
      </p:sp>
      <p:sp>
        <p:nvSpPr>
          <p:cNvPr id="607" name="Rectangle 606"/>
          <p:cNvSpPr/>
          <p:nvPr/>
        </p:nvSpPr>
        <p:spPr>
          <a:xfrm>
            <a:off x="6262989" y="5074920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6262989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6348435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6469127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2-8</a:t>
            </a:r>
          </a:p>
        </p:txBody>
      </p:sp>
      <p:sp>
        <p:nvSpPr>
          <p:cNvPr id="611" name="Rectangle 610"/>
          <p:cNvSpPr/>
          <p:nvPr/>
        </p:nvSpPr>
        <p:spPr>
          <a:xfrm>
            <a:off x="6971120" y="5074920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6971120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7056565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7177257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2-9</a:t>
            </a:r>
          </a:p>
        </p:txBody>
      </p:sp>
      <p:sp>
        <p:nvSpPr>
          <p:cNvPr id="615" name="Rectangle 614"/>
          <p:cNvSpPr/>
          <p:nvPr/>
        </p:nvSpPr>
        <p:spPr>
          <a:xfrm>
            <a:off x="7679250" y="5074920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7679250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7764696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7885388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2-10</a:t>
            </a:r>
          </a:p>
        </p:txBody>
      </p:sp>
      <p:sp>
        <p:nvSpPr>
          <p:cNvPr id="619" name="Rectangle 618"/>
          <p:cNvSpPr/>
          <p:nvPr/>
        </p:nvSpPr>
        <p:spPr>
          <a:xfrm>
            <a:off x="8387380" y="5074920"/>
            <a:ext cx="206137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8387380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8472826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8593518" y="5074920"/>
            <a:ext cx="267017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23" name="TextBox 622"/>
          <p:cNvSpPr txBox="1"/>
          <p:nvPr/>
        </p:nvSpPr>
        <p:spPr>
          <a:xfrm>
            <a:off x="1236074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1623783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1944204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2331914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652335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3040044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3360465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3748175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4068596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4456305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4776726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5164435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2,280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5484856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2,470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5872566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2,660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6192987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2,850</a:t>
            </a:r>
          </a:p>
        </p:txBody>
      </p:sp>
      <p:sp>
        <p:nvSpPr>
          <p:cNvPr id="638" name="TextBox 637"/>
          <p:cNvSpPr txBox="1"/>
          <p:nvPr/>
        </p:nvSpPr>
        <p:spPr>
          <a:xfrm>
            <a:off x="6580696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3,040</a:t>
            </a:r>
          </a:p>
        </p:txBody>
      </p:sp>
      <p:sp>
        <p:nvSpPr>
          <p:cNvPr id="639" name="TextBox 638"/>
          <p:cNvSpPr txBox="1"/>
          <p:nvPr/>
        </p:nvSpPr>
        <p:spPr>
          <a:xfrm>
            <a:off x="6901117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3,230</a:t>
            </a:r>
          </a:p>
        </p:txBody>
      </p:sp>
      <p:sp>
        <p:nvSpPr>
          <p:cNvPr id="640" name="TextBox 639"/>
          <p:cNvSpPr txBox="1"/>
          <p:nvPr/>
        </p:nvSpPr>
        <p:spPr>
          <a:xfrm>
            <a:off x="7288827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3,420</a:t>
            </a:r>
          </a:p>
        </p:txBody>
      </p:sp>
      <p:sp>
        <p:nvSpPr>
          <p:cNvPr id="641" name="TextBox 640"/>
          <p:cNvSpPr txBox="1"/>
          <p:nvPr/>
        </p:nvSpPr>
        <p:spPr>
          <a:xfrm>
            <a:off x="7609248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3,610</a:t>
            </a:r>
          </a:p>
        </p:txBody>
      </p:sp>
      <p:sp>
        <p:nvSpPr>
          <p:cNvPr id="642" name="TextBox 641"/>
          <p:cNvSpPr txBox="1"/>
          <p:nvPr/>
        </p:nvSpPr>
        <p:spPr>
          <a:xfrm>
            <a:off x="7996957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3,800</a:t>
            </a:r>
          </a:p>
        </p:txBody>
      </p:sp>
      <p:sp>
        <p:nvSpPr>
          <p:cNvPr id="643" name="TextBox 642"/>
          <p:cNvSpPr txBox="1"/>
          <p:nvPr/>
        </p:nvSpPr>
        <p:spPr>
          <a:xfrm>
            <a:off x="8317378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3,990</a:t>
            </a:r>
          </a:p>
        </p:txBody>
      </p:sp>
      <p:sp>
        <p:nvSpPr>
          <p:cNvPr id="644" name="TextBox 643"/>
          <p:cNvSpPr txBox="1"/>
          <p:nvPr/>
        </p:nvSpPr>
        <p:spPr>
          <a:xfrm>
            <a:off x="8705088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4,180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과거 Batch 분석 및 2026년 기준 검토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관측 간격 약 67.5 h (6/2 #39~10/29 #92) · 2026 출하 19.22톤 vs 현재 26.2톤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Batch 표시일자 분포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원자료 생산계획 · 표시일자 의미(투입/완료) 미확정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55548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989419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360387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68451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07000" y="133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87000" y="132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5월*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829129" y="13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7F7F7F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37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240419" y="13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7F7F7F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38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07000" y="149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7000" y="148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6월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50096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39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136138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40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177267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41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218396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42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259525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43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300654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44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341783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3829129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46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103322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47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4377516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48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4514612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097000" y="148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807000" y="165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87000" y="164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7월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813000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50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087193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51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1498483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52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1772677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53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183967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54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259525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55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300654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56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341783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57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382912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58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4041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59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465170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097000" y="164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/ T 11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807000" y="181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287000" y="180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8월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81300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61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122429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62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163558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63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204687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64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245816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65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286945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66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328074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67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369203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68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410332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69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51461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70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4925903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097000" y="180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07000" y="197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87000" y="196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9월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1087193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72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1361387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73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1635580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74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909774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75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2183967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76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95258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77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3280741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78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3829129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79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4240419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80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4514612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097000" y="196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807000" y="213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87000" y="212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10월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81300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82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122429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83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63558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84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204687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85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2321064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86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2732354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87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3143645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88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3417838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89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382912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90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424041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91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465170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92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097000" y="212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/ T 11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287000" y="2290000"/>
            <a:ext cx="547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5월 일부(#37 · #38) · 번호 개수 / T = 원자료 Total (붉은 T = 불일치 → 집계 기준 확인) · 6~10월 번호 54 vs Total 46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5857000" y="9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표시일자 간격 분포 (#39~#92 · 54개 일자 · 53간격)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09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05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05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1일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617000" y="1918717"/>
            <a:ext cx="440000" cy="231282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577000" y="1748717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657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2일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137000" y="1330000"/>
            <a:ext cx="440000" cy="8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97000" y="1160000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39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09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3일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65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61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61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4일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817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813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813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5일</a:t>
            </a:r>
          </a:p>
        </p:txBody>
      </p:sp>
      <p:cxnSp>
        <p:nvCxnSpPr>
          <p:cNvPr id="261" name="Connector 260"/>
          <p:cNvCxnSpPr/>
          <p:nvPr/>
        </p:nvCxnSpPr>
        <p:spPr>
          <a:xfrm>
            <a:off x="6057000" y="2150000"/>
            <a:ext cx="2600000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62" name="TextBox 261"/>
          <p:cNvSpPr txBox="1"/>
          <p:nvPr/>
        </p:nvSpPr>
        <p:spPr>
          <a:xfrm>
            <a:off x="5857000" y="2340000"/>
            <a:ext cx="30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평균 </a:t>
            </a:r>
            <a:r>
              <a:rPr sz="8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2.81일 = 약 67.5 h</a:t>
            </a: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(67.0~67.9 h)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중앙값 72 h (3일) · 월 경계 포함 · 5월 일부 제외 · 날짜만 있는 계획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287000" y="265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397000" y="262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월 생산능력 비교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정제기 1대 · 월 720 h · 연 환산은 참고값</a:t>
            </a:r>
          </a:p>
        </p:txBody>
      </p:sp>
      <p:graphicFrame>
        <p:nvGraphicFramePr>
          <p:cNvPr id="265" name="Table 264"/>
          <p:cNvGraphicFramePr>
            <a:graphicFrameLocks noGrp="1"/>
          </p:cNvGraphicFramePr>
          <p:nvPr/>
        </p:nvGraphicFramePr>
        <p:xfrm>
          <a:off x="287000" y="2834640"/>
          <a:ext cx="8570000" cy="800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0000"/>
                <a:gridCol w="1000000"/>
                <a:gridCol w="1000000"/>
                <a:gridCol w="1050000"/>
                <a:gridCol w="1150000"/>
                <a:gridCol w="21200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간격 h/Batch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Batch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생산 kg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환산 톤 (참고)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조건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(정제 45 h만)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45.0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36.5 (참고)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720÷45 · 준비·전환·이송·세척·대기·보수 제외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월 최대 11 Batch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25.08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 11×45 = 495 h + 225 h (구성 확인)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일정 추정 (6~10월)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67.5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10.7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2,028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24.5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149일×24÷53 · 중앙값 72 h · 표시일 기준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 환산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11.49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26,200÷190 = 137.9 Batch 상당 · 기준값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</a:tr>
            </a:tbl>
          </a:graphicData>
        </a:graphic>
      </p:graphicFrame>
      <p:sp>
        <p:nvSpPr>
          <p:cNvPr id="266" name="Rectangle 265"/>
          <p:cNvSpPr/>
          <p:nvPr/>
        </p:nvSpPr>
        <p:spPr>
          <a:xfrm>
            <a:off x="287000" y="3675887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97000" y="3648456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④ 정제 · 검사 · 충진 병렬 운영 (관측 간격 67.5 h 기준 · 정제 45 h)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187000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0h</a:t>
            </a:r>
          </a:p>
        </p:txBody>
      </p:sp>
      <p:cxnSp>
        <p:nvCxnSpPr>
          <p:cNvPr id="269" name="Connector 268"/>
          <p:cNvCxnSpPr/>
          <p:nvPr/>
        </p:nvCxnSpPr>
        <p:spPr>
          <a:xfrm>
            <a:off x="1337000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0" name="TextBox 269"/>
          <p:cNvSpPr txBox="1"/>
          <p:nvPr/>
        </p:nvSpPr>
        <p:spPr>
          <a:xfrm>
            <a:off x="1822714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30h</a:t>
            </a:r>
          </a:p>
        </p:txBody>
      </p:sp>
      <p:cxnSp>
        <p:nvCxnSpPr>
          <p:cNvPr id="271" name="Connector 270"/>
          <p:cNvCxnSpPr/>
          <p:nvPr/>
        </p:nvCxnSpPr>
        <p:spPr>
          <a:xfrm>
            <a:off x="1972714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2" name="TextBox 271"/>
          <p:cNvSpPr txBox="1"/>
          <p:nvPr/>
        </p:nvSpPr>
        <p:spPr>
          <a:xfrm>
            <a:off x="2458428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60h</a:t>
            </a:r>
          </a:p>
        </p:txBody>
      </p:sp>
      <p:cxnSp>
        <p:nvCxnSpPr>
          <p:cNvPr id="273" name="Connector 272"/>
          <p:cNvCxnSpPr/>
          <p:nvPr/>
        </p:nvCxnSpPr>
        <p:spPr>
          <a:xfrm>
            <a:off x="2608428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4" name="TextBox 273"/>
          <p:cNvSpPr txBox="1"/>
          <p:nvPr/>
        </p:nvSpPr>
        <p:spPr>
          <a:xfrm>
            <a:off x="3094142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90h</a:t>
            </a:r>
          </a:p>
        </p:txBody>
      </p:sp>
      <p:cxnSp>
        <p:nvCxnSpPr>
          <p:cNvPr id="275" name="Connector 274"/>
          <p:cNvCxnSpPr/>
          <p:nvPr/>
        </p:nvCxnSpPr>
        <p:spPr>
          <a:xfrm>
            <a:off x="3244142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6" name="TextBox 275"/>
          <p:cNvSpPr txBox="1"/>
          <p:nvPr/>
        </p:nvSpPr>
        <p:spPr>
          <a:xfrm>
            <a:off x="3729857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120h</a:t>
            </a:r>
          </a:p>
        </p:txBody>
      </p:sp>
      <p:cxnSp>
        <p:nvCxnSpPr>
          <p:cNvPr id="277" name="Connector 276"/>
          <p:cNvCxnSpPr/>
          <p:nvPr/>
        </p:nvCxnSpPr>
        <p:spPr>
          <a:xfrm>
            <a:off x="3879857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8" name="TextBox 277"/>
          <p:cNvSpPr txBox="1"/>
          <p:nvPr/>
        </p:nvSpPr>
        <p:spPr>
          <a:xfrm>
            <a:off x="4365571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150h</a:t>
            </a:r>
          </a:p>
        </p:txBody>
      </p:sp>
      <p:cxnSp>
        <p:nvCxnSpPr>
          <p:cNvPr id="279" name="Connector 278"/>
          <p:cNvCxnSpPr/>
          <p:nvPr/>
        </p:nvCxnSpPr>
        <p:spPr>
          <a:xfrm>
            <a:off x="4515571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0" name="TextBox 279"/>
          <p:cNvSpPr txBox="1"/>
          <p:nvPr/>
        </p:nvSpPr>
        <p:spPr>
          <a:xfrm>
            <a:off x="5001285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180h</a:t>
            </a:r>
          </a:p>
        </p:txBody>
      </p:sp>
      <p:cxnSp>
        <p:nvCxnSpPr>
          <p:cNvPr id="281" name="Connector 280"/>
          <p:cNvCxnSpPr/>
          <p:nvPr/>
        </p:nvCxnSpPr>
        <p:spPr>
          <a:xfrm>
            <a:off x="5151285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2" name="TextBox 281"/>
          <p:cNvSpPr txBox="1"/>
          <p:nvPr/>
        </p:nvSpPr>
        <p:spPr>
          <a:xfrm>
            <a:off x="5637000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210h</a:t>
            </a:r>
          </a:p>
        </p:txBody>
      </p:sp>
      <p:cxnSp>
        <p:nvCxnSpPr>
          <p:cNvPr id="283" name="Connector 282"/>
          <p:cNvCxnSpPr/>
          <p:nvPr/>
        </p:nvCxnSpPr>
        <p:spPr>
          <a:xfrm>
            <a:off x="5787000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4" name="TextBox 283"/>
          <p:cNvSpPr txBox="1"/>
          <p:nvPr/>
        </p:nvSpPr>
        <p:spPr>
          <a:xfrm>
            <a:off x="287000" y="4069080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(1대)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287000" y="4242816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PQC·이송·FQC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287000" y="4416552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87000" y="4590288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OQC · 출하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1335024" y="4087368"/>
            <a:ext cx="1002792" cy="146304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n 준비·정제 47 h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2337816" y="4087368"/>
            <a:ext cx="436784" cy="146304"/>
          </a:xfrm>
          <a:prstGeom prst="rect">
            <a:avLst/>
          </a:prstGeom>
          <a:solidFill>
            <a:srgbClr val="FFF2CC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337816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508504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892552" y="4608576"/>
            <a:ext cx="42672" cy="14630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774600" y="4087368"/>
            <a:ext cx="1002792" cy="14630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B n+1 준비·정제 47 h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3777392" y="4087368"/>
            <a:ext cx="436784" cy="146304"/>
          </a:xfrm>
          <a:prstGeom prst="rect">
            <a:avLst/>
          </a:prstGeom>
          <a:solidFill>
            <a:srgbClr val="FFF2CC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777392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948080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4332128" y="4608576"/>
            <a:ext cx="42672" cy="14630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4214176" y="4087368"/>
            <a:ext cx="1002792" cy="146304"/>
          </a:xfrm>
          <a:prstGeom prst="rect">
            <a:avLst/>
          </a:prstGeom>
          <a:solidFill>
            <a:srgbClr val="F8CBAD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B n+2 준비·정제 47 h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5216968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5387656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2535936" y="4270248"/>
            <a:ext cx="105156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← 기타 약 20.5 h (구성 확인)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980944" y="4617720"/>
            <a:ext cx="128016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548235"/>
                </a:solidFill>
                <a:latin typeface="Noto Sans KR"/>
                <a:ea typeface="Noto Sans KR"/>
                <a:cs typeface="Noto Sans KR"/>
              </a:rPr>
              <a:t>↑ 충진은 다음 Batch 정제와 병렬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87000" y="4773168"/>
            <a:ext cx="55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IQC(원료 Lot 공통 여부)·이송 중 정제기 점유·충진 인력·글로브 박스 근무시간이 다음 Batch를 제한하는지 확인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5937000" y="3675887"/>
            <a:ext cx="2920000" cy="1243584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027000" y="3703320"/>
            <a:ext cx="2740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추정 근거 · 가정 · 한계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데이터 : 6/2 #39~10/29 #92 (54개 일자 · 53간격) · 5월 일부 제외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방법 : 149일 × 24 ÷ 53 = 67.5 h (범위 67.0~67.9) · 중앙값 72 h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가정 : 표시일 = 매 Batch 같은 이벤트 · 번호 Batch 모두 수행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한계 : 날짜만 있는 계획 (실적 아님) · D일 = (D±1)×24 h, 2일≠48 h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차이 : 정제 45 h 대비 +22.5 h · 점유 47 h 대비 +20.5 h (구성 확인)</a:t>
            </a:r>
          </a:p>
          <a:p>
            <a:pPr algn="l">
              <a:spcAft>
                <a:spcPts val="600"/>
              </a:spcAft>
            </a:pPr>
            <a:r>
              <a:rPr sz="62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확인 : 표시일 의미 · 실제 시각 · Total 46 vs 번호 54 · 색상</a:t>
            </a:r>
          </a:p>
        </p:txBody>
      </p:sp>
      <p:graphicFrame>
        <p:nvGraphicFramePr>
          <p:cNvPr id="306" name="Table 166"/>
          <p:cNvGraphicFramePr>
            <a:graphicFrameLocks noGrp="1"/>
          </p:cNvGraphicFramePr>
          <p:nvPr/>
        </p:nvGraphicFramePr>
        <p:xfrm>
          <a:off x="283464" y="5193792"/>
          <a:ext cx="8567928" cy="10113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0000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780000"/>
              </a:tblGrid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16,980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 (제시분)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19,220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Total×190 (번호 ①)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8,740*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추정 생산 가능 (관측)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24,510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추정 − 출하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+490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+730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+670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+150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+5,290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07" name="Rectangle 262"/>
          <p:cNvSpPr/>
          <p:nvPr/>
        </p:nvSpPr>
        <p:spPr>
          <a:xfrm>
            <a:off x="287000" y="5001768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8" name="TextBox 263"/>
          <p:cNvSpPr txBox="1"/>
          <p:nvPr/>
        </p:nvSpPr>
        <p:spPr>
          <a:xfrm>
            <a:off x="397000" y="4974336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⑤ 2026 출하 제시분 vs 현재 Capa.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19.22톤 (CXMT·한솔 미제시) = 26.2톤의 73.4% · 차이 6.98톤 (가동률·판매 가능량 아님)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83464" y="6300216"/>
            <a:ext cx="530352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6~10월 합계 (번호×190 기준 10,260) · 계획은 원자료 생산계획(실적 아님) · 추정 생산 가능 = 관측 67.5 h·190 kg·달력 연속(129 Batch) · 상세 Excel 02·04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월별 생산 계획과 출하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출하 43.4톤 vs 생산 계획 42.18톤 → −1.22톤 · 4월 대정비 · 필요 선행재고 3.46톤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 월별 생산 계획 · 출하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1~4월 확정 (4월 대정비 1,188) · 5~12월 Capa. 기준 = (47,200 − 1,188) ÷ 11 = 4,182.9 kg</a:t>
            </a: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287000" y="1190000"/>
          <a:ext cx="8570000" cy="26115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0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800000"/>
              </a:tblGrid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9F9F9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정제기 1대 (확정 계획)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Capa. 기준 (47,200 − 1,188) ÷ 11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계획 (1~4월 확정)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42,175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환산 (÷190)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16.7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222.0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계획 − 출하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−2,145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−1,225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43,400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(÷190)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228.4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 (병 상당×2)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2,972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이지켐·한솔 수동 (이지켐 8 h/용기 · 한솔 시간 확인)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이지켐·한솔 ARS '27.7~ (충진시간 확인 입력)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(생산 − 출하) '27.1~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−575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−1,316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−3,461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−2,612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−1,762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−1,673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−1,583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−1,493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−1,404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−1,314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−1,225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−1,225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선행재고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'27.1.1 기준 3.46톤 = 누적 최저 ('27.4 대정비 월) · 기초재고 미입력 → 재고 계산 보류 · '27.12 기말재고 → '28.1 이월 (Excel 04·05)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3,461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287000" y="4114800"/>
            <a:ext cx="8570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하이닉스 22,720÷12 = 1,893.33 kg/월(표시 반올림) · CXMT 7,000 · 이지켐 10,080 (72용기) · 한솔 3,600 (24용기) · 5 Gal 병 상당 = (하이닉스+CXMT)÷20, 실제 20 kg 정수 배분 · 생산 계획 = 양품률 100% 상한 · 파랑 = 확정 · 회색 = 대정비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87000" y="434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97000" y="431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 생산 계획 vs 출하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87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17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현재 Capa. 대비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07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43.4 vs 26.2</a:t>
            </a:r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07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17.2톤 초과 → 대정비 후 정제기 2대 필요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49500" y="4542024"/>
            <a:ext cx="2082500" cy="640000"/>
          </a:xfrm>
          <a:prstGeom prst="rect">
            <a:avLst/>
          </a:prstGeom>
          <a:solidFill>
            <a:srgbClr val="EAF1FA"/>
          </a:solidFill>
          <a:ln w="1524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479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2027 생산 계획 vs 출하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69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42.18 vs 43.40</a:t>
            </a:r>
            <a:r>
              <a:rPr sz="70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469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−1.22톤 · 1~4월 확정 8.71 + 5~12월 33.46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612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642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하반기 출하 vs 계획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32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24.56 vs 25.10</a:t>
            </a:r>
            <a:r>
              <a:rPr sz="7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32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+0.54톤 · 4,182.9 kg × 6 (상반기 −1.76톤)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774500" y="454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804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필요 선행재고 ('27.1.1)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794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3.46</a:t>
            </a:r>
            <a:r>
              <a:rPr sz="70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794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누적 최저 '27.4 대정비 월 · 1~4월 출하 &gt; 생산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87000" y="528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97000" y="525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정제 · 충진 자원 제약 (월 기준)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87000" y="5482024"/>
            <a:ext cx="2082500" cy="640000"/>
          </a:xfrm>
          <a:prstGeom prst="rect">
            <a:avLst/>
          </a:prstGeom>
          <a:solidFill>
            <a:srgbClr val="FFF8E7"/>
          </a:solidFill>
          <a:ln w="1524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17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1~3월 (1대 확정)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07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11.5 · 11.5 · 16.7</a:t>
            </a:r>
            <a:r>
              <a:rPr sz="7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 Batch/월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07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3월 16.7 Batch &gt; 과거 최대 11 · 근거 확인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449500" y="548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479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5~12월 (2대)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469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22.0 vs 필요 17.5~21.5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Batch/월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469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4,182.9÷190 · 설비별 등가 66.3 h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6120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642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632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189.3 ~ 267.3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h/월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32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연 2,972 h · 1교대 176 h의 152% (최대)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7745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804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(이지켐+한솔)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6794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→ 10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용기/월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794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연 96용기 · OQC 2 h/용기 · 한솔·ARS 시간 확인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월별 생산 계획과 출하 가정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출하 가정 45.76톤 vs 생산 계획 50.2톤 (105℃) → +4.44톤 · 47.2 기준 +1.44톤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2028 월별 생산 계획 · 출하 가정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105℃ 50.2톤 = 4월 대정비 1,188 + 11개월 × 4,455.6 kg · 출하 가정은 확정 수요 아님</a:t>
            </a: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287000" y="1190000"/>
          <a:ext cx="8570000" cy="26115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0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800000"/>
              </a:tblGrid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운전 조건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9F9F9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105℃ 50.2톤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9D9D9"/>
                    </a:solidFill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105℃ (50,200 − 1,188) ÷ 11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E7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계획 (50.2톤 기준)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4,455.6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F3864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50,200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참고: 47.2톤 기준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4,182.9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47,200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계획 − 출하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−2,625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+4,440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(÷190)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240.8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 (병 상당×2)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3,208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· 한솔 ARS (충진시간 확인 입력) · 5 Gal 글로브 박스 유지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(생산 − 출하) '27.1~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−582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+702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−1,923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−1,281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−639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+646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+1,288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+1,931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+2,573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+3,215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+3,215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 (이월)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'27.12 누적 −1.22톤 이월 · '28.4 대정비 월 누적 −1.92톤 · '28.12 +3.22톤 · 필요 선행재고 3.46톤 ('27.1.1)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3,461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287000" y="4114800"/>
            <a:ext cx="8570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하이닉스 22,720÷12 · CXMT 780 · 이지켐 840 · 한솔 300 kg/월 (가정) · 105℃ 50.2톤 = 2028 기준 (품질 검증·승인 필요) · 47.2톤 행 = 105℃ 미적용 시 참고 · 양품률 100% 상한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87000" y="434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97000" y="431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2028 생산 계획 vs 출하 가정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87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17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가정 (2028)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07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45.76</a:t>
            </a:r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07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3,813.3 kg/월 × 12 · 확정 수요 아님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49500" y="4542024"/>
            <a:ext cx="2082500" cy="640000"/>
          </a:xfrm>
          <a:prstGeom prst="rect">
            <a:avLst/>
          </a:prstGeom>
          <a:solidFill>
            <a:srgbClr val="EAF1FA"/>
          </a:solidFill>
          <a:ln w="1524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479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50.2톤 계획 기준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69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+4.44</a:t>
            </a:r>
            <a:r>
              <a:rPr sz="7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469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여유 방향 · 4,455.6 kg × 11 + 1,188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612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642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참고: 47.2톤 기준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32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+1.44</a:t>
            </a:r>
            <a:r>
              <a:rPr sz="7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32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105℃ 미적용 시 · 4,182.9 kg × 11 + 1,188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774500" y="454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804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필요 선행재고 ('27.1.1)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794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3.46</a:t>
            </a:r>
            <a:r>
              <a:rPr sz="70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794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누적 최저 '27.4 · '28.4 대정비 월 −1.92톤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87000" y="528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97000" y="525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재고 이월 · 설비 · 품질 · 충진 자원 검토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87000" y="5482024"/>
            <a:ext cx="2082500" cy="640000"/>
          </a:xfrm>
          <a:prstGeom prst="rect">
            <a:avLst/>
          </a:prstGeom>
          <a:solidFill>
            <a:srgbClr val="FFF8E7"/>
          </a:solidFill>
          <a:ln w="1524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17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'27.12 → '28.12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07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−1.22 → +3.22</a:t>
            </a:r>
            <a:r>
              <a:rPr sz="7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07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생산 − 출하 누적 · 기초·목표재고 입력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449500" y="548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479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설비별 등가 간격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469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약 62.3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h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469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4,455.6÷190 = 23.5 Batch/월 역산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6120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642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충진 자원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632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267.3 h · 8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용기/월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32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5 Gal 연 3,208 h (1교대 152%) · 200 L 연 96용기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7745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804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105℃ 품질 확인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6794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검증 · 고객 승인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794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열 안정성·Dimer·Unknown·Yield · 이지켐 색도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