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69" r:id="rId6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1대의 과거 최대인 월 11 Batch를 30일(720 h)에 놓으면 투입 간격은 65.5 h이고, 11 × 190 = 2,090 kg입니다.</a:t>
            </a:r>
          </a:p>
          <a:p>
            <a:r>
              <a:t>막대는 준비·투입 2 h + 순수 정제 45 h를 정제기 운전으로, 이후 다음 투입까지를 해제·전환 구간(구성 확인)으로 표시했습니다. 정제가 끝난 Batch는 PQC~이송·FQC 8 h 뒤 충진하며, 그동안 다음 Batch가 정제됩니다.</a:t>
            </a:r>
          </a:p>
          <a:p>
            <a:r>
              <a:t>순수 정제만 놓고 보면 720 ÷ 45 = 16 Batch(3,040 kg)이지만 점유·전환·보수 등을 뺀 이론값입니다. 11 Batch 기준 495 h를 뺀 225 h를 전부 손실이나 충진시간으로 보지 않습니다.</a:t>
            </a:r>
          </a:p>
          <a:p>
            <a:r>
              <a:t>현재 연간 Capa. 26.2톤은 190 kg 기준 137.9 Batch 상당(월 11.5 Batch, 2,183 kg)입니다. 운전시간·가동률을 조정해서 맞춘 값이 아닙니다.</a:t>
            </a:r>
          </a:p>
          <a:p>
            <a:r>
              <a:t>2026 출하 제시분은 19,220 kg(하이닉스 16,980 + 이지켐 2,240)이며 CXMT·한솔 물량은 아직 제시되지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운전 예시입니다. 설비별 투입 간격 64.6 h는 월 Capa. 4,290.9 kg ÷ 190 = 22.6 Batch를 평균 월 730 h에 2대로 나눈 역산값이고, 정제기 2 시차 30 h는 설명용 가정입니다. 실제 투입 간격은 초류 진행과 충진 처리능력을 보고 정합니다.</a:t>
            </a:r>
          </a:p>
          <a:p>
            <a:r>
              <a:t>30일(720 h) 안에 FQC가 끝나는 Batch는 22개(4,180 kg)이고, 월평균 730 h 기준으로는 22.6 Batch = 4,291 kg입니다.</a:t>
            </a:r>
          </a:p>
          <a:p>
            <a:r>
              <a:t>두 정제기의 완료 시점이 엇갈려 5 Gal 충진(18 h)과 200 L 충진(8 h)이 겹치지 않게 배치됩니다. 충진은 출하 비중(7월 기준 200 L 약 30%)에 맞춰 일부 Batch를 200 L로 표시했습니다.</a:t>
            </a:r>
          </a:p>
          <a:p>
            <a:r>
              <a:t>기존 생산계획의 5~12월 3,564 kg은 190 kg 기준 월 18.8 Batch, 설비별 간격 약 78 h에 해당합니다. 2028년 105℃ 기준 4,563.6 kg은 월 24.0 Batch입니다.</a:t>
            </a:r>
          </a:p>
          <a:p>
            <a:r>
              <a:t>Batch 수가 늘어나면 글로브 박스 충진·검사·Tank·포장이 먼저 병목이 될 수 있어, 정제능력과 최종 출하능력은 구분해서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버전을 같은 출하계획(2027 41.72톤, 2028 45.76톤)과 비교했습니다. 2027년 1~4월은 확정 생산(2,178 · 2,178 · 3,168 · 1,188 kg)으로 두 버전이 같고, 재고는 2027.1.1 기초재고 2,882 kg에서 시작해 전월 재고 + 생산 − 출하로 이어집니다.</a:t>
            </a:r>
          </a:p>
          <a:p>
            <a:r>
              <a:t>① Capa. 기준: 2027년 5~12월 47,200 ÷ 11 = 4,290.9 kg/월, 2028년 105℃ 50,200 ÷ 11 = 4,563.6 kg/월(4월 대정비 1,188 kg 별도). 2027년 +1,319 kg, 2028년 +5,628 kg. 4월 대정비 달에 재고가 −579 kg까지 내려가고, '27 말 +4,201 kg, '28 말 +9,829 kg입니다.</a:t>
            </a:r>
          </a:p>
          <a:p>
            <a:r>
              <a:t>② 기존 생산계획: 2027년 5~12월 3,564 kg, 2028년 3,564 kg(4월 1,188 · 8~12월 3,168 kg). 2027년 −4,496 kg, 2028년 −7,348 kg으로 '27 말 −1,614 kg, '28 말 −8,962 kg까지 부족이 커집니다.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생산·출하 ① Capa. 기준 (47.2톤). 생산 43,039 kg, 출하 41,720 kg, 차이 +1,319 kg. 2027년 1~4월은 확정 생산(2,178 · 2,178 · 3,168 · 1,188 kg, 4월 대정비)입니다. 5월부터 월 Capa. 47,200 ÷ 11 = 4,290.9 kg을 적용했습니다. 재고는 2027.1.1 기초재고 2,882 kg에서 전월 재고 + 생산 − 출하로 이어지며, 2027년 최저 −579 kg(4월), 연말 +4,201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생산·출하 ② 기존 생산계획. 생산 37,224 kg, 출하 41,720 kg, 차이 −4,496 kg. 2027년 1~4월은 확정 생산(2,178 · 2,178 · 3,168 · 1,188 kg, 4월 대정비)입니다. 기존 생산계획 수치(3,564 · 3,168 · 2,178 · 1,188 kg)는 198 kg × 정수 Batch(18 · 16 · 11 · 6)와 일치합니다 — 계획 Batch량 기준 확인 필요. 재고는 2027.1.1 기초재고 2,882 kg에서 전월 재고 + 생산 − 출하로 이어지며, 2027년 최저 −1,614 kg(12월), 연말 −1,614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생산·출하 ① Capa. 기준 (50.2톤). 생산 51,388 kg, 출하 45,760 kg, 차이 +5,628 kg. 105℃ 50.2톤 기준으로 50,200 ÷ 11 = 4,563.6 kg, 4월 대정비 1,188 kg입니다. 105℃는 품질 검증·승인이 전제입니다. 재고는 2027.1.1 기초재고 2,882 kg에서 전월 재고 + 생산 − 출하로 이어지며, 2028년 최저 +3,827 kg(4월), 연말 +9,829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생산·출하 ② 기존 생산계획. 생산 38,412 kg, 출하 45,760 kg, 차이 −7,348 kg. 기존 생산계획 수치(3,564 · 3,168 · 2,178 · 1,188 kg)는 198 kg × 정수 Batch(18 · 16 · 11 · 6)와 일치합니다 — 계획 Batch량 기준 확인 필요. 재고는 2027.1.1 기초재고 2,882 kg에서 전월 재고 + 생산 − 출하로 이어지며, 2028년 최저 −8,962 kg(12월), 연말 −8,962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출하 물량으로 계산했습니다. 5 Gal은 (하이닉스 + CXMT) ÷ 20 kg × 2 h, 200 L은 이지켐 140 kg · 한솔 150 kg 용기 × 8 h(수동 기준)입니다.</a:t>
            </a:r>
          </a:p>
          <a:p>
            <a:r>
              <a:t>2027년 하반기부터 5 Gal 충진이 월 약 267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않고, 환산 기준은 190 kg/Batch를 유지했습니다.</a:t>
            </a:r>
          </a:p>
          <a:p>
            <a:r>
              <a:t>수율은 신규 Crude만이 아니라 재투입·Mix를 포함한 총 투입량 기준으로 따로 계산해야 합니다(Excel 09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190 kg과 5 Gal 9병 180 kg의 차이 10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겹칩니다(현장 설명: 다음 날 투입·초류 중간·초류 종료 무렵 — 투입 간격은 미확정).</a:t>
            </a:r>
          </a:p>
          <a:p>
            <a:r>
              <a:t>정제기별 Batch 시간이 절반으로 줄어드는 것이 아니라 두 설비의 생산을 겹쳐 전체 생산량을 늘리는 방식이며, 제품 회수 시점이 엇갈려 검사·충진 부하가 한꺼번에 몰리지 않습니다. 57 ÷ 2 = 28.5 h는 이상적인 경우의 도착 간격 설명일 뿐 정제기별 Batch 시간이 아닙니다.</a:t>
            </a:r>
          </a:p>
          <a:p>
            <a:r>
              <a:t>일정: '27.1~3 정제기 1대 확정 생산(2,178 · 2,178 · 3,168 kg) → '27.4 대정비(1,188 kg) → '27.5부터 정제기 2대. 대정비는 매년 4월로 반영했습니다. 200 L ARS는 '27.7부터(이지켐·한솔), 5 Gal은 글로브 박스를 유지합니다.</a:t>
            </a:r>
          </a:p>
          <a:p>
            <a:r>
              <a:t>Capa.: 26.2 + 21 = 47.2톤/년. 월 기준은 47,200 ÷ 11 = 4,290.9 kg이고 대정비 월(4월)은 1,188 kg을 따로 둡니다. 2028년은 105℃ 적용(+3톤)으로 50.2톤, 50,200 ÷ 11 = 월 4,563.6 kg — 열 안정성·Dimer·Unknown impurity·수율 검증과 승인이 전제입니다.</a:t>
            </a:r>
          </a:p>
          <a:p>
            <a:r>
              <a:t>47.2톤이 현재의 2배(52.4톤)가 아닌 것은 추가 투입용 Mix·Premix 준비 등에 설비 시간이 필요하기 때문이며, 각 요인의 손실량은 아직 정량화되지 않았습니다.</a:t>
            </a:r>
          </a:p>
          <a:p>
            <a:r>
              <a:t>리플럭스는 하이닉스 요구 품질 대응과 생산능력 확대를 함께 보는 프로젝트입니다. 추가 정제기가 기존 설비 개조인지 신규 설치인지,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50215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747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공정시간 단순 합계 (h)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IQC~FQC 57 h + 충진 + OQC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822191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 (하이닉스·CXMT)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920240" y="3776472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80556" y="3776472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240873" y="3776472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5848003" y="3776472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6328954" y="3776472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489271" y="3776472"/>
            <a:ext cx="1442851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7932123" y="3776472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147304" y="381304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77 h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3464" y="4151376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920240" y="4105656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2080556" y="4105656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2240873" y="4105656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5848003" y="4105656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328954" y="4105656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489271" y="4105656"/>
            <a:ext cx="641267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7130538" y="4105656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7345719" y="414223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283464" y="4480559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한솔 200 L 1용기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920240" y="4434840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080556" y="4434840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240873" y="4434840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48003" y="4434840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328954" y="4434840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6489271" y="4434840"/>
            <a:ext cx="641267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130538" y="4434840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45719" y="44714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489271" y="3721608"/>
            <a:ext cx="10972" cy="10241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5986351" y="475488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▲ IQC~FQC 57 h</a:t>
            </a:r>
          </a:p>
        </p:txBody>
      </p:sp>
      <p:graphicFrame>
        <p:nvGraphicFramePr>
          <p:cNvPr id="290" name="Table 289"/>
          <p:cNvGraphicFramePr>
            <a:graphicFrameLocks noGrp="1"/>
          </p:cNvGraphicFramePr>
          <p:nvPr/>
        </p:nvGraphicFramePr>
        <p:xfrm>
          <a:off x="283464" y="5010912"/>
          <a:ext cx="8567928" cy="987552"/>
        </p:xfrm>
        <a:graphic>
          <a:graphicData uri="http://schemas.openxmlformats.org/drawingml/2006/table">
            <a:tbl>
              <a:tblPr firstRow="0" bandRow="0"/>
              <a:tblGrid>
                <a:gridCol w="1691640"/>
                <a:gridCol w="502920"/>
                <a:gridCol w="594360"/>
                <a:gridCol w="594360"/>
                <a:gridCol w="594360"/>
                <a:gridCol w="502920"/>
                <a:gridCol w="640080"/>
                <a:gridCol w="502920"/>
                <a:gridCol w="594360"/>
                <a:gridCol w="502920"/>
                <a:gridCol w="731520"/>
                <a:gridCol w="111556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경로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준비·투입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정제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IQC~FQC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충진량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기준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(하이닉스·CXMT)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 kg (9병)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× 9병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200 L 1용기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 kg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(수동)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200 L 1용기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 kg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(수동)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50215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747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매년 4월 대정비 · '27.5 정제기 2대 생산 시작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730752"/>
          <a:ext cx="8540496" cy="137617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(확정 생산)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· 2,178 · 3,168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(매년 4월)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4,290.9 kg (47.2톤 기준) · 기존 생산계획 3,564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월 4,563.6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 (이지켐 · 한솔)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운영 '27.7~ · 이지켐 · 한솔 200 L (5 Gal은 글로브 박스 유지)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(2028)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103 → 105℃ · +3톤 · 품질 검증 및 승인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Capa. 기준 — 연간 Capa. ÷ 11개월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대정비 월(4월)은 1,188 kg 별도</a:t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468112"/>
          <a:ext cx="8567928" cy="7772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731520"/>
                <a:gridCol w="914400"/>
                <a:gridCol w="731520"/>
                <a:gridCol w="822960"/>
                <a:gridCol w="3355848"/>
              </a:tblGrid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기준 (kg)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(정제기 1대 · 103℃)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'27.1~3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 ÷ 12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후 (정제기 2대)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'27.5~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 ÷ 11 · 대정비 월 1,188 kg 별도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적용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'28.1~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 ÷ 11 · 대정비 월 1,188 kg 별도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참고: 현재의 단순 2배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52.4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4,366.7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23.0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안 함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 등 설비 시간 필요 → 2배 아님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정제기 1대 한 달 운전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1대 한 달 11 Batch = 2,090 kg (과거 최대) · 연간 26.2톤 = 월 2,183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과거 최대 월 11 Batch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투입 간격 720 ÷ 11 = 65.5 h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 · 720 h)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95044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09928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24228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PQC~이송·FQC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39112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5341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368296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482596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697479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811779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302666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20700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46212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1724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7236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22747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48259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73771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992831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24794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50306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75818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4013301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6841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52353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778654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503377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528888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54400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799124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605424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630935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56447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81959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07471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32983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58494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84006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09518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35030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0541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86053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207008" y="1463040"/>
            <a:ext cx="2125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228267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727873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727873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924043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2423648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423648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2619818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119423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119423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315593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3815198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815198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011368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4510974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510974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707144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206749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206749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5402919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902524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902524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6098694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598300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598300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6794469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7294075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7294075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7490245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7989850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989850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186020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685625" y="1463040"/>
            <a:ext cx="174910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685625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07008" y="2121408"/>
            <a:ext cx="101467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1630032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1812912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325807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2508687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021582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204462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3717358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3900238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4413133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4596013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5108908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5291788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5804683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5987563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500459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683339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7196234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7379114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7892009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8074889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8587785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8770665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207008" y="3099816"/>
            <a:ext cx="146304" cy="9144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1389888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준비·투입 + 순수 정제 (47 h)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2743200" y="3099816"/>
            <a:ext cx="146304" cy="9144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2926080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정제기 해제·전환 (확인 필요)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279392" y="3099816"/>
            <a:ext cx="146304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4462272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PQC~이송 · FQC (8 h)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5583" y="3099816"/>
            <a:ext cx="146304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998464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(18 h)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7351775" y="3099816"/>
            <a:ext cx="146304" cy="914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7534655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(8 h)</a:t>
            </a:r>
          </a:p>
        </p:txBody>
      </p:sp>
      <p:sp>
        <p:nvSpPr>
          <p:cNvPr id="400" name="Rectangle 257"/>
          <p:cNvSpPr/>
          <p:nvPr/>
        </p:nvSpPr>
        <p:spPr>
          <a:xfrm>
            <a:off x="283464" y="3483863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1" name="TextBox 258"/>
          <p:cNvSpPr txBox="1"/>
          <p:nvPr/>
        </p:nvSpPr>
        <p:spPr>
          <a:xfrm>
            <a:off x="393192" y="3456432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 — 정제기 1대 · 720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02" name="Table 401"/>
          <p:cNvGraphicFramePr>
            <a:graphicFrameLocks noGrp="1"/>
          </p:cNvGraphicFramePr>
          <p:nvPr/>
        </p:nvGraphicFramePr>
        <p:xfrm>
          <a:off x="283464" y="3712463"/>
          <a:ext cx="8567928" cy="132588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822960"/>
                <a:gridCol w="868680"/>
                <a:gridCol w="868680"/>
                <a:gridCol w="960120"/>
                <a:gridCol w="3035808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간격 (h)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 45 h만)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÷ 45 · 정제기 점유·전환·보수 제외 (이론)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 × 45 = 495 h + 기타 225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190 = 137.9 Batch · 138 × 190 = 26,220 kg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출하 (제시분)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19.22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16,980 + 이지켐 2,240 · CXMT·한솔 미제시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3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4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과거 최대 11 Batch의 720 h 구성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283464" y="555040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720 h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1207008" y="5504688"/>
            <a:ext cx="5261800" cy="27432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11 × 45 = 495 h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6468808" y="5504688"/>
            <a:ext cx="233857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6702666" y="5504688"/>
            <a:ext cx="2157869" cy="2743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5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기타 203 h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207008" y="5824728"/>
            <a:ext cx="765352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준비·투입 11 × 2 = 22 h · 기타 = 정제기 해제·세척·전환·승인 대기·보수·월 경계 등 (구성 확인)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한 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· 30일 22 Batch = 4,180 kg · 월평균 22.6 Batch = 4,291 kg (47.2톤)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정제기 2대 투입 시점 엇갈림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설비별 투입 간격 64.6 h · 정제기 2 시차 30 h (가정)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 · 720 h)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9047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0078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1051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2082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3055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PQC~이송·FQC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34086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45059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660903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77063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298094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83464" y="309067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1207008" y="330098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20700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46212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71724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7236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747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8259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73771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992831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24794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0306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75818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013301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26841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52353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778654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03377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28888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554400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5799124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05424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30935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656447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681959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07471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32983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8494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784006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09518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35030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0541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86053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207008" y="1458468"/>
            <a:ext cx="2125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22826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72787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72787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91547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1-2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2415078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241507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260267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1-3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310228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10228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28988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1-4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3789488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78948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397708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1-5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447669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47669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66429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1-6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163898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516389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35149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1-7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85110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85110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03870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1-8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6538308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653830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672590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1-9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722551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722551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41311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1-10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7912718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791271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10031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1-11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599923" y="1458468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859992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8787523" y="1458468"/>
            <a:ext cx="73012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207008" y="1778507"/>
            <a:ext cx="152557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35956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35956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54716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2046770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4677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23436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273397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73397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92157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2-3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3421180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342118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360877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2-4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410838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410838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429598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2-5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4795590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479559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98318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2-6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548279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548279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567039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2-7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170000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17000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35759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2-8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685720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685720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04480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2-9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7544410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754441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773200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2-10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8231615" y="1778507"/>
            <a:ext cx="18759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23161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19214" y="1778507"/>
            <a:ext cx="441321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1207008" y="2418588"/>
            <a:ext cx="110037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126172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144460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163003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181291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94892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2131809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231723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2500117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263613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281901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300444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318732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332333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3506219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369164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3874527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401054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419342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437885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4561732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469774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4880629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506605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2,280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5248937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538495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2,470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5567834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575326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2,660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593614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607215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2,850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6255039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44046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3,040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6623347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675936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3,230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694224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12767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3,420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731055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744656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3,610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7629449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81487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3,800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997757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813377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3,990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831665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850208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4,180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8684962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1207008" y="3374136"/>
            <a:ext cx="146304" cy="9144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1389888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준비·투입 + 순수 정제 (47 h)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2743200" y="3374136"/>
            <a:ext cx="146304" cy="9144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2926080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정제기 해제·전환 (확인 필요)</a:t>
            </a:r>
          </a:p>
        </p:txBody>
      </p:sp>
      <p:sp>
        <p:nvSpPr>
          <p:cNvPr id="453" name="Rectangle 452"/>
          <p:cNvSpPr/>
          <p:nvPr/>
        </p:nvSpPr>
        <p:spPr>
          <a:xfrm>
            <a:off x="4279392" y="3374136"/>
            <a:ext cx="146304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4462272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PQC~이송 · FQC (8 h)</a:t>
            </a:r>
          </a:p>
        </p:txBody>
      </p:sp>
      <p:sp>
        <p:nvSpPr>
          <p:cNvPr id="455" name="Rectangle 454"/>
          <p:cNvSpPr/>
          <p:nvPr/>
        </p:nvSpPr>
        <p:spPr>
          <a:xfrm>
            <a:off x="5815583" y="3374136"/>
            <a:ext cx="146304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5998464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(18 h)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7351775" y="3374136"/>
            <a:ext cx="146304" cy="914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7534655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(8 h)</a:t>
            </a:r>
          </a:p>
        </p:txBody>
      </p:sp>
      <p:sp>
        <p:nvSpPr>
          <p:cNvPr id="459" name="Rectangle 257"/>
          <p:cNvSpPr/>
          <p:nvPr/>
        </p:nvSpPr>
        <p:spPr>
          <a:xfrm>
            <a:off x="283464" y="37764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0" name="TextBox 258"/>
          <p:cNvSpPr txBox="1"/>
          <p:nvPr/>
        </p:nvSpPr>
        <p:spPr>
          <a:xfrm>
            <a:off x="393192" y="3749039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61" name="Table 460"/>
          <p:cNvGraphicFramePr>
            <a:graphicFrameLocks noGrp="1"/>
          </p:cNvGraphicFramePr>
          <p:nvPr/>
        </p:nvGraphicFramePr>
        <p:xfrm>
          <a:off x="283464" y="4005072"/>
          <a:ext cx="8567928" cy="2084831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548640"/>
                <a:gridCol w="777240"/>
                <a:gridCol w="868680"/>
                <a:gridCol w="822960"/>
                <a:gridCol w="1143000"/>
                <a:gridCol w="2395728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투입 간격 (h)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190 = 137.9 Batch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× 45 = 495 h + 225 h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생산계획 ('27.5~)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37.2 ('27)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 5~12월 월 생산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47.2톤 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64.6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 ÷ 11 (대정비 월 별도)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50.2톤 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 ÷ 11 (대정비 월 별도)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2027~2028 생산 계획 버전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'28 말 재고 — ① Capa. 기준 +9,829 kg · ② 기존 생산계획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연간 생산 · 출하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재고 = 전월 재고 + 생산 − 출하 · 2027.1.1 기초재고 2,882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750808" cy="822959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685800"/>
                <a:gridCol w="685800"/>
                <a:gridCol w="640080"/>
                <a:gridCol w="685800"/>
                <a:gridCol w="685800"/>
                <a:gridCol w="640080"/>
                <a:gridCol w="713232"/>
                <a:gridCol w="713232"/>
                <a:gridCol w="969264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버전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출하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생산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출하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말 재고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Capa. 기준 (2027 47.2톤 · 2028 50.2톤)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 ('27.4)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기존 생산계획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 ('28.12)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2677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2402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월별 생산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496312"/>
          <a:ext cx="8567928" cy="1481328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/ 연말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 (Capa. 기준)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 (기존 생산계획)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2519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2245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2028 월별 생산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480560"/>
          <a:ext cx="8567928" cy="1481328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/ 연말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 (Capa. 기준)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 (기존 생산계획)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6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생산·출하 ① Capa. 기준 (47.2톤)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43.04톤 vs 출하 41.72톤 → +1,319 kg · 연말 재고 +4,201 kg (4월 −579)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생산 · 출하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1~4월 확정 · 5~12월 47,200 ÷ 11 = 4,290.9 kg · 기초재고 2,882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8571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658368"/>
              </a:tblGrid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226.5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(전월 재고 + 생산 − 출하)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 (이지켐/한솔)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생산·출하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37.22톤 vs 출하 41.72톤 → −4,496 kg · 연말 재고 −1,614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생산 · 출하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1~4월 확정 · 5~12월 3,564 kg · 기초재고 2,882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8571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658368"/>
              </a:tblGrid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195.9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(전월 재고 + 생산 − 출하)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 (이지켐/한솔)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생산·출하 ① Capa. 기준 (50.2톤)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51.39톤 vs 출하 45.76톤 → +5,628 kg · 연말 재고 +9,829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생산 · 출하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105℃ 50,200 ÷ 11 = 4,563.6 kg · 4월 대정비 1,188 kg · 재고는 '27 말에서 이어짐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8571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658368"/>
              </a:tblGrid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270.5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(전월 재고 + 생산 − 출하)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 (이지켐/한솔)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생산·출하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38.41톤 vs 출하 45.76톤 → −7,348 kg · 연말 재고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생산 · 출하 · 재고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3,564 kg · 4월 1,188 · 8~12월 3,168 kg · 재고는 '27 말에서 이어짐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8571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658368"/>
              </a:tblGrid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202.2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(전월 재고 + 생산 − 출하)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 (이지켐/한솔)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267 h = 1교대 176 h의 152%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(출하계획 기준)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출하 물량으로 계산 — 생산 버전과 무관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331719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960120"/>
                <a:gridCol w="960120"/>
                <a:gridCol w="960120"/>
                <a:gridCol w="960120"/>
                <a:gridCol w="2532888"/>
              </a:tblGrid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'27.3~6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'27.7~12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(월)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 (하이닉스+CXMT)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kg/병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글로브 박스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1교대 가용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22일 (교대 확대 시 증가)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141%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 (이지켐 + 한솔)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 kg · 150 kg/용기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(ARS 실측 전)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 (5 Gal + 200 L)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· FQC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 ÷ 190)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7307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7033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3959352"/>
          <a:ext cx="8567928" cy="213969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057400"/>
                <a:gridCol w="2377440"/>
                <a:gridCol w="2532888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기준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9병 18 h · 현장 약 2일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최대 267 h — 1교대 176 h 초과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충진 인원 · 글로브 박스 수 · 18 h → 9 h 방안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(이지켐 · 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· 전체 시간은 수동과 비슷할 수 있음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용기 준비 · 투입·반출 · 퍼지 · 충진 · 전환 시간 실측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· FQC 2 h / Batch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두 정제기 회수 시점 겹침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대기시간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정제기 제품 보관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 · 회전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약 2일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방향 1~1.5일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 (현재 미반영)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 정리 — 자료 반영 기준과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56048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3246120"/>
                <a:gridCol w="2240280"/>
                <a:gridCol w="2029968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반영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IQC~FQC 57 h, 순수 정제 45 h (차감 계산)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설명으로 보존 (57 h 기준 유지)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시점을 엇갈려 병행 운전 · 운전 예시 시차 30 h는 가정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정제기별 Batch 시간으로 사용하지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47.2톤 (현재 26.2톤의 2배 52.4톤 아님)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품질 대응 + 생산능력 확대 · 온도 상승 효과와 2대 효과 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환산 기준 190 kg/Batch 유지 · 조건별 실측 입력란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65→70% 개선으로 단정하지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 생산량으로 입력하지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 조건 별도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18 h 유지 (개선은 미반영)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시간 미입력 시 수동 8 h 적용 · Capa. 가산 없음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반영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물량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대화 중 '약 40톤'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출하계획 (2027 41.72 / 2028 45.76톤) 유지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