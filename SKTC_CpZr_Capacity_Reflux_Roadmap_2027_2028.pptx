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74" r:id="rId12"/>
    <p:sldId id="275" r:id="rId13"/>
    <p:sldId id="282" r:id="rId20"/>
    <p:sldId id="269" r:id="rId62"/>
    <p:sldId id="276" r:id="rId14"/>
    <p:sldId id="277" r:id="rId15"/>
    <p:sldId id="278" r:id="rId16"/>
    <p:sldId id="279" r:id="rId17"/>
    <p:sldId id="280" r:id="rId18"/>
    <p:sldId id="281" r:id="rId19"/>
    <p:sldId id="283" r:id="rId21"/>
    <p:sldId id="284" r:id="rId22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10월 생산계획의 표시일은 해당 Batch의 생산과 충진이 모두 끝나는 완료 예정일이며, Batch 번호는 각각 독립된 생산 Batch입니다.</a:t>
            </a:r>
          </a:p>
          <a:p>
            <a:r>
              <a:t>10월에는 #82~#92 11 Batch가 완료되어 2,178 kg입니다. 9월 마지막 #81(9/28)부터 #92(10/29)까지 31일 동안 11번 완료되어 평균 간격은 2.82일 = 67.6 h입니다(3일 간격 9회, 2일 간격 2회).</a:t>
            </a:r>
          </a:p>
          <a:p>
            <a:r>
              <a:t>정제기는 Batch마다 준비·투입 2 h + 순수 정제 45 h = 47 h를 순수하게 사용하고, 나머지 20.6 h는 제품 이송 중 점유·세척·전환·투입 대기 등입니다.</a:t>
            </a:r>
          </a:p>
          <a:p>
            <a:r>
              <a:t>순수 정제만으로 계산한 720 ÷ 45 = 16 Batch는 이론값이고, 실제 계획은 대기를 포함해 11 Batch입니다. 현재 연간 Capa. 26.2톤은 월 11.5 Batch 상당입니다.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우리가 계산한 77 h(5 Gal)·67 h(200 L)는 각 공정의 순수 작업시간을 더한 값이라 대기시간이 들어 있지 않습니다.</a:t>
            </a:r>
          </a:p>
          <a:p>
            <a:r>
              <a:t>10월 생산계획의 평균 완료 간격 67.6 h에서 정제기 순수 점유 47 h(준비·투입 2 + 순수 정제 45)를 빼면 Batch마다 평균 20.6 h의 대기·전환이 있습니다(순수 비율 69%).</a:t>
            </a:r>
          </a:p>
          <a:p>
            <a:r>
              <a:t>이 대기를 더하면 1 Batch의 실제 소요는 5 Gal 약 97.6 h(4.1일), 200 L 약 87.6 h(3.7일)입니다. 완료 간격(67.6 h)보다 길기 때문에 앞 Batch를 충진하는 동안 다음 Batch를 정제하는 병행 운전이 전제입니다.</a:t>
            </a:r>
          </a:p>
          <a:p>
            <a:r>
              <a:t>마일스톤의 대기 위치는 평균값을 FQC 뒤에 모아 표시한 것으로, 실제로는 제품 이송 점유·세척·전환·투입 대기·충진 대기(근무시간)로 나뉩니다. 5 Gal 충진은 18 h 작업이지만 충진을 상근조(08:00~17:00, 점심 1 h 제외 = 하루 8 h)만 하기 때문에 약 2일이 걸려 충진 단계만 봐도 대기가 약 30 h입니다.</a:t>
            </a:r>
          </a:p>
          <a:p>
            <a:r>
              <a:t>협의 계획 기준으로 정제기 1대 월 12 Batch는 대기를 20.6 h에서 13.8 h로 줄여야 하고, 정제기 2대 월 20 Batch는 설비별 대기 26.0 h로 현재보다 여유가 있습니다(6장).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2대 운영 예시입니다. 협의 계획 월 20 Batch를 평균 월 730 h에 2대로 나누면 설비별 주기는 73.0 h입니다. 정제기 2는 정제기 1보다 30 h 늦게 투입하는 것으로 가정했습니다(실제 시차는 초류 진행을 보고 결정).</a:t>
            </a:r>
          </a:p>
          <a:p>
            <a:r>
              <a:t>달력의 완료일은 투입 후 5 Gal 기준 실제 소요(순수 77 h + 대기 20.6 h = 97.6 h)가 지난 날짜입니다. 2027년 7월에는 정제기 ① 10 Batch, ② 10 Batch, 합계 20 Batch = 3,960 kg이 완료됩니다.</a:t>
            </a:r>
          </a:p>
          <a:p>
            <a:r>
              <a:t>설비별 주기 73.0 h = 순수 47 h + 대기 26.0 h로, 10월 생산계획의 대기 20.6 h보다 여유가 있어 2대 월 20 Batch는 현재 운영 수준으로 달성 가능합니다.</a:t>
            </a:r>
          </a:p>
          <a:p>
            <a:r>
              <a:t>반대로 정제기 1대 월 12 Batch(2026.10~12, Case III는 2027.1~3까지)는 주기 60.8 h, 대기 13.8 h가 필요해 현재 10월 계획(11 Batch · 대기 20.6 h)보다 대기를 6.8 h 줄여야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생산팀과 협의한 세 가지 Case입니다. 공통 조건: 26.9말 재고 2,300 kg, 2026.10~12 정제기 1대 월 12 Batch(2,376 kg), 198 kg/Batch, 4월 대정비 6 Batch(1,188 kg), 2대 운전 후 월 20 Batch(3,960 kg).</a:t>
            </a:r>
          </a:p>
          <a:p>
            <a:r>
              <a:t>Case I은 판매를 계획 대비 CXMT·이지켐 물량으로 조정(2027 판매 37,820 kg)하고 1월 리플럭스 도입·2월 운전입니다. 2027 생산 42,372 kg으로 재고가 '27 말 7,680 kg까지 늘어납니다.</a:t>
            </a:r>
          </a:p>
          <a:p>
            <a:r>
              <a:t>Case II는 월 300 kg 추가 물량(2027 판매 41,420 kg)에 1월 도입으로, 4월 대정비 때 재고가 2,420 kg까지 줄었다가 '27 말 4,080 kg입니다.</a:t>
            </a:r>
          </a:p>
          <a:p>
            <a:r>
              <a:t>Case III은 추가 물량에 리플럭스를 4월 도입·5월 운전으로 늦춘 경우로, 1~3월 1대 12 Batch로는 판매를 따라가지 못해 4월 재고가 44 kg(0.0개월)까지 떨어집니다. 외부 상품 도입을 반영해야 합니다.</a:t>
            </a:r>
          </a:p>
          <a:p>
            <a:r>
              <a:t>재고일(개월)은 협의 자료 값을 그대로 옮겼습니다(산식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I. 판매 : 계획 比 CXMT, 이지켐 물량 조정 / 생산 : 1월 Reflux Column 도입 운영 (2월 운전).</a:t>
            </a:r>
          </a:p>
          <a:p>
            <a:r>
              <a:t>생산은 월 Batch × 198 kg(Batch size 200 kg × Yield 99%)이며, 2026.9월 생산 1,770 kg은 협의 자료 값입니다. 정제기 1대 기간은 월 12 Batch, 리플럭스 운전 후 월 20 Batch, 4월은 대정비로 6 Batch입니다.</a:t>
            </a:r>
          </a:p>
          <a:p>
            <a:r>
              <a:t>2027 생산 42,372 kg, 판매 37,820 kg으로 +4,552 kg, 재고는 '27 말 7,680 kg이고 최저는 2027.1월 3,044 kg입니다.</a:t>
            </a:r>
          </a:p>
          <a:p>
            <a:r>
              <a:t>판매는 SKH 연 22,720 kg, CXMT 4월부터(580 → 7월 780 kg), 이지켐 560 → 6월부터 840 kg입니다. 2026년 판매 합계는 협의 자료 값(10·12월은 고객별 합보다 140 kg 큼)을 그대로 썼습니다.</a:t>
            </a:r>
          </a:p>
          <a:p>
            <a:r>
              <a:t>재고일(개월)은 협의 자료 값입니다(산식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II. 판매 : 추가 물량 / 생산 : 1월 Reflux Column 도입 운영 (2월 운전).</a:t>
            </a:r>
          </a:p>
          <a:p>
            <a:r>
              <a:t>생산은 월 Batch × 198 kg(Batch size 200 kg × Yield 99%)이며, 2026.9월 생산 1,770 kg은 협의 자료 값입니다. 정제기 1대 기간은 월 12 Batch, 리플럭스 운전 후 월 20 Batch, 4월은 대정비로 6 Batch입니다.</a:t>
            </a:r>
          </a:p>
          <a:p>
            <a:r>
              <a:t>2027 생산 42,372 kg, 판매 41,420 kg으로 +952 kg, 재고는 '27 말 4,080 kg이고 최저는 2027.4월 2,420 kg입니다.</a:t>
            </a:r>
          </a:p>
          <a:p>
            <a:r>
              <a:t>판매는 SKH 연 22,720 kg, CXMT 4월부터(580 → 7월 780 kg), 이지켐 560 → 6월부터 840 kg, 추가 물량 월 300 kg입니다. 2026년 판매 합계는 협의 자료 값(10·12월은 고객별 합보다 140 kg 큼)을 그대로 썼습니다.</a:t>
            </a:r>
          </a:p>
          <a:p>
            <a:r>
              <a:t>재고일(개월)은 협의 자료 값입니다(산식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III. 판매 : 추가 물량 / 생산 : 4월 Reflux Column 도입 운영 (5월 운전) / 외부 상품 도입 반영 필요.</a:t>
            </a:r>
          </a:p>
          <a:p>
            <a:r>
              <a:t>생산은 월 Batch × 198 kg(Batch size 200 kg × Yield 99%)이며, 2026.9월 생산 1,770 kg은 협의 자료 값입니다. 정제기 1대 기간은 월 12 Batch, 리플럭스 운전 후 월 20 Batch, 4월은 대정비로 6 Batch입니다.</a:t>
            </a:r>
          </a:p>
          <a:p>
            <a:r>
              <a:t>2027 생산 39,996 kg, 판매 41,420 kg으로 −1,424 kg, 재고는 '27 말 1,704 kg이고 최저는 2027.4월 44 kg입니다.</a:t>
            </a:r>
          </a:p>
          <a:p>
            <a:r>
              <a:t>판매는 SKH 연 22,720 kg, CXMT 4월부터(580 → 7월 780 kg), 이지켐 560 → 6월부터 840 kg, 추가 물량 월 300 kg입니다. 2026년 판매 합계는 협의 자료 값(10·12월은 고객별 합보다 140 kg 큼)을 그대로 썼습니다.</a:t>
            </a:r>
          </a:p>
          <a:p>
            <a:r>
              <a:t>재고일(개월)은 협의 자료 값입니다(산식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후공정 작업량은 판매 물량이 가장 큰 Case II로 계산했습니다. 5 Gal은 (SKH + CXMT) ÷ 20 kg × 2 h, 200 L은 이지켐 140 kg · 추가 물량 150 kg 용기(한솔 기준 가정) × 8 h(수동 기준)입니다.</a:t>
            </a:r>
          </a:p>
          <a:p>
            <a:r>
              <a:t>2027년 하반기에는 5 Gal 충진이 월 약 278 h로 상근조 가용시간(08:00~17:00, 점심 1 h 제외 8 h × 22일 = 176 h)을 넘습니다. 현재 충진은 보통 상근조만 하므로 교대 충진·연장근무·인원 계획이 함께 필요합니다. 정제기가 2대가 되어도 충진·검사·Tank가 따라오지 못하면 출하량은 늘지 않습니다.</a:t>
            </a:r>
          </a:p>
          <a:p>
            <a:r>
              <a:t>ARS는 실제 충진은 더 길 수 있지만 용기 투입·반출·퍼지를 포함하면 수동과 전체 시간이 비슷할 수 있다는 설명이 있어, 실측 전까지 수동 8 h를 그대로 적용했습니다. ARS 효과는 Capa.에 더하지 않았습니다.</a:t>
            </a:r>
          </a:p>
          <a:p>
            <a:r>
              <a:t>충진·포장 1~1.5일, 18 h → 9 h는 검토 중인 개선 방향으로, 계산에는 반영하지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Reflux Column은 처음 만들어진 액체에 섞인 원하는 물질과 불순물을 끓는 온도 차이로 골라내는 키 큰 탑입니다. 잘 끓는 물질은 김이 되어 올라가고, 김을 식히면 다시 액체가 됩니다(증류).</a:t>
            </a:r>
          </a:p>
          <a:p>
            <a:r>
              <a:t>한 번 증류로는 끓는 온도가 비슷한 불순물이 같이 올라오므로, 탑 하나 안에서 이 거르기를 수십 번 반복합니다. 아래 Reboiler가 액체를 데워 김을 만들고, 위 Condenser가 김을 식혀 액체로 되돌리며, 그 액체의 일부만 제품으로 꺼내고 나머지는 탑 안으로 다시 흘려보냅니다(Reflux).</a:t>
            </a:r>
          </a:p>
          <a:p>
            <a:r>
              <a:t>탑 가운데 Packing에서 내려오는 액체와 올라오는 김이 계속 만나 단마다 원하는 물질의 비율이 높아집니다(그림: 아래부터 10개 중 3 · 5 · 8 · 10개). 실제 탑에는 이런 단이 수십 개 있어 꼭대기에는 아주 깨끗한 물질만 남고, 불순물은 바닥 Reboiler에 찌꺼기로 모입니다.</a:t>
            </a:r>
          </a:p>
          <a:p>
            <a:r>
              <a:t>Reflux를 많이 할수록 더 깨끗해지지만 꺼내는 양이 줄어 시간이 오래 걸리고 전력도 많이 듭니다. 얼마나 깨끗하게, 얼마나 빨리 만들지의 적정점을 찾는 것이 중요하며, 생산팀 확인 항목인 '환류 운전 시 Batch 시간'과 연결됩니다.</a:t>
            </a:r>
          </a:p>
          <a:p>
            <a:r>
              <a:t>Packing은 고리 모양 조각을 채우는 Random packing(저렴, 벽 쪽 쏠림을 막는 재분배 장치 필요)과 주름진 금속판을 쌓는 Structured packing(고가, 더 고르게 접촉)이 있습니다.</a:t>
            </a:r>
          </a:p>
          <a:p>
            <a:r>
              <a:t>프리커서는 열에 약해 탑 안의 압력을 낮춰(진공) 낮은 온도에서 끓이고, 처음 나오는 가벼운 불순물(초류)과 바닥 찌꺼기(금속 성분)는 버리고 중간의 깨끗한 부분만 제품으로 담습니다.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생산팀과 협의한 내용입니다. Batch size 200 kg에 Yield 99%를 적용해 Batch당 198 kg으로 생산량을 계산하고, Batch time 55 h(IQC를 뺀 준비·투입~FQC와 같은 값으로 보임)와 원단위 1.010을 기준으로 삼았습니다.</a:t>
            </a:r>
          </a:p>
          <a:p>
            <a:r>
              <a:t>재고일(개월)은 협의 자료 값을 그대로 썼으며, 재고 ÷ 판매로는 같은 값이 나오지 않아 산식을 확인해야 합니다. 2026년 판매 합계와 고객별 물량의 차이(10·12월 140 kg), 26년 SKH 연간 합계 표기 차이(9,960 / 17,210)도 확인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생산팀과 나눈 대화 중 생산·품질·설비·충진 관련 내용만 정리했습니다. 구두로 언급된 회수량(160~170 kg, 약 220 kg, 195~200 kg)은 운전 조건과 대상이 구분되지 않아 확정 생산량으로 쓰지 않았고, 생산량은 협의 기준 198 kg/Batch를 적용했습니다.</a:t>
            </a:r>
          </a:p>
          <a:p>
            <a:r>
              <a:t>수율은 신규 Crude만이 아니라 재투입·Mix를 포함한 총 투입량 기준으로 따로 계산해야 합니다(Excel 10 시트 입력란). '135 · 120'은 단위가 확인되지 않아 생산량으로 입력하지 않았고, '65%에서 5% 상승'도 정의를 확인할 항목입니다.</a:t>
            </a:r>
          </a:p>
          <a:p>
            <a:r>
              <a:t>이지켐은 색도 때문에 추가 투입을 제한하는 경우가 있어, 고객별 품질·색도 규격과 합격률을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As-is는 정제기 1대로 하이닉스·CXMT·이지켐(한솔 '27~)을 함께 생산합니다.</a:t>
            </a:r>
          </a:p>
          <a:p>
            <a:r>
              <a:t>57 h는 IQC부터 FQC까지의 현재 보고 기준이고, 순수 정제 45 h는 57 − IQC 2 − 준비·투입 2 − PQC~이송 6 − FQC 2로 계산한 값입니다(실측 아님). 대화 중 57 − 2 − 6 = 49 h 계산, 과거 약 72 h · 최근 약 53 h 언급이 있어 원자료의 측정 시작·종료점은 확인이 필요합니다.</a:t>
            </a:r>
          </a:p>
          <a:p>
            <a:r>
              <a:t>PQC와 제품 이송은 합쳐서 6 h입니다. 57 h에는 충진·OQC가 포함되지 않습니다.</a:t>
            </a:r>
          </a:p>
          <a:p>
            <a:r>
              <a:t>5 Gal 9병은 2 h × 9 = 18 h 작업입니다. 충진은 보통 상근조(08:00~17:00, 점심 12~13시 제외 = 하루 8 h)만 진행하므로 18 h ÷ 8 h = 2.25 근무일, 현장에서는 약 2일이 걸린다고 설명합니다. 200 L은 이지켐·한솔 모두 수동 8 h/용기로 반영했습니다.</a:t>
            </a:r>
          </a:p>
          <a:p>
            <a:r>
              <a:t>경로별 합계 77 h · 67 h는 확인된 시간 항목을 더한 값으로, 달력 기준 납기나 다음 Batch 투입 간격과는 다릅니다. 충진이 진행되는 동안 다음 Batch 정제가 가능합니다.</a:t>
            </a:r>
          </a:p>
          <a:p>
            <a:r>
              <a:t>Batch당 198 kg과 5 Gal 9병 180 kg의 차이 18 kg은 잔량·추가 충진·다른 고객 배분 여부를 확인할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리플럭스 이후에는 정제기 2대를 활용합니다. 정제기 1을 먼저 투입·운전하고, 초류 진행에 맞춰 정제기 2를 투입해 두 설비의 운전 구간을 겹칩니다(투입 간격은 미확정). 정제기별 Batch 시간이 절반으로 줄어드는 것이 아니라 두 설비의 생산을 겹쳐 전체 생산량을 늘립니다.</a:t>
            </a:r>
          </a:p>
          <a:p>
            <a:r>
              <a:t>생산팀 협의 기준: Batch size 200 kg × Yield 99% = 198 kg/Batch, Batch time 55 h, 원단위 1.010. 정제기 1대 월 12 Batch(2,376 kg), 2대 월 20 Batch(3,960 kg), 4월 대정비 6 Batch(1,188 kg).</a:t>
            </a:r>
          </a:p>
          <a:p>
            <a:r>
              <a:t>Case I·II: '27.1 리플럭스 도입 운영, '27.2 운전(16 Batch), 3월부터 20 Batch. Case III: '27.4 도입, '27.5부터 20 Batch — 1~3월은 1대 12 Batch로 유지합니다.</a:t>
            </a:r>
          </a:p>
          <a:p>
            <a:r>
              <a:t>정제기 2대 월 20 Batch는 연 47.5톤 수준으로 리플럭스 47.2톤 계획과 맞습니다. 47.2톤이 현재의 2배(52.4톤)가 아닌 것은 Mix·Premix 준비 등 설비 시간이 필요하기 때문입니다.</a:t>
            </a:r>
          </a:p>
          <a:p>
            <a:r>
              <a:t>200 L은 '27.7부터 ARS(이지켐·추가 물량), 5 Gal은 글로브 박스를 유지합니다. 추가 정제기의 개조/신규 여부와 설비 번호(2070·2060 등)는 도면과 대조해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 흐름과 공정시간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현재 정제기 1대 · IQC~FQC 57 h (순수 정제 45 h) · 정제 중 이전 Batch 검사·충진 병행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4094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90094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0094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139771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280940" y="1310000"/>
            <a:ext cx="113895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422949" y="1915000"/>
            <a:ext cx="1335982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 (상근조 약 2일)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8 h/용기 (이지켐 · 한솔)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92594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46427" y="251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92594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46427" y="303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090940" y="975000"/>
            <a:ext cx="168052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090940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0187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42514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9" name="Rectangle 257"/>
          <p:cNvSpPr/>
          <p:nvPr/>
        </p:nvSpPr>
        <p:spPr>
          <a:xfrm>
            <a:off x="283464" y="346557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34381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Batch 마일스톤 — 순수 작업시간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단계별 시간 · 누적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83464" y="3785616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합계 77 h</a:t>
            </a:r>
          </a:p>
        </p:txBody>
      </p:sp>
      <p:sp>
        <p:nvSpPr>
          <p:cNvPr id="262" name="Pentagon 261"/>
          <p:cNvSpPr/>
          <p:nvPr/>
        </p:nvSpPr>
        <p:spPr>
          <a:xfrm>
            <a:off x="1344168" y="3703320"/>
            <a:ext cx="1116874" cy="658368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→2 h · 0.1일</a:t>
            </a:r>
          </a:p>
        </p:txBody>
      </p:sp>
      <p:sp>
        <p:nvSpPr>
          <p:cNvPr id="263" name="Chevron 262"/>
          <p:cNvSpPr/>
          <p:nvPr/>
        </p:nvSpPr>
        <p:spPr>
          <a:xfrm>
            <a:off x="2415322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→4 h · 0.2일</a:t>
            </a:r>
          </a:p>
        </p:txBody>
      </p:sp>
      <p:sp>
        <p:nvSpPr>
          <p:cNvPr id="264" name="Chevron 263"/>
          <p:cNvSpPr/>
          <p:nvPr/>
        </p:nvSpPr>
        <p:spPr>
          <a:xfrm>
            <a:off x="3486476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→49 h · 2.0일</a:t>
            </a:r>
          </a:p>
        </p:txBody>
      </p:sp>
      <p:sp>
        <p:nvSpPr>
          <p:cNvPr id="265" name="Chevron 264"/>
          <p:cNvSpPr/>
          <p:nvPr/>
        </p:nvSpPr>
        <p:spPr>
          <a:xfrm>
            <a:off x="4557630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→55 h · 2.3일</a:t>
            </a:r>
          </a:p>
        </p:txBody>
      </p:sp>
      <p:sp>
        <p:nvSpPr>
          <p:cNvPr id="266" name="Chevron 265"/>
          <p:cNvSpPr/>
          <p:nvPr/>
        </p:nvSpPr>
        <p:spPr>
          <a:xfrm>
            <a:off x="5628785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→57 h · 2.4일</a:t>
            </a:r>
          </a:p>
        </p:txBody>
      </p:sp>
      <p:sp>
        <p:nvSpPr>
          <p:cNvPr id="267" name="Chevron 266"/>
          <p:cNvSpPr/>
          <p:nvPr/>
        </p:nvSpPr>
        <p:spPr>
          <a:xfrm>
            <a:off x="6699939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→75 h · 3.1일</a:t>
            </a:r>
          </a:p>
        </p:txBody>
      </p:sp>
      <p:sp>
        <p:nvSpPr>
          <p:cNvPr id="268" name="Chevron 267"/>
          <p:cNvSpPr/>
          <p:nvPr/>
        </p:nvSpPr>
        <p:spPr>
          <a:xfrm>
            <a:off x="7771093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→77 h · 3.2일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83464" y="4553712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1용기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· 한솔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합계 67 h</a:t>
            </a:r>
          </a:p>
        </p:txBody>
      </p:sp>
      <p:sp>
        <p:nvSpPr>
          <p:cNvPr id="270" name="Pentagon 269"/>
          <p:cNvSpPr/>
          <p:nvPr/>
        </p:nvSpPr>
        <p:spPr>
          <a:xfrm>
            <a:off x="1344168" y="4471416"/>
            <a:ext cx="1116874" cy="658368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→2 h · 0.1일</a:t>
            </a:r>
          </a:p>
        </p:txBody>
      </p:sp>
      <p:sp>
        <p:nvSpPr>
          <p:cNvPr id="271" name="Chevron 270"/>
          <p:cNvSpPr/>
          <p:nvPr/>
        </p:nvSpPr>
        <p:spPr>
          <a:xfrm>
            <a:off x="2415322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→4 h · 0.2일</a:t>
            </a:r>
          </a:p>
        </p:txBody>
      </p:sp>
      <p:sp>
        <p:nvSpPr>
          <p:cNvPr id="272" name="Chevron 271"/>
          <p:cNvSpPr/>
          <p:nvPr/>
        </p:nvSpPr>
        <p:spPr>
          <a:xfrm>
            <a:off x="3486476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→49 h · 2.0일</a:t>
            </a:r>
          </a:p>
        </p:txBody>
      </p:sp>
      <p:sp>
        <p:nvSpPr>
          <p:cNvPr id="273" name="Chevron 272"/>
          <p:cNvSpPr/>
          <p:nvPr/>
        </p:nvSpPr>
        <p:spPr>
          <a:xfrm>
            <a:off x="4557630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→55 h · 2.3일</a:t>
            </a:r>
          </a:p>
        </p:txBody>
      </p:sp>
      <p:sp>
        <p:nvSpPr>
          <p:cNvPr id="274" name="Chevron 273"/>
          <p:cNvSpPr/>
          <p:nvPr/>
        </p:nvSpPr>
        <p:spPr>
          <a:xfrm>
            <a:off x="5628785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→57 h · 2.4일</a:t>
            </a:r>
          </a:p>
        </p:txBody>
      </p:sp>
      <p:sp>
        <p:nvSpPr>
          <p:cNvPr id="275" name="Chevron 274"/>
          <p:cNvSpPr/>
          <p:nvPr/>
        </p:nvSpPr>
        <p:spPr>
          <a:xfrm>
            <a:off x="6699939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→65 h · 2.7일</a:t>
            </a:r>
          </a:p>
        </p:txBody>
      </p:sp>
      <p:sp>
        <p:nvSpPr>
          <p:cNvPr id="276" name="Chevron 275"/>
          <p:cNvSpPr/>
          <p:nvPr/>
        </p:nvSpPr>
        <p:spPr>
          <a:xfrm>
            <a:off x="7771093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→67 h · 2.8일</a:t>
            </a:r>
          </a:p>
        </p:txBody>
      </p:sp>
      <p:sp>
        <p:nvSpPr>
          <p:cNvPr id="277" name="Rectangle 257"/>
          <p:cNvSpPr/>
          <p:nvPr/>
        </p:nvSpPr>
        <p:spPr>
          <a:xfrm>
            <a:off x="283464" y="5294376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8" name="TextBox 258"/>
          <p:cNvSpPr txBox="1"/>
          <p:nvPr/>
        </p:nvSpPr>
        <p:spPr>
          <a:xfrm>
            <a:off x="393192" y="52669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시간 구분 — 정제기는 47 h만 묶이고, 검사·충진은 다음 Batch 정제와 병행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79" name="Table 278"/>
          <p:cNvGraphicFramePr>
            <a:graphicFrameLocks noGrp="1"/>
          </p:cNvGraphicFramePr>
          <p:nvPr/>
        </p:nvGraphicFramePr>
        <p:xfrm>
          <a:off x="283464" y="5513832"/>
          <a:ext cx="8567928" cy="749808"/>
        </p:xfrm>
        <a:graphic>
          <a:graphicData uri="http://schemas.openxmlformats.org/drawingml/2006/table">
            <a:tbl>
              <a:tblPr firstRow="0" bandRow="0"/>
              <a:tblGrid>
                <a:gridCol w="2514600"/>
                <a:gridCol w="822960"/>
                <a:gridCol w="822960"/>
                <a:gridCol w="4407408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점유 (준비·투입 + 순수 정제)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1대가 묶이는 시간 → Batch 주기를 결정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· 이송 (IQC · PQC~이송 · 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IQC는 원료 Lot 단위 · PQC~이송은 합계 6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OQC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2 h/병 × 9병 + 2 h · 200 L 8 h/용기 + 2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일정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2대의 투입 시점을 엇갈리게 운영하여 생산을 병행하고, 후공정 부하를 분산하는 계획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78009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438009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438009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투입 시점 엇갈림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930895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721496" y="1310000"/>
            <a:ext cx="69839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31231" y="1915000"/>
            <a:ext cx="1723129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('27.7~)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수동 8 h/용기 · ARS 단계별 시간 실측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792193" y="251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12256" y="251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792193" y="303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12256" y="303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102622" y="975000"/>
            <a:ext cx="1668842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102622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26615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67256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5338152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5478152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5338152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994214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Rectangle 257"/>
          <p:cNvSpPr/>
          <p:nvPr/>
        </p:nvSpPr>
        <p:spPr>
          <a:xfrm>
            <a:off x="283464" y="346557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7" name="TextBox 258"/>
          <p:cNvSpPr txBox="1"/>
          <p:nvPr/>
        </p:nvSpPr>
        <p:spPr>
          <a:xfrm>
            <a:off x="393192" y="34381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Case별 리플럭스 도입 · 월 Batch 계획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1대 월 12 Batch · 2대 월 20 Batch · 198 kg/Batch</a:t>
            </a:r>
          </a:p>
        </p:txBody>
      </p:sp>
      <p:graphicFrame>
        <p:nvGraphicFramePr>
          <p:cNvPr id="468" name="Table 467"/>
          <p:cNvGraphicFramePr>
            <a:graphicFrameLocks noGrp="1"/>
          </p:cNvGraphicFramePr>
          <p:nvPr/>
        </p:nvGraphicFramePr>
        <p:xfrm>
          <a:off x="283464" y="3675887"/>
          <a:ext cx="8567928" cy="1234440"/>
        </p:xfrm>
        <a:graphic>
          <a:graphicData uri="http://schemas.openxmlformats.org/drawingml/2006/table">
            <a:tbl>
              <a:tblPr firstRow="0" bandRow="0"/>
              <a:tblGrid>
                <a:gridCol w="1325880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· II  Batch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 도입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 운전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 Batch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도입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운전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10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(이지켐 · 추가)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9" name="Rectangle 257"/>
          <p:cNvSpPr/>
          <p:nvPr/>
        </p:nvSpPr>
        <p:spPr>
          <a:xfrm>
            <a:off x="283464" y="505663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70" name="TextBox 258"/>
          <p:cNvSpPr txBox="1"/>
          <p:nvPr/>
        </p:nvSpPr>
        <p:spPr>
          <a:xfrm>
            <a:off x="393192" y="502920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생산능력 기준 (월 Batch × 198 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71" name="Table 470"/>
          <p:cNvGraphicFramePr>
            <a:graphicFrameLocks noGrp="1"/>
          </p:cNvGraphicFramePr>
          <p:nvPr/>
        </p:nvGraphicFramePr>
        <p:xfrm>
          <a:off x="283464" y="5285232"/>
          <a:ext cx="8567928" cy="987552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914400"/>
                <a:gridCol w="1097280"/>
                <a:gridCol w="1188720"/>
                <a:gridCol w="2990088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Batch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환산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비고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(현재)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28.5톤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 수준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(리플럭스 후)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47.5톤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47.2톤 계획 수준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월 ('27.4)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I·II · III 공통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10월 생산계획 — Batch 완료 주기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10월 11 Batch (#82~#92) = 2,178 kg · 평균 완료 간격 2.8일 = 67.6 h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53949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2026년 10월 생산계획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완료일 = 생산 및 충진 완료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5376672" cy="2980944"/>
        </p:xfrm>
        <a:graphic>
          <a:graphicData uri="http://schemas.openxmlformats.org/drawingml/2006/table">
            <a:tbl>
              <a:tblPr firstRow="0" bandRow="0"/>
              <a:tblGrid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237744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9/28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#81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 완료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9/29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#82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198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#83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396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#84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594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#85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792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#86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990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#87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1,188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#88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1,386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#89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1,584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#90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1,782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#91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1,980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#92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2,178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11/1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5870448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5980176" y="96012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완료 간격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5870448" y="1216152"/>
          <a:ext cx="2990088" cy="1508760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822960"/>
                <a:gridCol w="886968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횟수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3일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2일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 (#81→#92)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31일 ÷ 11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5870448" y="2907791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5980176" y="288036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정제기 주기 구성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5870448" y="3136392"/>
          <a:ext cx="2990088" cy="1152144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777240"/>
                <a:gridCol w="749808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비율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(준비·투입 + 정제)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 · 전환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8" name="Rectangle 257"/>
          <p:cNvSpPr/>
          <p:nvPr/>
        </p:nvSpPr>
        <p:spPr>
          <a:xfrm>
            <a:off x="283464" y="44622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9" name="TextBox 258"/>
          <p:cNvSpPr txBox="1"/>
          <p:nvPr/>
        </p:nvSpPr>
        <p:spPr>
          <a:xfrm>
            <a:off x="393192" y="443484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④ 월 생산량 비교 — 정제기 1대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70" name="Table 269"/>
          <p:cNvGraphicFramePr>
            <a:graphicFrameLocks noGrp="1"/>
          </p:cNvGraphicFramePr>
          <p:nvPr/>
        </p:nvGraphicFramePr>
        <p:xfrm>
          <a:off x="283464" y="4690872"/>
          <a:ext cx="8567928" cy="1508760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822960"/>
                <a:gridCol w="914400"/>
                <a:gridCol w="868680"/>
                <a:gridCol w="1097280"/>
                <a:gridCol w="2532888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 (h)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(순수 정제만)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38.0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 h ÷ 45 h (점유·전환·대기 제외)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생산계획 (#82~#92)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26.1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31일 × 24 h ÷ 11 Batch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계획 (월 12 Batch)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28.5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60.8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계획 12 Batch × 198 kg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66.2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kg ÷ 12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Batch 소요시간 — 순수 작업 vs 대기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주기 67.6 h = 순수 47 h + 대기 20.6 h · 5 Gal 1 Batch 실제 약 98 h (4.1일)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순수 작업 vs 대기 (평균)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10월 생산계획 완료 간격 기준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14630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822960"/>
                <a:gridCol w="777240"/>
                <a:gridCol w="914400"/>
                <a:gridCol w="731520"/>
                <a:gridCol w="777240"/>
                <a:gridCol w="2395728"/>
              </a:tblGrid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작업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소요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 환산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비율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Batch 주기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 − (준비·투입 + 순수 정제)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 Batch (IQC~OQC)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4.1일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77 h + 평균 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1 Batch (IQC~OQC)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3.7일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67 h + 평균 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9병 충진 (상근조)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상근조 8 h/일 · 현장 설명 약 2일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88036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852928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평균 Batch 마일스톤 — 대기 포함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단계 시간 · 누적 시간 (일)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83464" y="3218688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97.6 h</a:t>
            </a:r>
          </a:p>
        </p:txBody>
      </p:sp>
      <p:sp>
        <p:nvSpPr>
          <p:cNvPr id="265" name="Pentagon 264"/>
          <p:cNvSpPr/>
          <p:nvPr/>
        </p:nvSpPr>
        <p:spPr>
          <a:xfrm>
            <a:off x="1344168" y="3127248"/>
            <a:ext cx="982980" cy="676656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2 h</a:t>
            </a:r>
          </a:p>
        </p:txBody>
      </p:sp>
      <p:sp>
        <p:nvSpPr>
          <p:cNvPr id="266" name="Chevron 265"/>
          <p:cNvSpPr/>
          <p:nvPr/>
        </p:nvSpPr>
        <p:spPr>
          <a:xfrm>
            <a:off x="228142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4 h</a:t>
            </a:r>
          </a:p>
        </p:txBody>
      </p:sp>
      <p:sp>
        <p:nvSpPr>
          <p:cNvPr id="267" name="Chevron 266"/>
          <p:cNvSpPr/>
          <p:nvPr/>
        </p:nvSpPr>
        <p:spPr>
          <a:xfrm>
            <a:off x="321868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49 h</a:t>
            </a:r>
          </a:p>
        </p:txBody>
      </p:sp>
      <p:sp>
        <p:nvSpPr>
          <p:cNvPr id="268" name="Chevron 267"/>
          <p:cNvSpPr/>
          <p:nvPr/>
        </p:nvSpPr>
        <p:spPr>
          <a:xfrm>
            <a:off x="415594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55 h</a:t>
            </a:r>
          </a:p>
        </p:txBody>
      </p:sp>
      <p:sp>
        <p:nvSpPr>
          <p:cNvPr id="269" name="Chevron 268"/>
          <p:cNvSpPr/>
          <p:nvPr/>
        </p:nvSpPr>
        <p:spPr>
          <a:xfrm>
            <a:off x="509320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57 h</a:t>
            </a:r>
          </a:p>
        </p:txBody>
      </p:sp>
      <p:sp>
        <p:nvSpPr>
          <p:cNvPr id="270" name="Chevron 269"/>
          <p:cNvSpPr/>
          <p:nvPr/>
        </p:nvSpPr>
        <p:spPr>
          <a:xfrm>
            <a:off x="603046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2F2F2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평균 대기</a:t>
            </a:r>
          </a:p>
          <a:p>
            <a:pPr algn="ctr"/>
            <a:r>
              <a:rPr sz="11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20.6 h</a:t>
            </a:r>
          </a:p>
          <a:p>
            <a:pPr algn="ctr"/>
            <a:r>
              <a:rPr sz="580" b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누적 77.6 h</a:t>
            </a:r>
          </a:p>
        </p:txBody>
      </p:sp>
      <p:sp>
        <p:nvSpPr>
          <p:cNvPr id="271" name="Chevron 270"/>
          <p:cNvSpPr/>
          <p:nvPr/>
        </p:nvSpPr>
        <p:spPr>
          <a:xfrm>
            <a:off x="696772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95.6 h</a:t>
            </a:r>
          </a:p>
        </p:txBody>
      </p:sp>
      <p:sp>
        <p:nvSpPr>
          <p:cNvPr id="272" name="Chevron 271"/>
          <p:cNvSpPr/>
          <p:nvPr/>
        </p:nvSpPr>
        <p:spPr>
          <a:xfrm>
            <a:off x="790498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97.6 h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83464" y="4005072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1용기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· 한솔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87.6 h</a:t>
            </a:r>
          </a:p>
        </p:txBody>
      </p:sp>
      <p:sp>
        <p:nvSpPr>
          <p:cNvPr id="274" name="Pentagon 273"/>
          <p:cNvSpPr/>
          <p:nvPr/>
        </p:nvSpPr>
        <p:spPr>
          <a:xfrm>
            <a:off x="1344168" y="3913632"/>
            <a:ext cx="982980" cy="676656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2 h</a:t>
            </a:r>
          </a:p>
        </p:txBody>
      </p:sp>
      <p:sp>
        <p:nvSpPr>
          <p:cNvPr id="275" name="Chevron 274"/>
          <p:cNvSpPr/>
          <p:nvPr/>
        </p:nvSpPr>
        <p:spPr>
          <a:xfrm>
            <a:off x="228142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4 h</a:t>
            </a:r>
          </a:p>
        </p:txBody>
      </p:sp>
      <p:sp>
        <p:nvSpPr>
          <p:cNvPr id="276" name="Chevron 275"/>
          <p:cNvSpPr/>
          <p:nvPr/>
        </p:nvSpPr>
        <p:spPr>
          <a:xfrm>
            <a:off x="321868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49 h</a:t>
            </a:r>
          </a:p>
        </p:txBody>
      </p:sp>
      <p:sp>
        <p:nvSpPr>
          <p:cNvPr id="277" name="Chevron 276"/>
          <p:cNvSpPr/>
          <p:nvPr/>
        </p:nvSpPr>
        <p:spPr>
          <a:xfrm>
            <a:off x="415594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55 h</a:t>
            </a:r>
          </a:p>
        </p:txBody>
      </p:sp>
      <p:sp>
        <p:nvSpPr>
          <p:cNvPr id="278" name="Chevron 277"/>
          <p:cNvSpPr/>
          <p:nvPr/>
        </p:nvSpPr>
        <p:spPr>
          <a:xfrm>
            <a:off x="509320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57 h</a:t>
            </a:r>
          </a:p>
        </p:txBody>
      </p:sp>
      <p:sp>
        <p:nvSpPr>
          <p:cNvPr id="279" name="Chevron 278"/>
          <p:cNvSpPr/>
          <p:nvPr/>
        </p:nvSpPr>
        <p:spPr>
          <a:xfrm>
            <a:off x="603046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2F2F2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평균 대기</a:t>
            </a:r>
          </a:p>
          <a:p>
            <a:pPr algn="ctr"/>
            <a:r>
              <a:rPr sz="11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20.6 h</a:t>
            </a:r>
          </a:p>
          <a:p>
            <a:pPr algn="ctr"/>
            <a:r>
              <a:rPr sz="580" b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누적 77.6 h</a:t>
            </a:r>
          </a:p>
        </p:txBody>
      </p:sp>
      <p:sp>
        <p:nvSpPr>
          <p:cNvPr id="280" name="Chevron 279"/>
          <p:cNvSpPr/>
          <p:nvPr/>
        </p:nvSpPr>
        <p:spPr>
          <a:xfrm>
            <a:off x="696772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85.6 h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90498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87.6 h</a:t>
            </a:r>
          </a:p>
        </p:txBody>
      </p:sp>
      <p:sp>
        <p:nvSpPr>
          <p:cNvPr id="282" name="Rectangle 257"/>
          <p:cNvSpPr/>
          <p:nvPr/>
        </p:nvSpPr>
        <p:spPr>
          <a:xfrm>
            <a:off x="283464" y="482803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3" name="TextBox 258"/>
          <p:cNvSpPr txBox="1"/>
          <p:nvPr/>
        </p:nvSpPr>
        <p:spPr>
          <a:xfrm>
            <a:off x="393192" y="480060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대기 구성 — 실측으로 확인할 항목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84" name="Table 283"/>
          <p:cNvGraphicFramePr>
            <a:graphicFrameLocks noGrp="1"/>
          </p:cNvGraphicFramePr>
          <p:nvPr/>
        </p:nvGraphicFramePr>
        <p:xfrm>
          <a:off x="283464" y="5047488"/>
          <a:ext cx="8567928" cy="118872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4754880"/>
                <a:gridCol w="1664208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이송 중 정제기 점유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 6 h 중 정제기가 묶이는 시간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세척 · 전환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사이 정제기 세척 · 전환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투입 대기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원료 IQC 승인 · Mix·Premix 준비 · 작업 인원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대기 (상근조만 충진)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18 h ÷ 상근조 8 h/일 (08~17시, 점심 제외) → 약 2일 경과 (대기 약 30 h)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연장·교대 충진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시차 운전 — 운영 마일스톤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 월 20 Batch = 3,960 kg · 설비별 주기 73 h = 순수 47 h + 대기 26 h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6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- 6 -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53949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2027년 7월 운영 예시 — Batch 완료일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① 정제기 1 · ② 정제기 2 (시차 30 h 가정)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5376672" cy="2980944"/>
        </p:xfrm>
        <a:graphic>
          <a:graphicData uri="http://schemas.openxmlformats.org/drawingml/2006/table">
            <a:tbl>
              <a:tblPr firstRow="0" bandRow="0"/>
              <a:tblGrid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237744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6/29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3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4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5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6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7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8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9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10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11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12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13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14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15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16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17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18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19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20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8/1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5870448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5980176" y="96012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운영 결과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5870448" y="1216152"/>
          <a:ext cx="2990088" cy="2272284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389888"/>
              </a:tblGrid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①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②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생산량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계획 (월)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계획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44622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443484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월 생산량 비교 — 설비별 주기 = 순수 47 h + 대기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4690872"/>
          <a:ext cx="8567928" cy="1316736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731520"/>
                <a:gridCol w="868680"/>
                <a:gridCol w="960120"/>
                <a:gridCol w="1234440"/>
                <a:gridCol w="868680"/>
                <a:gridCol w="1527048"/>
              </a:tblGrid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설비별 주기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생산계획 (#82~#92)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계획 (월 12 Batch)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계획 (월 20 Batch)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73.0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비교 — 2027년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'27 말 재고  Case I 7,680 · Case II 4,080 · Case III 1,704 kg (4월 44 kg)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7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- 7 -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2027년 연간 비교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재고 = 전월 재고 + 생산 − 판매 · 26.9말 2,300 kg 시작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1316736"/>
        </p:xfrm>
        <a:graphic>
          <a:graphicData uri="http://schemas.openxmlformats.org/drawingml/2006/table">
            <a:tbl>
              <a:tblPr firstRow="0" bandRow="0"/>
              <a:tblGrid>
                <a:gridCol w="685800"/>
                <a:gridCol w="1737360"/>
                <a:gridCol w="1417320"/>
                <a:gridCol w="731520"/>
                <a:gridCol w="731520"/>
                <a:gridCol w="777240"/>
                <a:gridCol w="777240"/>
                <a:gridCol w="978408"/>
                <a:gridCol w="731520"/>
              </a:tblGrid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比 CXMT·이지켐 조정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 도입 · '27.2 운전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37,820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+4,552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 ('27.1)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(월 300 kg)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 도입 · '27.2 운전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 ('27.4)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(월 300 kg)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'27.4 도입 · '27.5 운전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39,996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−1,424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 ('27.4)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7249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6974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월별 재고 (kg) · 재고일 (총판매량 기준, 개월)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2953512"/>
          <a:ext cx="8549640" cy="2112264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5,260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6,140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6,540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7,340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재고일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3,740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 재고일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1,084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재고일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52395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52120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판단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5468112"/>
          <a:ext cx="8567927" cy="786384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7653527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요약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 조정 · 1월 도입 → 재고 꾸준히 증가 ('27 말 2.2개월) — 재고 과다 관리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· 1월 도입 → 4월 대정비 때 2,420 kg (0.9개월)까지 감소 후 1개월 수준 유지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· 4월 도입 → 4월 재고 44 kg (0.0개월) — 외부 상품 도입 없이는 공급 부족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I | 2026.9 ~ 2027.12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계획 比 CXMT, 이지켐 물량 조정 · 1월 Reflux 도입 운영 (2월 운전)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8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- 8 -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판매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Batch × 198 kg · 재고 = 전월 재고 + 생산 − 판매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3744468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502920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27년 합계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(월)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1,770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SKH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5,260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6,140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6,540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7,340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(총판매량)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 기준)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(SKHY·CXMT)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5102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5074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2027년 요약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5330952"/>
          <a:ext cx="8567928" cy="65836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188720"/>
                <a:gridCol w="1188720"/>
                <a:gridCol w="1188720"/>
                <a:gridCol w="1188720"/>
                <a:gridCol w="1527048"/>
                <a:gridCol w="11887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Batch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37,820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+4,552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 kg ('27.1)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1.4개월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II | 2026.9 ~ 2027.12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추가 물량 · 1월 Reflux 도입 운영 (2월 운전)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9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- 9 -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판매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Batch × 198 kg · 재고 = 전월 재고 + 생산 − 판매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3744468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502920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27년 합계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(월)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1,770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SKH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3,740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(총판매량)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 기준)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(SKHY·CXMT)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5102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5074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2027년 요약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5330952"/>
          <a:ext cx="8567928" cy="65836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188720"/>
                <a:gridCol w="1188720"/>
                <a:gridCol w="1188720"/>
                <a:gridCol w="1188720"/>
                <a:gridCol w="1527048"/>
                <a:gridCol w="11887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Batch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 kg ('27.4)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0.9개월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III | 2026.9 ~ 2027.12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추가 물량 · 4월 Reflux 도입 운영 (5월 운전) → 외부 상품 도입 반영 필요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10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- 10 -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판매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Batch × 198 kg · 재고 = 전월 재고 + 생산 − 판매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3744468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502920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27년 합계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(월)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1,770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39,996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SKH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1,084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(총판매량)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 기준)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(SKHY·CXMT)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5102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5074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2027년 요약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5330952"/>
          <a:ext cx="8567928" cy="65836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188720"/>
                <a:gridCol w="1188720"/>
                <a:gridCol w="1188720"/>
                <a:gridCol w="1188720"/>
                <a:gridCol w="1527048"/>
                <a:gridCol w="11887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Batch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39,996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−1,424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 kg ('27.4)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0.0개월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후공정 부하 검토 — 충진 · 검사 · OQC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정제능력과 출하능력은 별개 · 5 Gal 충진 최대 월 278 h = 상근조 176 h의 158%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 작업량 (Case II 판매 기준)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추가 물량 포함 — 판매 최대 Case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56032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960120"/>
                <a:gridCol w="960120"/>
                <a:gridCol w="960120"/>
                <a:gridCol w="960120"/>
                <a:gridCol w="2624328"/>
              </a:tblGrid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+ CXMT ÷ 20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가용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상근조 8 h × 22일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부하율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108%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158%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상근조 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140 · 추가 150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2 h · 1용기 2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h (PQC~FQC)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 × 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 ÷ 198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959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931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병목 검토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4187952"/>
          <a:ext cx="8567928" cy="1920240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828800"/>
                <a:gridCol w="2468880"/>
                <a:gridCol w="2532888"/>
              </a:tblGrid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이후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글로브 박스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· 상근조 약 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278 h &gt; 상근조 176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추가 · 인원 · 글로브 박스 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(시간 비슷할 수 있음)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단계별 시간 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(PQC · 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증가 · 회수 시점 겹침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인력 · 승인 대기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Product Tank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합격 후 이송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제품 보관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 수 · 용량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포장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Batch 약 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1~1.5일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방안 · 일정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Reflux Column — 원리와 운전 포인트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끓는 온도 차이로 탑 안에서 증류를 수십 번 반복 → 반도체용 고순도 프리커서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38404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탑 구조와 흐름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김 ↑ · 액체 ↓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97280" y="1243584"/>
            <a:ext cx="1965960" cy="420624"/>
          </a:xfrm>
          <a:prstGeom prst="rect">
            <a:avLst/>
          </a:prstGeom>
          <a:solidFill>
            <a:srgbClr val="DEEB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square"/>
          <a:lstStyle/>
          <a:p>
            <a:pPr algn="ctr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Condenser (식히는 곳)</a:t>
            </a:r>
          </a:p>
          <a:p>
            <a:pPr algn="ctr"/>
            <a:r>
              <a:rPr sz="7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김을 다시 액체로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3291840" y="1243584"/>
            <a:ext cx="868680" cy="420624"/>
          </a:xfrm>
          <a:prstGeom prst="rect">
            <a:avLst/>
          </a:prstGeom>
          <a:solidFill>
            <a:srgbClr val="E2EF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square"/>
          <a:lstStyle/>
          <a:p>
            <a:pPr algn="ctr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</a:t>
            </a:r>
          </a:p>
          <a:p>
            <a:pPr algn="ctr"/>
            <a:r>
              <a:rPr sz="7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일부만 꺼냄</a:t>
            </a:r>
          </a:p>
        </p:txBody>
      </p:sp>
      <p:cxnSp>
        <p:nvCxnSpPr>
          <p:cNvPr id="263" name="Connector 262"/>
          <p:cNvCxnSpPr/>
          <p:nvPr/>
        </p:nvCxnSpPr>
        <p:spPr>
          <a:xfrm>
            <a:off x="3063239" y="1453896"/>
            <a:ext cx="228601" cy="0"/>
          </a:xfrm>
          <a:prstGeom prst="line">
            <a:avLst/>
          </a:prstGeom>
          <a:ln w="15875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ctangle 263"/>
          <p:cNvSpPr/>
          <p:nvPr/>
        </p:nvSpPr>
        <p:spPr>
          <a:xfrm>
            <a:off x="1097280" y="1847088"/>
            <a:ext cx="19659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481328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746504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011679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276856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542032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481328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746504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011679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276856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542032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3154680" y="202996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10 / 10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cxnSp>
        <p:nvCxnSpPr>
          <p:cNvPr id="276" name="Connector 275"/>
          <p:cNvCxnSpPr/>
          <p:nvPr/>
        </p:nvCxnSpPr>
        <p:spPr>
          <a:xfrm>
            <a:off x="1097280" y="2578608"/>
            <a:ext cx="306324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Oval 276"/>
          <p:cNvSpPr/>
          <p:nvPr/>
        </p:nvSpPr>
        <p:spPr>
          <a:xfrm>
            <a:off x="1481328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746504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011679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276856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542032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481328" y="30083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746504" y="300837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011679" y="30083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276856" y="30083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2542032" y="300837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3154680" y="276148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8 / 10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cxnSp>
        <p:nvCxnSpPr>
          <p:cNvPr id="288" name="Connector 287"/>
          <p:cNvCxnSpPr/>
          <p:nvPr/>
        </p:nvCxnSpPr>
        <p:spPr>
          <a:xfrm>
            <a:off x="1097280" y="3310128"/>
            <a:ext cx="306324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Oval 288"/>
          <p:cNvSpPr/>
          <p:nvPr/>
        </p:nvSpPr>
        <p:spPr>
          <a:xfrm>
            <a:off x="1481328" y="34655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1746504" y="346557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11679" y="34655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276856" y="346557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542032" y="34655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481328" y="37398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1746504" y="373989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11679" y="37398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276856" y="373989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542032" y="37398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3154680" y="349300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5 / 10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1097280" y="4041648"/>
            <a:ext cx="306324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1481328" y="41970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1746504" y="419709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11679" y="41970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276856" y="41970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542032" y="419709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481328" y="447141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746504" y="447141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011679" y="447141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276856" y="447141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542032" y="447141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3154680" y="422452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3 / 10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cxnSp>
        <p:nvCxnSpPr>
          <p:cNvPr id="312" name="Connector 311"/>
          <p:cNvCxnSpPr/>
          <p:nvPr/>
        </p:nvCxnSpPr>
        <p:spPr>
          <a:xfrm flipV="1">
            <a:off x="1252728" y="1892807"/>
            <a:ext cx="0" cy="2834641"/>
          </a:xfrm>
          <a:prstGeom prst="line">
            <a:avLst/>
          </a:prstGeom>
          <a:ln w="25400">
            <a:solidFill>
              <a:srgbClr val="FF79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07791" y="1892807"/>
            <a:ext cx="0" cy="2834641"/>
          </a:xfrm>
          <a:prstGeom prst="line">
            <a:avLst/>
          </a:prstGeom>
          <a:ln w="2540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1508760" y="1664208"/>
            <a:ext cx="0" cy="182880"/>
          </a:xfrm>
          <a:prstGeom prst="line">
            <a:avLst/>
          </a:prstGeom>
          <a:ln w="19050">
            <a:solidFill>
              <a:srgbClr val="FF79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651759" y="1664208"/>
            <a:ext cx="0" cy="18288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651759" y="4773168"/>
            <a:ext cx="0" cy="18288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508760" y="4773168"/>
            <a:ext cx="0" cy="182880"/>
          </a:xfrm>
          <a:prstGeom prst="line">
            <a:avLst/>
          </a:prstGeom>
          <a:ln w="19050">
            <a:solidFill>
              <a:srgbClr val="FF79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ctangle 317"/>
          <p:cNvSpPr/>
          <p:nvPr/>
        </p:nvSpPr>
        <p:spPr>
          <a:xfrm>
            <a:off x="1097280" y="4956048"/>
            <a:ext cx="1965960" cy="420624"/>
          </a:xfrm>
          <a:prstGeom prst="rect">
            <a:avLst/>
          </a:prstGeom>
          <a:solidFill>
            <a:srgbClr val="FDE9E7"/>
          </a:solidFill>
          <a:ln w="9525">
            <a:solidFill>
              <a:srgbClr val="EB0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square"/>
          <a:lstStyle/>
          <a:p>
            <a:pPr algn="ctr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Reboiler (냄비)</a:t>
            </a:r>
          </a:p>
          <a:p>
            <a:pPr algn="ctr"/>
            <a:r>
              <a:rPr sz="7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데워서 김을 만듦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3291840" y="4956048"/>
            <a:ext cx="868680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square"/>
          <a:lstStyle/>
          <a:p>
            <a:pPr algn="ctr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찌꺼기</a:t>
            </a:r>
          </a:p>
          <a:p>
            <a:pPr algn="ctr"/>
            <a:r>
              <a:rPr sz="7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바닥에 모임</a:t>
            </a:r>
          </a:p>
        </p:txBody>
      </p:sp>
      <p:cxnSp>
        <p:nvCxnSpPr>
          <p:cNvPr id="320" name="Connector 319"/>
          <p:cNvCxnSpPr/>
          <p:nvPr/>
        </p:nvCxnSpPr>
        <p:spPr>
          <a:xfrm>
            <a:off x="3063239" y="5166360"/>
            <a:ext cx="228601" cy="0"/>
          </a:xfrm>
          <a:prstGeom prst="line">
            <a:avLst/>
          </a:prstGeom>
          <a:ln w="15875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TextBox 320"/>
          <p:cNvSpPr txBox="1"/>
          <p:nvPr/>
        </p:nvSpPr>
        <p:spPr>
          <a:xfrm>
            <a:off x="283464" y="1984248"/>
            <a:ext cx="777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꼭대기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거의 다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283464" y="3127248"/>
            <a:ext cx="777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↑</a:t>
            </a:r>
          </a:p>
          <a:p>
            <a:pPr algn="ctr"/>
            <a:r>
              <a:rPr sz="680" b="1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올라갈수록</a:t>
            </a:r>
          </a:p>
          <a:p>
            <a:pPr algn="ctr"/>
            <a:r>
              <a:rPr sz="680" b="1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깨끗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283464" y="4151376"/>
            <a:ext cx="777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바닥 쪽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불순물이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많이 섞임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3154680" y="1828800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점선 = 검문소</a:t>
            </a:r>
          </a:p>
        </p:txBody>
      </p:sp>
      <p:sp>
        <p:nvSpPr>
          <p:cNvPr id="325" name="Oval 324"/>
          <p:cNvSpPr/>
          <p:nvPr/>
        </p:nvSpPr>
        <p:spPr>
          <a:xfrm>
            <a:off x="365760" y="5541264"/>
            <a:ext cx="128016" cy="128016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48640" y="552297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원하는 물질 (잘 끓음)</a:t>
            </a:r>
          </a:p>
        </p:txBody>
      </p:sp>
      <p:sp>
        <p:nvSpPr>
          <p:cNvPr id="327" name="Oval 326"/>
          <p:cNvSpPr/>
          <p:nvPr/>
        </p:nvSpPr>
        <p:spPr>
          <a:xfrm>
            <a:off x="2240280" y="5541264"/>
            <a:ext cx="128016" cy="128016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2423160" y="5522976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불순물 (잘 안 끓음)</a:t>
            </a:r>
          </a:p>
        </p:txBody>
      </p:sp>
      <p:cxnSp>
        <p:nvCxnSpPr>
          <p:cNvPr id="329" name="Connector 328"/>
          <p:cNvCxnSpPr/>
          <p:nvPr/>
        </p:nvCxnSpPr>
        <p:spPr>
          <a:xfrm>
            <a:off x="347472" y="5824728"/>
            <a:ext cx="182880" cy="0"/>
          </a:xfrm>
          <a:prstGeom prst="line">
            <a:avLst/>
          </a:prstGeom>
          <a:ln w="25400">
            <a:solidFill>
              <a:srgbClr val="FF79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TextBox 329"/>
          <p:cNvSpPr txBox="1"/>
          <p:nvPr/>
        </p:nvSpPr>
        <p:spPr>
          <a:xfrm>
            <a:off x="548640" y="574243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김 (위로)</a:t>
            </a:r>
          </a:p>
        </p:txBody>
      </p:sp>
      <p:cxnSp>
        <p:nvCxnSpPr>
          <p:cNvPr id="331" name="Connector 330"/>
          <p:cNvCxnSpPr/>
          <p:nvPr/>
        </p:nvCxnSpPr>
        <p:spPr>
          <a:xfrm>
            <a:off x="2221992" y="5824728"/>
            <a:ext cx="182880" cy="0"/>
          </a:xfrm>
          <a:prstGeom prst="line">
            <a:avLst/>
          </a:prstGeom>
          <a:ln w="2540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331"/>
          <p:cNvSpPr txBox="1"/>
          <p:nvPr/>
        </p:nvSpPr>
        <p:spPr>
          <a:xfrm>
            <a:off x="2423160" y="5742432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액체 (아래로 · Reflux)</a:t>
            </a:r>
          </a:p>
        </p:txBody>
      </p:sp>
      <p:sp>
        <p:nvSpPr>
          <p:cNvPr id="333" name="Rectangle 257"/>
          <p:cNvSpPr/>
          <p:nvPr/>
        </p:nvSpPr>
        <p:spPr>
          <a:xfrm>
            <a:off x="4370832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4" name="TextBox 258"/>
          <p:cNvSpPr txBox="1"/>
          <p:nvPr/>
        </p:nvSpPr>
        <p:spPr>
          <a:xfrm>
            <a:off x="4480560" y="960120"/>
            <a:ext cx="44805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원리 — 탑 안에서 일어나는 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335" name="Table 334"/>
          <p:cNvGraphicFramePr>
            <a:graphicFrameLocks noGrp="1"/>
          </p:cNvGraphicFramePr>
          <p:nvPr/>
        </p:nvGraphicFramePr>
        <p:xfrm>
          <a:off x="4370832" y="1216152"/>
          <a:ext cx="4480560" cy="2807208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320040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7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증류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끓는 온도가 낮은 물질이 먼저 김(증기)이 되어 올라가고, 식히면 다시 액체가 됨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번으로는 부족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끓는 온도가 비슷한 불순물은 김에 섞여 같이 올라옴 (체로 한 번 거르는 것과 같음)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Reflux Column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탑 하나 안에서 거르기를 수십 번 반복 → 꼭대기는 고순도, 바닥에는 찌꺼기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Reboiler (아래)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냄비처럼 액체를 데워 김을 만듦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Condenser (위)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올라온 김을 차갑게 식혀 액체로 되돌림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Reflux (되돌려 보내기)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식힌 액체를 전부 꺼내지 않고 일부만 제품으로, 나머지는 탑 안으로 다시 흘려보냄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Packing (가운데)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내려오는 액체와 올라오는 김이 계속 부딪힘 → 잘 끓는 물질은 김 쪽, 안 끓는 물질은 액체 쪽으로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6" name="Rectangle 257"/>
          <p:cNvSpPr/>
          <p:nvPr/>
        </p:nvSpPr>
        <p:spPr>
          <a:xfrm>
            <a:off x="4370832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7" name="TextBox 258"/>
          <p:cNvSpPr txBox="1"/>
          <p:nvPr/>
        </p:nvSpPr>
        <p:spPr>
          <a:xfrm>
            <a:off x="4480560" y="4160520"/>
            <a:ext cx="44805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운전 포인트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338" name="Table 337"/>
          <p:cNvGraphicFramePr>
            <a:graphicFrameLocks noGrp="1"/>
          </p:cNvGraphicFramePr>
          <p:nvPr/>
        </p:nvGraphicFramePr>
        <p:xfrm>
          <a:off x="4370832" y="4416552"/>
          <a:ext cx="4480560" cy="1865376"/>
        </p:xfrm>
        <a:graphic>
          <a:graphicData uri="http://schemas.openxmlformats.org/drawingml/2006/table">
            <a:tbl>
              <a:tblPr firstRow="0" bandRow="0"/>
              <a:tblGrid>
                <a:gridCol w="822960"/>
                <a:gridCol w="2331720"/>
                <a:gridCol w="132588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영향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Reflux 양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많이 되돌릴수록 여러 번 걸러져 더 깨끗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꺼내는 양 감소 → 시간·전력 증가 · 순도와 속도의 적정점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Packing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Random(고리 조각): 저렴, 벽 쏠림 → 재분배 장치 / Structured(주름 금속판): 고가, 더 고르게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분리 성능 · 투자비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진공 운전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프리커서는 열에 약함 → 압력을 낮춰 낮은 온도에서 끓임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열 분해 방지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나눠 담기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처음(가벼운 불순물) 버림 · 중간(깨끗한 부분)만 제품 · 바닥 찌꺼기(금속 성분) 버림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회수량 · 수율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협의 사항 — Batch 기준 · Case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198 kg/Batch · 1대 월 12 / 2대 월 20 Batch · Case I·II·III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협의 내용과 자료 반영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542032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3017520"/>
                <a:gridCol w="2194560"/>
                <a:gridCol w="216712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 반영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기준 (협의)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size 200 kg · Yield 99% → 198 kg/Batch · Batch time 55 h · 원단위 1.010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= 월 Batch × 198 kg (1대 12 · 2대 20 Batch)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time 55 h의 구성 (IQC 제외 57 h와 일치 여부)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(협의)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계획 比 CXMT·이지켐 조정 / Case II 추가 물량 / Case III 추가 물량 + 4월 도입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2026.9~2027.12 Case별 생산·판매·재고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외부 상품 도입 물량 · 시점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총판매량 · SKHY · SKHY+CXMT 기준 개월 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자료 값 그대로 반영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산식 (재고 ÷ 판매로는 재현 안 됨)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10·12월 판매 합계가 고객별 합보다 140 kg 큼 · 26년 SKH 합계 9,960 / 17,210 (Case별 표기 다름)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 합계 값 그대로 사용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물량 · 연간 합계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959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931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협의 기준값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4187952"/>
          <a:ext cx="8567928" cy="731520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731520"/>
                <a:gridCol w="914400"/>
                <a:gridCol w="914400"/>
                <a:gridCol w="777240"/>
                <a:gridCol w="1463040"/>
                <a:gridCol w="1463040"/>
                <a:gridCol w="138988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size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Yield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time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원단위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 월 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 월 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kg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99%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198 kg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1.010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 (2,376 kg)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(3,960 kg)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(1,188 kg)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확인 사항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생산팀 대화 내용과 추가 확인 항목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생산·설비·품질·충진 관련 확인 내용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4951475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4343400"/>
                <a:gridCol w="2990088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생산팀 설명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공정시간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h에서 IQC·준비·PQC~이송·FQC를 빼면 순수 정제 45 h · 대화 중 57 − 2 − 6 = 49 h 계산도 있음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원자료 시간 측정의 시작점·종료점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약 72 h, 최근 약 53 h 언급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값의 측정 범위가 같은지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 투입 후 초류 진행에 맞춰 정제기 2 투입 (다음 날 / 초류 중간 / 초류 종료 무렵 언급)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 투입 시점 · 설비 번호(2070·2060) 도면 대조 · 개조/신규 여부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생산물 도착 간격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÷ 2 = 28.5 h는 이상적인 경우의 도착 간격 설명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2배 아님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투입용 Mix·Premix 준비 등에 설비 시간이 필요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Mix·Premix 준비시간 · 사용 설비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목적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요구 품질 대응을 위한 정제 기능 개선 · 환류 운전은 회수 속도와 Batch 시간에 영향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환류 운전 시 Batch 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회수량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약 160~170 kg / 추가 투입 시 약 220 kg / 전체 약 195~200 kg (197 kg) / Crude 200 kg × 75~80% ≈ 150~160 kg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투입·회수·양품·잔량 실측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수율 표현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"65%에서 5% 올렸다"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정의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135 · 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 유무에 따라 언급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단위 · 색도 등 품질 지표인지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색도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색도 조건 때문에 추가 투입 제한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품질·색도 규격 · 합격률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작업 · 충진은 보통 상근조(08:00~17:00, 점심 12~13시 제외 = 8 h/일)만 진행 → 약 2일 · 개선 방향 1~1.5일 · 18 h → 9 h 방안 검토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 h ÷ 8 h = 2.25일 → 9병째가 3일차로 넘어가는지 · 연장근무·교대 충진 가능 여부 · 인원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자체 충진은 더 길 수 있으나 용기 투입·반출·퍼지 포함 시 전체 시간은 비슷할 수 있음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작업 단계별 시간 (용기 준비~설비 전환)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충진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수동 충진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전환 후 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