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69" r:id="rId62"/>
    <p:sldId id="270" r:id="rId63"/>
    <p:sldId id="272" r:id="rId65"/>
    <p:sldId id="273" r:id="rId66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Relationship Id="rId63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[5장 2028년 월별 출하 가정과 Capa. 대응 (Excel 01_Inputs K, 04_Monthly_2026_2028, 05_Reflux_Scenarios 3·5절)]</a:t>
            </a:r>
          </a:p>
          <a:p>
            <a:r>
              <a:t>■ 출하 가정: 2027년 하반기 월 출하량을 12개월 유지하는 가정(확정 고객 수요 아님) — 하이닉스 22,720÷12, CXMT 780, 이지켐 1,120, 한솔 300 kg/월 → 4,093.33 kg/월 × 12 = 49,120 kg = 49.12톤 (CXMT 9,360 · 이지켐 13,440 · 한솔 3,600). 2027 연간 43.4톤을 그대로 복제하지 않음. 01_Inputs K에서 독립 변경 가능.</a:t>
            </a:r>
          </a:p>
          <a:p>
            <a:r>
              <a:t>■ 연간 환산 비교(확정 부족량·판매 가능량 아님): 기본 47.2톤 기준 47.2 − 49.12 = −1.92톤(부족 방향) · 105℃ 검토안이 12개월 적용되는 경우 50.2 − 49.12 = +1.08톤(여유 방향). 105℃는 미확정·적용 시점 미정·검증 및 승인 필요 → 기본 시나리오는 47.2톤, 적용 시점 확정 시 01_Inputs '105℃ 적용 시작 월' 입력 → 04 시트 월별 반영.</a:t>
            </a:r>
          </a:p>
          <a:p>
            <a:r>
              <a:t>■ 필요 Batch: 21.5 Batch/월, 연 258.5 Batch(190 kg). 47.2톤 환산 20.7 Batch/월. 설비별 등가 간격 70.5 h 이하·Batch량·양품률이 대응 조건.</a:t>
            </a:r>
          </a:p>
          <a:p>
            <a:r>
              <a:t>■ 충진: 5 Gal 267.3 h/월, 연 3,208 h (OQC 별도 연 356 h) · 200 L 이지켐 8 + 한솔 2 = 10용기/월, 연 120용기(96 + 24), 전월 ARS — ARS 충진시간 미확인(공통 8 h 적용 가정 시 연 960 h). 정제기 720 h를 인력 근무시간으로 적용하지 않음.</a:t>
            </a:r>
          </a:p>
          <a:p>
            <a:r>
              <a:t>■ 재고: 2027.12 기말재고 → 2028.1 기초재고 연결(미확인 시 0 초기화 안 함). 시나리오 기준 2027.1.1 필요 선행재고 S1 19.6 / S2 11.5 / S3 21.2톤(24개월, 누적 최저 '28.12). 하이닉스 공급·목표재고 우선, 다른 고객 우선순위는 확인값.</a:t>
            </a:r>
          </a:p>
          <a:p>
            <a:r>
              <a:t>■ 확인: 105℃ 열 안정성·Dimer·Unknown impurity·Yield 영향·고객 승인·적용 시점 / 이지켐 색도 합격률 / 글로브 박스 교대 / 2028 수요 확정.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[1장 As-is — 공정시간과 현재 생산능력 (Excel 01_Inputs B·C, 03_Capacity_Model 1~7절)]</a:t>
            </a:r>
          </a:p>
          <a:p>
            <a:r>
              <a:t>■ 운영 전제: 정제기 1대를 하이닉스·CXMT·이지켐(·한솔 '27~)이 공동 사용 — 고객 전용 설비 없음. 앞 Batch 검사·충진 중 다음 Batch 정제 가능(병렬).</a:t>
            </a:r>
          </a:p>
          <a:p>
            <a:r>
              <a:t>■ 공정시간 (사용자가 정한 자료 작성 기준 / 57시간에서 기타 공정시간 차감): IQC 2 + 준비·투입 2 + 정제 45 + PQC·제품 이송 합계 6 + FQC 2 = 충진 전까지 57 h. PQC와 이송은 그림에서 구분하되 시간은 합계 6 h(각 6 h 아님). 생산팀 대화 중 49 h 언급은 참고로만 보존.</a:t>
            </a:r>
          </a:p>
          <a:p>
            <a:r>
              <a:t>■ 충진·OQC: 5 Gal 2 h/병, 약 9병 18 h(18 ÷ 8 h = 2.25 근무일, 현장 '약 2일' 설명) · 5 Gal OQC 9병 합계 2 h · 이지켐 200 L 수동 8 h/용기 · 200 L OQC 1용기 2 h · 한솔 수동·ARS 시간은 미확인(이지켐 8 h 복제 안 함). 충진·포장 1~1.5일은 개선 과제(달성 실적 아님).</a:t>
            </a:r>
          </a:p>
          <a:p>
            <a:r>
              <a:t>■ 확인시간 단순 합계: 5 Gal 약 9병 57+18+2 = 77 h · 이지켐 1용기 57+8+2 = 67 h — 실제 달력 납기 아님, 다음 Batch 투입 간격 아님.</a:t>
            </a:r>
          </a:p>
          <a:p>
            <a:r>
              <a:t>■ 정제기 점유 확인분 = 준비 2 + 정제 45 = 47 h (이송 중 점유분 미확인 → 47~53 h). 과거 일정 관측 평균 간격 67.47 h → 비점유 약 20.5 h(구성 미확인).</a:t>
            </a:r>
          </a:p>
          <a:p>
            <a:r>
              <a:t>■ 이론(정제만): 720 ÷ 45 = 16 Batch/월 × 190 = 3,040 kg/월 — 준비·전환·이송·세척·대기·보수 제외 비교값, 실제 Capa. 아님.</a:t>
            </a:r>
          </a:p>
          <a:p>
            <a:r>
              <a:t>■ 과거 최대 11 Batch: 11×45 = 495 h, 720 − 495 = 225 h(전부 손실·충진으로 분류 안 함), 11×190 = 2,090 kg/월, 매월 11회 반복 참고 25.08톤/년. 11월 예시 막대는 65.5 h 균등 배분(준비·정제 47 h + PQC·이송 6 h + FQC·충진·OQC 22 h는 다음 Batch와 병렬).</a:t>
            </a:r>
          </a:p>
          <a:p>
            <a:r>
              <a:t>■ 26.2톤: 26,200 ÷ 190 = 137.895 Batch 상당 → 138 × 190 = 26,220 kg = 26.22톤 → 26.2톤. 시간·가동률·수율을 조정해 맞추지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[2장 To-be — 정제기 2대 운영과 투자 계획 (Excel 03_Capacity_Model 8절, 05_Reflux_Scenarios)]</a:t>
            </a:r>
          </a:p>
          <a:p>
            <a:r>
              <a:t>■ 정제기: As-is 1대 단일 설비 순차 생산 → To-be 정제기 1·2를 시간차를 두고 병행 운전. 정제기 1을 먼저 투입·가동한 뒤 투입·초류 진행 상황과 충진 처리능력을 고려해 정제기 2를 기동하고, 두 설비 운전 구간을 겹치되 제품이 한꺼번에 충진으로 몰리지 않도록 배치. 고객별 전용 정제기 없음 — 전체 설비 자원 안에서 고객 물량 배정.</a:t>
            </a:r>
          </a:p>
          <a:p>
            <a:r>
              <a:t>■ 시차·설비별 간격: 미확정. Gantt의 시차 30 h·설비별 간격 70.5 h는 운영 개념 설명용 가정(동시 기동·24 h 고정 아님). 설비별 간격 70.5 h = 47.2톤 ÷ 190 kg = 248.4 Batch/년을 2대로 나눈 역산 참고값(현재 1대 26.2톤 등가 63.5 h 대비 +7.0 h — Mix·리사이클 준비 등 가능성, 구성 미확인). 정제 45 h를 22.5 h로 단축하는 계산이 아님.</a:t>
            </a:r>
          </a:p>
          <a:p>
            <a:r>
              <a:t>■ Capa.: 26.2 + 21 = 47.2톤/년(최초 12개월 '27.7~'28.6 연간 환산). 현재 단순 2배 52.4톤과의 차이 5.2톤은 보조 작업·공유 자원 등 가능성 — 확정 손실로 표시하지 않음. 2027 실제 생산량은 공사 중 가동·시운전 양품·출하 승인·초기 안정화를 반영해 별도 산정(4장).</a:t>
            </a:r>
          </a:p>
          <a:p>
            <a:r>
              <a:t>■ 충진: 5 Gal은 글로브 박스 유지(ARS 미적용). 200 L ARS는 '26 설치 → '27 운영 계획 — 한솔 '27.1~6 수동, '27.7~ ARS, 2028 전월 ARS. 이지켐 ARS 전환 월은 근거('27~ 운영 계획)만 있어 확인 필요(한솔 7월 전환 자동 적용 안 함). ARS 효과는 정제 Capa.에 가산하지 않음.</a:t>
            </a:r>
          </a:p>
          <a:p>
            <a:r>
              <a:t>■ 공용 후공정: 2대 합산 평균 투입 간격 35.3 h — 1교대(8 h/일) 충진 시 18 h 작업 = 경과 54 h로 Tank·충진 회전 부족(-20.7 h), 2교대 시 여유 6.3 h (Product Tank 1기 가정, 03 시트 10절).</a:t>
            </a:r>
          </a:p>
          <a:p>
            <a:r>
              <a:t>■ 2028 검토안: 103→105℃, +3톤 → 50.2톤(산술) · 목표 2028년 이후 50톤 수준 · 미확정·적용 시점 미정·검증 및 승인 필요(열 안정성, Dimer, Unknown impurity, Yield).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[3장 과거 Batch 분석 및 2026년 기준 검토 (Excel 02_Batch_Raw, 03_Capacity_Model 3~7절, 04_Monthly_2026_2028)]</a:t>
            </a:r>
          </a:p>
          <a:p>
            <a:r>
              <a:t>■ 원자료(첨부 PPT 원본·수정본 3장 발표자 노트, 원본 분포도 좌표, 사용자 지시 목록 3중 대조 → 차이 0건). 원본 이미지 5개는 미첨부. 연도 미표기 → 2026 가정.</a:t>
            </a:r>
          </a:p>
          <a:p>
            <a:r>
              <a:t>- 5월(일부): 5/23 #37, 5/26 #38</a:t>
            </a:r>
          </a:p>
          <a:p>
            <a:r>
              <a:t>- 6월: 6/2 #39, 6/5 #40, 6/8 #41, 6/11 #42, 6/14 #43, 6/17 #44, 6/20 #45, 6/23 #46, 6/25 #47, 6/27 #48, 6/28 #49</a:t>
            </a:r>
          </a:p>
          <a:p>
            <a:r>
              <a:t>- 7월: 7/1 #50, 7/3 #51, 7/6 #52, 7/8 #53, 7/11 #54, 7/14 #55, 7/17 #56, 7/20 #57, 7/23 #58, 7/26 #59, 7/29 #60</a:t>
            </a:r>
          </a:p>
          <a:p>
            <a:r>
              <a:t>- 8월: 8/1 #61, 8/4 #62, 8/7 #63, 8/10 #64, 8/13 #65, 8/16 #66, 8/19 #67, 8/22 #68, 8/25 #69, 8/28 #70, 8/31 #71</a:t>
            </a:r>
          </a:p>
          <a:p>
            <a:r>
              <a:t>- 9월: 9/3 #72, 9/5 #73, 9/7 #74, 9/9 #75, 9/11 #76, 9/14 #77, 9/19 #78, 9/23 #79, 9/26 #80, 9/28 #81</a:t>
            </a:r>
          </a:p>
          <a:p>
            <a:r>
              <a:t>- 10월: 10/1 #82, 10/4 #83, 10/7 #84, 10/10 #85, 10/12 #86, 10/15 #87, 10/18 #88, 10/20 #89, 10/23 #90, 10/26 #91, 10/29 #92</a:t>
            </a:r>
          </a:p>
          <a:p>
            <a:r>
              <a:t>■ 집계: 원자료 Total 6월 8 / 7월 11 / 8월 8 / 9월 8 / 10월 11 = 46, 번호 개수 11/11/11/10/11 = 54 — 번호 개수를 양품 완료 Batch로 확정하지 않음. 색상·표시일자 의미 확인.</a:t>
            </a:r>
          </a:p>
          <a:p>
            <a:r>
              <a:t>■ 관측 간격: 주 범위 6/2 #39~10/29 #92, 54개 일자·53개 간격, 149일 × 24 ÷ 53 = 67.47 h(범위 67.02~67.92), 중앙값 72 h, 3일 간격 74%. 월 경계 간격 포함, 5월 일부 제외.</a:t>
            </a:r>
          </a:p>
          <a:p>
            <a:r>
              <a:t>- 한계: 날짜만 있는 계획 — 실제 정제시간과 구분. 정제 45 h 대비 +22.5 h, 점유 47 h 대비 +20.5 h는 PQC·이송·세척·대기·계획 여유 등 가능성(구성 미확인).</a:t>
            </a:r>
          </a:p>
          <a:p>
            <a:r>
              <a:t>- 57 h 연속 가정에서 확인 필요였던 고밀도 구간(6/23~7/3, 9/3~9/11, 4간격 평균 최대 54 h)은 점유 하한 47 h 기준으로는 양립 가능 — 이송 중 점유·세척 반영 시 재확인.</a:t>
            </a:r>
          </a:p>
          <a:p>
            <a:r>
              <a:t>■ 비교: 이론 720÷45 = 16 Batch·3,040 kg/월(실제 Capa. 아님) · 과거 최대 11 Batch 495 h + 225 h · 관측 10.7 Batch/30일(31일 11.0) · 26.2톤 = 월 11.49 Batch 상당(역산 63.5 h).</a:t>
            </a:r>
          </a:p>
          <a:p>
            <a:r>
              <a:t>■ 2026: 제시 출하 19,220 kg(하이닉스 16,980 + 이지켐 2,240) — CXMT·한솔 미제시(0으로 확정 안 함). 현재 26.2톤 대비 73.4%, 산술 차이 6.98톤. 관측 기준 추정 생산 가능 24,510 kg(129 Batch, 정지·보수 미반영 상한) — 9~12월 월 출하 1,940~2,040 kg은 월 생산 가능량(10~11 Batch)에 근접, 재고 활용 필요. 상세 월별은 Excel 04 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[4장 2027년 월별 출하와 공급 대응 (Excel 01_Inputs K, 04_Monthly_2026_2028, 05_Reflux_Scenarios)]</a:t>
            </a:r>
          </a:p>
          <a:p>
            <a:r>
              <a:t>■ 출하계획(kg): 하이닉스 22,720÷12 = 1,893.33/월(표시 반올림, 연간 22,720 유지) · CXMT 1~2월 0 / 3~6월 580 / 7~12월 780 = 7,000 · 이지켐 1~6월 560 / 7~12월 1,120 = 10,080 · 한솔 1~12월 300 = 3,600 → 합계 43,400 kg = 43.4톤. 월 합계 1~2월 2,753.3 / 3~6월 3,333.3 / 7~12월 4,093.3.</a:t>
            </a:r>
          </a:p>
          <a:p>
            <a:r>
              <a:t>■ 연간 환산 비교: 현재 26.2톤 대비 17.2톤 초과 · 개선 후 47.2톤과 3.8톤 차이(연간 환산 — 2027 실제 여유 아님). 상반기 출하 18.84톤 / 하반기 24.56톤, 하반기 균등 가동 참고 47.2×6/12 = 23.6톤 → 0.96톤 부족 방향.</a:t>
            </a:r>
          </a:p>
          <a:p>
            <a:r>
              <a:t>■ 2027 실제 생산: 1월 현재 조건(관측 67.47 h) 11 Batch = 2,090 kg. 2~5월 공사 중 가동, 6월 시운전 양품·출하 승인, 7월 이후 설비별 간격·Batch량·초기 안정화가 미확인 → 연간 실제 생산량은 부분합계로 보류(0 또는 정상값 임의 입력 안 함).</a:t>
            </a:r>
          </a:p>
          <a:p>
            <a:r>
              <a:t>■ 시나리오(참고, Excel 05): S1 공사 중 중단 → 2027 생산 25.7톤(생산−출하 -17.7톤) · S2 공사 중 현재 유지 → 33.8톤(-9.6톤) · S3 50%·안정화 3개월 → 24.2톤(-19.2톤). 개선 안정 후 47.2톤÷12 = 3,933 kg/월은 상한 참고 → 2027 대응에는 선행 생산·현재고 확인이 핵심.</a:t>
            </a:r>
          </a:p>
          <a:p>
            <a:r>
              <a:t>■ 필요 Batch(출하÷190): 1~2월 14.5 / 3~6월 17.5 / 7~12월 21.5 Batch/월, 연 228.4 Batch (동일 Batch 다고객 배분 — 시간 중복 계산 안 함).</a:t>
            </a:r>
          </a:p>
          <a:p>
            <a:r>
              <a:t>■ 충진: 5 Gal (하이닉스+CXMT)÷20×2 h = 189.3 / 247.3 / 267.3 h/월, 연 2,972 h (OQC 별도 연 330 h). 월평균 병 수는 병 상당 — 실제는 20 kg 정수 용기 배분. 200 L: 이지켐 4→8용기, 한솔 2용기 → 6 / 10용기/월, 연 96용기(이지켐 72 + 한솔 24), OQC 연 192 h. 한솔 1~6월 수동·7월~ ARS, 이지켐 ARS 전환 월 확인 — 충진시간 미확인 고객은 확정하지 않음(공통 8 h 적용 가정 시 연 768 h, 비교용).</a:t>
            </a:r>
          </a:p>
          <a:p>
            <a:r>
              <a:t>■ 재고: 기말재고 = 기초재고 + 출하 가능 양품 생산량 − 출하량 / 필요 생산량 = 출하량 + 목표 기말재고 − 기초재고. 하이닉스 출하·목표재고 우선 → 나머지 고객 배분(우선순위 미확인 시 출하 비율). 2027.12 기말재고 → 2028.1 기초재고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공정시간과 현재 생산능력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공용 정제기 1대 · 정제 45 h / 충진 전 57 h · 검사·충진은 다음 Batch 정제와 병렬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45700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7000" y="1570000"/>
            <a:ext cx="700000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30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23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23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25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2342000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2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127000" y="1570000"/>
            <a:ext cx="70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037000" y="1030000"/>
            <a:ext cx="1330000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65200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351200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51200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077000" y="1570000"/>
            <a:ext cx="125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077000" y="1570000"/>
            <a:ext cx="125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92000" y="1615000"/>
            <a:ext cx="122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64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7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59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5647000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467000" y="1570000"/>
            <a:ext cx="76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67000" y="1570000"/>
            <a:ext cx="76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482000" y="1615000"/>
            <a:ext cx="73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17000" y="1310000"/>
            <a:ext cx="49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1807000" y="1310000"/>
            <a:ext cx="53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2612000" y="1310000"/>
            <a:ext cx="9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3892000" y="1310000"/>
            <a:ext cx="75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5147000" y="1310000"/>
            <a:ext cx="5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38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30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197000" y="1915000"/>
            <a:ext cx="5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27000" y="1915000"/>
            <a:ext cx="95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h/Batch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26864" y="1915000"/>
            <a:ext cx="155448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57000" y="2640000"/>
            <a:ext cx="52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7000" y="2920000"/>
            <a:ext cx="66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7000" y="3100000"/>
            <a:ext cx="4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877000" y="2770000"/>
            <a:ext cx="24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117000" y="2510000"/>
            <a:ext cx="0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117000" y="251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117000" y="303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287000" y="2300000"/>
            <a:ext cx="2250000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287000" y="2300000"/>
            <a:ext cx="45000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387000" y="240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867000" y="231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 (≈2.25 근무일)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87000" y="2820000"/>
            <a:ext cx="2250000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87000" y="2820000"/>
            <a:ext cx="45000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387000" y="292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867000" y="283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이지켐 8 h/용기 · 한솔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637000" y="238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53700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4097000" y="251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4377000" y="230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437000" y="230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3637000" y="290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353700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4097000" y="303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4377000" y="282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437000" y="282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3250000"/>
            <a:ext cx="28346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5847000" y="2065000"/>
            <a:ext cx="0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617000" y="2230000"/>
            <a:ext cx="523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617000" y="2230000"/>
            <a:ext cx="0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4897000" y="975000"/>
            <a:ext cx="0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3702000" y="975000"/>
            <a:ext cx="119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3702000" y="975000"/>
            <a:ext cx="0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4927000" y="955000"/>
            <a:ext cx="11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797000" y="2300000"/>
            <a:ext cx="0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797000" y="2300000"/>
            <a:ext cx="315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3952000" y="1910000"/>
            <a:ext cx="0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4002000" y="2150000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480000" y="1010000"/>
            <a:ext cx="2377000" cy="225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570000" y="1070000"/>
            <a:ext cx="2197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As-is 운영 조건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6570000" y="1375000"/>
            <a:ext cx="65000" cy="15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690000" y="133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정제기 1대 — 4개 고객 공동 (전용 설비 없음)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570000" y="1635000"/>
            <a:ext cx="65000" cy="15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6690000" y="159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정제 · 충진 병렬 : 충진 중 다음 Batch 정제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570000" y="1895000"/>
            <a:ext cx="65000" cy="150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690000" y="185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103℃ · 정제 45 h · 충진 전 57 h · 190 kg/Batch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570000" y="2155000"/>
            <a:ext cx="65000" cy="15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690000" y="211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 Gal 20 kg/병 — 글로브 박스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570000" y="2415000"/>
            <a:ext cx="65000" cy="15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690000" y="2370000"/>
            <a:ext cx="2117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200 L 이지켐 140 · 한솔 150 kg — 수동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6570000" y="2950000"/>
            <a:ext cx="380000" cy="130000"/>
          </a:xfrm>
          <a:prstGeom prst="round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00000" y="2930000"/>
            <a:ext cx="8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제공 시간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730000" y="2950000"/>
            <a:ext cx="380000" cy="130000"/>
          </a:xfrm>
          <a:prstGeom prst="round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160000" y="2930000"/>
            <a:ext cx="7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6570000" y="3180000"/>
            <a:ext cx="260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sp>
        <p:nvSpPr>
          <p:cNvPr id="257" name="TextBox 256"/>
          <p:cNvSpPr txBox="1"/>
          <p:nvPr/>
        </p:nvSpPr>
        <p:spPr>
          <a:xfrm>
            <a:off x="6880000" y="3105000"/>
            <a:ext cx="15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부적합 복귀 (조건 확인)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34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한 Batch 확인 공정시간 — 단순 합계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달력 납기 · 다음 Batch 투입 간격 아님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5537000" y="3455000"/>
            <a:ext cx="150000" cy="10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572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확정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6077000" y="3455000"/>
            <a:ext cx="150000" cy="100000"/>
          </a:xfrm>
          <a:prstGeom prst="rect">
            <a:avLst/>
          </a:prstGeom>
          <a:solidFill>
            <a:srgbClr val="EAF1FA"/>
          </a:solidFill>
          <a:ln w="1270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26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계획·제시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842000" y="3455000"/>
            <a:ext cx="150000" cy="10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03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추정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382000" y="3455000"/>
            <a:ext cx="150000" cy="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7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환산 참고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147000" y="3455000"/>
            <a:ext cx="150000" cy="10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33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검토안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7000" y="368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약 9병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636776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899224" y="370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245447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376672" y="3700000"/>
            <a:ext cx="1181019" cy="210000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557691" y="370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98060" y="370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7255844" y="368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87000" y="401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1636776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899224" y="403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245447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376672" y="4030000"/>
            <a:ext cx="524897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901569" y="403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041938" y="403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599722" y="401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350000"/>
            <a:ext cx="85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 2 + 준비·투입 2 + 정제 45 + PQC·이송 6 + FQC 2 = 57 h (중복 가산 없음) · OQC 2 h · 77 h·67 h는 확인시간 단순 합계 — 실제 달력 납기 아님 · 미확인: 대기·세척·전환·한솔 충진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287000" y="45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397000" y="45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11월 운전 예시 — 정제기 1대 월 11 Batch (과거 최대)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간격 65.5 h = 720÷11 (구성 확인)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167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167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67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423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423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679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79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936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936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192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192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448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48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705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705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05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961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2961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961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217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3217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474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74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730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730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986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3986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243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243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99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4499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499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755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755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755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012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5012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5268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268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524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5524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5781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781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037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037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6293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293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93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6550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550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550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806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806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7062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062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7319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319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7575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7575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7831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831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88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088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8088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8344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44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344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600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600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116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59" name="Connector 358"/>
          <p:cNvCxnSpPr/>
          <p:nvPr/>
        </p:nvCxnSpPr>
        <p:spPr>
          <a:xfrm>
            <a:off x="1423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0" name="Connector 359"/>
          <p:cNvCxnSpPr/>
          <p:nvPr/>
        </p:nvCxnSpPr>
        <p:spPr>
          <a:xfrm>
            <a:off x="1679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1" name="Connector 360"/>
          <p:cNvCxnSpPr/>
          <p:nvPr/>
        </p:nvCxnSpPr>
        <p:spPr>
          <a:xfrm>
            <a:off x="1936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2" name="Connector 361"/>
          <p:cNvCxnSpPr/>
          <p:nvPr/>
        </p:nvCxnSpPr>
        <p:spPr>
          <a:xfrm>
            <a:off x="2192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3" name="Connector 362"/>
          <p:cNvCxnSpPr/>
          <p:nvPr/>
        </p:nvCxnSpPr>
        <p:spPr>
          <a:xfrm>
            <a:off x="2448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4" name="Connector 363"/>
          <p:cNvCxnSpPr/>
          <p:nvPr/>
        </p:nvCxnSpPr>
        <p:spPr>
          <a:xfrm>
            <a:off x="2705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5" name="Connector 364"/>
          <p:cNvCxnSpPr/>
          <p:nvPr/>
        </p:nvCxnSpPr>
        <p:spPr>
          <a:xfrm>
            <a:off x="2961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6" name="Connector 365"/>
          <p:cNvCxnSpPr/>
          <p:nvPr/>
        </p:nvCxnSpPr>
        <p:spPr>
          <a:xfrm>
            <a:off x="3217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7" name="Connector 366"/>
          <p:cNvCxnSpPr/>
          <p:nvPr/>
        </p:nvCxnSpPr>
        <p:spPr>
          <a:xfrm>
            <a:off x="3474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8" name="Connector 367"/>
          <p:cNvCxnSpPr/>
          <p:nvPr/>
        </p:nvCxnSpPr>
        <p:spPr>
          <a:xfrm>
            <a:off x="3730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9" name="Connector 368"/>
          <p:cNvCxnSpPr/>
          <p:nvPr/>
        </p:nvCxnSpPr>
        <p:spPr>
          <a:xfrm>
            <a:off x="3986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0" name="Connector 369"/>
          <p:cNvCxnSpPr/>
          <p:nvPr/>
        </p:nvCxnSpPr>
        <p:spPr>
          <a:xfrm>
            <a:off x="4243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1" name="Connector 370"/>
          <p:cNvCxnSpPr/>
          <p:nvPr/>
        </p:nvCxnSpPr>
        <p:spPr>
          <a:xfrm>
            <a:off x="4499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2" name="Connector 371"/>
          <p:cNvCxnSpPr/>
          <p:nvPr/>
        </p:nvCxnSpPr>
        <p:spPr>
          <a:xfrm>
            <a:off x="4755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3" name="Connector 372"/>
          <p:cNvCxnSpPr/>
          <p:nvPr/>
        </p:nvCxnSpPr>
        <p:spPr>
          <a:xfrm>
            <a:off x="5012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4" name="Connector 373"/>
          <p:cNvCxnSpPr/>
          <p:nvPr/>
        </p:nvCxnSpPr>
        <p:spPr>
          <a:xfrm>
            <a:off x="5268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5" name="Connector 374"/>
          <p:cNvCxnSpPr/>
          <p:nvPr/>
        </p:nvCxnSpPr>
        <p:spPr>
          <a:xfrm>
            <a:off x="5524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6" name="Connector 375"/>
          <p:cNvCxnSpPr/>
          <p:nvPr/>
        </p:nvCxnSpPr>
        <p:spPr>
          <a:xfrm>
            <a:off x="5781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7" name="Connector 376"/>
          <p:cNvCxnSpPr/>
          <p:nvPr/>
        </p:nvCxnSpPr>
        <p:spPr>
          <a:xfrm>
            <a:off x="6037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8" name="Connector 377"/>
          <p:cNvCxnSpPr/>
          <p:nvPr/>
        </p:nvCxnSpPr>
        <p:spPr>
          <a:xfrm>
            <a:off x="6293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9" name="Connector 378"/>
          <p:cNvCxnSpPr/>
          <p:nvPr/>
        </p:nvCxnSpPr>
        <p:spPr>
          <a:xfrm>
            <a:off x="6550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0" name="Connector 379"/>
          <p:cNvCxnSpPr/>
          <p:nvPr/>
        </p:nvCxnSpPr>
        <p:spPr>
          <a:xfrm>
            <a:off x="6806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1" name="Connector 380"/>
          <p:cNvCxnSpPr/>
          <p:nvPr/>
        </p:nvCxnSpPr>
        <p:spPr>
          <a:xfrm>
            <a:off x="7062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2" name="Connector 381"/>
          <p:cNvCxnSpPr/>
          <p:nvPr/>
        </p:nvCxnSpPr>
        <p:spPr>
          <a:xfrm>
            <a:off x="7319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3" name="Connector 382"/>
          <p:cNvCxnSpPr/>
          <p:nvPr/>
        </p:nvCxnSpPr>
        <p:spPr>
          <a:xfrm>
            <a:off x="7575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4" name="Connector 383"/>
          <p:cNvCxnSpPr/>
          <p:nvPr/>
        </p:nvCxnSpPr>
        <p:spPr>
          <a:xfrm>
            <a:off x="7831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5" name="Connector 384"/>
          <p:cNvCxnSpPr/>
          <p:nvPr/>
        </p:nvCxnSpPr>
        <p:spPr>
          <a:xfrm>
            <a:off x="8088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6" name="Connector 385"/>
          <p:cNvCxnSpPr/>
          <p:nvPr/>
        </p:nvCxnSpPr>
        <p:spPr>
          <a:xfrm>
            <a:off x="8344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7" name="Connector 386"/>
          <p:cNvCxnSpPr/>
          <p:nvPr/>
        </p:nvCxnSpPr>
        <p:spPr>
          <a:xfrm>
            <a:off x="8600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8" name="Connector 387"/>
          <p:cNvCxnSpPr/>
          <p:nvPr/>
        </p:nvCxnSpPr>
        <p:spPr>
          <a:xfrm>
            <a:off x="885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9" name="Connector 388"/>
          <p:cNvCxnSpPr/>
          <p:nvPr/>
        </p:nvCxnSpPr>
        <p:spPr>
          <a:xfrm>
            <a:off x="1167000" y="502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390" name="Connector 389"/>
          <p:cNvCxnSpPr/>
          <p:nvPr/>
        </p:nvCxnSpPr>
        <p:spPr>
          <a:xfrm>
            <a:off x="1167000" y="561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sp>
        <p:nvSpPr>
          <p:cNvPr id="391" name="TextBox 390"/>
          <p:cNvSpPr txBox="1"/>
          <p:nvPr/>
        </p:nvSpPr>
        <p:spPr>
          <a:xfrm>
            <a:off x="287000" y="4770000"/>
            <a:ext cx="85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11월 (2026)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87000" y="4910000"/>
            <a:ext cx="850000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 h 연속 · 720 h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87000" y="5025000"/>
            <a:ext cx="85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1대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87000" y="5275000"/>
            <a:ext cx="85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FQC·충진·OQC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87000" y="5465000"/>
            <a:ext cx="85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119176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169316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757172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555791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1890037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391433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2455441" y="5310000"/>
            <a:ext cx="234695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2254882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2588306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3089702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3153710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2953973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3286575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3787971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851979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3653064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3984844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4486240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4550248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4352155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4683113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5184509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5248517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5051246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5381382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5882778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5946786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5750337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6079651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581047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6645055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44942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77920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7279316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343324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14851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476189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7977585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041593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847609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817445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867585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739862" y="5310000"/>
            <a:ext cx="111529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8546700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5989320" y="4560000"/>
            <a:ext cx="150000" cy="10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153912" y="4535000"/>
            <a:ext cx="7772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931152" y="4560000"/>
            <a:ext cx="150000" cy="100000"/>
          </a:xfrm>
          <a:prstGeom prst="rect">
            <a:avLst/>
          </a:prstGeom>
          <a:solidFill>
            <a:srgbClr val="9DC3E6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095744" y="4535000"/>
            <a:ext cx="6858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PQC·이송 6 h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790688" y="4560000"/>
            <a:ext cx="150000" cy="10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55279" y="4535000"/>
            <a:ext cx="9144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FQC·충진·OQC 22 h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8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33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과거 최대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 Batch · 2,090 kg/월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매월 11회 반복 참고 25.08톤/년 (11×190×12)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447000" y="566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49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시간 비교  </a:t>
            </a:r>
            <a:r>
              <a:rPr sz="9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495 h + 225 h = 720 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정제 11×45 + 225 h (점유·전환·대기·보수·월 경계 확인)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4607000" y="5665000"/>
            <a:ext cx="2090000" cy="42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465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이론 (정제만)  </a:t>
            </a:r>
            <a:r>
              <a:rPr sz="9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720÷45 = 16 Batch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3,040 kg/월 · 실제 Capa. 아님 · 관측 67.5 h → 10.7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6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81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연간 Capa.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26.2톤 (기준값)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26,200÷190 = 137.9 · 138×190 = 26,220 kg · 월 11.49</a:t>
            </a:r>
          </a:p>
        </p:txBody>
      </p:sp>
      <p:sp>
        <p:nvSpPr>
          <p:cNvPr id="454" name="Rectangle 271"/>
          <p:cNvSpPr/>
          <p:nvPr/>
        </p:nvSpPr>
        <p:spPr>
          <a:xfrm>
            <a:off x="1768000" y="370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5" name="Rectangle 272"/>
          <p:cNvSpPr/>
          <p:nvPr/>
        </p:nvSpPr>
        <p:spPr>
          <a:xfrm>
            <a:off x="4851774" y="370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4851774" y="373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57" name="Rectangle 279"/>
          <p:cNvSpPr/>
          <p:nvPr/>
        </p:nvSpPr>
        <p:spPr>
          <a:xfrm>
            <a:off x="1768000" y="403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8" name="Rectangle 280"/>
          <p:cNvSpPr/>
          <p:nvPr/>
        </p:nvSpPr>
        <p:spPr>
          <a:xfrm>
            <a:off x="4851774" y="403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851774" y="406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965192" y="359359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▼ 충진 전 57 h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1·2 시간차 운전 · 공용 후공정 · '27.7 생산 시작 · 47.2톤/년 (연간 환산)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45700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7000" y="1570000"/>
            <a:ext cx="700000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30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23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23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25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2342000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27000" y="1570000"/>
            <a:ext cx="70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127000" y="1570000"/>
            <a:ext cx="70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2000" y="1615000"/>
            <a:ext cx="67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037000" y="1030000"/>
            <a:ext cx="1330000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322816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3182816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182816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077000" y="1570000"/>
            <a:ext cx="125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077000" y="1570000"/>
            <a:ext cx="1250000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92000" y="1615000"/>
            <a:ext cx="122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시간차 병행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 (전용 없음)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647000" y="1180000"/>
            <a:ext cx="50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7000" y="1570000"/>
            <a:ext cx="64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77000" y="1570000"/>
            <a:ext cx="640000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592000" y="1615000"/>
            <a:ext cx="61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5647000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467000" y="1570000"/>
            <a:ext cx="760000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67000" y="1570000"/>
            <a:ext cx="760000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482000" y="1615000"/>
            <a:ext cx="730000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17000" y="1310000"/>
            <a:ext cx="49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1807000" y="1310000"/>
            <a:ext cx="535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2612000" y="1310000"/>
            <a:ext cx="5669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4206240" y="1310000"/>
            <a:ext cx="44076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5147000" y="1310000"/>
            <a:ext cx="5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38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307000" y="1915000"/>
            <a:ext cx="50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197000" y="1915000"/>
            <a:ext cx="5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136392" y="1915000"/>
            <a:ext cx="113385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26864" y="1915000"/>
            <a:ext cx="155448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57000" y="2640000"/>
            <a:ext cx="52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7000" y="2920000"/>
            <a:ext cx="66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7000" y="3100000"/>
            <a:ext cx="46000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877000" y="2770000"/>
            <a:ext cx="24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117000" y="2510000"/>
            <a:ext cx="0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117000" y="251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117000" y="3030000"/>
            <a:ext cx="17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287000" y="2300000"/>
            <a:ext cx="2250000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287000" y="2300000"/>
            <a:ext cx="45000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387000" y="240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867000" y="231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ARS 미적용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87000" y="2820000"/>
            <a:ext cx="2250000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87000" y="2820000"/>
            <a:ext cx="45000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387000" y="2920000"/>
            <a:ext cx="420000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867000" y="2830000"/>
            <a:ext cx="163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자동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kg (전환 월 확인) · 한솔 150 kg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한솔 '27.1~6 수동 · '27.7~ ARS ·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3637000" y="238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53700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4097000" y="251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4377000" y="230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437000" y="230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3637000" y="2900000"/>
            <a:ext cx="460000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353700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4097000" y="3030000"/>
            <a:ext cx="28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4377000" y="2820000"/>
            <a:ext cx="2003000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437000" y="2820000"/>
            <a:ext cx="1923000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3250000"/>
            <a:ext cx="28346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5847000" y="2065000"/>
            <a:ext cx="0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617000" y="2230000"/>
            <a:ext cx="5230000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617000" y="2230000"/>
            <a:ext cx="0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4897000" y="975000"/>
            <a:ext cx="0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3702000" y="975000"/>
            <a:ext cx="119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3702000" y="975000"/>
            <a:ext cx="0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4927000" y="955000"/>
            <a:ext cx="11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797000" y="2300000"/>
            <a:ext cx="0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797000" y="2300000"/>
            <a:ext cx="3155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3952000" y="1910000"/>
            <a:ext cx="0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4002000" y="2150000"/>
            <a:ext cx="14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6480000" y="1010000"/>
            <a:ext cx="2377000" cy="225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570000" y="1070000"/>
            <a:ext cx="2197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개선 영향 구간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70000" y="136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 2대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170000" y="134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1·2 시간차 병행 · '27.7 생산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+21톤/년 (12개월 환산) · 단순 2배 아님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6570000" y="178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170000" y="176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· '26 설치 → 한솔 '27.7~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전환 월 확인 · Capa. 가산 없음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6570000" y="2200000"/>
            <a:ext cx="540000" cy="190000"/>
          </a:xfrm>
          <a:prstGeom prst="roundRect">
            <a:avLst>
              <a:gd name="adj" fmla="val 30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유지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170000" y="2180000"/>
            <a:ext cx="1617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· 2 h/병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 · ARS 미적용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570000" y="2600000"/>
            <a:ext cx="2197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· 정제 45 h → 22.5 h 단축 아님 (설비 2대)</a:t>
            </a:r>
          </a:p>
          <a:p>
            <a:pPr algn="l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· 공용 후공정(검사·Tank·충진) 병목 검토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6570000" y="2950000"/>
            <a:ext cx="380000" cy="130000"/>
          </a:xfrm>
          <a:prstGeom prst="round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7000000" y="2930000"/>
            <a:ext cx="8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제공 시간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7730000" y="2950000"/>
            <a:ext cx="380000" cy="130000"/>
          </a:xfrm>
          <a:prstGeom prst="roundRect">
            <a:avLst/>
          </a:prstGeom>
          <a:solidFill>
            <a:srgbClr val="FFF2CC"/>
          </a:solidFill>
          <a:ln w="9525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8160000" y="2930000"/>
            <a:ext cx="700000" cy="1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cxnSp>
        <p:nvCxnSpPr>
          <p:cNvPr id="253" name="Connector 252"/>
          <p:cNvCxnSpPr/>
          <p:nvPr/>
        </p:nvCxnSpPr>
        <p:spPr>
          <a:xfrm>
            <a:off x="6570000" y="3180000"/>
            <a:ext cx="260000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sp>
        <p:nvSpPr>
          <p:cNvPr id="254" name="TextBox 253"/>
          <p:cNvSpPr txBox="1"/>
          <p:nvPr/>
        </p:nvSpPr>
        <p:spPr>
          <a:xfrm>
            <a:off x="6880000" y="3105000"/>
            <a:ext cx="15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부적합 복귀 (조건 확인)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000" y="34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'27.6까지 정제기 1대 · 26.2톤/년 → '27.7부터 정제기 2대 · 47.2톤/년 (연간 환산)</a:t>
            </a:r>
          </a:p>
        </p:txBody>
      </p:sp>
      <p:graphicFrame>
        <p:nvGraphicFramePr>
          <p:cNvPr id="257" name="Table 256"/>
          <p:cNvGraphicFramePr>
            <a:graphicFrameLocks noGrp="1"/>
          </p:cNvGraphicFramePr>
          <p:nvPr/>
        </p:nvGraphicFramePr>
        <p:xfrm>
          <a:off x="287000" y="3620000"/>
          <a:ext cx="8569988" cy="89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</a:tblGrid>
              <a:tr h="150000">
                <a:tc rowSpan="2"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45000">
                <a:tc v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공사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(2~5월) · 공사 중 가동 여부 확인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9C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정제기 2대 적용 생산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 시작 '27.7 · 최초 12개월 '27.7~'28.6 (47.2톤 환산)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ARS 200 L 충진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8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'26 설치 → '27 운영 계획 · 한솔 1~6월 수동 → 7월~ ARS · 이지켐 전환 월 확인 · 5 Gal 미적용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FE6F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258" name="Rectangle 257"/>
          <p:cNvSpPr/>
          <p:nvPr/>
        </p:nvSpPr>
        <p:spPr>
          <a:xfrm>
            <a:off x="287000" y="46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46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정제기 2대 시간차 운전 개념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운영 개념 설명용 가정: 기동 시차 30 h · 설비별 간격 70.5 h (47.2톤 역산 참고) — 미확정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28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2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Capa. (연간 환산)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 → 47.2톤/년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'27.7~'28.6 12개월 · 2027 실제 생산량 아님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2447000" y="573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248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단순 2배 vs 개선 환산</a:t>
            </a:r>
          </a:p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52.4 vs 47.2톤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차이 5.2톤 = Mix·리사이클 준비 등 (확정 손실 아님)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60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64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설비별 등가 투입 간격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약 70.5 h (2대)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47.2톤÷190 역산 · 현재 1대 63.5 h · 45 h 단축 아님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6767000" y="5735000"/>
            <a:ext cx="2090000" cy="42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680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D7D31"/>
                </a:solidFill>
                <a:latin typeface="Noto Sans KR"/>
                <a:ea typeface="Noto Sans KR"/>
                <a:cs typeface="Noto Sans KR"/>
              </a:rPr>
              <a:t>50.2톤 (미확정)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+3톤 · 열 안정성·Dimer·Unknown·Yield · 승인·시점 미정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3822896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3962896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3822896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3593592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1005840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67" name="Rectangle 466"/>
          <p:cNvSpPr/>
          <p:nvPr/>
        </p:nvSpPr>
        <p:spPr>
          <a:xfrm>
            <a:off x="1170432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1860295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2024887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2714752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471" name="Rectangle 470"/>
          <p:cNvSpPr/>
          <p:nvPr/>
        </p:nvSpPr>
        <p:spPr>
          <a:xfrm>
            <a:off x="2879344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3569207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473" name="Rectangle 472"/>
          <p:cNvSpPr/>
          <p:nvPr/>
        </p:nvSpPr>
        <p:spPr>
          <a:xfrm>
            <a:off x="3733799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4" name="TextBox 473"/>
          <p:cNvSpPr txBox="1"/>
          <p:nvPr/>
        </p:nvSpPr>
        <p:spPr>
          <a:xfrm>
            <a:off x="4423664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96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4588256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6" name="TextBox 475"/>
          <p:cNvSpPr txBox="1"/>
          <p:nvPr/>
        </p:nvSpPr>
        <p:spPr>
          <a:xfrm>
            <a:off x="5278120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5442712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6132576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144</a:t>
            </a:r>
          </a:p>
        </p:txBody>
      </p:sp>
      <p:sp>
        <p:nvSpPr>
          <p:cNvPr id="479" name="Rectangle 478"/>
          <p:cNvSpPr/>
          <p:nvPr/>
        </p:nvSpPr>
        <p:spPr>
          <a:xfrm>
            <a:off x="6297168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6987032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168</a:t>
            </a:r>
          </a:p>
        </p:txBody>
      </p:sp>
      <p:sp>
        <p:nvSpPr>
          <p:cNvPr id="481" name="Rectangle 480"/>
          <p:cNvSpPr/>
          <p:nvPr/>
        </p:nvSpPr>
        <p:spPr>
          <a:xfrm>
            <a:off x="7151624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7841487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192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8006079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8695944" y="4809744"/>
            <a:ext cx="329184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216 h</a:t>
            </a:r>
          </a:p>
        </p:txBody>
      </p:sp>
      <p:sp>
        <p:nvSpPr>
          <p:cNvPr id="485" name="Rectangle 484"/>
          <p:cNvSpPr/>
          <p:nvPr/>
        </p:nvSpPr>
        <p:spPr>
          <a:xfrm>
            <a:off x="8860536" y="4919472"/>
            <a:ext cx="9144" cy="76809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6" name="TextBox 485"/>
          <p:cNvSpPr txBox="1"/>
          <p:nvPr/>
        </p:nvSpPr>
        <p:spPr>
          <a:xfrm>
            <a:off x="283464" y="49560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283464" y="5148072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283464" y="53400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283464" y="55321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3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 (공용)</a:t>
            </a:r>
          </a:p>
        </p:txBody>
      </p:sp>
      <p:sp>
        <p:nvSpPr>
          <p:cNvPr id="490" name="Rectangle 489"/>
          <p:cNvSpPr/>
          <p:nvPr/>
        </p:nvSpPr>
        <p:spPr>
          <a:xfrm>
            <a:off x="1241636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312841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B1 정제 45 h</a:t>
            </a:r>
          </a:p>
        </p:txBody>
      </p:sp>
      <p:sp>
        <p:nvSpPr>
          <p:cNvPr id="492" name="Rectangle 491"/>
          <p:cNvSpPr/>
          <p:nvPr/>
        </p:nvSpPr>
        <p:spPr>
          <a:xfrm>
            <a:off x="2914946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2914946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3199765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1-B1 18 h</a:t>
            </a:r>
          </a:p>
        </p:txBody>
      </p:sp>
      <p:sp>
        <p:nvSpPr>
          <p:cNvPr id="495" name="Rectangle 494"/>
          <p:cNvSpPr/>
          <p:nvPr/>
        </p:nvSpPr>
        <p:spPr>
          <a:xfrm>
            <a:off x="3751601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3822805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B2 정제 45 h</a:t>
            </a:r>
          </a:p>
        </p:txBody>
      </p:sp>
      <p:sp>
        <p:nvSpPr>
          <p:cNvPr id="497" name="Rectangle 496"/>
          <p:cNvSpPr/>
          <p:nvPr/>
        </p:nvSpPr>
        <p:spPr>
          <a:xfrm>
            <a:off x="5424910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498" name="Rectangle 497"/>
          <p:cNvSpPr/>
          <p:nvPr/>
        </p:nvSpPr>
        <p:spPr>
          <a:xfrm>
            <a:off x="5424910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5709729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1-B2 18 h</a:t>
            </a:r>
          </a:p>
        </p:txBody>
      </p:sp>
      <p:sp>
        <p:nvSpPr>
          <p:cNvPr id="500" name="Rectangle 499"/>
          <p:cNvSpPr/>
          <p:nvPr/>
        </p:nvSpPr>
        <p:spPr>
          <a:xfrm>
            <a:off x="6261565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6332770" y="4937760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 B3 정제 45 h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7934875" y="4937760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03" name="Rectangle 502"/>
          <p:cNvSpPr/>
          <p:nvPr/>
        </p:nvSpPr>
        <p:spPr>
          <a:xfrm>
            <a:off x="7934875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8219693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1-B3 18 h</a:t>
            </a:r>
          </a:p>
        </p:txBody>
      </p:sp>
      <p:sp>
        <p:nvSpPr>
          <p:cNvPr id="505" name="Rectangle 504"/>
          <p:cNvSpPr/>
          <p:nvPr/>
        </p:nvSpPr>
        <p:spPr>
          <a:xfrm>
            <a:off x="8771530" y="4937760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8842734" y="4937760"/>
            <a:ext cx="17801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2309706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2380911" y="5129784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B1 정제 45 h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3983016" y="5129784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10" name="Rectangle 509"/>
          <p:cNvSpPr/>
          <p:nvPr/>
        </p:nvSpPr>
        <p:spPr>
          <a:xfrm>
            <a:off x="3983016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4267835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2-B1 18 h</a:t>
            </a:r>
          </a:p>
        </p:txBody>
      </p:sp>
      <p:sp>
        <p:nvSpPr>
          <p:cNvPr id="512" name="Rectangle 511"/>
          <p:cNvSpPr/>
          <p:nvPr/>
        </p:nvSpPr>
        <p:spPr>
          <a:xfrm>
            <a:off x="4819671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4890875" y="5129784"/>
            <a:ext cx="160210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B2 정제 45 h</a:t>
            </a:r>
          </a:p>
        </p:txBody>
      </p:sp>
      <p:sp>
        <p:nvSpPr>
          <p:cNvPr id="514" name="Rectangle 513"/>
          <p:cNvSpPr/>
          <p:nvPr/>
        </p:nvSpPr>
        <p:spPr>
          <a:xfrm>
            <a:off x="6492980" y="5129784"/>
            <a:ext cx="836654" cy="15544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기타 (Mix·이송·대기 확인)</a:t>
            </a:r>
          </a:p>
        </p:txBody>
      </p:sp>
      <p:sp>
        <p:nvSpPr>
          <p:cNvPr id="515" name="Rectangle 514"/>
          <p:cNvSpPr/>
          <p:nvPr/>
        </p:nvSpPr>
        <p:spPr>
          <a:xfrm>
            <a:off x="6492980" y="5321808"/>
            <a:ext cx="284818" cy="1554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6777799" y="5513832"/>
            <a:ext cx="640842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2-B2 18 h</a:t>
            </a:r>
          </a:p>
        </p:txBody>
      </p:sp>
      <p:sp>
        <p:nvSpPr>
          <p:cNvPr id="517" name="Rectangle 516"/>
          <p:cNvSpPr/>
          <p:nvPr/>
        </p:nvSpPr>
        <p:spPr>
          <a:xfrm>
            <a:off x="7329635" y="5129784"/>
            <a:ext cx="71204" cy="155448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400840" y="5129784"/>
            <a:ext cx="1459695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 B3 정제 45 h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283464" y="5678424"/>
            <a:ext cx="859536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과거 Batch 분석 및 2026년 기준 검토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관측 간격 약 67.5 h (6/2 #39~10/29 #92) · 2026 출하 19.22톤 vs 현재 26.2톤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표시일자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원자료 생산계획 · 표시일자 의미(투입/완료) 미확정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55548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989419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60387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68451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7000" y="133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7000" y="13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5월*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82912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4041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07000" y="149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7000" y="148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5009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36138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77267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218396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42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259525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00654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44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41783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829129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46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0332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37751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451461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97000" y="148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07000" y="165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87000" y="164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7월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13000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8719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51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49848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52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77267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53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18396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54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259525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55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300654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341783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57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82912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58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4041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59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5170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97000" y="164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07000" y="181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87000" y="180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8월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1300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22429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62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63558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63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204687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64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245816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286945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66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8074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67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69203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68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10332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69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51461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70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925903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7000" y="180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7000" y="197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87000" y="196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9월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87193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138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635580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74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909774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75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218396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76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95258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77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3280741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78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382912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79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24041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80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4514612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097000" y="196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07000" y="213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87000" y="21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10월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81300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22429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83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63558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204687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85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32106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86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73235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87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143645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417838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89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2912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90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4041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91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465170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92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97000" y="212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87000" y="2290000"/>
            <a:ext cx="54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5월 일부(#37 · #38) · 번호 개수 / T = 원자료 Total (붉은 T = 불일치 → 집계 기준 확인) · 6~10월 번호 54 vs Total 46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857000" y="9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표시일자 간격 분포 (#39~#92 · 54개 일자 · 53간격)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09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5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05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617000" y="1918717"/>
            <a:ext cx="440000" cy="231282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577000" y="1748717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57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2일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7000" y="1330000"/>
            <a:ext cx="440000" cy="8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97000" y="1160000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9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3일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65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61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61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4일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817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813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13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5일</a:t>
            </a:r>
          </a:p>
        </p:txBody>
      </p:sp>
      <p:cxnSp>
        <p:nvCxnSpPr>
          <p:cNvPr id="261" name="Connector 260"/>
          <p:cNvCxnSpPr/>
          <p:nvPr/>
        </p:nvCxnSpPr>
        <p:spPr>
          <a:xfrm>
            <a:off x="6057000" y="2150000"/>
            <a:ext cx="260000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62" name="TextBox 261"/>
          <p:cNvSpPr txBox="1"/>
          <p:nvPr/>
        </p:nvSpPr>
        <p:spPr>
          <a:xfrm>
            <a:off x="5857000" y="2340000"/>
            <a:ext cx="30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평균 </a:t>
            </a:r>
            <a:r>
              <a:rPr sz="8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2.81일 = 약 67.5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(67.0~67.9 h)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중앙값 72 h (3일) · 월 경계 포함 · 5월 일부 제외 · 날짜만 있는 계획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287000" y="26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397000" y="26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생산능력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정제기 1대 · 월 720 h · 연 환산은 참고값</a:t>
            </a:r>
          </a:p>
        </p:txBody>
      </p:sp>
      <p:graphicFrame>
        <p:nvGraphicFramePr>
          <p:cNvPr id="265" name="Table 264"/>
          <p:cNvGraphicFramePr>
            <a:graphicFrameLocks noGrp="1"/>
          </p:cNvGraphicFramePr>
          <p:nvPr/>
        </p:nvGraphicFramePr>
        <p:xfrm>
          <a:off x="287000" y="2834640"/>
          <a:ext cx="8570000" cy="800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0000"/>
                <a:gridCol w="1000000"/>
                <a:gridCol w="1000000"/>
                <a:gridCol w="1050000"/>
                <a:gridCol w="1150000"/>
                <a:gridCol w="21200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간격 h/Batch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생산 kg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환산 톤 (참고)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조건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(정제 45 h만)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 (참고)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720÷45 · 준비·전환·이송·세척·대기·보수 제외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월 최대 11 Batch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11×45 = 495 h + 225 h (구성 확인)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일정 추정 (6~10월)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67.5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10.7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2,028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24.5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149일×24÷53 · 중앙값 72 h · 표시일 기준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환산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11.49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26,200÷190 = 137.9 Batch 상당 · 기준값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</a:tr>
            </a:tbl>
          </a:graphicData>
        </a:graphic>
      </p:graphicFrame>
      <p:sp>
        <p:nvSpPr>
          <p:cNvPr id="266" name="Rectangle 265"/>
          <p:cNvSpPr/>
          <p:nvPr/>
        </p:nvSpPr>
        <p:spPr>
          <a:xfrm>
            <a:off x="287000" y="3675887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97000" y="364845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정제 · 검사 · 충진 병렬 운영 (관측 간격 67.5 h 기준 · 정제 45 h)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8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0h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133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0" name="TextBox 269"/>
          <p:cNvSpPr txBox="1"/>
          <p:nvPr/>
        </p:nvSpPr>
        <p:spPr>
          <a:xfrm>
            <a:off x="1822714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30h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1972714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2" name="TextBox 271"/>
          <p:cNvSpPr txBox="1"/>
          <p:nvPr/>
        </p:nvSpPr>
        <p:spPr>
          <a:xfrm>
            <a:off x="2458428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60h</a:t>
            </a:r>
          </a:p>
        </p:txBody>
      </p:sp>
      <p:cxnSp>
        <p:nvCxnSpPr>
          <p:cNvPr id="273" name="Connector 272"/>
          <p:cNvCxnSpPr/>
          <p:nvPr/>
        </p:nvCxnSpPr>
        <p:spPr>
          <a:xfrm>
            <a:off x="2608428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4" name="TextBox 273"/>
          <p:cNvSpPr txBox="1"/>
          <p:nvPr/>
        </p:nvSpPr>
        <p:spPr>
          <a:xfrm>
            <a:off x="3094142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90h</a:t>
            </a:r>
          </a:p>
        </p:txBody>
      </p:sp>
      <p:cxnSp>
        <p:nvCxnSpPr>
          <p:cNvPr id="275" name="Connector 274"/>
          <p:cNvCxnSpPr/>
          <p:nvPr/>
        </p:nvCxnSpPr>
        <p:spPr>
          <a:xfrm>
            <a:off x="3244142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6" name="TextBox 275"/>
          <p:cNvSpPr txBox="1"/>
          <p:nvPr/>
        </p:nvSpPr>
        <p:spPr>
          <a:xfrm>
            <a:off x="3729857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120h</a:t>
            </a:r>
          </a:p>
        </p:txBody>
      </p:sp>
      <p:cxnSp>
        <p:nvCxnSpPr>
          <p:cNvPr id="277" name="Connector 276"/>
          <p:cNvCxnSpPr/>
          <p:nvPr/>
        </p:nvCxnSpPr>
        <p:spPr>
          <a:xfrm>
            <a:off x="3879857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8" name="TextBox 277"/>
          <p:cNvSpPr txBox="1"/>
          <p:nvPr/>
        </p:nvSpPr>
        <p:spPr>
          <a:xfrm>
            <a:off x="4365571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150h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4515571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0" name="TextBox 279"/>
          <p:cNvSpPr txBox="1"/>
          <p:nvPr/>
        </p:nvSpPr>
        <p:spPr>
          <a:xfrm>
            <a:off x="5001285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180h</a:t>
            </a:r>
          </a:p>
        </p:txBody>
      </p:sp>
      <p:cxnSp>
        <p:nvCxnSpPr>
          <p:cNvPr id="281" name="Connector 280"/>
          <p:cNvCxnSpPr/>
          <p:nvPr/>
        </p:nvCxnSpPr>
        <p:spPr>
          <a:xfrm>
            <a:off x="5151285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2" name="TextBox 281"/>
          <p:cNvSpPr txBox="1"/>
          <p:nvPr/>
        </p:nvSpPr>
        <p:spPr>
          <a:xfrm>
            <a:off x="563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210h</a:t>
            </a:r>
          </a:p>
        </p:txBody>
      </p:sp>
      <p:cxnSp>
        <p:nvCxnSpPr>
          <p:cNvPr id="283" name="Connector 282"/>
          <p:cNvCxnSpPr/>
          <p:nvPr/>
        </p:nvCxnSpPr>
        <p:spPr>
          <a:xfrm>
            <a:off x="578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4" name="TextBox 283"/>
          <p:cNvSpPr txBox="1"/>
          <p:nvPr/>
        </p:nvSpPr>
        <p:spPr>
          <a:xfrm>
            <a:off x="287000" y="4069080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(1대)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87000" y="4242816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416552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87000" y="4590288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335024" y="4087368"/>
            <a:ext cx="1002792" cy="146304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n 준비·정제 47 h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2337816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337816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08504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892552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74600" y="4087368"/>
            <a:ext cx="1002792" cy="14630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n+1 준비·정제 47 h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777392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777392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948080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332128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214176" y="4087368"/>
            <a:ext cx="1002792" cy="146304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n+2 준비·정제 47 h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5216968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5387656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535936" y="4270248"/>
            <a:ext cx="10515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← 기타 약 20.5 h (구성 확인)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980944" y="4617720"/>
            <a:ext cx="12801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↑ 충진은 다음 Batch 정제와 병렬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87000" y="4773168"/>
            <a:ext cx="55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IQC(원료 Lot 공통 여부)·이송 중 정제기 점유·충진 인력·글로브 박스 근무시간이 다음 Batch를 제한하는지 확인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937000" y="3675887"/>
            <a:ext cx="2920000" cy="1243584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027000" y="3703320"/>
            <a:ext cx="2740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추정 근거 · 가정 · 한계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데이터 : 6/2 #39~10/29 #92 (54개 일자 · 53간격) · 5월 일부 제외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방법 : 149일 × 24 ÷ 53 = 67.5 h (범위 67.0~67.9) · 중앙값 72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가정 : 표시일 = 매 Batch 같은 이벤트 · 번호 Batch 모두 수행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한계 : 날짜만 있는 계획 (실적 아님) · D일 = (D±1)×24 h, 2일≠48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차이 : 정제 45 h 대비 +22.5 h · 점유 47 h 대비 +20.5 h (구성 확인)</a:t>
            </a:r>
          </a:p>
          <a:p>
            <a:pPr algn="l">
              <a:spcAft>
                <a:spcPts val="600"/>
              </a:spcAft>
            </a:pPr>
            <a:r>
              <a:rPr sz="62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확인 : 표시일 의미 · 실제 시각 · Total 46 vs 번호 54 · 색상</a:t>
            </a:r>
          </a:p>
        </p:txBody>
      </p:sp>
      <p:graphicFrame>
        <p:nvGraphicFramePr>
          <p:cNvPr id="306" name="Table 166"/>
          <p:cNvGraphicFramePr>
            <a:graphicFrameLocks noGrp="1"/>
          </p:cNvGraphicFramePr>
          <p:nvPr/>
        </p:nvGraphicFramePr>
        <p:xfrm>
          <a:off x="283464" y="5193792"/>
          <a:ext cx="8567928" cy="1011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0000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780000"/>
              </a:tblGrid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 (제시분)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19,220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Total×190 (번호 ①)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8,740*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생산 가능 (관측)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24,510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− 출하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+730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+670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7" name="Rectangle 262"/>
          <p:cNvSpPr/>
          <p:nvPr/>
        </p:nvSpPr>
        <p:spPr>
          <a:xfrm>
            <a:off x="287000" y="5001768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8" name="TextBox 263"/>
          <p:cNvSpPr txBox="1"/>
          <p:nvPr/>
        </p:nvSpPr>
        <p:spPr>
          <a:xfrm>
            <a:off x="397000" y="497433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⑤ 2026 출하 제시분 vs 현재 Capa.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19.22톤 (CXMT·한솔 미제시) = 26.2톤의 73.4% · 차이 6.98톤 (가동률·판매 가능량 아님)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83464" y="6300216"/>
            <a:ext cx="5303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6~10월 합계 (번호×190 기준 10,260) · 계획은 원자료 생산계획(실적 아님) · 추정 생산 가능 = 관측 67.5 h·190 kg·달력 연속(129 Batch) · 상세 Excel 02·04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월별 출하와 공급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출하계획 43.4톤 · 현재 26.2톤 대비 17.2톤 초과 · 하반기 24.56 vs 참고 23.6톤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출하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참고 Capa. = 연간 환산 ÷ 12 (공사·시운전·안정화 미반영) · 실제 생산 가능량은 조건 확인 후 계산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1대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(가동 여부 확인)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초기 안정화 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월 환산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(공사 중 가용시간)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(설비별 간격·Batch량)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부분 2,090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수동 · 이지켐 ARS 전환 월 확인 ('27~ 계획)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ARS · 이지켐 ARS (충진시간 확인 입력)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상·하반기 비교 (t)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상반기 출하 18.84 vs 26.2×6/12 = 13.1 (참고)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하반기 출하 24.56 vs 47.2×6/12 = 23.6 → 0.96 부족 방향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기초재고 미입력 → 계산 보류 · 2027.12 기말재고 → 2028.1 기초재고로 연결 (Excel 04)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= 1,893.33 kg/월(표시 반올림) · CXMT 7,000 · 이지켐 10,080 (72용기) · 한솔 3,600 (24용기) · 5 Gal 병 상당 = (하이닉스+CXMT)÷20, 실제 20 kg 정수 배분 · 실제 생산 1월 = 관측 67.5 h 기준 11 Batch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연간 환산 기준 비교 (확정 부족량 아님)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Capa. 대비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43.4 vs 26.2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17.2톤 초과 → 개선·선행 생산 필요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개선 환산 47.2톤 대비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+3.8</a:t>
            </a:r>
            <a:r>
              <a:rPr sz="70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연간 환산값 — 2027 실제 여유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하반기 출하 vs 참고 Capa.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24.56 vs 23.6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0.96톤 부족 방향 (47.2×6/12 균등 참고)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2027 생산 − 출하 (시나리오)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−9.6 ~ −19.2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S2 공사 중 유지 ~ S3 50%·안정화 3개월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 · 충진 자원 제약 (월 기준)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1~6월 (1대)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필요 14.5~17.5 vs 약 11</a:t>
            </a:r>
            <a:r>
              <a:rPr sz="7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관측 67.5 h 기준 · 공사 중 가동 미확인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7~12월 (2대)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필요 21.5 vs 20.7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47.2톤÷12÷190 · 설비별 간격 미확인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189.3 ~ 267.3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h/월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2,972 h · 1교대 176 h의 152% (최대)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(이지켐+한솔)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→ 10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96용기 · OQC 2 h/용기 · 한솔·ARS 시간 확인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월별 출하 가정과 Capa.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 가정 49.12톤 (2027 하반기 수준 유지) · 47.2톤 대비 1.92톤 · 105℃ 50.2톤 검토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출하 가정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2027년 하반기 수준 유지 가정 — 확정 고객 수요 아님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최초 12개월 ('27.7~'28.6)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47.2톤 기준 (105℃ 적용 시점 미정)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47.2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검토안 50.2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−1,920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13,440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258.5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96용기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· 한솔 ARS (충진시간 확인 입력) · 5 Gal 글로브 박스 유지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— 설비별 간격·Batch량·양품률 입력 시 계산 (Excel 04) · 연간 환산값과 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2027.12 기말재고 → 2028.1 기초재고 연결 · 미확인 시 0 초기화 안 함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· CXMT 780 · 이지켐 1,120 · 한솔 300 kg/월 (2027 하반기 수준 유지 가정 — 2027 연간 43.4톤 복제 아님) · 105℃는 미확정 검토안으로 별도 비교 · 실제 생산량은 연간 환산값과 구분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2028 연간 환산 비교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가정 (하반기 수준 유지)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49.12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4,093.3 kg/월 × 12 · 확정 수요 아님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기본: 47.2톤 기준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−1.92</a:t>
            </a:r>
            <a:r>
              <a:rPr sz="7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부족 방향 · 확정 부족량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12개월 적용 시 (50.2)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+1.08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검토안 · 승인·시점 미정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24개월 필요 선행재고 (참고)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11.5 ~ 21.2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'27.1.1 기준 · 시나리오 S2~S3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재고 이월 · 추가 개선 · 품질 · 충진 자원 검토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재고 이월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'27.12 → '28.1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기초·목표재고 입력 · 하이닉스 우선 확보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추가 개선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설비별 ≤ 70.5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Mix·준비·대기 단축 · 105℃ 검토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충진 자원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267.3 h · 10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5 Gal 연 3,208 h (1교대 152%) · 200 L 연 120용기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 확인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승인 · 적용 시점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열 안정성·Dimer·Unknown·Yield · 이지켐 색도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