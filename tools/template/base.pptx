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slides/slide60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56"/>
  </p:notesMasterIdLst>
  <p:sldIdLst>
    <p:sldId id="268" r:id="rId61"/>
    <p:sldId id="269" r:id="rId62"/>
    <p:sldId id="270" r:id="rId63"/>
    <p:sldId id="272" r:id="rId65"/>
    <p:sldId id="273" r:id="rId66"/>
  </p:sldIdLst>
  <p:sldSz cx="9144000" cy="6858000" type="screen4x3"/>
  <p:notesSz cx="6807200" cy="99393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1" userDrawn="1">
          <p15:clr>
            <a:srgbClr val="A4A3A4"/>
          </p15:clr>
        </p15:guide>
        <p15:guide id="2" pos="2145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3251E"/>
    <a:srgbClr val="FB6306"/>
    <a:srgbClr val="FAFAFA"/>
    <a:srgbClr val="FFFFFF"/>
    <a:srgbClr val="0061DA"/>
    <a:srgbClr val="F74912"/>
    <a:srgbClr val="E9BB9F"/>
    <a:srgbClr val="EB002C"/>
    <a:srgbClr val="FFDD71"/>
    <a:srgbClr val="F9510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E3FDE45-AF77-4B5C-9715-49D594BDF05E}" styleName="밝은 스타일 1 - 강조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8D230F3-CF80-4859-8CE7-A43EE81993B5}" styleName="밝은 스타일 1 - 강조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E25E649-3F16-4E02-A733-19D2CDBF48F0}" styleName="보통 스타일 3 - 강조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보통 스타일 1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315" autoAdjust="0"/>
    <p:restoredTop sz="84988" autoAdjust="0"/>
  </p:normalViewPr>
  <p:slideViewPr>
    <p:cSldViewPr>
      <p:cViewPr>
        <p:scale>
          <a:sx n="98" d="100"/>
          <a:sy n="98" d="100"/>
        </p:scale>
        <p:origin x="2454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91" d="100"/>
          <a:sy n="91" d="100"/>
        </p:scale>
        <p:origin x="-2034" y="-108"/>
      </p:cViewPr>
      <p:guideLst>
        <p:guide orient="horz" pos="3131"/>
        <p:guide pos="2145"/>
      </p:guideLst>
    </p:cSldViewPr>
  </p:notesViewPr>
  <p:gridSpacing cx="72008" cy="72008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56" Type="http://schemas.openxmlformats.org/officeDocument/2006/relationships/notesMaster" Target="notesMasters/notesMaster1.xml"/><Relationship Id="rId57" Type="http://schemas.openxmlformats.org/officeDocument/2006/relationships/presProps" Target="presProps.xml"/><Relationship Id="rId58" Type="http://schemas.openxmlformats.org/officeDocument/2006/relationships/viewProps" Target="viewProps.xml"/><Relationship Id="rId59" Type="http://schemas.openxmlformats.org/officeDocument/2006/relationships/theme" Target="theme/theme1.xml"/><Relationship Id="rId60" Type="http://schemas.openxmlformats.org/officeDocument/2006/relationships/tableStyles" Target="tableStyles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5" Type="http://schemas.openxmlformats.org/officeDocument/2006/relationships/slide" Target="slides/slide59.xml"/>  <Relationship Id="rId66" Type="http://schemas.openxmlformats.org/officeDocument/2006/relationships/slide" Target="slides/slide60.xml"/>
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49787" cy="496965"/>
          </a:xfrm>
          <a:prstGeom prst="rect">
            <a:avLst/>
          </a:prstGeom>
        </p:spPr>
        <p:txBody>
          <a:bodyPr vert="horz" lIns="94531" tIns="47265" rIns="94531" bIns="47265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5839" y="1"/>
            <a:ext cx="2949787" cy="496965"/>
          </a:xfrm>
          <a:prstGeom prst="rect">
            <a:avLst/>
          </a:prstGeom>
        </p:spPr>
        <p:txBody>
          <a:bodyPr vert="horz" lIns="94531" tIns="47265" rIns="94531" bIns="47265" rtlCol="0"/>
          <a:lstStyle>
            <a:lvl1pPr algn="r">
              <a:defRPr sz="1200"/>
            </a:lvl1pPr>
          </a:lstStyle>
          <a:p>
            <a:fld id="{AA418431-0B53-4AF1-8AD8-9A9A7D49F4A5}" type="datetimeFigureOut">
              <a:rPr lang="ko-KR" altLang="en-US" smtClean="0"/>
              <a:pPr/>
              <a:t>2026-09-10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72050" cy="3729037"/>
          </a:xfrm>
          <a:prstGeom prst="rect">
            <a:avLst/>
          </a:prstGeom>
          <a:gradFill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  <a:ln w="12700">
            <a:solidFill>
              <a:prstClr val="black"/>
            </a:solidFill>
          </a:ln>
        </p:spPr>
        <p:txBody>
          <a:bodyPr vert="horz" lIns="94531" tIns="47265" rIns="94531" bIns="47265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0722" y="4721186"/>
            <a:ext cx="5445759" cy="4472702"/>
          </a:xfrm>
          <a:prstGeom prst="rect">
            <a:avLst/>
          </a:prstGeom>
        </p:spPr>
        <p:txBody>
          <a:bodyPr vert="horz" lIns="94531" tIns="47265" rIns="94531" bIns="47265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" y="9440648"/>
            <a:ext cx="2949787" cy="496965"/>
          </a:xfrm>
          <a:prstGeom prst="rect">
            <a:avLst/>
          </a:prstGeom>
        </p:spPr>
        <p:txBody>
          <a:bodyPr vert="horz" lIns="94531" tIns="47265" rIns="94531" bIns="47265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5839" y="9440648"/>
            <a:ext cx="2949787" cy="496965"/>
          </a:xfrm>
          <a:prstGeom prst="rect">
            <a:avLst/>
          </a:prstGeom>
        </p:spPr>
        <p:txBody>
          <a:bodyPr vert="horz" lIns="94531" tIns="47265" rIns="94531" bIns="47265" rtlCol="0" anchor="b"/>
          <a:lstStyle>
            <a:lvl1pPr algn="r">
              <a:defRPr sz="1200"/>
            </a:lvl1pPr>
          </a:lstStyle>
          <a:p>
            <a:fld id="{72D75F77-8026-4911-8E6D-EBCB86E5E0B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56579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[1장 As-is — 계산 근거 (Excel 03_Capacity_Model)]</a:t>
            </a:r>
          </a:p>
          <a:p>
            <a:r>
              <a:t>■ 운영 전제 : 정제기 1대 공동 사용, 앞 Batch 검사·충진 중 다음 Batch 정제 가능 (병렬)</a:t>
            </a:r>
          </a:p>
          <a:p>
            <a:r>
              <a:t>■ 제공 공정시간 : IQC 2 h / 정제 57 h / FQC 2 h / 5 Gal 2 h/병 (약 8병 16 h) / 200 L 8 h / OQC·출하 2 h</a:t>
            </a:r>
          </a:p>
          <a:p>
            <a:r>
              <a:t>■ 한 Batch 확인 시간 합계 (Lead Time 일부)</a:t>
            </a:r>
          </a:p>
          <a:p>
            <a:r>
              <a:t>- 5 Gal 경로 : 2 + 57 + 2 + 16 + 2 = 79 h + 미확인</a:t>
            </a:r>
          </a:p>
          <a:p>
            <a:r>
              <a:t>- 200 L 경로 : 2 + 57 + 2 + 8 + 2 = 71 h + 미확인 (200 L 8 h는 용기당으로 적용 — 범위 확인)</a:t>
            </a:r>
          </a:p>
          <a:p>
            <a:r>
              <a:t>- 이 값은 다음 Batch 정제 시작 간격이 아님</a:t>
            </a:r>
          </a:p>
          <a:p>
            <a:r>
              <a:t>■ 정제 생산 간격</a:t>
            </a:r>
          </a:p>
          <a:p>
            <a:r>
              <a:t>- 이론 : 720 ÷ 57 = 12.63 → 월내 완료 12 Batch (2,280 kg), 월말 36 h 진행 중 → 다음 월 이월</a:t>
            </a:r>
          </a:p>
          <a:p>
            <a:r>
              <a:t>- 과거 최대 11 Batch : 정제 627 h, 720 h 대비 93 h 차이, 실효 65.5 h/Batch (차이는 전환·대기·보수·월 경계 등 가능성 — 손실로 단정하지 않음)</a:t>
            </a:r>
          </a:p>
          <a:p>
            <a:r>
              <a:t>- 과거 일정 추정 : 약 67.5 h/Batch (3장)</a:t>
            </a:r>
          </a:p>
          <a:p>
            <a:r>
              <a:t>■ 11월 타임테이블 (정제기 24 h 연속 · 사이클 65.45 h = 720 ÷ 11)</a:t>
            </a:r>
          </a:p>
          <a:p>
            <a:r>
              <a:t>- B1 11/01 00:00~11/03 09:00 · B2 11/03 17:27~11/06 02:27 · B3 11/06 10:54~11/08 19:54 · B4 11/09 04:21~11/11 13:21</a:t>
            </a:r>
          </a:p>
          <a:p>
            <a:r>
              <a:t>- B5 11/11 21:49~11/14 06:49 · B6 11/14 15:16~11/17 00:16 · B7 11/17 08:43~11/19 17:43 · B8 11/20 02:10~11/22 11:10</a:t>
            </a:r>
          </a:p>
          <a:p>
            <a:r>
              <a:t>- B9 11/22 19:38~11/25 04:38 · B10 11/25 13:05~11/27 22:05 · B11 11/28 06:32~11/30 15:32 (잔여 8.5 h)</a:t>
            </a:r>
          </a:p>
          <a:p>
            <a:r>
              <a:t>- 충진(FQC 2 + 5 Gal 16 + OQC 2 = 20 h)은 다음 Batch 정제와 병렬 — B11 충진은 12/1 완료</a:t>
            </a:r>
          </a:p>
          <a:p>
            <a:r>
              <a:t>- 전환·대기 8.5 h는 11 Batch 기준 배분값 (실제 세척·전환·대기 내역 확인 필요)</a:t>
            </a:r>
          </a:p>
          <a:p>
            <a:r>
              <a:t>- 관측 평균 67.5 h 적용 시 30일 10.7 Batch (31일 달 11 Batch) · 57 h 연속 시 12 Batch + 36 h 이월</a:t>
            </a:r>
          </a:p>
          <a:p>
            <a:r>
              <a:t>■ 26.2톤 환산 : 26,200 ÷ 190 = 137.89 Batch 상당 → 정수 138 × 190 = 26,220 kg (표시 26.2톤), 월평균 11.49 Batch, 암묵 간격 63.5 h (8,760 h 기준)</a:t>
            </a:r>
          </a:p>
          <a:p>
            <a:r>
              <a:t>■ 확인 : 정제 57 h 포함 범위, 190 kg 정의(회수량/양품), 약 8병(160 kg)과 190 kg 차이 30 kg 처리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[2장 To-be — 확인 항목]</a:t>
            </a:r>
          </a:p>
          <a:p>
            <a:r>
              <a:t>■ 확정 일정 : 2027년 2~5월 공사 / 6월 시운전 / 7월 리플럭스 적용 생산, 최초 12개월 '27.7~'28.6</a:t>
            </a:r>
          </a:p>
          <a:p>
            <a:r>
              <a:t>■ Capa. : 26.2 + 21 = 47.2 톤/년 (12개월 환산) — 리플럭스 후 실제 정제시간 · Batch 생산량은 미확인 입력값</a:t>
            </a:r>
          </a:p>
          <a:p>
            <a:r>
              <a:t>■ 2028 검토안 : 103℃ → 105℃, +3 톤/년 → 적용 시 50.2 톤/년 (미확정 · 검증 및 승인 필요 · 적용 시점 미정)</a:t>
            </a:r>
          </a:p>
          <a:p>
            <a:r>
              <a:t>- 검증 : 열 안정성, Dimer 형성, Unknown impurity 증가, 수율 영향</a:t>
            </a:r>
          </a:p>
          <a:p>
            <a:r>
              <a:t>■ 전제 조건 : 2027년 6월까지 정제 57 h · 연 26.2톤 생산 가능 / 2027년 7월부터 리플럭스 적용 연 47.2톤 생산 가능</a:t>
            </a:r>
          </a:p>
          <a:p>
            <a:r>
              <a:t>■ 리플럭스 후 필요 정제시간 (190 kg/Batch 유지 가정)</a:t>
            </a:r>
          </a:p>
          <a:p>
            <a:r>
              <a:t>- 현재 : 26.2톤 ÷ 12 ÷ 190 = 월 11.49 Batch → 사이클 720 ÷ 11.49 = 62.66 h → 정제 외 시간 62.66 − 57 = 5.66 h</a:t>
            </a:r>
          </a:p>
          <a:p>
            <a:r>
              <a:t>- 47.2톤 : 월 20.70 Batch → 필요 사이클 34.78 h</a:t>
            </a:r>
          </a:p>
          <a:p>
            <a:r>
              <a:t>- 정제 외 시간 5.66 h 유지 시 필요 정제시간 = 34.78 − 5.66 = 29.12 h (57 h 대비 −48.9%)</a:t>
            </a:r>
          </a:p>
          <a:p>
            <a:r>
              <a:t>- 정제 외 시간도 같은 비율로 줄 경우 (비례 환산) : 57 × 26.2 ÷ 47.2 = 31.64 h</a:t>
            </a:r>
          </a:p>
          <a:p>
            <a:r>
              <a:t>- 연 8,760 h 기준 계산 시 28.74 h → 필요 정제시간 범위 약 28.7 ~ 31.6 h (생산성 1.80배)</a:t>
            </a:r>
          </a:p>
          <a:p>
            <a:r>
              <a:t>- Batch 생산량이 바뀌면 필요 사이클 = 720 × (Batch kg) ÷ 3,933 kg</a:t>
            </a:r>
          </a:p>
          <a:p>
            <a:r>
              <a:t>■ 11월 예시 : 47.2톤 ÷ 12 = 3,933 kg/월 ÷ 190 kg = 20.70 Batch → 720 ÷ 20.70 = 34.78 h/사이클</a:t>
            </a:r>
          </a:p>
          <a:p>
            <a:r>
              <a:t>- 30일 기준 20 Batch 완료 (B20 11/29 23:35) = 3,800 kg, B21은 12/1 10:22 완료로 이월</a:t>
            </a:r>
          </a:p>
          <a:p>
            <a:r>
              <a:t>- 사이클 34.8 h의 정제·전환 내역은 미확인 — 리플럭스 후 실제 정제시간으로 검증 필요 (57 h 적용 불가)</a:t>
            </a:r>
          </a:p>
          <a:p>
            <a:r>
              <a:t>- 2027 7~11월 수요 3,793 kg/월 = 20.0 Batch → 필요 사이클 36.1 h (정제 외 5.7 h 유지 시 정제 30.4 h 이하)</a:t>
            </a:r>
          </a:p>
          <a:p>
            <a:r>
              <a:t>- 20 Batch 모두 5 Gal 충진 시 글로브 박스 월 320 h (16 h × 20) — 근무시간 확인 필요</a:t>
            </a:r>
          </a:p>
          <a:p>
            <a:r>
              <a:t>■ ARS : 2026년 내 설치, 2027년부터 200 L 자동 충진 운영 계획 — 5 Gal은 글로브 박스 유지, Capa. 중복 가산 없음</a:t>
            </a:r>
          </a:p>
          <a:p>
            <a:r>
              <a:t>■ 설비·공무 : 공사 중 생산중단 범위, 시운전 양품 생산 가능 여부, 초기 안정화 기간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[3장 — 과거 Batch 일정 원자료 (02_Batch_Raw) 및 추정]</a:t>
            </a:r>
          </a:p>
          <a:p>
            <a:r>
              <a:t>- 5월: 5/23 #37, 5/26 #38</a:t>
            </a:r>
          </a:p>
          <a:p>
            <a:r>
              <a:t>- 6월: 6/2 #39, 6/5 #40, 6/8 #41, 6/11 #42, 6/14 #43, 6/17 #44, 6/20 #45, 6/23 #46, 6/25 #47, 6/27 #48, 6/28 #49</a:t>
            </a:r>
          </a:p>
          <a:p>
            <a:r>
              <a:t>- 7월: 7/1 #50, 7/3 #51, 7/6 #52, 7/8 #53, 7/11 #54, 7/14 #55, 7/17 #56, 7/20 #57, 7/23 #58, 7/26 #59, 7/29 #60</a:t>
            </a:r>
          </a:p>
          <a:p>
            <a:r>
              <a:t>- 8월: 8/1 #61, 8/4 #62, 8/7 #63, 8/10 #64, 8/13 #65, 8/16 #66, 8/19 #67, 8/22 #68, 8/25 #69, 8/28 #70, 8/31 #71</a:t>
            </a:r>
          </a:p>
          <a:p>
            <a:r>
              <a:t>- 9월: 9/3 #72, 9/5 #73, 9/7 #74, 9/9 #75, 9/11 #76, 9/14 #77, 9/19 #78, 9/23 #79, 9/26 #80, 9/28 #81</a:t>
            </a:r>
          </a:p>
          <a:p>
            <a:r>
              <a:t>- 10월: 10/1 #82, 10/4 #83, 10/7 #84, 10/10 #85, 10/12 #86, 10/15 #87, 10/18 #88, 10/20 #89, 10/23 #90, 10/26 #91, 10/29 #92</a:t>
            </a:r>
          </a:p>
          <a:p/>
          <a:p>
            <a:r>
              <a:t>■ 간격 분석 (#40~#92, 53개) : 1일 1 / 2일 11 / 3일 39 / 4일 1 / 5일 1 — 중앙·최빈 3일</a:t>
            </a:r>
          </a:p>
          <a:p>
            <a:r>
              <a:t>- 월내 평균 : 6월 2.60일 · 7월 2.80일 · 8월 3.00일 · 9월 2.78일 · 10월 2.80일</a:t>
            </a:r>
          </a:p>
          <a:p>
            <a:r>
              <a:t>- 월 경계 : 6→7, 7→8, 8→9, 9→10 모두 3일 / 5/26 #38 → 6/2 #39 7일 (중단 여부 확인)</a:t>
            </a:r>
          </a:p>
          <a:p>
            <a:r>
              <a:t>■ 추정 실효 간격 : 149일 ÷ 53 = 2.811일 = 67.47 h (범위 67.02~67.92 h)</a:t>
            </a:r>
          </a:p>
          <a:p>
            <a:r>
              <a:t>- 월 환산 720 ÷ 67.47 = 10.67 Batch = 2,028 kg/월, 연 환산 8,760 ÷ 67.47 = 129.8 Batch = 24.67톤 (참고)</a:t>
            </a:r>
          </a:p>
          <a:p>
            <a:r>
              <a:t>- 정제 57 h 대비 +10.47 h/Batch → 원인 미확정 (전환·세척·대기·일정 여유·월 경계)</a:t>
            </a:r>
          </a:p>
          <a:p>
            <a:r>
              <a:t>■ 생산능력 비교</a:t>
            </a:r>
          </a:p>
          <a:p>
            <a:r>
              <a:t>- 이론 12 Batch (2,280 kg) + 월말 36 h 이월 / 과거 최대 11 Batch 65.5 h (2,090 kg) / 추정 10.7 Batch / 26.2톤 환산 11.49 Batch (63.5 h)</a:t>
            </a:r>
          </a:p>
          <a:p>
            <a:r>
              <a:t>- 26.2톤 기준값은 과거 일정 추정(24.7톤)보다 높고 이론(29.2톤)보다 낮음 — 산출 조건 차이 확인 (시간 · 가동률 임의 조정 안 함)</a:t>
            </a:r>
          </a:p>
          <a:p>
            <a:r>
              <a:t>■ 참고 : 31일 달(7·8월) 11 Batch는 744 h ÷ 11 = 67.6 h로 추정 간격과 일치</a:t>
            </a:r>
          </a:p>
          <a:p>
            <a:r>
              <a:t>■ 집계 : 원자료 Total 46 vs 번호 54 — 번호 개수를 양품 완료 Batch로 확정하지 않음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[5장 — 2027 월별 공급 대응 (Excel 04 · 05 시트)]</a:t>
            </a:r>
          </a:p>
          <a:p>
            <a:r>
              <a:t>■ 전제 조건 : 2027년 6월까지 26.2톤/년 (정제 57 h, 사이클 62.7 h), 7월부터 47.2톤/년 (리플럭스, 사이클 34.8 h · 정제 약 29 h)</a:t>
            </a:r>
          </a:p>
          <a:p>
            <a:r>
              <a:t>■ 출하계획 (연 39,660 kg)</a:t>
            </a:r>
          </a:p>
          <a:p>
            <a:r>
              <a:t>- 하이닉스 22,720 kg → 월 1,893.333 kg (표시 1,893.3, 연간 합계 유지)</a:t>
            </a:r>
          </a:p>
          <a:p>
            <a:r>
              <a:t>- CXMT (20 kg 단위) : 1~2월 0 / 3~6월 580 kg (29병) / 7~12월 780 kg (39병) → 7,000 kg = 350병</a:t>
            </a:r>
          </a:p>
          <a:p>
            <a:r>
              <a:t>- 이지켐 (140 kg 단위) : 1~6월 560 kg (4용기) / 7~11월 1,120 kg (8용기) / 12월 980 kg (7용기) → 9,940 kg = 71용기</a:t>
            </a:r>
          </a:p>
          <a:p>
            <a:r>
              <a:t>  · 7~12월 잔량 6,640 kg ÷ 140 = 47.4용기 → 47용기(9,940 kg, −60 kg) 적용 · 48용기 시 10,080 kg (+80 kg)</a:t>
            </a:r>
          </a:p>
          <a:p>
            <a:r>
              <a:t>■ 필요 Batch (출하 ÷ 190 kg, 올림)</a:t>
            </a:r>
          </a:p>
          <a:p>
            <a:r>
              <a:t>- 1~2월 13 / 3~6월 16 / 7~12월 20 Batch → 월별 합 210 (총량 기준 208.7)</a:t>
            </a:r>
          </a:p>
          <a:p>
            <a:r>
              <a:t>- 생산 가능 Batch (전제) : 1~6월 11.5 / 7~12월 20.7 → 연 193.2 → 약 15.6 Batch 부족</a:t>
            </a:r>
          </a:p>
          <a:p>
            <a:r>
              <a:t>- 필요 정제기 시간 : 1~2월 814 h · 3~6월 1,003 h (720 h 초과) / 7~12월 696 h (720 h 이내)</a:t>
            </a:r>
          </a:p>
          <a:p>
            <a:r>
              <a:t>- 7~11월 수요 3,793 kg = 20.0 Batch → 필요 사이클 36.1 h → 정제 외 5.7 h 유지 시 정제 30.4 h 이하 필요</a:t>
            </a:r>
          </a:p>
          <a:p>
            <a:r>
              <a:t>■ 재고 흐름 : 월 −270 (1~2월) / −850 (3~6월) / +140 (7~11월) / +280 (12월)</a:t>
            </a:r>
          </a:p>
          <a:p>
            <a:r>
              <a:t>- 누적 최저 −3,940 kg (6월말) → 2027.1 기초재고 최소 3,940 kg (+ 목표재고), 연말 −2,960 kg</a:t>
            </a:r>
          </a:p>
          <a:p>
            <a:r>
              <a:t>- 2026 확보 여지 : 26.2 − 19.22 = 6.98톤 (CXMT 2026 출하 · 실제 가동 반영 시 감소)</a:t>
            </a:r>
          </a:p>
          <a:p>
            <a:r>
              <a:t>■ 충진 부하 : 5 Gal 189.3 (1~2월) · 247.3 (3~6월) · 267.3 h/월 (7~12월) / 200 L 32 · 64 · 56 h/월</a:t>
            </a:r>
          </a:p>
          <a:p>
            <a:r>
              <a:t>■ 전제가 깨지는 경우 : 공사 중 생산 감소, 시운전 양품 지연, 리플럭스 후 정제시간 29 h 초과 → 부족량 증가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5">
            <a:extLst>
              <a:ext uri="{FF2B5EF4-FFF2-40B4-BE49-F238E27FC236}">
                <a16:creationId xmlns:a16="http://schemas.microsoft.com/office/drawing/2014/main" id="{C71A4B21-8DEE-4335-81E3-8269740468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005322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altLang="ko-KR" dirty="0"/>
              <a:t>-</a:t>
            </a:r>
            <a:fld id="{B45B5F3F-A87E-4E73-9154-1C8A9C2706CD}" type="slidenum">
              <a:rPr lang="ko-KR" altLang="en-US" smtClean="0"/>
              <a:pPr/>
              <a:t>‹#›</a:t>
            </a:fld>
            <a:r>
              <a:rPr lang="en-US" altLang="ko-KR" dirty="0"/>
              <a:t>-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605098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5">
            <a:extLst>
              <a:ext uri="{FF2B5EF4-FFF2-40B4-BE49-F238E27FC236}">
                <a16:creationId xmlns:a16="http://schemas.microsoft.com/office/drawing/2014/main" id="{D615167A-2341-4D77-BF97-C98DABC787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005322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altLang="ko-KR" dirty="0"/>
              <a:t>-</a:t>
            </a:r>
            <a:fld id="{B45B5F3F-A87E-4E73-9154-1C8A9C2706CD}" type="slidenum">
              <a:rPr lang="ko-KR" altLang="en-US" smtClean="0"/>
              <a:pPr/>
              <a:t>‹#›</a:t>
            </a:fld>
            <a:r>
              <a:rPr lang="en-US" altLang="ko-KR" dirty="0"/>
              <a:t>-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657100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63547" y="3829914"/>
            <a:ext cx="8229600" cy="633565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92040" y="573234"/>
            <a:ext cx="8229600" cy="2508741"/>
          </a:xfr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  <a:lvl2pPr algn="r">
              <a:defRPr>
                <a:solidFill>
                  <a:schemeClr val="bg1"/>
                </a:solidFill>
              </a:defRPr>
            </a:lvl2pPr>
            <a:lvl3pPr algn="r">
              <a:defRPr>
                <a:solidFill>
                  <a:schemeClr val="bg1"/>
                </a:solidFill>
              </a:defRPr>
            </a:lvl3pPr>
            <a:lvl4pPr algn="r">
              <a:defRPr>
                <a:solidFill>
                  <a:schemeClr val="bg1"/>
                </a:solidFill>
              </a:defRPr>
            </a:lvl4pPr>
            <a:lvl5pPr algn="r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슬라이드 번호 개체 틀 5">
            <a:extLst>
              <a:ext uri="{FF2B5EF4-FFF2-40B4-BE49-F238E27FC236}">
                <a16:creationId xmlns:a16="http://schemas.microsoft.com/office/drawing/2014/main" id="{0715BF9F-7BEC-43D5-AA15-65F5EC73A6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005322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altLang="ko-KR" dirty="0"/>
              <a:t>-</a:t>
            </a:r>
            <a:fld id="{B45B5F3F-A87E-4E73-9154-1C8A9C2706CD}" type="slidenum">
              <a:rPr lang="ko-KR" altLang="en-US" smtClean="0"/>
              <a:pPr/>
              <a:t>‹#›</a:t>
            </a:fld>
            <a:r>
              <a:rPr lang="en-US" altLang="ko-KR" dirty="0"/>
              <a:t>-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8338069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7005322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altLang="ko-KR" dirty="0"/>
              <a:t>-</a:t>
            </a:r>
            <a:fld id="{B45B5F3F-A87E-4E73-9154-1C8A9C2706CD}" type="slidenum">
              <a:rPr lang="ko-KR" altLang="en-US" smtClean="0"/>
              <a:pPr/>
              <a:t>‹#›</a:t>
            </a:fld>
            <a:r>
              <a:rPr lang="en-US" altLang="ko-KR" dirty="0"/>
              <a:t>-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920284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3.png"/><Relationship Id="rId4" Type="http://schemas.openxmlformats.org/officeDocument/2006/relationships/image" Target="../media/image138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3.png"/><Relationship Id="rId4" Type="http://schemas.openxmlformats.org/officeDocument/2006/relationships/image" Target="../media/image138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3.png"/><Relationship Id="rId4" Type="http://schemas.openxmlformats.org/officeDocument/2006/relationships/image" Target="../media/image138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3.png"/><Relationship Id="rId4" Type="http://schemas.openxmlformats.org/officeDocument/2006/relationships/image" Target="../media/image138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3" Type="http://schemas.openxmlformats.org/officeDocument/2006/relationships/image" Target="../media/image3.png"/><Relationship Id="rId4" Type="http://schemas.openxmlformats.org/officeDocument/2006/relationships/image" Target="../media/image138.png"/></Relationships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2BE96E-E472-E164-23F2-95F3E9DCB4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5E2DD2F-BCF5-ECAE-E5D5-3CF0B6E970A6}"/>
              </a:ext>
            </a:extLst>
          </p:cNvPr>
          <p:cNvSpPr txBox="1"/>
          <p:nvPr/>
        </p:nvSpPr>
        <p:spPr>
          <a:xfrm>
            <a:off x="419241" y="188640"/>
            <a:ext cx="740000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algn="ctr">
              <a:defRPr kumimoji="1" sz="2800" b="1">
                <a:solidFill>
                  <a:schemeClr val="tx1">
                    <a:lumMod val="95000"/>
                    <a:lumOff val="5000"/>
                  </a:schemeClr>
                </a:solidFill>
                <a:latin typeface="Noto Sans KR" pitchFamily="2" charset="-127"/>
                <a:ea typeface="Noto Sans KR" pitchFamily="2" charset="-127"/>
              </a:defRPr>
            </a:lvl1pPr>
          </a:lstStyle>
          <a:p>
            <a:pPr algn="l"/>
            <a:r>
              <a:rPr lang="en-US" altLang="ko-KR" sz="1800" dirty="0" b="1">
                <a:gradFill>
                  <a:gsLst>
                    <a:gs pos="0">
                      <a:srgbClr val="FF7900"/>
                    </a:gs>
                    <a:gs pos="67000">
                      <a:srgbClr val="EB002C"/>
                    </a:gs>
                  </a:gsLst>
                  <a:lin ang="5400000" scaled="1"/>
                </a:gradFill>
              </a:rPr>
              <a:t>As-is | 공정시간과 현재 생산능력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5E334A9-F66D-C6A4-7BE9-6D50F9536A48}"/>
              </a:ext>
            </a:extLst>
          </p:cNvPr>
          <p:cNvSpPr/>
          <p:nvPr/>
        </p:nvSpPr>
        <p:spPr>
          <a:xfrm>
            <a:off x="243076" y="0"/>
            <a:ext cx="45719" cy="900000"/>
          </a:xfrm>
          <a:prstGeom prst="rect">
            <a:avLst/>
          </a:prstGeom>
          <a:solidFill>
            <a:srgbClr val="EB002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2E35880-4093-876B-A5F4-41C1E861B78E}"/>
              </a:ext>
            </a:extLst>
          </p:cNvPr>
          <p:cNvSpPr txBox="1"/>
          <p:nvPr/>
        </p:nvSpPr>
        <p:spPr>
          <a:xfrm>
            <a:off x="683568" y="649029"/>
            <a:ext cx="8217356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algn="ctr">
              <a:defRPr kumimoji="1" sz="2800" b="1">
                <a:solidFill>
                  <a:schemeClr val="tx1">
                    <a:lumMod val="95000"/>
                    <a:lumOff val="5000"/>
                  </a:schemeClr>
                </a:solidFill>
                <a:latin typeface="Noto Sans KR" pitchFamily="2" charset="-127"/>
                <a:ea typeface="Noto Sans KR" pitchFamily="2" charset="-127"/>
              </a:defRPr>
            </a:lvl1pPr>
          </a:lstStyle>
          <a:p>
            <a:pPr algn="l"/>
            <a:r>
              <a:rPr lang="en-US" altLang="ko-KR" sz="1600" dirty="0"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공용 정제기 1대 · 정제 57 h/Batch · 검사 · 충진은 다음 Batch 정제와 병렬 진행</a:t>
            </a:r>
            <a:endParaRPr lang="en-US" altLang="ko-KR" sz="1600" dirty="0">
              <a:solidFill>
                <a:srgbClr val="FB6306"/>
              </a:solidFill>
              <a:latin typeface="Noto Sans KR" panose="02000503000000020004" pitchFamily="2" charset="-127"/>
              <a:ea typeface="Noto Sans KR" panose="02000503000000020004" pitchFamily="2" charset="-127"/>
              <a:cs typeface="Noto Sans KR" panose="02000503000000020004" pitchFamily="2" charset="-127"/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8FCEA6BD-DE04-59B4-A8D4-190141D5218B}"/>
              </a:ext>
            </a:extLst>
          </p:cNvPr>
          <p:cNvSpPr>
            <a:spLocks noChangeAspect="1"/>
          </p:cNvSpPr>
          <p:nvPr/>
        </p:nvSpPr>
        <p:spPr>
          <a:xfrm>
            <a:off x="419241" y="682139"/>
            <a:ext cx="180000" cy="180000"/>
          </a:xfrm>
          <a:prstGeom prst="ellipse">
            <a:avLst/>
          </a:prstGeom>
          <a:solidFill>
            <a:srgbClr val="EB002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 b="1" dirty="0">
                <a:latin typeface="Noto Sans KR" pitchFamily="2" charset="-127"/>
                <a:ea typeface="Noto Sans KR" pitchFamily="2" charset="-127"/>
              </a:rPr>
              <a:t>1</a:t>
            </a:r>
            <a:endParaRPr kumimoji="1" lang="ko-KR" altLang="en-US" sz="1000" b="1" dirty="0">
              <a:latin typeface="Noto Sans KR" pitchFamily="2" charset="-127"/>
              <a:ea typeface="Noto Sans KR" pitchFamily="2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B8A963E8-7BFA-8421-BB5D-9C25023F1E9B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8384" y="165102"/>
            <a:ext cx="872541" cy="372545"/>
          </a:xfrm>
          <a:prstGeom prst="rect">
            <a:avLst/>
          </a:prstGeom>
        </p:spPr>
      </p:pic>
      <p:sp>
        <p:nvSpPr>
          <p:cNvPr id="161" name="직사각형 160">
            <a:extLst>
              <a:ext uri="{FF2B5EF4-FFF2-40B4-BE49-F238E27FC236}">
                <a16:creationId xmlns:a16="http://schemas.microsoft.com/office/drawing/2014/main" id="{93943A90-8311-883B-A173-01407C63CEE4}"/>
              </a:ext>
            </a:extLst>
          </p:cNvPr>
          <p:cNvSpPr/>
          <p:nvPr/>
        </p:nvSpPr>
        <p:spPr>
          <a:xfrm>
            <a:off x="234424" y="6411907"/>
            <a:ext cx="1027462" cy="252555"/>
          </a:xfrm>
          <a:prstGeom prst="rect">
            <a:avLst/>
          </a:prstGeom>
          <a:noFill/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ko-KR" sz="1100" dirty="0">
                <a:solidFill>
                  <a:schemeClr val="bg1">
                    <a:lumMod val="50000"/>
                  </a:schemeClr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Confidential</a:t>
            </a:r>
            <a:endParaRPr kumimoji="1" lang="ko-KR" altLang="en-US" sz="1100" dirty="0">
              <a:solidFill>
                <a:schemeClr val="bg1">
                  <a:lumMod val="50000"/>
                </a:schemeClr>
              </a:solidFill>
              <a:latin typeface="Noto Sans KR" panose="02000503000000020004" pitchFamily="2" charset="-127"/>
              <a:ea typeface="Noto Sans KR" panose="02000503000000020004" pitchFamily="2" charset="-127"/>
              <a:cs typeface="Noto Sans KR" panose="02000503000000020004" pitchFamily="2" charset="-127"/>
            </a:endParaRPr>
          </a:p>
        </p:txBody>
      </p:sp>
      <p:cxnSp>
        <p:nvCxnSpPr>
          <p:cNvPr id="163" name="직선 연결선[R] 162">
            <a:extLst>
              <a:ext uri="{FF2B5EF4-FFF2-40B4-BE49-F238E27FC236}">
                <a16:creationId xmlns:a16="http://schemas.microsoft.com/office/drawing/2014/main" id="{8DEBABA2-333E-086B-36F6-137958AA3974}"/>
              </a:ext>
            </a:extLst>
          </p:cNvPr>
          <p:cNvCxnSpPr>
            <a:cxnSpLocks/>
          </p:cNvCxnSpPr>
          <p:nvPr/>
        </p:nvCxnSpPr>
        <p:spPr>
          <a:xfrm>
            <a:off x="1442533" y="6538184"/>
            <a:ext cx="7200800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8D53F489-CBFB-4C6F-878D-02975AD51256}"/>
              </a:ext>
            </a:extLst>
          </p:cNvPr>
          <p:cNvSpPr txBox="1"/>
          <p:nvPr/>
        </p:nvSpPr>
        <p:spPr>
          <a:xfrm>
            <a:off x="3972000" y="6461240"/>
            <a:ext cx="1200000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kumimoji="1" lang="en-US" altLang="ko-KR" sz="1000" dirty="0" b="0" i="0">
                <a:solidFill>
                  <a:srgbClr val="7F7F7F"/>
                </a:solidFill>
                <a:latin typeface="Noto Sans KR" panose="02000403000000020004" pitchFamily="2" charset="-127"/>
                <a:ea typeface="Noto Sans KR" panose="02000403000000020004" pitchFamily="2" charset="-127"/>
                <a:cs typeface="Noto Sans KR" panose="02000403000000020004" pitchFamily="2" charset="-127"/>
              </a:rPr>
              <a:t>- 1 -</a:t>
            </a:r>
            <a:endParaRPr kumimoji="1" lang="ko-KR" altLang="en-US" sz="1000" dirty="0">
              <a:solidFill>
                <a:schemeClr val="bg1">
                  <a:lumMod val="50000"/>
                </a:schemeClr>
              </a:solidFill>
              <a:latin typeface="Noto Sans KR" panose="02000403000000020004" pitchFamily="2" charset="-127"/>
              <a:ea typeface="Noto Sans KR" panose="02000403000000020004" pitchFamily="2" charset="-127"/>
              <a:cs typeface="Noto Sans KR" panose="02000403000000020004" pitchFamily="2" charset="-127"/>
            </a:endParaRPr>
          </a:p>
        </p:txBody>
      </p:sp>
      <p:sp>
        <p:nvSpPr>
          <p:cNvPr id="164" name="TextBox 163"/>
          <p:cNvSpPr txBox="1"/>
          <p:nvPr/>
        </p:nvSpPr>
        <p:spPr>
          <a:xfrm>
            <a:off x="5657000" y="6300000"/>
            <a:ext cx="32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7F7F7F"/>
                </a:solidFill>
                <a:latin typeface="Noto Sans KR"/>
                <a:ea typeface="Noto Sans KR"/>
                <a:cs typeface="Noto Sans KR"/>
              </a:rPr>
              <a:t>공란 : 담당부서 확인 후 입력</a:t>
            </a:r>
          </a:p>
        </p:txBody>
      </p:sp>
      <p:sp>
        <p:nvSpPr>
          <p:cNvPr id="165" name="Can 164"/>
          <p:cNvSpPr/>
          <p:nvPr/>
        </p:nvSpPr>
        <p:spPr>
          <a:xfrm>
            <a:off x="457000" y="1100000"/>
            <a:ext cx="360000" cy="420000"/>
          </a:xfrm>
          <a:prstGeom prst="can">
            <a:avLst/>
          </a:prstGeom>
          <a:solidFill>
            <a:srgbClr val="EDEDED"/>
          </a:solidFill>
          <a:ln w="15875">
            <a:solidFill>
              <a:srgbClr val="7F7F7F"/>
            </a:solidFill>
          </a:ln>
        </p:spPr>
        <p:txBody>
          <a:bodyPr rtlCol="0" anchor="ctr" lIns="30000" rIns="30000" tIns="0" bIns="0" wrap="square"/>
          <a:lstStyle/>
          <a:p>
            <a:pPr algn="ctr"/>
            <a:r>
              <a:rPr sz="70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Crude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287000" y="1570000"/>
            <a:ext cx="700000" cy="32000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rtlCol="0" anchor="ctr" lIns="30000" rIns="30000" tIns="0" bIns="0" wrap="square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287000" y="1570000"/>
            <a:ext cx="700000" cy="340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rtlCol="0" anchor="ctr" lIns="30000" rIns="30000" tIns="0" bIns="0" wrap="square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302000" y="1615000"/>
            <a:ext cx="670000" cy="265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78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원재료 입고</a:t>
            </a:r>
          </a:p>
          <a:p>
            <a:pPr algn="ctr">
              <a:spcAft>
                <a:spcPts val="0"/>
              </a:spcAft>
            </a:pPr>
            <a:r>
              <a:rPr sz="630" b="0" i="0">
                <a:solidFill>
                  <a:srgbClr val="7F7F7F"/>
                </a:solidFill>
                <a:latin typeface="Noto Sans KR"/>
                <a:ea typeface="Noto Sans KR"/>
                <a:cs typeface="Noto Sans KR"/>
              </a:rPr>
              <a:t>Lake Materials</a:t>
            </a:r>
          </a:p>
        </p:txBody>
      </p:sp>
      <p:sp>
        <p:nvSpPr>
          <p:cNvPr id="169" name="Rounded Rectangle 168"/>
          <p:cNvSpPr/>
          <p:nvPr/>
        </p:nvSpPr>
        <p:spPr>
          <a:xfrm>
            <a:off x="1307000" y="1180000"/>
            <a:ext cx="500000" cy="260000"/>
          </a:xfrm>
          <a:prstGeom prst="roundRect">
            <a:avLst>
              <a:gd name="adj" fmla="val 20000"/>
            </a:avLst>
          </a:prstGeom>
          <a:solidFill>
            <a:srgbClr val="2E75B6"/>
          </a:solidFill>
          <a:ln>
            <a:noFill/>
          </a:ln>
        </p:spPr>
        <p:txBody>
          <a:bodyPr rtlCol="0" anchor="ctr" lIns="30000" rIns="30000" tIns="0" bIns="0"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IQC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1237000" y="1570000"/>
            <a:ext cx="640000" cy="32000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rtlCol="0" anchor="ctr" lIns="30000" rIns="30000" tIns="0" bIns="0" wrap="square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1237000" y="1570000"/>
            <a:ext cx="640000" cy="34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rtlCol="0" anchor="ctr" lIns="30000" rIns="30000" tIns="0" bIns="0" wrap="square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1252000" y="1615000"/>
            <a:ext cx="610000" cy="265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78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수입검사</a:t>
            </a:r>
          </a:p>
          <a:p>
            <a:pPr algn="ctr">
              <a:spcAft>
                <a:spcPts val="0"/>
              </a:spcAft>
            </a:pPr>
            <a:r>
              <a:rPr sz="630" b="0" i="0">
                <a:solidFill>
                  <a:srgbClr val="7F7F7F"/>
                </a:solidFill>
                <a:latin typeface="Noto Sans KR"/>
                <a:ea typeface="Noto Sans KR"/>
                <a:cs typeface="Noto Sans KR"/>
              </a:rPr>
              <a:t>NMR·ICP·IC</a:t>
            </a:r>
          </a:p>
        </p:txBody>
      </p:sp>
      <p:sp>
        <p:nvSpPr>
          <p:cNvPr id="173" name="Can 172"/>
          <p:cNvSpPr/>
          <p:nvPr/>
        </p:nvSpPr>
        <p:spPr>
          <a:xfrm>
            <a:off x="2342000" y="1140000"/>
            <a:ext cx="270000" cy="340000"/>
          </a:xfrm>
          <a:prstGeom prst="can">
            <a:avLst/>
          </a:prstGeom>
          <a:solidFill>
            <a:srgbClr val="EDEDED"/>
          </a:solidFill>
          <a:ln w="15875">
            <a:solidFill>
              <a:srgbClr val="7F7F7F"/>
            </a:solidFill>
          </a:ln>
        </p:spPr>
        <p:txBody>
          <a:bodyPr rtlCol="0" anchor="ctr" lIns="30000" rIns="30000" tIns="0" bIns="0" wrap="square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2127000" y="1570000"/>
            <a:ext cx="700000" cy="32000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rtlCol="0" anchor="ctr" lIns="30000" rIns="30000" tIns="0" bIns="0" wrap="square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2127000" y="1570000"/>
            <a:ext cx="700000" cy="34000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txBody>
          <a:bodyPr rtlCol="0" anchor="ctr" lIns="30000" rIns="30000" tIns="0" bIns="0" wrap="square"/>
          <a:lstStyle/>
          <a:p>
            <a:pPr algn="ctr"/>
          </a:p>
        </p:txBody>
      </p:sp>
      <p:sp>
        <p:nvSpPr>
          <p:cNvPr id="176" name="TextBox 175"/>
          <p:cNvSpPr txBox="1"/>
          <p:nvPr/>
        </p:nvSpPr>
        <p:spPr>
          <a:xfrm>
            <a:off x="2142000" y="1615000"/>
            <a:ext cx="670000" cy="265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78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준비 · 투입</a:t>
            </a:r>
          </a:p>
          <a:p>
            <a:pPr algn="ctr">
              <a:spcAft>
                <a:spcPts val="0"/>
              </a:spcAft>
            </a:pPr>
            <a:r>
              <a:rPr sz="630" b="0" i="0">
                <a:solidFill>
                  <a:srgbClr val="7F7F7F"/>
                </a:solidFill>
                <a:latin typeface="Noto Sans KR"/>
                <a:ea typeface="Noto Sans KR"/>
                <a:cs typeface="Noto Sans KR"/>
              </a:rPr>
              <a:t>Canister → 정제기</a:t>
            </a:r>
          </a:p>
        </p:txBody>
      </p:sp>
      <p:sp>
        <p:nvSpPr>
          <p:cNvPr id="177" name="Rectangle 176"/>
          <p:cNvSpPr/>
          <p:nvPr/>
        </p:nvSpPr>
        <p:spPr>
          <a:xfrm>
            <a:off x="3037000" y="1030000"/>
            <a:ext cx="1330000" cy="890000"/>
          </a:xfrm>
          <a:prstGeom prst="rect">
            <a:avLst/>
          </a:prstGeom>
          <a:noFill/>
          <a:ln w="25400">
            <a:solidFill>
              <a:srgbClr val="EB002C"/>
            </a:solidFill>
          </a:ln>
        </p:spPr>
        <p:txBody>
          <a:bodyPr rtlCol="0" anchor="ctr" lIns="30000" rIns="30000" tIns="0" bIns="0" wrap="square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3652000" y="1065000"/>
            <a:ext cx="100000" cy="140000"/>
          </a:xfrm>
          <a:prstGeom prst="rect">
            <a:avLst/>
          </a:prstGeom>
          <a:solidFill>
            <a:srgbClr val="BFBFBF"/>
          </a:solidFill>
          <a:ln w="12700">
            <a:solidFill>
              <a:srgbClr val="7F7F7F"/>
            </a:solidFill>
          </a:ln>
        </p:spPr>
        <p:txBody>
          <a:bodyPr rtlCol="0" anchor="ctr" lIns="30000" rIns="30000" tIns="0" bIns="0" wrap="square"/>
          <a:lstStyle/>
          <a:p>
            <a:pPr algn="ctr"/>
          </a:p>
        </p:txBody>
      </p:sp>
      <p:sp>
        <p:nvSpPr>
          <p:cNvPr id="179" name="Round Same Side Corner Rectangle 178"/>
          <p:cNvSpPr/>
          <p:nvPr/>
        </p:nvSpPr>
        <p:spPr>
          <a:xfrm rot="10800000">
            <a:off x="3512000" y="1195000"/>
            <a:ext cx="380000" cy="355000"/>
          </a:xfrm>
          <a:prstGeom prst="round2SameRect">
            <a:avLst>
              <a:gd name="adj1" fmla="val 0"/>
              <a:gd name="adj2" fmla="val 50000"/>
            </a:avLst>
          </a:prstGeom>
          <a:solidFill>
            <a:srgbClr val="A6A6A6"/>
          </a:solidFill>
          <a:ln w="15875">
            <a:solidFill>
              <a:srgbClr val="595959"/>
            </a:solidFill>
          </a:ln>
        </p:spPr>
        <p:txBody>
          <a:bodyPr rtlCol="0" anchor="ctr" lIns="30000" rIns="30000" tIns="0" bIns="0" wrap="square"/>
          <a:lstStyle/>
          <a:p>
            <a:pPr algn="ctr"/>
          </a:p>
        </p:txBody>
      </p:sp>
      <p:sp>
        <p:nvSpPr>
          <p:cNvPr id="180" name="TextBox 179"/>
          <p:cNvSpPr txBox="1"/>
          <p:nvPr/>
        </p:nvSpPr>
        <p:spPr>
          <a:xfrm>
            <a:off x="3512000" y="1260000"/>
            <a:ext cx="380000" cy="2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정제기</a:t>
            </a:r>
          </a:p>
        </p:txBody>
      </p:sp>
      <p:sp>
        <p:nvSpPr>
          <p:cNvPr id="181" name="Rectangle 180"/>
          <p:cNvSpPr/>
          <p:nvPr/>
        </p:nvSpPr>
        <p:spPr>
          <a:xfrm>
            <a:off x="3077000" y="1570000"/>
            <a:ext cx="1250000" cy="32000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rtlCol="0" anchor="ctr" lIns="30000" rIns="30000" tIns="0" bIns="0" wrap="square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3077000" y="1570000"/>
            <a:ext cx="1250000" cy="34000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txBody>
          <a:bodyPr rtlCol="0" anchor="ctr" lIns="30000" rIns="30000" tIns="0" bIns="0" wrap="square"/>
          <a:lstStyle/>
          <a:p>
            <a:pPr algn="ctr"/>
          </a:p>
        </p:txBody>
      </p:sp>
      <p:sp>
        <p:nvSpPr>
          <p:cNvPr id="183" name="TextBox 182"/>
          <p:cNvSpPr txBox="1"/>
          <p:nvPr/>
        </p:nvSpPr>
        <p:spPr>
          <a:xfrm>
            <a:off x="3092000" y="1615000"/>
            <a:ext cx="1220000" cy="265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780" b="1" i="0">
                <a:solidFill>
                  <a:srgbClr val="EB002C"/>
                </a:solidFill>
                <a:latin typeface="Noto Sans KR"/>
                <a:ea typeface="Noto Sans KR"/>
                <a:cs typeface="Noto Sans KR"/>
              </a:rPr>
              <a:t>공용 정제기 1대 · 103℃</a:t>
            </a:r>
          </a:p>
          <a:p>
            <a:pPr algn="ctr">
              <a:spcAft>
                <a:spcPts val="0"/>
              </a:spcAft>
            </a:pPr>
            <a:r>
              <a:rPr sz="630" b="0" i="0">
                <a:solidFill>
                  <a:srgbClr val="7F7F7F"/>
                </a:solidFill>
                <a:latin typeface="Noto Sans KR"/>
                <a:ea typeface="Noto Sans KR"/>
                <a:cs typeface="Noto Sans KR"/>
              </a:rPr>
              <a:t>하이닉스·CXMT·이지켐 공동</a:t>
            </a:r>
          </a:p>
        </p:txBody>
      </p:sp>
      <p:sp>
        <p:nvSpPr>
          <p:cNvPr id="184" name="Rounded Rectangle 183"/>
          <p:cNvSpPr/>
          <p:nvPr/>
        </p:nvSpPr>
        <p:spPr>
          <a:xfrm>
            <a:off x="4647000" y="1180000"/>
            <a:ext cx="500000" cy="260000"/>
          </a:xfrm>
          <a:prstGeom prst="roundRect">
            <a:avLst>
              <a:gd name="adj" fmla="val 20000"/>
            </a:avLst>
          </a:prstGeom>
          <a:solidFill>
            <a:srgbClr val="2E75B6"/>
          </a:solidFill>
          <a:ln>
            <a:noFill/>
          </a:ln>
        </p:spPr>
        <p:txBody>
          <a:bodyPr rtlCol="0" anchor="ctr" lIns="30000" rIns="30000" tIns="0" bIns="0"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PQC</a:t>
            </a:r>
          </a:p>
        </p:txBody>
      </p:sp>
      <p:sp>
        <p:nvSpPr>
          <p:cNvPr id="185" name="Rectangle 184"/>
          <p:cNvSpPr/>
          <p:nvPr/>
        </p:nvSpPr>
        <p:spPr>
          <a:xfrm>
            <a:off x="4577000" y="1570000"/>
            <a:ext cx="640000" cy="32000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rtlCol="0" anchor="ctr" lIns="30000" rIns="30000" tIns="0" bIns="0" wrap="square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4577000" y="1570000"/>
            <a:ext cx="640000" cy="34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rtlCol="0" anchor="ctr" lIns="30000" rIns="30000" tIns="0" bIns="0" wrap="square"/>
          <a:lstStyle/>
          <a:p>
            <a:pPr algn="ctr"/>
          </a:p>
        </p:txBody>
      </p:sp>
      <p:sp>
        <p:nvSpPr>
          <p:cNvPr id="187" name="TextBox 186"/>
          <p:cNvSpPr txBox="1"/>
          <p:nvPr/>
        </p:nvSpPr>
        <p:spPr>
          <a:xfrm>
            <a:off x="4592000" y="1615000"/>
            <a:ext cx="610000" cy="265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78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공정검사</a:t>
            </a:r>
          </a:p>
          <a:p>
            <a:pPr algn="ctr">
              <a:spcAft>
                <a:spcPts val="0"/>
              </a:spcAft>
            </a:pPr>
            <a:r>
              <a:rPr sz="630" b="0" i="0">
                <a:solidFill>
                  <a:srgbClr val="7F7F7F"/>
                </a:solidFill>
                <a:latin typeface="Noto Sans KR"/>
                <a:ea typeface="Noto Sans KR"/>
                <a:cs typeface="Noto Sans KR"/>
              </a:rPr>
              <a:t>NMR</a:t>
            </a:r>
          </a:p>
        </p:txBody>
      </p:sp>
      <p:sp>
        <p:nvSpPr>
          <p:cNvPr id="188" name="Can 187"/>
          <p:cNvSpPr/>
          <p:nvPr/>
        </p:nvSpPr>
        <p:spPr>
          <a:xfrm>
            <a:off x="5647000" y="1100000"/>
            <a:ext cx="400000" cy="420000"/>
          </a:xfrm>
          <a:prstGeom prst="can">
            <a:avLst/>
          </a:prstGeom>
          <a:solidFill>
            <a:srgbClr val="FFE3CC"/>
          </a:solidFill>
          <a:ln w="15875">
            <a:solidFill>
              <a:srgbClr val="FF7900"/>
            </a:solidFill>
          </a:ln>
        </p:spPr>
        <p:txBody>
          <a:bodyPr rtlCol="0" anchor="ctr" lIns="30000" rIns="30000" tIns="0" bIns="0" wrap="square"/>
          <a:lstStyle/>
          <a:p>
            <a:pPr algn="ctr"/>
            <a:r>
              <a:rPr sz="65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Product</a:t>
            </a:r>
          </a:p>
        </p:txBody>
      </p:sp>
      <p:sp>
        <p:nvSpPr>
          <p:cNvPr id="189" name="Rectangle 188"/>
          <p:cNvSpPr/>
          <p:nvPr/>
        </p:nvSpPr>
        <p:spPr>
          <a:xfrm>
            <a:off x="5467000" y="1570000"/>
            <a:ext cx="760000" cy="32000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rtlCol="0" anchor="ctr" lIns="30000" rIns="30000" tIns="0" bIns="0" wrap="square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5467000" y="1570000"/>
            <a:ext cx="760000" cy="34000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txBody>
          <a:bodyPr rtlCol="0" anchor="ctr" lIns="30000" rIns="30000" tIns="0" bIns="0" wrap="square"/>
          <a:lstStyle/>
          <a:p>
            <a:pPr algn="ctr"/>
          </a:p>
        </p:txBody>
      </p:sp>
      <p:sp>
        <p:nvSpPr>
          <p:cNvPr id="191" name="TextBox 190"/>
          <p:cNvSpPr txBox="1"/>
          <p:nvPr/>
        </p:nvSpPr>
        <p:spPr>
          <a:xfrm>
            <a:off x="5482000" y="1615000"/>
            <a:ext cx="730000" cy="265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78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Product Tank</a:t>
            </a:r>
          </a:p>
          <a:p>
            <a:pPr algn="ctr">
              <a:spcAft>
                <a:spcPts val="0"/>
              </a:spcAft>
            </a:pPr>
            <a:r>
              <a:rPr sz="630" b="0" i="0">
                <a:solidFill>
                  <a:srgbClr val="7F7F7F"/>
                </a:solidFill>
                <a:latin typeface="Noto Sans KR"/>
                <a:ea typeface="Noto Sans KR"/>
                <a:cs typeface="Noto Sans KR"/>
              </a:rPr>
              <a:t>PQC 합격 후 이송</a:t>
            </a:r>
          </a:p>
        </p:txBody>
      </p:sp>
      <p:cxnSp>
        <p:nvCxnSpPr>
          <p:cNvPr id="192" name="Connector 191"/>
          <p:cNvCxnSpPr/>
          <p:nvPr/>
        </p:nvCxnSpPr>
        <p:spPr>
          <a:xfrm>
            <a:off x="817000" y="1310000"/>
            <a:ext cx="490000" cy="0"/>
          </a:xfrm>
          <a:prstGeom prst="line">
            <a:avLst/>
          </a:prstGeom>
          <a:ln w="15875">
            <a:solidFill>
              <a:srgbClr val="1A1A1A"/>
            </a:solidFill>
            <a:tailEnd type="triangle" w="med" len="med"/>
          </a:ln>
        </p:spPr>
      </p:cxnSp>
      <p:cxnSp>
        <p:nvCxnSpPr>
          <p:cNvPr id="193" name="Connector 192"/>
          <p:cNvCxnSpPr/>
          <p:nvPr/>
        </p:nvCxnSpPr>
        <p:spPr>
          <a:xfrm>
            <a:off x="1807000" y="1310000"/>
            <a:ext cx="535000" cy="0"/>
          </a:xfrm>
          <a:prstGeom prst="line">
            <a:avLst/>
          </a:prstGeom>
          <a:ln w="15875">
            <a:solidFill>
              <a:srgbClr val="1A1A1A"/>
            </a:solidFill>
            <a:tailEnd type="triangle" w="med" len="med"/>
          </a:ln>
        </p:spPr>
      </p:cxnSp>
      <p:cxnSp>
        <p:nvCxnSpPr>
          <p:cNvPr id="194" name="Connector 193"/>
          <p:cNvCxnSpPr/>
          <p:nvPr/>
        </p:nvCxnSpPr>
        <p:spPr>
          <a:xfrm>
            <a:off x="2612000" y="1310000"/>
            <a:ext cx="900000" cy="0"/>
          </a:xfrm>
          <a:prstGeom prst="line">
            <a:avLst/>
          </a:prstGeom>
          <a:ln w="15875">
            <a:solidFill>
              <a:srgbClr val="1A1A1A"/>
            </a:solidFill>
            <a:tailEnd type="triangle" w="med" len="med"/>
          </a:ln>
        </p:spPr>
      </p:cxnSp>
      <p:cxnSp>
        <p:nvCxnSpPr>
          <p:cNvPr id="195" name="Connector 194"/>
          <p:cNvCxnSpPr/>
          <p:nvPr/>
        </p:nvCxnSpPr>
        <p:spPr>
          <a:xfrm>
            <a:off x="3892000" y="1310000"/>
            <a:ext cx="755000" cy="0"/>
          </a:xfrm>
          <a:prstGeom prst="line">
            <a:avLst/>
          </a:prstGeom>
          <a:ln w="15875">
            <a:solidFill>
              <a:srgbClr val="1A1A1A"/>
            </a:solidFill>
            <a:tailEnd type="triangle" w="med" len="med"/>
          </a:ln>
        </p:spPr>
      </p:cxnSp>
      <p:cxnSp>
        <p:nvCxnSpPr>
          <p:cNvPr id="196" name="Connector 195"/>
          <p:cNvCxnSpPr/>
          <p:nvPr/>
        </p:nvCxnSpPr>
        <p:spPr>
          <a:xfrm>
            <a:off x="5147000" y="1310000"/>
            <a:ext cx="500000" cy="0"/>
          </a:xfrm>
          <a:prstGeom prst="line">
            <a:avLst/>
          </a:prstGeom>
          <a:ln w="15875">
            <a:solidFill>
              <a:srgbClr val="1A1A1A"/>
            </a:solidFill>
            <a:tailEnd type="triangle" w="med" len="med"/>
          </a:ln>
        </p:spPr>
      </p:cxnSp>
      <p:sp>
        <p:nvSpPr>
          <p:cNvPr id="197" name="Rounded Rectangle 196"/>
          <p:cNvSpPr/>
          <p:nvPr/>
        </p:nvSpPr>
        <p:spPr>
          <a:xfrm>
            <a:off x="387000" y="1915000"/>
            <a:ext cx="500000" cy="150000"/>
          </a:xfrm>
          <a:prstGeom prst="roundRect">
            <a:avLst>
              <a:gd name="adj" fmla="val 30000"/>
            </a:avLst>
          </a:prstGeom>
          <a:solidFill>
            <a:srgbClr val="E2EFD9"/>
          </a:solidFill>
          <a:ln w="9525">
            <a:solidFill>
              <a:srgbClr val="548235"/>
            </a:solidFill>
          </a:ln>
        </p:spPr>
        <p:txBody>
          <a:bodyPr rtlCol="0" anchor="ctr" lIns="30000" rIns="30000" tIns="0" bIns="0" wrap="square"/>
          <a:lstStyle/>
          <a:p>
            <a:pPr algn="ctr"/>
            <a:r>
              <a:rPr sz="650" b="1" i="0">
                <a:solidFill>
                  <a:srgbClr val="385723"/>
                </a:solidFill>
                <a:latin typeface="Noto Sans KR"/>
                <a:ea typeface="Noto Sans KR"/>
                <a:cs typeface="Noto Sans KR"/>
              </a:rPr>
              <a:t>–</a:t>
            </a:r>
          </a:p>
        </p:txBody>
      </p:sp>
      <p:sp>
        <p:nvSpPr>
          <p:cNvPr id="198" name="Rounded Rectangle 197"/>
          <p:cNvSpPr/>
          <p:nvPr/>
        </p:nvSpPr>
        <p:spPr>
          <a:xfrm>
            <a:off x="1307000" y="1915000"/>
            <a:ext cx="500000" cy="150000"/>
          </a:xfrm>
          <a:prstGeom prst="roundRect">
            <a:avLst>
              <a:gd name="adj" fmla="val 30000"/>
            </a:avLst>
          </a:prstGeom>
          <a:solidFill>
            <a:srgbClr val="E2EFD9"/>
          </a:solidFill>
          <a:ln w="9525">
            <a:solidFill>
              <a:srgbClr val="548235"/>
            </a:solidFill>
          </a:ln>
        </p:spPr>
        <p:txBody>
          <a:bodyPr rtlCol="0" anchor="ctr" lIns="30000" rIns="30000" tIns="0" bIns="0" wrap="square"/>
          <a:lstStyle/>
          <a:p>
            <a:pPr algn="ctr"/>
            <a:r>
              <a:rPr sz="650" b="1" i="0">
                <a:solidFill>
                  <a:srgbClr val="385723"/>
                </a:solidFill>
                <a:latin typeface="Noto Sans KR"/>
                <a:ea typeface="Noto Sans KR"/>
                <a:cs typeface="Noto Sans KR"/>
              </a:rPr>
              <a:t>2 h</a:t>
            </a:r>
          </a:p>
        </p:txBody>
      </p:sp>
      <p:sp>
        <p:nvSpPr>
          <p:cNvPr id="199" name="Rounded Rectangle 198"/>
          <p:cNvSpPr/>
          <p:nvPr/>
        </p:nvSpPr>
        <p:spPr>
          <a:xfrm>
            <a:off x="2197000" y="1915000"/>
            <a:ext cx="560000" cy="150000"/>
          </a:xfrm>
          <a:prstGeom prst="roundRect">
            <a:avLst>
              <a:gd name="adj" fmla="val 30000"/>
            </a:avLst>
          </a:prstGeom>
          <a:solidFill>
            <a:srgbClr val="FFF2CC"/>
          </a:solidFill>
          <a:ln w="9525">
            <a:solidFill>
              <a:srgbClr val="BF9000"/>
            </a:solidFill>
          </a:ln>
        </p:spPr>
        <p:txBody>
          <a:bodyPr rtlCol="0" anchor="ctr" lIns="30000" rIns="30000" tIns="0" bIns="0" wrap="square"/>
          <a:lstStyle/>
          <a:p>
            <a:pPr algn="ctr"/>
            <a:r>
              <a:rPr sz="630" b="0" i="0">
                <a:solidFill>
                  <a:srgbClr val="7F6000"/>
                </a:solidFill>
                <a:latin typeface="Noto Sans KR"/>
                <a:ea typeface="Noto Sans KR"/>
                <a:cs typeface="Noto Sans KR"/>
              </a:rPr>
              <a:t>미확인 h</a:t>
            </a:r>
          </a:p>
        </p:txBody>
      </p:sp>
      <p:sp>
        <p:nvSpPr>
          <p:cNvPr id="200" name="Rounded Rectangle 199"/>
          <p:cNvSpPr/>
          <p:nvPr/>
        </p:nvSpPr>
        <p:spPr>
          <a:xfrm>
            <a:off x="3227000" y="1915000"/>
            <a:ext cx="950000" cy="150000"/>
          </a:xfrm>
          <a:prstGeom prst="roundRect">
            <a:avLst>
              <a:gd name="adj" fmla="val 30000"/>
            </a:avLst>
          </a:prstGeom>
          <a:solidFill>
            <a:srgbClr val="E2EFD9"/>
          </a:solidFill>
          <a:ln w="9525">
            <a:solidFill>
              <a:srgbClr val="548235"/>
            </a:solidFill>
          </a:ln>
        </p:spPr>
        <p:txBody>
          <a:bodyPr rtlCol="0" anchor="ctr" lIns="30000" rIns="30000" tIns="0" bIns="0" wrap="square"/>
          <a:lstStyle/>
          <a:p>
            <a:pPr algn="ctr"/>
            <a:r>
              <a:rPr sz="650" b="1" i="0">
                <a:solidFill>
                  <a:srgbClr val="385723"/>
                </a:solidFill>
                <a:latin typeface="Noto Sans KR"/>
                <a:ea typeface="Noto Sans KR"/>
                <a:cs typeface="Noto Sans KR"/>
              </a:rPr>
              <a:t>정제 57 h/Batch</a:t>
            </a:r>
          </a:p>
        </p:txBody>
      </p:sp>
      <p:sp>
        <p:nvSpPr>
          <p:cNvPr id="201" name="Rounded Rectangle 200"/>
          <p:cNvSpPr/>
          <p:nvPr/>
        </p:nvSpPr>
        <p:spPr>
          <a:xfrm>
            <a:off x="4647000" y="1915000"/>
            <a:ext cx="500000" cy="150000"/>
          </a:xfrm>
          <a:prstGeom prst="roundRect">
            <a:avLst>
              <a:gd name="adj" fmla="val 30000"/>
            </a:avLst>
          </a:prstGeom>
          <a:solidFill>
            <a:srgbClr val="FFF2CC"/>
          </a:solidFill>
          <a:ln w="9525">
            <a:solidFill>
              <a:srgbClr val="BF9000"/>
            </a:solidFill>
          </a:ln>
        </p:spPr>
        <p:txBody>
          <a:bodyPr rtlCol="0" anchor="ctr" lIns="30000" rIns="30000" tIns="0" bIns="0" wrap="square"/>
          <a:lstStyle/>
          <a:p>
            <a:pPr algn="ctr"/>
            <a:r>
              <a:rPr sz="630" b="0" i="0">
                <a:solidFill>
                  <a:srgbClr val="7F6000"/>
                </a:solidFill>
                <a:latin typeface="Noto Sans KR"/>
                <a:ea typeface="Noto Sans KR"/>
                <a:cs typeface="Noto Sans KR"/>
              </a:rPr>
              <a:t>미확인 h</a:t>
            </a:r>
          </a:p>
        </p:txBody>
      </p:sp>
      <p:sp>
        <p:nvSpPr>
          <p:cNvPr id="202" name="Rounded Rectangle 201"/>
          <p:cNvSpPr/>
          <p:nvPr/>
        </p:nvSpPr>
        <p:spPr>
          <a:xfrm>
            <a:off x="5537000" y="1915000"/>
            <a:ext cx="620000" cy="150000"/>
          </a:xfrm>
          <a:prstGeom prst="roundRect">
            <a:avLst>
              <a:gd name="adj" fmla="val 30000"/>
            </a:avLst>
          </a:prstGeom>
          <a:solidFill>
            <a:srgbClr val="FFF2CC"/>
          </a:solidFill>
          <a:ln w="9525">
            <a:solidFill>
              <a:srgbClr val="BF9000"/>
            </a:solidFill>
          </a:ln>
        </p:spPr>
        <p:txBody>
          <a:bodyPr rtlCol="0" anchor="ctr" lIns="30000" rIns="30000" tIns="0" bIns="0" wrap="square"/>
          <a:lstStyle/>
          <a:p>
            <a:pPr algn="ctr"/>
            <a:r>
              <a:rPr sz="630" b="0" i="0">
                <a:solidFill>
                  <a:srgbClr val="7F6000"/>
                </a:solidFill>
                <a:latin typeface="Noto Sans KR"/>
                <a:ea typeface="Noto Sans KR"/>
                <a:cs typeface="Noto Sans KR"/>
              </a:rPr>
              <a:t>미확인 h</a:t>
            </a:r>
          </a:p>
        </p:txBody>
      </p:sp>
      <p:sp>
        <p:nvSpPr>
          <p:cNvPr id="203" name="Rounded Rectangle 202"/>
          <p:cNvSpPr/>
          <p:nvPr/>
        </p:nvSpPr>
        <p:spPr>
          <a:xfrm>
            <a:off x="357000" y="2640000"/>
            <a:ext cx="520000" cy="260000"/>
          </a:xfrm>
          <a:prstGeom prst="roundRect">
            <a:avLst>
              <a:gd name="adj" fmla="val 20000"/>
            </a:avLst>
          </a:prstGeom>
          <a:solidFill>
            <a:srgbClr val="2E75B6"/>
          </a:solidFill>
          <a:ln>
            <a:noFill/>
          </a:ln>
        </p:spPr>
        <p:txBody>
          <a:bodyPr rtlCol="0" anchor="ctr" lIns="30000" rIns="30000" tIns="0" bIns="0"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FQC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287000" y="2920000"/>
            <a:ext cx="660000" cy="1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제품검사</a:t>
            </a:r>
          </a:p>
        </p:txBody>
      </p:sp>
      <p:sp>
        <p:nvSpPr>
          <p:cNvPr id="205" name="Rounded Rectangle 204"/>
          <p:cNvSpPr/>
          <p:nvPr/>
        </p:nvSpPr>
        <p:spPr>
          <a:xfrm>
            <a:off x="387000" y="3100000"/>
            <a:ext cx="460000" cy="150000"/>
          </a:xfrm>
          <a:prstGeom prst="roundRect">
            <a:avLst>
              <a:gd name="adj" fmla="val 30000"/>
            </a:avLst>
          </a:prstGeom>
          <a:solidFill>
            <a:srgbClr val="E2EFD9"/>
          </a:solidFill>
          <a:ln w="9525">
            <a:solidFill>
              <a:srgbClr val="548235"/>
            </a:solidFill>
          </a:ln>
        </p:spPr>
        <p:txBody>
          <a:bodyPr rtlCol="0" anchor="ctr" lIns="30000" rIns="30000" tIns="0" bIns="0" wrap="square"/>
          <a:lstStyle/>
          <a:p>
            <a:pPr algn="ctr"/>
            <a:r>
              <a:rPr sz="650" b="1" i="0">
                <a:solidFill>
                  <a:srgbClr val="385723"/>
                </a:solidFill>
                <a:latin typeface="Noto Sans KR"/>
                <a:ea typeface="Noto Sans KR"/>
                <a:cs typeface="Noto Sans KR"/>
              </a:rPr>
              <a:t>2 h</a:t>
            </a:r>
          </a:p>
        </p:txBody>
      </p:sp>
      <p:cxnSp>
        <p:nvCxnSpPr>
          <p:cNvPr id="206" name="Connector 205"/>
          <p:cNvCxnSpPr/>
          <p:nvPr/>
        </p:nvCxnSpPr>
        <p:spPr>
          <a:xfrm>
            <a:off x="877000" y="2770000"/>
            <a:ext cx="240000" cy="0"/>
          </a:xfrm>
          <a:prstGeom prst="line">
            <a:avLst/>
          </a:prstGeom>
          <a:ln w="15875">
            <a:solidFill>
              <a:srgbClr val="1A1A1A"/>
            </a:solidFill>
          </a:ln>
        </p:spPr>
      </p:cxnSp>
      <p:cxnSp>
        <p:nvCxnSpPr>
          <p:cNvPr id="207" name="Connector 206"/>
          <p:cNvCxnSpPr/>
          <p:nvPr/>
        </p:nvCxnSpPr>
        <p:spPr>
          <a:xfrm>
            <a:off x="1117000" y="2510000"/>
            <a:ext cx="0" cy="520000"/>
          </a:xfrm>
          <a:prstGeom prst="line">
            <a:avLst/>
          </a:prstGeom>
          <a:ln w="15875">
            <a:solidFill>
              <a:srgbClr val="1A1A1A"/>
            </a:solidFill>
          </a:ln>
        </p:spPr>
      </p:cxnSp>
      <p:cxnSp>
        <p:nvCxnSpPr>
          <p:cNvPr id="208" name="Connector 207"/>
          <p:cNvCxnSpPr/>
          <p:nvPr/>
        </p:nvCxnSpPr>
        <p:spPr>
          <a:xfrm>
            <a:off x="1117000" y="2510000"/>
            <a:ext cx="170000" cy="0"/>
          </a:xfrm>
          <a:prstGeom prst="line">
            <a:avLst/>
          </a:prstGeom>
          <a:ln w="15875">
            <a:solidFill>
              <a:srgbClr val="1A1A1A"/>
            </a:solidFill>
            <a:tailEnd type="triangle" w="med" len="med"/>
          </a:ln>
        </p:spPr>
      </p:cxnSp>
      <p:cxnSp>
        <p:nvCxnSpPr>
          <p:cNvPr id="209" name="Connector 208"/>
          <p:cNvCxnSpPr/>
          <p:nvPr/>
        </p:nvCxnSpPr>
        <p:spPr>
          <a:xfrm>
            <a:off x="1117000" y="3030000"/>
            <a:ext cx="170000" cy="0"/>
          </a:xfrm>
          <a:prstGeom prst="line">
            <a:avLst/>
          </a:prstGeom>
          <a:ln w="15875">
            <a:solidFill>
              <a:srgbClr val="1A1A1A"/>
            </a:solidFill>
            <a:tailEnd type="triangle" w="med" len="med"/>
          </a:ln>
        </p:spPr>
      </p:cxnSp>
      <p:sp>
        <p:nvSpPr>
          <p:cNvPr id="210" name="Rectangle 209"/>
          <p:cNvSpPr/>
          <p:nvPr/>
        </p:nvSpPr>
        <p:spPr>
          <a:xfrm>
            <a:off x="1287000" y="2300000"/>
            <a:ext cx="2250000" cy="420000"/>
          </a:xfrm>
          <a:prstGeom prst="rect">
            <a:avLst/>
          </a:prstGeom>
          <a:solidFill>
            <a:srgbClr val="E2EFD9"/>
          </a:solidFill>
          <a:ln w="15875">
            <a:solidFill>
              <a:srgbClr val="548235"/>
            </a:solidFill>
          </a:ln>
        </p:spPr>
        <p:txBody>
          <a:bodyPr rtlCol="0" anchor="ctr" lIns="30000" rIns="30000" tIns="0" bIns="0" wrap="square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1287000" y="2300000"/>
            <a:ext cx="45000" cy="420000"/>
          </a:xfrm>
          <a:prstGeom prst="rect">
            <a:avLst/>
          </a:prstGeom>
          <a:solidFill>
            <a:srgbClr val="548235"/>
          </a:solidFill>
          <a:ln>
            <a:noFill/>
          </a:ln>
        </p:spPr>
        <p:txBody>
          <a:bodyPr rtlCol="0" anchor="ctr" lIns="30000" rIns="30000" tIns="0" bIns="0" wrap="square"/>
          <a:lstStyle/>
          <a:p>
            <a:pPr algn="ctr"/>
          </a:p>
        </p:txBody>
      </p:sp>
      <p:sp>
        <p:nvSpPr>
          <p:cNvPr id="212" name="Rounded Rectangle 211"/>
          <p:cNvSpPr/>
          <p:nvPr/>
        </p:nvSpPr>
        <p:spPr>
          <a:xfrm>
            <a:off x="1387000" y="2400000"/>
            <a:ext cx="420000" cy="220000"/>
          </a:xfrm>
          <a:prstGeom prst="roundRect">
            <a:avLst>
              <a:gd name="adj" fmla="val 15000"/>
            </a:avLst>
          </a:prstGeom>
          <a:solidFill>
            <a:srgbClr val="548235"/>
          </a:solidFill>
          <a:ln>
            <a:noFill/>
          </a:ln>
        </p:spPr>
        <p:txBody>
          <a:bodyPr rtlCol="0" anchor="ctr" lIns="30000" rIns="30000" tIns="0" bIns="0" wrap="square"/>
          <a:lstStyle/>
          <a:p>
            <a:pPr algn="ctr"/>
            <a:r>
              <a:rPr sz="7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G/B</a:t>
            </a:r>
          </a:p>
        </p:txBody>
      </p:sp>
      <p:sp>
        <p:nvSpPr>
          <p:cNvPr id="213" name="TextBox 212"/>
          <p:cNvSpPr txBox="1"/>
          <p:nvPr/>
        </p:nvSpPr>
        <p:spPr>
          <a:xfrm>
            <a:off x="1867000" y="2310000"/>
            <a:ext cx="1630000" cy="4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6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5 Gal 글로브 박스 충진</a:t>
            </a:r>
          </a:p>
          <a:p>
            <a:pPr algn="l">
              <a:spcAft>
                <a:spcPts val="0"/>
              </a:spcAft>
            </a:pPr>
            <a:r>
              <a:rPr sz="620" b="0" i="0">
                <a:solidFill>
                  <a:srgbClr val="7F7F7F"/>
                </a:solidFill>
                <a:latin typeface="Noto Sans KR"/>
                <a:ea typeface="Noto Sans KR"/>
                <a:cs typeface="Noto Sans KR"/>
              </a:rPr>
              <a:t>20 kg/병 · 필터 포함</a:t>
            </a:r>
          </a:p>
          <a:p>
            <a:pPr algn="l">
              <a:spcAft>
                <a:spcPts val="0"/>
              </a:spcAft>
            </a:pPr>
            <a:r>
              <a:rPr sz="630" b="1" i="0">
                <a:solidFill>
                  <a:srgbClr val="385723"/>
                </a:solidFill>
                <a:latin typeface="Noto Sans KR"/>
                <a:ea typeface="Noto Sans KR"/>
                <a:cs typeface="Noto Sans KR"/>
              </a:rPr>
              <a:t>2 h/병 · 약 8병 16 h</a:t>
            </a:r>
          </a:p>
        </p:txBody>
      </p:sp>
      <p:sp>
        <p:nvSpPr>
          <p:cNvPr id="214" name="Rectangle 213"/>
          <p:cNvSpPr/>
          <p:nvPr/>
        </p:nvSpPr>
        <p:spPr>
          <a:xfrm>
            <a:off x="1287000" y="2820000"/>
            <a:ext cx="2250000" cy="420000"/>
          </a:xfrm>
          <a:prstGeom prst="rect">
            <a:avLst/>
          </a:prstGeom>
          <a:solidFill>
            <a:srgbClr val="FFF3E6"/>
          </a:solidFill>
          <a:ln w="15875">
            <a:solidFill>
              <a:srgbClr val="FF7900"/>
            </a:solidFill>
          </a:ln>
        </p:spPr>
        <p:txBody>
          <a:bodyPr rtlCol="0" anchor="ctr" lIns="30000" rIns="30000" tIns="0" bIns="0" wrap="square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1287000" y="2820000"/>
            <a:ext cx="45000" cy="420000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txBody>
          <a:bodyPr rtlCol="0" anchor="ctr" lIns="30000" rIns="30000" tIns="0" bIns="0" wrap="square"/>
          <a:lstStyle/>
          <a:p>
            <a:pPr algn="ctr"/>
          </a:p>
        </p:txBody>
      </p:sp>
      <p:sp>
        <p:nvSpPr>
          <p:cNvPr id="216" name="Rounded Rectangle 215"/>
          <p:cNvSpPr/>
          <p:nvPr/>
        </p:nvSpPr>
        <p:spPr>
          <a:xfrm>
            <a:off x="1387000" y="2920000"/>
            <a:ext cx="420000" cy="220000"/>
          </a:xfrm>
          <a:prstGeom prst="roundRect">
            <a:avLst>
              <a:gd name="adj" fmla="val 15000"/>
            </a:avLst>
          </a:prstGeom>
          <a:solidFill>
            <a:srgbClr val="FF7900"/>
          </a:solidFill>
          <a:ln>
            <a:noFill/>
          </a:ln>
        </p:spPr>
        <p:txBody>
          <a:bodyPr rtlCol="0" anchor="ctr" lIns="30000" rIns="30000" tIns="0" bIns="0" wrap="square"/>
          <a:lstStyle/>
          <a:p>
            <a:pPr algn="ctr"/>
            <a:r>
              <a:rPr sz="7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200 L</a:t>
            </a:r>
          </a:p>
        </p:txBody>
      </p:sp>
      <p:sp>
        <p:nvSpPr>
          <p:cNvPr id="217" name="TextBox 216"/>
          <p:cNvSpPr txBox="1"/>
          <p:nvPr/>
        </p:nvSpPr>
        <p:spPr>
          <a:xfrm>
            <a:off x="1867000" y="2830000"/>
            <a:ext cx="1630000" cy="4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6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200 L 수동 충진</a:t>
            </a:r>
          </a:p>
          <a:p>
            <a:pPr algn="l">
              <a:spcAft>
                <a:spcPts val="0"/>
              </a:spcAft>
            </a:pPr>
            <a:r>
              <a:rPr sz="620" b="0" i="0">
                <a:solidFill>
                  <a:srgbClr val="7F7F7F"/>
                </a:solidFill>
                <a:latin typeface="Noto Sans KR"/>
                <a:ea typeface="Noto Sans KR"/>
                <a:cs typeface="Noto Sans KR"/>
              </a:rPr>
              <a:t>140 kg/용기 · 필터 포함</a:t>
            </a:r>
          </a:p>
          <a:p>
            <a:pPr algn="l">
              <a:spcAft>
                <a:spcPts val="0"/>
              </a:spcAft>
            </a:pPr>
            <a:r>
              <a:rPr sz="630" b="1" i="0">
                <a:solidFill>
                  <a:srgbClr val="385723"/>
                </a:solidFill>
                <a:latin typeface="Noto Sans KR"/>
                <a:ea typeface="Noto Sans KR"/>
                <a:cs typeface="Noto Sans KR"/>
              </a:rPr>
              <a:t>8 h (범위 확인)</a:t>
            </a:r>
          </a:p>
        </p:txBody>
      </p:sp>
      <p:sp>
        <p:nvSpPr>
          <p:cNvPr id="218" name="Rounded Rectangle 217"/>
          <p:cNvSpPr/>
          <p:nvPr/>
        </p:nvSpPr>
        <p:spPr>
          <a:xfrm>
            <a:off x="3637000" y="2380000"/>
            <a:ext cx="460000" cy="260000"/>
          </a:xfrm>
          <a:prstGeom prst="roundRect">
            <a:avLst>
              <a:gd name="adj" fmla="val 20000"/>
            </a:avLst>
          </a:prstGeom>
          <a:solidFill>
            <a:srgbClr val="2E75B6"/>
          </a:solidFill>
          <a:ln>
            <a:noFill/>
          </a:ln>
        </p:spPr>
        <p:txBody>
          <a:bodyPr rtlCol="0" anchor="ctr" lIns="30000" rIns="30000" tIns="0" bIns="0"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OQC</a:t>
            </a:r>
          </a:p>
        </p:txBody>
      </p:sp>
      <p:cxnSp>
        <p:nvCxnSpPr>
          <p:cNvPr id="219" name="Connector 218"/>
          <p:cNvCxnSpPr/>
          <p:nvPr/>
        </p:nvCxnSpPr>
        <p:spPr>
          <a:xfrm>
            <a:off x="3537000" y="2510000"/>
            <a:ext cx="100000" cy="0"/>
          </a:xfrm>
          <a:prstGeom prst="line">
            <a:avLst/>
          </a:prstGeom>
          <a:ln w="15875">
            <a:solidFill>
              <a:srgbClr val="1A1A1A"/>
            </a:solidFill>
            <a:tailEnd type="triangle" w="med" len="med"/>
          </a:ln>
        </p:spPr>
      </p:cxnSp>
      <p:cxnSp>
        <p:nvCxnSpPr>
          <p:cNvPr id="220" name="Connector 219"/>
          <p:cNvCxnSpPr/>
          <p:nvPr/>
        </p:nvCxnSpPr>
        <p:spPr>
          <a:xfrm>
            <a:off x="4097000" y="2510000"/>
            <a:ext cx="280000" cy="0"/>
          </a:xfrm>
          <a:prstGeom prst="line">
            <a:avLst/>
          </a:prstGeom>
          <a:ln w="15875">
            <a:solidFill>
              <a:srgbClr val="1A1A1A"/>
            </a:solidFill>
            <a:tailEnd type="triangle" w="med" len="med"/>
          </a:ln>
        </p:spPr>
      </p:cxnSp>
      <p:sp>
        <p:nvSpPr>
          <p:cNvPr id="221" name="Rectangle 220"/>
          <p:cNvSpPr/>
          <p:nvPr/>
        </p:nvSpPr>
        <p:spPr>
          <a:xfrm>
            <a:off x="4377000" y="2300000"/>
            <a:ext cx="2003000" cy="420000"/>
          </a:xfrm>
          <a:prstGeom prst="rect">
            <a:avLst/>
          </a:prstGeom>
          <a:solidFill>
            <a:srgbClr val="D9D9D9"/>
          </a:solidFill>
          <a:ln w="12700">
            <a:solidFill>
              <a:srgbClr val="404040"/>
            </a:solidFill>
          </a:ln>
        </p:spPr>
        <p:txBody>
          <a:bodyPr rtlCol="0" anchor="ctr" lIns="30000" rIns="30000" tIns="0" bIns="0" wrap="square"/>
          <a:lstStyle/>
          <a:p>
            <a:pPr algn="ctr"/>
          </a:p>
        </p:txBody>
      </p:sp>
      <p:sp>
        <p:nvSpPr>
          <p:cNvPr id="222" name="TextBox 221"/>
          <p:cNvSpPr txBox="1"/>
          <p:nvPr/>
        </p:nvSpPr>
        <p:spPr>
          <a:xfrm>
            <a:off x="4437000" y="2300000"/>
            <a:ext cx="1923000" cy="4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출하 </a:t>
            </a:r>
            <a:r>
              <a:rPr sz="700" b="0" i="0">
                <a:solidFill>
                  <a:srgbClr val="EB002C"/>
                </a:solidFill>
                <a:latin typeface="Noto Sans KR"/>
                <a:ea typeface="Noto Sans KR"/>
                <a:cs typeface="Noto Sans KR"/>
              </a:rPr>
              <a:t>■</a:t>
            </a:r>
            <a:r>
              <a:rPr sz="75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 SK하이닉스  </a:t>
            </a:r>
            <a:r>
              <a:rPr sz="700" b="0" i="0">
                <a:solidFill>
                  <a:srgbClr val="1B8A95"/>
                </a:solidFill>
                <a:latin typeface="Noto Sans KR"/>
                <a:ea typeface="Noto Sans KR"/>
                <a:cs typeface="Noto Sans KR"/>
              </a:rPr>
              <a:t>■</a:t>
            </a:r>
            <a:r>
              <a:rPr sz="75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 CXMT</a:t>
            </a:r>
          </a:p>
        </p:txBody>
      </p:sp>
      <p:sp>
        <p:nvSpPr>
          <p:cNvPr id="223" name="Rounded Rectangle 222"/>
          <p:cNvSpPr/>
          <p:nvPr/>
        </p:nvSpPr>
        <p:spPr>
          <a:xfrm>
            <a:off x="3637000" y="2900000"/>
            <a:ext cx="460000" cy="260000"/>
          </a:xfrm>
          <a:prstGeom prst="roundRect">
            <a:avLst>
              <a:gd name="adj" fmla="val 20000"/>
            </a:avLst>
          </a:prstGeom>
          <a:solidFill>
            <a:srgbClr val="2E75B6"/>
          </a:solidFill>
          <a:ln>
            <a:noFill/>
          </a:ln>
        </p:spPr>
        <p:txBody>
          <a:bodyPr rtlCol="0" anchor="ctr" lIns="30000" rIns="30000" tIns="0" bIns="0"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OQC</a:t>
            </a:r>
          </a:p>
        </p:txBody>
      </p:sp>
      <p:cxnSp>
        <p:nvCxnSpPr>
          <p:cNvPr id="224" name="Connector 223"/>
          <p:cNvCxnSpPr/>
          <p:nvPr/>
        </p:nvCxnSpPr>
        <p:spPr>
          <a:xfrm>
            <a:off x="3537000" y="3030000"/>
            <a:ext cx="100000" cy="0"/>
          </a:xfrm>
          <a:prstGeom prst="line">
            <a:avLst/>
          </a:prstGeom>
          <a:ln w="15875">
            <a:solidFill>
              <a:srgbClr val="1A1A1A"/>
            </a:solidFill>
            <a:tailEnd type="triangle" w="med" len="med"/>
          </a:ln>
        </p:spPr>
      </p:cxnSp>
      <p:cxnSp>
        <p:nvCxnSpPr>
          <p:cNvPr id="225" name="Connector 224"/>
          <p:cNvCxnSpPr/>
          <p:nvPr/>
        </p:nvCxnSpPr>
        <p:spPr>
          <a:xfrm>
            <a:off x="4097000" y="3030000"/>
            <a:ext cx="280000" cy="0"/>
          </a:xfrm>
          <a:prstGeom prst="line">
            <a:avLst/>
          </a:prstGeom>
          <a:ln w="15875">
            <a:solidFill>
              <a:srgbClr val="1A1A1A"/>
            </a:solidFill>
            <a:tailEnd type="triangle" w="med" len="med"/>
          </a:ln>
        </p:spPr>
      </p:cxnSp>
      <p:sp>
        <p:nvSpPr>
          <p:cNvPr id="226" name="Rectangle 225"/>
          <p:cNvSpPr/>
          <p:nvPr/>
        </p:nvSpPr>
        <p:spPr>
          <a:xfrm>
            <a:off x="4377000" y="2820000"/>
            <a:ext cx="2003000" cy="420000"/>
          </a:xfrm>
          <a:prstGeom prst="rect">
            <a:avLst/>
          </a:prstGeom>
          <a:solidFill>
            <a:srgbClr val="D9D9D9"/>
          </a:solidFill>
          <a:ln w="12700">
            <a:solidFill>
              <a:srgbClr val="404040"/>
            </a:solidFill>
          </a:ln>
        </p:spPr>
        <p:txBody>
          <a:bodyPr rtlCol="0" anchor="ctr" lIns="30000" rIns="30000" tIns="0" bIns="0" wrap="square"/>
          <a:lstStyle/>
          <a:p>
            <a:pPr algn="ctr"/>
          </a:p>
        </p:txBody>
      </p:sp>
      <p:sp>
        <p:nvSpPr>
          <p:cNvPr id="227" name="TextBox 226"/>
          <p:cNvSpPr txBox="1"/>
          <p:nvPr/>
        </p:nvSpPr>
        <p:spPr>
          <a:xfrm>
            <a:off x="4437000" y="2820000"/>
            <a:ext cx="1923000" cy="4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출하 </a:t>
            </a:r>
            <a:r>
              <a:rPr sz="700" b="0" i="0">
                <a:solidFill>
                  <a:srgbClr val="FF7900"/>
                </a:solidFill>
                <a:latin typeface="Noto Sans KR"/>
                <a:ea typeface="Noto Sans KR"/>
                <a:cs typeface="Noto Sans KR"/>
              </a:rPr>
              <a:t>■</a:t>
            </a:r>
            <a:r>
              <a:rPr sz="75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 이지켐</a:t>
            </a:r>
          </a:p>
        </p:txBody>
      </p:sp>
      <p:sp>
        <p:nvSpPr>
          <p:cNvPr id="228" name="TextBox 227"/>
          <p:cNvSpPr txBox="1"/>
          <p:nvPr/>
        </p:nvSpPr>
        <p:spPr>
          <a:xfrm>
            <a:off x="3567000" y="3250000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630" b="1" i="0">
                <a:solidFill>
                  <a:srgbClr val="385723"/>
                </a:solidFill>
                <a:latin typeface="Noto Sans KR"/>
                <a:ea typeface="Noto Sans KR"/>
                <a:cs typeface="Noto Sans KR"/>
              </a:rPr>
              <a:t>OQC·출하 2 h</a:t>
            </a:r>
          </a:p>
        </p:txBody>
      </p:sp>
      <p:cxnSp>
        <p:nvCxnSpPr>
          <p:cNvPr id="229" name="Connector 228"/>
          <p:cNvCxnSpPr/>
          <p:nvPr/>
        </p:nvCxnSpPr>
        <p:spPr>
          <a:xfrm>
            <a:off x="5847000" y="2065000"/>
            <a:ext cx="0" cy="165000"/>
          </a:xfrm>
          <a:prstGeom prst="line">
            <a:avLst/>
          </a:prstGeom>
          <a:ln w="15875">
            <a:solidFill>
              <a:srgbClr val="1A1A1A"/>
            </a:solidFill>
          </a:ln>
        </p:spPr>
      </p:cxnSp>
      <p:cxnSp>
        <p:nvCxnSpPr>
          <p:cNvPr id="230" name="Connector 229"/>
          <p:cNvCxnSpPr/>
          <p:nvPr/>
        </p:nvCxnSpPr>
        <p:spPr>
          <a:xfrm flipH="1">
            <a:off x="617000" y="2230000"/>
            <a:ext cx="5230000" cy="0"/>
          </a:xfrm>
          <a:prstGeom prst="line">
            <a:avLst/>
          </a:prstGeom>
          <a:ln w="15875">
            <a:solidFill>
              <a:srgbClr val="1A1A1A"/>
            </a:solidFill>
          </a:ln>
        </p:spPr>
      </p:cxnSp>
      <p:cxnSp>
        <p:nvCxnSpPr>
          <p:cNvPr id="231" name="Connector 230"/>
          <p:cNvCxnSpPr/>
          <p:nvPr/>
        </p:nvCxnSpPr>
        <p:spPr>
          <a:xfrm>
            <a:off x="617000" y="2230000"/>
            <a:ext cx="0" cy="410000"/>
          </a:xfrm>
          <a:prstGeom prst="line">
            <a:avLst/>
          </a:prstGeom>
          <a:ln w="15875">
            <a:solidFill>
              <a:srgbClr val="1A1A1A"/>
            </a:solidFill>
            <a:tailEnd type="triangle" w="med" len="med"/>
          </a:ln>
        </p:spPr>
      </p:cxnSp>
      <p:cxnSp>
        <p:nvCxnSpPr>
          <p:cNvPr id="232" name="Connector 231"/>
          <p:cNvCxnSpPr/>
          <p:nvPr/>
        </p:nvCxnSpPr>
        <p:spPr>
          <a:xfrm flipV="1">
            <a:off x="4897000" y="975000"/>
            <a:ext cx="0" cy="205000"/>
          </a:xfrm>
          <a:prstGeom prst="line">
            <a:avLst/>
          </a:prstGeom>
          <a:ln w="12700">
            <a:solidFill>
              <a:srgbClr val="E00000"/>
            </a:solidFill>
            <a:prstDash val="dash"/>
          </a:ln>
        </p:spPr>
      </p:cxnSp>
      <p:cxnSp>
        <p:nvCxnSpPr>
          <p:cNvPr id="233" name="Connector 232"/>
          <p:cNvCxnSpPr/>
          <p:nvPr/>
        </p:nvCxnSpPr>
        <p:spPr>
          <a:xfrm flipH="1">
            <a:off x="3702000" y="975000"/>
            <a:ext cx="1195000" cy="0"/>
          </a:xfrm>
          <a:prstGeom prst="line">
            <a:avLst/>
          </a:prstGeom>
          <a:ln w="12700">
            <a:solidFill>
              <a:srgbClr val="E00000"/>
            </a:solidFill>
            <a:prstDash val="dash"/>
          </a:ln>
        </p:spPr>
      </p:cxnSp>
      <p:cxnSp>
        <p:nvCxnSpPr>
          <p:cNvPr id="234" name="Connector 233"/>
          <p:cNvCxnSpPr/>
          <p:nvPr/>
        </p:nvCxnSpPr>
        <p:spPr>
          <a:xfrm>
            <a:off x="3702000" y="975000"/>
            <a:ext cx="0" cy="85000"/>
          </a:xfrm>
          <a:prstGeom prst="line">
            <a:avLst/>
          </a:prstGeom>
          <a:ln w="12700">
            <a:solidFill>
              <a:srgbClr val="E00000"/>
            </a:solidFill>
            <a:prstDash val="dash"/>
            <a:tailEnd type="triangle" w="med" len="med"/>
          </a:ln>
        </p:spPr>
      </p:cxnSp>
      <p:sp>
        <p:nvSpPr>
          <p:cNvPr id="235" name="TextBox 234"/>
          <p:cNvSpPr txBox="1"/>
          <p:nvPr/>
        </p:nvSpPr>
        <p:spPr>
          <a:xfrm>
            <a:off x="4927000" y="955000"/>
            <a:ext cx="1100000" cy="1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630" b="1" i="0">
                <a:solidFill>
                  <a:srgbClr val="E00000"/>
                </a:solidFill>
                <a:latin typeface="Noto Sans KR"/>
                <a:ea typeface="Noto Sans KR"/>
                <a:cs typeface="Noto Sans KR"/>
              </a:rPr>
              <a:t>PQC NG → 정제 복귀</a:t>
            </a:r>
          </a:p>
        </p:txBody>
      </p:sp>
      <p:cxnSp>
        <p:nvCxnSpPr>
          <p:cNvPr id="236" name="Connector 235"/>
          <p:cNvCxnSpPr/>
          <p:nvPr/>
        </p:nvCxnSpPr>
        <p:spPr>
          <a:xfrm flipV="1">
            <a:off x="797000" y="2300000"/>
            <a:ext cx="0" cy="340000"/>
          </a:xfrm>
          <a:prstGeom prst="line">
            <a:avLst/>
          </a:prstGeom>
          <a:ln w="12700">
            <a:solidFill>
              <a:srgbClr val="E00000"/>
            </a:solidFill>
            <a:prstDash val="dash"/>
          </a:ln>
        </p:spPr>
      </p:cxnSp>
      <p:cxnSp>
        <p:nvCxnSpPr>
          <p:cNvPr id="237" name="Connector 236"/>
          <p:cNvCxnSpPr/>
          <p:nvPr/>
        </p:nvCxnSpPr>
        <p:spPr>
          <a:xfrm>
            <a:off x="797000" y="2300000"/>
            <a:ext cx="3155000" cy="0"/>
          </a:xfrm>
          <a:prstGeom prst="line">
            <a:avLst/>
          </a:prstGeom>
          <a:ln w="12700">
            <a:solidFill>
              <a:srgbClr val="E00000"/>
            </a:solidFill>
            <a:prstDash val="dash"/>
          </a:ln>
        </p:spPr>
      </p:cxnSp>
      <p:cxnSp>
        <p:nvCxnSpPr>
          <p:cNvPr id="238" name="Connector 237"/>
          <p:cNvCxnSpPr/>
          <p:nvPr/>
        </p:nvCxnSpPr>
        <p:spPr>
          <a:xfrm flipV="1">
            <a:off x="3952000" y="1910000"/>
            <a:ext cx="0" cy="390000"/>
          </a:xfrm>
          <a:prstGeom prst="line">
            <a:avLst/>
          </a:prstGeom>
          <a:ln w="12700">
            <a:solidFill>
              <a:srgbClr val="E00000"/>
            </a:solidFill>
            <a:prstDash val="dash"/>
            <a:tailEnd type="triangle" w="med" len="med"/>
          </a:ln>
        </p:spPr>
      </p:cxnSp>
      <p:sp>
        <p:nvSpPr>
          <p:cNvPr id="239" name="TextBox 238"/>
          <p:cNvSpPr txBox="1"/>
          <p:nvPr/>
        </p:nvSpPr>
        <p:spPr>
          <a:xfrm>
            <a:off x="4002000" y="2150000"/>
            <a:ext cx="1400000" cy="1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630" b="1" i="0">
                <a:solidFill>
                  <a:srgbClr val="E00000"/>
                </a:solidFill>
                <a:latin typeface="Noto Sans KR"/>
                <a:ea typeface="Noto Sans KR"/>
                <a:cs typeface="Noto Sans KR"/>
              </a:rPr>
              <a:t>FQC NG → 정제 복귀 (조건 확인)</a:t>
            </a:r>
          </a:p>
        </p:txBody>
      </p:sp>
      <p:sp>
        <p:nvSpPr>
          <p:cNvPr id="240" name="Rectangle 239"/>
          <p:cNvSpPr/>
          <p:nvPr/>
        </p:nvSpPr>
        <p:spPr>
          <a:xfrm>
            <a:off x="6480000" y="1010000"/>
            <a:ext cx="2377000" cy="2250000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txBody>
          <a:bodyPr rtlCol="0" anchor="ctr" lIns="30000" rIns="30000" tIns="0" bIns="0" wrap="square"/>
          <a:lstStyle/>
          <a:p>
            <a:pPr algn="ctr"/>
          </a:p>
        </p:txBody>
      </p:sp>
      <p:sp>
        <p:nvSpPr>
          <p:cNvPr id="241" name="TextBox 240"/>
          <p:cNvSpPr txBox="1"/>
          <p:nvPr/>
        </p:nvSpPr>
        <p:spPr>
          <a:xfrm>
            <a:off x="6570000" y="1070000"/>
            <a:ext cx="2197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As-is 운영 조건</a:t>
            </a:r>
          </a:p>
        </p:txBody>
      </p:sp>
      <p:sp>
        <p:nvSpPr>
          <p:cNvPr id="242" name="Rectangle 241"/>
          <p:cNvSpPr/>
          <p:nvPr/>
        </p:nvSpPr>
        <p:spPr>
          <a:xfrm>
            <a:off x="6570000" y="1375000"/>
            <a:ext cx="65000" cy="150000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txBody>
          <a:bodyPr rtlCol="0" anchor="ctr" lIns="30000" rIns="30000" tIns="0" bIns="0" wrap="square"/>
          <a:lstStyle/>
          <a:p>
            <a:pPr algn="ctr"/>
          </a:p>
        </p:txBody>
      </p:sp>
      <p:sp>
        <p:nvSpPr>
          <p:cNvPr id="243" name="TextBox 242"/>
          <p:cNvSpPr txBox="1"/>
          <p:nvPr/>
        </p:nvSpPr>
        <p:spPr>
          <a:xfrm>
            <a:off x="6690000" y="1330000"/>
            <a:ext cx="2117000" cy="2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0" i="0">
                <a:solidFill>
                  <a:srgbClr val="3F3F3F"/>
                </a:solidFill>
                <a:latin typeface="Noto Sans KR"/>
                <a:ea typeface="Noto Sans KR"/>
                <a:cs typeface="Noto Sans KR"/>
              </a:rPr>
              <a:t>정제기 1대 — 3개 고객 공동</a:t>
            </a:r>
          </a:p>
        </p:txBody>
      </p:sp>
      <p:sp>
        <p:nvSpPr>
          <p:cNvPr id="244" name="Rectangle 243"/>
          <p:cNvSpPr/>
          <p:nvPr/>
        </p:nvSpPr>
        <p:spPr>
          <a:xfrm>
            <a:off x="6570000" y="1635000"/>
            <a:ext cx="65000" cy="150000"/>
          </a:xfrm>
          <a:prstGeom prst="rect">
            <a:avLst/>
          </a:prstGeom>
          <a:solidFill>
            <a:srgbClr val="EB002C"/>
          </a:solidFill>
          <a:ln>
            <a:noFill/>
          </a:ln>
        </p:spPr>
        <p:txBody>
          <a:bodyPr rtlCol="0" anchor="ctr" lIns="30000" rIns="30000" tIns="0" bIns="0" wrap="square"/>
          <a:lstStyle/>
          <a:p>
            <a:pPr algn="ctr"/>
          </a:p>
        </p:txBody>
      </p:sp>
      <p:sp>
        <p:nvSpPr>
          <p:cNvPr id="245" name="TextBox 244"/>
          <p:cNvSpPr txBox="1"/>
          <p:nvPr/>
        </p:nvSpPr>
        <p:spPr>
          <a:xfrm>
            <a:off x="6690000" y="1590000"/>
            <a:ext cx="2117000" cy="2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0" i="0">
                <a:solidFill>
                  <a:srgbClr val="3F3F3F"/>
                </a:solidFill>
                <a:latin typeface="Noto Sans KR"/>
                <a:ea typeface="Noto Sans KR"/>
                <a:cs typeface="Noto Sans KR"/>
              </a:rPr>
              <a:t>정제 · 충진 병렬 : 충진 중 다음 Batch 정제</a:t>
            </a:r>
          </a:p>
        </p:txBody>
      </p:sp>
      <p:sp>
        <p:nvSpPr>
          <p:cNvPr id="246" name="Rectangle 245"/>
          <p:cNvSpPr/>
          <p:nvPr/>
        </p:nvSpPr>
        <p:spPr>
          <a:xfrm>
            <a:off x="6570000" y="1895000"/>
            <a:ext cx="65000" cy="15000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txBody>
          <a:bodyPr rtlCol="0" anchor="ctr" lIns="30000" rIns="30000" tIns="0" bIns="0" wrap="square"/>
          <a:lstStyle/>
          <a:p>
            <a:pPr algn="ctr"/>
          </a:p>
        </p:txBody>
      </p:sp>
      <p:sp>
        <p:nvSpPr>
          <p:cNvPr id="247" name="TextBox 246"/>
          <p:cNvSpPr txBox="1"/>
          <p:nvPr/>
        </p:nvSpPr>
        <p:spPr>
          <a:xfrm>
            <a:off x="6690000" y="1850000"/>
            <a:ext cx="2117000" cy="2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0" i="0">
                <a:solidFill>
                  <a:srgbClr val="3F3F3F"/>
                </a:solidFill>
                <a:latin typeface="Noto Sans KR"/>
                <a:ea typeface="Noto Sans KR"/>
                <a:cs typeface="Noto Sans KR"/>
              </a:rPr>
              <a:t>103℃ · 57 h/Batch · 190 kg/Batch</a:t>
            </a:r>
          </a:p>
        </p:txBody>
      </p:sp>
      <p:sp>
        <p:nvSpPr>
          <p:cNvPr id="248" name="Rectangle 247"/>
          <p:cNvSpPr/>
          <p:nvPr/>
        </p:nvSpPr>
        <p:spPr>
          <a:xfrm>
            <a:off x="6570000" y="2155000"/>
            <a:ext cx="65000" cy="150000"/>
          </a:xfrm>
          <a:prstGeom prst="rect">
            <a:avLst/>
          </a:prstGeom>
          <a:solidFill>
            <a:srgbClr val="548235"/>
          </a:solidFill>
          <a:ln>
            <a:noFill/>
          </a:ln>
        </p:spPr>
        <p:txBody>
          <a:bodyPr rtlCol="0" anchor="ctr" lIns="30000" rIns="30000" tIns="0" bIns="0" wrap="square"/>
          <a:lstStyle/>
          <a:p>
            <a:pPr algn="ctr"/>
          </a:p>
        </p:txBody>
      </p:sp>
      <p:sp>
        <p:nvSpPr>
          <p:cNvPr id="249" name="TextBox 248"/>
          <p:cNvSpPr txBox="1"/>
          <p:nvPr/>
        </p:nvSpPr>
        <p:spPr>
          <a:xfrm>
            <a:off x="6690000" y="2110000"/>
            <a:ext cx="2117000" cy="2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0" i="0">
                <a:solidFill>
                  <a:srgbClr val="3F3F3F"/>
                </a:solidFill>
                <a:latin typeface="Noto Sans KR"/>
                <a:ea typeface="Noto Sans KR"/>
                <a:cs typeface="Noto Sans KR"/>
              </a:rPr>
              <a:t>5 Gal 20 kg — 글로브 박스</a:t>
            </a:r>
          </a:p>
        </p:txBody>
      </p:sp>
      <p:sp>
        <p:nvSpPr>
          <p:cNvPr id="250" name="Rectangle 249"/>
          <p:cNvSpPr/>
          <p:nvPr/>
        </p:nvSpPr>
        <p:spPr>
          <a:xfrm>
            <a:off x="6570000" y="2415000"/>
            <a:ext cx="65000" cy="150000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txBody>
          <a:bodyPr rtlCol="0" anchor="ctr" lIns="30000" rIns="30000" tIns="0" bIns="0" wrap="square"/>
          <a:lstStyle/>
          <a:p>
            <a:pPr algn="ctr"/>
          </a:p>
        </p:txBody>
      </p:sp>
      <p:sp>
        <p:nvSpPr>
          <p:cNvPr id="251" name="TextBox 250"/>
          <p:cNvSpPr txBox="1"/>
          <p:nvPr/>
        </p:nvSpPr>
        <p:spPr>
          <a:xfrm>
            <a:off x="6690000" y="2370000"/>
            <a:ext cx="2117000" cy="2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0" i="0">
                <a:solidFill>
                  <a:srgbClr val="3F3F3F"/>
                </a:solidFill>
                <a:latin typeface="Noto Sans KR"/>
                <a:ea typeface="Noto Sans KR"/>
                <a:cs typeface="Noto Sans KR"/>
              </a:rPr>
              <a:t>200 L 140 kg — 수동 충진</a:t>
            </a:r>
          </a:p>
        </p:txBody>
      </p:sp>
      <p:sp>
        <p:nvSpPr>
          <p:cNvPr id="252" name="Rounded Rectangle 251"/>
          <p:cNvSpPr/>
          <p:nvPr/>
        </p:nvSpPr>
        <p:spPr>
          <a:xfrm>
            <a:off x="6570000" y="2950000"/>
            <a:ext cx="380000" cy="130000"/>
          </a:xfrm>
          <a:prstGeom prst="roundRect">
            <a:avLst/>
          </a:prstGeom>
          <a:solidFill>
            <a:srgbClr val="E2EFD9"/>
          </a:solidFill>
          <a:ln w="9525">
            <a:solidFill>
              <a:srgbClr val="548235"/>
            </a:solidFill>
          </a:ln>
        </p:spPr>
        <p:txBody>
          <a:bodyPr rtlCol="0" anchor="ctr" lIns="30000" rIns="30000" tIns="0" bIns="0" wrap="square"/>
          <a:lstStyle/>
          <a:p>
            <a:pPr algn="ctr"/>
          </a:p>
        </p:txBody>
      </p:sp>
      <p:sp>
        <p:nvSpPr>
          <p:cNvPr id="253" name="TextBox 252"/>
          <p:cNvSpPr txBox="1"/>
          <p:nvPr/>
        </p:nvSpPr>
        <p:spPr>
          <a:xfrm>
            <a:off x="7000000" y="2930000"/>
            <a:ext cx="800000" cy="17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3F3F3F"/>
                </a:solidFill>
                <a:latin typeface="Noto Sans KR"/>
                <a:ea typeface="Noto Sans KR"/>
                <a:cs typeface="Noto Sans KR"/>
              </a:rPr>
              <a:t>제공 시간</a:t>
            </a:r>
          </a:p>
        </p:txBody>
      </p:sp>
      <p:sp>
        <p:nvSpPr>
          <p:cNvPr id="254" name="Rounded Rectangle 253"/>
          <p:cNvSpPr/>
          <p:nvPr/>
        </p:nvSpPr>
        <p:spPr>
          <a:xfrm>
            <a:off x="7730000" y="2950000"/>
            <a:ext cx="380000" cy="130000"/>
          </a:xfrm>
          <a:prstGeom prst="roundRect">
            <a:avLst/>
          </a:prstGeom>
          <a:solidFill>
            <a:srgbClr val="FFF2CC"/>
          </a:solidFill>
          <a:ln w="9525">
            <a:solidFill>
              <a:srgbClr val="BF9000"/>
            </a:solidFill>
          </a:ln>
        </p:spPr>
        <p:txBody>
          <a:bodyPr rtlCol="0" anchor="ctr" lIns="30000" rIns="30000" tIns="0" bIns="0" wrap="square"/>
          <a:lstStyle/>
          <a:p>
            <a:pPr algn="ctr"/>
          </a:p>
        </p:txBody>
      </p:sp>
      <p:sp>
        <p:nvSpPr>
          <p:cNvPr id="255" name="TextBox 254"/>
          <p:cNvSpPr txBox="1"/>
          <p:nvPr/>
        </p:nvSpPr>
        <p:spPr>
          <a:xfrm>
            <a:off x="8160000" y="2930000"/>
            <a:ext cx="700000" cy="17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3F3F3F"/>
                </a:solidFill>
                <a:latin typeface="Noto Sans KR"/>
                <a:ea typeface="Noto Sans KR"/>
                <a:cs typeface="Noto Sans KR"/>
              </a:rPr>
              <a:t>미확인</a:t>
            </a:r>
          </a:p>
        </p:txBody>
      </p:sp>
      <p:cxnSp>
        <p:nvCxnSpPr>
          <p:cNvPr id="256" name="Connector 255"/>
          <p:cNvCxnSpPr/>
          <p:nvPr/>
        </p:nvCxnSpPr>
        <p:spPr>
          <a:xfrm>
            <a:off x="6570000" y="3180000"/>
            <a:ext cx="260000" cy="0"/>
          </a:xfrm>
          <a:prstGeom prst="line">
            <a:avLst/>
          </a:prstGeom>
          <a:ln w="12700">
            <a:solidFill>
              <a:srgbClr val="E00000"/>
            </a:solidFill>
            <a:prstDash val="dash"/>
          </a:ln>
        </p:spPr>
      </p:cxnSp>
      <p:sp>
        <p:nvSpPr>
          <p:cNvPr id="257" name="TextBox 256"/>
          <p:cNvSpPr txBox="1"/>
          <p:nvPr/>
        </p:nvSpPr>
        <p:spPr>
          <a:xfrm>
            <a:off x="6880000" y="3105000"/>
            <a:ext cx="15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3F3F3F"/>
                </a:solidFill>
                <a:latin typeface="Noto Sans KR"/>
                <a:ea typeface="Noto Sans KR"/>
                <a:cs typeface="Noto Sans KR"/>
              </a:rPr>
              <a:t>부적합 복귀 (조건 확인)</a:t>
            </a:r>
          </a:p>
        </p:txBody>
      </p:sp>
      <p:sp>
        <p:nvSpPr>
          <p:cNvPr id="258" name="Rectangle 257"/>
          <p:cNvSpPr/>
          <p:nvPr/>
        </p:nvSpPr>
        <p:spPr>
          <a:xfrm>
            <a:off x="287000" y="3430000"/>
            <a:ext cx="50000" cy="165000"/>
          </a:xfrm>
          <a:prstGeom prst="rect">
            <a:avLst/>
          </a:prstGeom>
          <a:solidFill>
            <a:srgbClr val="EB002C"/>
          </a:solidFill>
          <a:ln>
            <a:noFill/>
          </a:ln>
        </p:spPr>
        <p:txBody>
          <a:bodyPr rtlCol="0" anchor="ctr" lIns="30000" rIns="30000" tIns="0" bIns="0" wrap="square"/>
          <a:lstStyle/>
          <a:p>
            <a:pPr algn="ctr"/>
          </a:p>
        </p:txBody>
      </p:sp>
      <p:sp>
        <p:nvSpPr>
          <p:cNvPr id="259" name="TextBox 258"/>
          <p:cNvSpPr txBox="1"/>
          <p:nvPr/>
        </p:nvSpPr>
        <p:spPr>
          <a:xfrm>
            <a:off x="397000" y="3400000"/>
            <a:ext cx="8000000" cy="2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① 한 Batch 확인 공정시간 (Lead Time)</a:t>
            </a:r>
            <a:r>
              <a:rPr sz="700" b="0" i="0">
                <a:solidFill>
                  <a:srgbClr val="7F7F7F"/>
                </a:solidFill>
                <a:latin typeface="Noto Sans KR"/>
                <a:ea typeface="Noto Sans KR"/>
                <a:cs typeface="Noto Sans KR"/>
              </a:rPr>
              <a:t>   제공 시간 합계 · 생산 간격 아님</a:t>
            </a:r>
          </a:p>
        </p:txBody>
      </p:sp>
      <p:sp>
        <p:nvSpPr>
          <p:cNvPr id="260" name="Rectangle 259"/>
          <p:cNvSpPr/>
          <p:nvPr/>
        </p:nvSpPr>
        <p:spPr>
          <a:xfrm>
            <a:off x="5537000" y="3455000"/>
            <a:ext cx="150000" cy="100000"/>
          </a:xfrm>
          <a:prstGeom prst="rect">
            <a:avLst/>
          </a:prstGeom>
          <a:solidFill>
            <a:srgbClr val="FDEDF0"/>
          </a:solidFill>
          <a:ln w="12700">
            <a:solidFill>
              <a:srgbClr val="EB002C"/>
            </a:solidFill>
          </a:ln>
        </p:spPr>
        <p:txBody>
          <a:bodyPr rtlCol="0" anchor="ctr" lIns="30000" rIns="30000" tIns="0" bIns="0" wrap="square"/>
          <a:lstStyle/>
          <a:p>
            <a:pPr algn="ctr"/>
          </a:p>
        </p:txBody>
      </p:sp>
      <p:sp>
        <p:nvSpPr>
          <p:cNvPr id="261" name="TextBox 260"/>
          <p:cNvSpPr txBox="1"/>
          <p:nvPr/>
        </p:nvSpPr>
        <p:spPr>
          <a:xfrm>
            <a:off x="5727000" y="3430000"/>
            <a:ext cx="7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3F3F3F"/>
                </a:solidFill>
                <a:latin typeface="Noto Sans KR"/>
                <a:ea typeface="Noto Sans KR"/>
                <a:cs typeface="Noto Sans KR"/>
              </a:rPr>
              <a:t>확정</a:t>
            </a:r>
          </a:p>
        </p:txBody>
      </p:sp>
      <p:sp>
        <p:nvSpPr>
          <p:cNvPr id="262" name="Rectangle 261"/>
          <p:cNvSpPr/>
          <p:nvPr/>
        </p:nvSpPr>
        <p:spPr>
          <a:xfrm>
            <a:off x="6077000" y="3455000"/>
            <a:ext cx="150000" cy="100000"/>
          </a:xfrm>
          <a:prstGeom prst="rect">
            <a:avLst/>
          </a:prstGeom>
          <a:solidFill>
            <a:srgbClr val="EAF1FA"/>
          </a:solidFill>
          <a:ln w="12700">
            <a:solidFill>
              <a:srgbClr val="2E75B6"/>
            </a:solidFill>
          </a:ln>
        </p:spPr>
        <p:txBody>
          <a:bodyPr rtlCol="0" anchor="ctr" lIns="30000" rIns="30000" tIns="0" bIns="0" wrap="square"/>
          <a:lstStyle/>
          <a:p>
            <a:pPr algn="ctr"/>
          </a:p>
        </p:txBody>
      </p:sp>
      <p:sp>
        <p:nvSpPr>
          <p:cNvPr id="263" name="TextBox 262"/>
          <p:cNvSpPr txBox="1"/>
          <p:nvPr/>
        </p:nvSpPr>
        <p:spPr>
          <a:xfrm>
            <a:off x="6267000" y="3430000"/>
            <a:ext cx="7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3F3F3F"/>
                </a:solidFill>
                <a:latin typeface="Noto Sans KR"/>
                <a:ea typeface="Noto Sans KR"/>
                <a:cs typeface="Noto Sans KR"/>
              </a:rPr>
              <a:t>계획·제시</a:t>
            </a:r>
          </a:p>
        </p:txBody>
      </p:sp>
      <p:sp>
        <p:nvSpPr>
          <p:cNvPr id="264" name="Rectangle 263"/>
          <p:cNvSpPr/>
          <p:nvPr/>
        </p:nvSpPr>
        <p:spPr>
          <a:xfrm>
            <a:off x="6842000" y="3455000"/>
            <a:ext cx="150000" cy="100000"/>
          </a:xfrm>
          <a:prstGeom prst="rect">
            <a:avLst/>
          </a:prstGeom>
          <a:solidFill>
            <a:srgbClr val="FFF8E7"/>
          </a:solidFill>
          <a:ln w="12700">
            <a:solidFill>
              <a:srgbClr val="BF9000"/>
            </a:solidFill>
          </a:ln>
        </p:spPr>
        <p:txBody>
          <a:bodyPr rtlCol="0" anchor="ctr" lIns="30000" rIns="30000" tIns="0" bIns="0" wrap="square"/>
          <a:lstStyle/>
          <a:p>
            <a:pPr algn="ctr"/>
          </a:p>
        </p:txBody>
      </p:sp>
      <p:sp>
        <p:nvSpPr>
          <p:cNvPr id="265" name="TextBox 264"/>
          <p:cNvSpPr txBox="1"/>
          <p:nvPr/>
        </p:nvSpPr>
        <p:spPr>
          <a:xfrm>
            <a:off x="7032000" y="3430000"/>
            <a:ext cx="7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3F3F3F"/>
                </a:solidFill>
                <a:latin typeface="Noto Sans KR"/>
                <a:ea typeface="Noto Sans KR"/>
                <a:cs typeface="Noto Sans KR"/>
              </a:rPr>
              <a:t>추정</a:t>
            </a:r>
          </a:p>
        </p:txBody>
      </p:sp>
      <p:sp>
        <p:nvSpPr>
          <p:cNvPr id="266" name="Rectangle 265"/>
          <p:cNvSpPr/>
          <p:nvPr/>
        </p:nvSpPr>
        <p:spPr>
          <a:xfrm>
            <a:off x="7382000" y="3455000"/>
            <a:ext cx="150000" cy="1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7F7F7F"/>
            </a:solidFill>
            <a:prstDash val="dash"/>
          </a:ln>
        </p:spPr>
        <p:txBody>
          <a:bodyPr rtlCol="0" anchor="ctr" lIns="30000" rIns="30000" tIns="0" bIns="0" wrap="square"/>
          <a:lstStyle/>
          <a:p>
            <a:pPr algn="ctr"/>
          </a:p>
        </p:txBody>
      </p:sp>
      <p:sp>
        <p:nvSpPr>
          <p:cNvPr id="267" name="TextBox 266"/>
          <p:cNvSpPr txBox="1"/>
          <p:nvPr/>
        </p:nvSpPr>
        <p:spPr>
          <a:xfrm>
            <a:off x="7572000" y="3430000"/>
            <a:ext cx="7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3F3F3F"/>
                </a:solidFill>
                <a:latin typeface="Noto Sans KR"/>
                <a:ea typeface="Noto Sans KR"/>
                <a:cs typeface="Noto Sans KR"/>
              </a:rPr>
              <a:t>환산 참고</a:t>
            </a:r>
          </a:p>
        </p:txBody>
      </p:sp>
      <p:sp>
        <p:nvSpPr>
          <p:cNvPr id="268" name="Rectangle 267"/>
          <p:cNvSpPr/>
          <p:nvPr/>
        </p:nvSpPr>
        <p:spPr>
          <a:xfrm>
            <a:off x="8147000" y="3455000"/>
            <a:ext cx="150000" cy="100000"/>
          </a:xfrm>
          <a:prstGeom prst="rect">
            <a:avLst/>
          </a:prstGeom>
          <a:solidFill>
            <a:srgbClr val="FBE5D6"/>
          </a:solidFill>
          <a:ln w="12700">
            <a:solidFill>
              <a:srgbClr val="ED7D31"/>
            </a:solidFill>
            <a:prstDash val="dash"/>
          </a:ln>
        </p:spPr>
        <p:txBody>
          <a:bodyPr rtlCol="0" anchor="ctr" lIns="30000" rIns="30000" tIns="0" bIns="0" wrap="square"/>
          <a:lstStyle/>
          <a:p>
            <a:pPr algn="ctr"/>
          </a:p>
        </p:txBody>
      </p:sp>
      <p:sp>
        <p:nvSpPr>
          <p:cNvPr id="269" name="TextBox 268"/>
          <p:cNvSpPr txBox="1"/>
          <p:nvPr/>
        </p:nvSpPr>
        <p:spPr>
          <a:xfrm>
            <a:off x="8337000" y="3430000"/>
            <a:ext cx="7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3F3F3F"/>
                </a:solidFill>
                <a:latin typeface="Noto Sans KR"/>
                <a:ea typeface="Noto Sans KR"/>
                <a:cs typeface="Noto Sans KR"/>
              </a:rPr>
              <a:t>검토안</a:t>
            </a:r>
          </a:p>
        </p:txBody>
      </p:sp>
      <p:sp>
        <p:nvSpPr>
          <p:cNvPr id="270" name="TextBox 269"/>
          <p:cNvSpPr txBox="1"/>
          <p:nvPr/>
        </p:nvSpPr>
        <p:spPr>
          <a:xfrm>
            <a:off x="287000" y="3680000"/>
            <a:ext cx="1300000" cy="25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8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5 Gal 경로</a:t>
            </a:r>
          </a:p>
        </p:txBody>
      </p:sp>
      <p:sp>
        <p:nvSpPr>
          <p:cNvPr id="271" name="Rectangle 270"/>
          <p:cNvSpPr/>
          <p:nvPr/>
        </p:nvSpPr>
        <p:spPr>
          <a:xfrm>
            <a:off x="1637000" y="3700000"/>
            <a:ext cx="131111" cy="210000"/>
          </a:xfrm>
          <a:prstGeom prst="rect">
            <a:avLst/>
          </a:prstGeom>
          <a:solidFill>
            <a:srgbClr val="2E75B6"/>
          </a:solidFill>
          <a:ln w="6350">
            <a:solidFill>
              <a:srgbClr val="FFFFFF"/>
            </a:solidFill>
          </a:ln>
        </p:spPr>
        <p:txBody>
          <a:bodyPr rtlCol="0" anchor="ctr" lIns="30000" rIns="30000" tIns="0" bIns="0" wrap="square"/>
          <a:lstStyle/>
          <a:p>
            <a:pPr algn="ctr"/>
          </a:p>
        </p:txBody>
      </p:sp>
      <p:sp>
        <p:nvSpPr>
          <p:cNvPr id="272" name="Rectangle 271"/>
          <p:cNvSpPr/>
          <p:nvPr/>
        </p:nvSpPr>
        <p:spPr>
          <a:xfrm>
            <a:off x="1768111" y="3700000"/>
            <a:ext cx="3736666" cy="210000"/>
          </a:xfrm>
          <a:prstGeom prst="rect">
            <a:avLst/>
          </a:prstGeom>
          <a:solidFill>
            <a:srgbClr val="FF7900"/>
          </a:solidFill>
          <a:ln w="6350">
            <a:solidFill>
              <a:srgbClr val="FFFFFF"/>
            </a:solidFill>
          </a:ln>
        </p:spPr>
        <p:txBody>
          <a:bodyPr rtlCol="0" anchor="ctr" lIns="30000" rIns="30000" tIns="0" bIns="0" wrap="square"/>
          <a:lstStyle/>
          <a:p>
            <a:pPr algn="ctr"/>
            <a:r>
              <a:rPr sz="63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정제 57 h</a:t>
            </a:r>
          </a:p>
        </p:txBody>
      </p:sp>
      <p:sp>
        <p:nvSpPr>
          <p:cNvPr id="273" name="Rectangle 272"/>
          <p:cNvSpPr/>
          <p:nvPr/>
        </p:nvSpPr>
        <p:spPr>
          <a:xfrm>
            <a:off x="5504777" y="3700000"/>
            <a:ext cx="131111" cy="210000"/>
          </a:xfrm>
          <a:prstGeom prst="rect">
            <a:avLst/>
          </a:prstGeom>
          <a:solidFill>
            <a:srgbClr val="2E75B6"/>
          </a:solidFill>
          <a:ln w="6350">
            <a:solidFill>
              <a:srgbClr val="FFFFFF"/>
            </a:solidFill>
          </a:ln>
        </p:spPr>
        <p:txBody>
          <a:bodyPr rtlCol="0" anchor="ctr" lIns="30000" rIns="30000" tIns="0" bIns="0" wrap="square"/>
          <a:lstStyle/>
          <a:p>
            <a:pPr algn="ctr"/>
          </a:p>
        </p:txBody>
      </p:sp>
      <p:sp>
        <p:nvSpPr>
          <p:cNvPr id="274" name="Rectangle 273"/>
          <p:cNvSpPr/>
          <p:nvPr/>
        </p:nvSpPr>
        <p:spPr>
          <a:xfrm>
            <a:off x="5635888" y="3700000"/>
            <a:ext cx="1048888" cy="210000"/>
          </a:xfrm>
          <a:prstGeom prst="rect">
            <a:avLst/>
          </a:prstGeom>
          <a:solidFill>
            <a:srgbClr val="548235"/>
          </a:solidFill>
          <a:ln w="6350">
            <a:solidFill>
              <a:srgbClr val="FFFFFF"/>
            </a:solidFill>
          </a:ln>
        </p:spPr>
        <p:txBody>
          <a:bodyPr rtlCol="0" anchor="ctr" lIns="30000" rIns="30000" tIns="0" bIns="0" wrap="square"/>
          <a:lstStyle/>
          <a:p>
            <a:pPr algn="ctr"/>
            <a:r>
              <a:rPr sz="63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충진 16 h</a:t>
            </a:r>
          </a:p>
        </p:txBody>
      </p:sp>
      <p:sp>
        <p:nvSpPr>
          <p:cNvPr id="275" name="Rectangle 274"/>
          <p:cNvSpPr/>
          <p:nvPr/>
        </p:nvSpPr>
        <p:spPr>
          <a:xfrm>
            <a:off x="6684777" y="3700000"/>
            <a:ext cx="131111" cy="210000"/>
          </a:xfrm>
          <a:prstGeom prst="rect">
            <a:avLst/>
          </a:prstGeom>
          <a:solidFill>
            <a:srgbClr val="404040"/>
          </a:solidFill>
          <a:ln w="6350">
            <a:solidFill>
              <a:srgbClr val="FFFFFF"/>
            </a:solidFill>
          </a:ln>
        </p:spPr>
        <p:txBody>
          <a:bodyPr rtlCol="0" anchor="ctr" lIns="30000" rIns="30000" tIns="0" bIns="0" wrap="square"/>
          <a:lstStyle/>
          <a:p>
            <a:pPr algn="ctr"/>
          </a:p>
        </p:txBody>
      </p:sp>
      <p:sp>
        <p:nvSpPr>
          <p:cNvPr id="276" name="Rectangle 275"/>
          <p:cNvSpPr/>
          <p:nvPr/>
        </p:nvSpPr>
        <p:spPr>
          <a:xfrm>
            <a:off x="6815888" y="3700000"/>
            <a:ext cx="524444" cy="210000"/>
          </a:xfrm>
          <a:prstGeom prst="rect">
            <a:avLst/>
          </a:prstGeom>
          <a:solidFill>
            <a:srgbClr val="FFF2CC"/>
          </a:solidFill>
          <a:ln w="9525">
            <a:solidFill>
              <a:srgbClr val="BF9000"/>
            </a:solidFill>
            <a:prstDash val="dash"/>
          </a:ln>
        </p:spPr>
        <p:txBody>
          <a:bodyPr rtlCol="0" anchor="ctr" lIns="30000" rIns="30000" tIns="0" bIns="0" wrap="square"/>
          <a:lstStyle/>
          <a:p>
            <a:pPr algn="ctr"/>
            <a:r>
              <a:rPr sz="600" b="0" i="0">
                <a:solidFill>
                  <a:srgbClr val="7F6000"/>
                </a:solidFill>
                <a:latin typeface="Noto Sans KR"/>
                <a:ea typeface="Noto Sans KR"/>
                <a:cs typeface="Noto Sans KR"/>
              </a:rPr>
              <a:t>미확인</a:t>
            </a:r>
          </a:p>
        </p:txBody>
      </p:sp>
      <p:sp>
        <p:nvSpPr>
          <p:cNvPr id="277" name="TextBox 276"/>
          <p:cNvSpPr txBox="1"/>
          <p:nvPr/>
        </p:nvSpPr>
        <p:spPr>
          <a:xfrm>
            <a:off x="7400333" y="3680000"/>
            <a:ext cx="1500000" cy="25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79 h</a:t>
            </a:r>
            <a:r>
              <a:rPr sz="700" b="0" i="0">
                <a:solidFill>
                  <a:srgbClr val="7F7F7F"/>
                </a:solidFill>
                <a:latin typeface="Noto Sans KR"/>
                <a:ea typeface="Noto Sans KR"/>
                <a:cs typeface="Noto Sans KR"/>
              </a:rPr>
              <a:t> + 미확인</a:t>
            </a:r>
          </a:p>
        </p:txBody>
      </p:sp>
      <p:sp>
        <p:nvSpPr>
          <p:cNvPr id="278" name="TextBox 277"/>
          <p:cNvSpPr txBox="1"/>
          <p:nvPr/>
        </p:nvSpPr>
        <p:spPr>
          <a:xfrm>
            <a:off x="287000" y="4010000"/>
            <a:ext cx="1300000" cy="25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8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200 L 경로</a:t>
            </a:r>
          </a:p>
        </p:txBody>
      </p:sp>
      <p:sp>
        <p:nvSpPr>
          <p:cNvPr id="279" name="Rectangle 278"/>
          <p:cNvSpPr/>
          <p:nvPr/>
        </p:nvSpPr>
        <p:spPr>
          <a:xfrm>
            <a:off x="1637000" y="4030000"/>
            <a:ext cx="131111" cy="210000"/>
          </a:xfrm>
          <a:prstGeom prst="rect">
            <a:avLst/>
          </a:prstGeom>
          <a:solidFill>
            <a:srgbClr val="2E75B6"/>
          </a:solidFill>
          <a:ln w="6350">
            <a:solidFill>
              <a:srgbClr val="FFFFFF"/>
            </a:solidFill>
          </a:ln>
        </p:spPr>
        <p:txBody>
          <a:bodyPr rtlCol="0" anchor="ctr" lIns="30000" rIns="30000" tIns="0" bIns="0" wrap="square"/>
          <a:lstStyle/>
          <a:p>
            <a:pPr algn="ctr"/>
          </a:p>
        </p:txBody>
      </p:sp>
      <p:sp>
        <p:nvSpPr>
          <p:cNvPr id="280" name="Rectangle 279"/>
          <p:cNvSpPr/>
          <p:nvPr/>
        </p:nvSpPr>
        <p:spPr>
          <a:xfrm>
            <a:off x="1768111" y="4030000"/>
            <a:ext cx="3736666" cy="210000"/>
          </a:xfrm>
          <a:prstGeom prst="rect">
            <a:avLst/>
          </a:prstGeom>
          <a:solidFill>
            <a:srgbClr val="FF7900"/>
          </a:solidFill>
          <a:ln w="6350">
            <a:solidFill>
              <a:srgbClr val="FFFFFF"/>
            </a:solidFill>
          </a:ln>
        </p:spPr>
        <p:txBody>
          <a:bodyPr rtlCol="0" anchor="ctr" lIns="30000" rIns="30000" tIns="0" bIns="0" wrap="square"/>
          <a:lstStyle/>
          <a:p>
            <a:pPr algn="ctr"/>
            <a:r>
              <a:rPr sz="63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정제 57 h</a:t>
            </a:r>
          </a:p>
        </p:txBody>
      </p:sp>
      <p:sp>
        <p:nvSpPr>
          <p:cNvPr id="281" name="Rectangle 280"/>
          <p:cNvSpPr/>
          <p:nvPr/>
        </p:nvSpPr>
        <p:spPr>
          <a:xfrm>
            <a:off x="5504777" y="4030000"/>
            <a:ext cx="131111" cy="210000"/>
          </a:xfrm>
          <a:prstGeom prst="rect">
            <a:avLst/>
          </a:prstGeom>
          <a:solidFill>
            <a:srgbClr val="2E75B6"/>
          </a:solidFill>
          <a:ln w="6350">
            <a:solidFill>
              <a:srgbClr val="FFFFFF"/>
            </a:solidFill>
          </a:ln>
        </p:spPr>
        <p:txBody>
          <a:bodyPr rtlCol="0" anchor="ctr" lIns="30000" rIns="30000" tIns="0" bIns="0" wrap="square"/>
          <a:lstStyle/>
          <a:p>
            <a:pPr algn="ctr"/>
          </a:p>
        </p:txBody>
      </p:sp>
      <p:sp>
        <p:nvSpPr>
          <p:cNvPr id="282" name="Rectangle 281"/>
          <p:cNvSpPr/>
          <p:nvPr/>
        </p:nvSpPr>
        <p:spPr>
          <a:xfrm>
            <a:off x="5635888" y="4030000"/>
            <a:ext cx="524444" cy="210000"/>
          </a:xfrm>
          <a:prstGeom prst="rect">
            <a:avLst/>
          </a:prstGeom>
          <a:solidFill>
            <a:srgbClr val="FF7900"/>
          </a:solidFill>
          <a:ln w="6350">
            <a:solidFill>
              <a:srgbClr val="FFFFFF"/>
            </a:solidFill>
          </a:ln>
        </p:spPr>
        <p:txBody>
          <a:bodyPr rtlCol="0" anchor="ctr" lIns="30000" rIns="30000" tIns="0" bIns="0" wrap="square"/>
          <a:lstStyle/>
          <a:p>
            <a:pPr algn="ctr"/>
            <a:r>
              <a:rPr sz="63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충진 8 h</a:t>
            </a:r>
          </a:p>
        </p:txBody>
      </p:sp>
      <p:sp>
        <p:nvSpPr>
          <p:cNvPr id="283" name="Rectangle 282"/>
          <p:cNvSpPr/>
          <p:nvPr/>
        </p:nvSpPr>
        <p:spPr>
          <a:xfrm>
            <a:off x="6160333" y="4030000"/>
            <a:ext cx="131111" cy="210000"/>
          </a:xfrm>
          <a:prstGeom prst="rect">
            <a:avLst/>
          </a:prstGeom>
          <a:solidFill>
            <a:srgbClr val="404040"/>
          </a:solidFill>
          <a:ln w="6350">
            <a:solidFill>
              <a:srgbClr val="FFFFFF"/>
            </a:solidFill>
          </a:ln>
        </p:spPr>
        <p:txBody>
          <a:bodyPr rtlCol="0" anchor="ctr" lIns="30000" rIns="30000" tIns="0" bIns="0" wrap="square"/>
          <a:lstStyle/>
          <a:p>
            <a:pPr algn="ctr"/>
          </a:p>
        </p:txBody>
      </p:sp>
      <p:sp>
        <p:nvSpPr>
          <p:cNvPr id="284" name="Rectangle 283"/>
          <p:cNvSpPr/>
          <p:nvPr/>
        </p:nvSpPr>
        <p:spPr>
          <a:xfrm>
            <a:off x="6291444" y="4030000"/>
            <a:ext cx="524444" cy="210000"/>
          </a:xfrm>
          <a:prstGeom prst="rect">
            <a:avLst/>
          </a:prstGeom>
          <a:solidFill>
            <a:srgbClr val="FFF2CC"/>
          </a:solidFill>
          <a:ln w="9525">
            <a:solidFill>
              <a:srgbClr val="BF9000"/>
            </a:solidFill>
            <a:prstDash val="dash"/>
          </a:ln>
        </p:spPr>
        <p:txBody>
          <a:bodyPr rtlCol="0" anchor="ctr" lIns="30000" rIns="30000" tIns="0" bIns="0" wrap="square"/>
          <a:lstStyle/>
          <a:p>
            <a:pPr algn="ctr"/>
            <a:r>
              <a:rPr sz="600" b="0" i="0">
                <a:solidFill>
                  <a:srgbClr val="7F6000"/>
                </a:solidFill>
                <a:latin typeface="Noto Sans KR"/>
                <a:ea typeface="Noto Sans KR"/>
                <a:cs typeface="Noto Sans KR"/>
              </a:rPr>
              <a:t>미확인</a:t>
            </a:r>
          </a:p>
        </p:txBody>
      </p:sp>
      <p:sp>
        <p:nvSpPr>
          <p:cNvPr id="285" name="TextBox 284"/>
          <p:cNvSpPr txBox="1"/>
          <p:nvPr/>
        </p:nvSpPr>
        <p:spPr>
          <a:xfrm>
            <a:off x="6875888" y="4010000"/>
            <a:ext cx="1500000" cy="25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71 h</a:t>
            </a:r>
            <a:r>
              <a:rPr sz="700" b="0" i="0">
                <a:solidFill>
                  <a:srgbClr val="7F7F7F"/>
                </a:solidFill>
                <a:latin typeface="Noto Sans KR"/>
                <a:ea typeface="Noto Sans KR"/>
                <a:cs typeface="Noto Sans KR"/>
              </a:rPr>
              <a:t> + 미확인</a:t>
            </a:r>
          </a:p>
        </p:txBody>
      </p:sp>
      <p:sp>
        <p:nvSpPr>
          <p:cNvPr id="286" name="TextBox 285"/>
          <p:cNvSpPr txBox="1"/>
          <p:nvPr/>
        </p:nvSpPr>
        <p:spPr>
          <a:xfrm>
            <a:off x="287000" y="4350000"/>
            <a:ext cx="857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7F7F7F"/>
                </a:solidFill>
                <a:latin typeface="Noto Sans KR"/>
                <a:ea typeface="Noto Sans KR"/>
                <a:cs typeface="Noto Sans KR"/>
              </a:rPr>
              <a:t>※ 미확인 : 준비·투입 · PQC · Product Tank · 검사 대기 · 세척·전환 (정제 57 h 포함 여부 확인) · 5 Gal 16 h는 약 8병 기준 (190 kg 전량 9.5병이면 19 h)</a:t>
            </a:r>
          </a:p>
        </p:txBody>
      </p:sp>
      <p:sp>
        <p:nvSpPr>
          <p:cNvPr id="287" name="Rectangle 286"/>
          <p:cNvSpPr/>
          <p:nvPr/>
        </p:nvSpPr>
        <p:spPr>
          <a:xfrm>
            <a:off x="287000" y="4550000"/>
            <a:ext cx="50000" cy="165000"/>
          </a:xfrm>
          <a:prstGeom prst="rect">
            <a:avLst/>
          </a:prstGeom>
          <a:solidFill>
            <a:srgbClr val="EB002C"/>
          </a:solidFill>
          <a:ln>
            <a:noFill/>
          </a:ln>
        </p:spPr>
        <p:txBody>
          <a:bodyPr rtlCol="0" anchor="ctr" lIns="30000" rIns="30000" tIns="0" bIns="0" wrap="square"/>
          <a:lstStyle/>
          <a:p>
            <a:pPr algn="ctr"/>
          </a:p>
        </p:txBody>
      </p:sp>
      <p:sp>
        <p:nvSpPr>
          <p:cNvPr id="288" name="TextBox 287"/>
          <p:cNvSpPr txBox="1"/>
          <p:nvPr/>
        </p:nvSpPr>
        <p:spPr>
          <a:xfrm>
            <a:off x="397000" y="4520000"/>
            <a:ext cx="8000000" cy="2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② 11월 운전 타임테이블 — 정제기 1대 월 11 Batch 검증</a:t>
            </a:r>
            <a:r>
              <a:rPr sz="700" b="0" i="0">
                <a:solidFill>
                  <a:srgbClr val="7F7F7F"/>
                </a:solidFill>
                <a:latin typeface="Noto Sans KR"/>
                <a:ea typeface="Noto Sans KR"/>
                <a:cs typeface="Noto Sans KR"/>
              </a:rPr>
              <a:t>   사이클 65.5 h = 정제 57 h + 전환·대기 8.5 h</a:t>
            </a:r>
          </a:p>
        </p:txBody>
      </p:sp>
      <p:sp>
        <p:nvSpPr>
          <p:cNvPr id="289" name="Rectangle 288"/>
          <p:cNvSpPr/>
          <p:nvPr/>
        </p:nvSpPr>
        <p:spPr>
          <a:xfrm>
            <a:off x="1167000" y="4770000"/>
            <a:ext cx="256333" cy="845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 lIns="30000" rIns="30000" tIns="0" bIns="0" wrap="square"/>
          <a:lstStyle/>
          <a:p>
            <a:pPr algn="ctr"/>
          </a:p>
        </p:txBody>
      </p:sp>
      <p:sp>
        <p:nvSpPr>
          <p:cNvPr id="290" name="TextBox 289"/>
          <p:cNvSpPr txBox="1"/>
          <p:nvPr/>
        </p:nvSpPr>
        <p:spPr>
          <a:xfrm>
            <a:off x="1167000" y="4770000"/>
            <a:ext cx="256333" cy="1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1" i="0">
                <a:solidFill>
                  <a:srgbClr val="EB002C"/>
                </a:solidFill>
                <a:latin typeface="Noto Sans KR"/>
                <a:ea typeface="Noto Sans KR"/>
                <a:cs typeface="Noto Sans KR"/>
              </a:rPr>
              <a:t>1</a:t>
            </a:r>
          </a:p>
        </p:txBody>
      </p:sp>
      <p:sp>
        <p:nvSpPr>
          <p:cNvPr id="291" name="TextBox 290"/>
          <p:cNvSpPr txBox="1"/>
          <p:nvPr/>
        </p:nvSpPr>
        <p:spPr>
          <a:xfrm>
            <a:off x="1167000" y="4910000"/>
            <a:ext cx="256333" cy="115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550" b="0" i="0">
                <a:solidFill>
                  <a:srgbClr val="EB002C"/>
                </a:solidFill>
                <a:latin typeface="Noto Sans KR"/>
                <a:ea typeface="Noto Sans KR"/>
                <a:cs typeface="Noto Sans KR"/>
              </a:rPr>
              <a:t>일</a:t>
            </a:r>
          </a:p>
        </p:txBody>
      </p:sp>
      <p:sp>
        <p:nvSpPr>
          <p:cNvPr id="292" name="TextBox 291"/>
          <p:cNvSpPr txBox="1"/>
          <p:nvPr/>
        </p:nvSpPr>
        <p:spPr>
          <a:xfrm>
            <a:off x="1423333" y="4770000"/>
            <a:ext cx="256333" cy="1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2</a:t>
            </a:r>
          </a:p>
        </p:txBody>
      </p:sp>
      <p:sp>
        <p:nvSpPr>
          <p:cNvPr id="293" name="TextBox 292"/>
          <p:cNvSpPr txBox="1"/>
          <p:nvPr/>
        </p:nvSpPr>
        <p:spPr>
          <a:xfrm>
            <a:off x="1423333" y="4910000"/>
            <a:ext cx="256333" cy="115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550" b="0" i="0">
                <a:solidFill>
                  <a:srgbClr val="7F7F7F"/>
                </a:solidFill>
                <a:latin typeface="Noto Sans KR"/>
                <a:ea typeface="Noto Sans KR"/>
                <a:cs typeface="Noto Sans KR"/>
              </a:rPr>
              <a:t>월</a:t>
            </a:r>
          </a:p>
        </p:txBody>
      </p:sp>
      <p:sp>
        <p:nvSpPr>
          <p:cNvPr id="294" name="TextBox 293"/>
          <p:cNvSpPr txBox="1"/>
          <p:nvPr/>
        </p:nvSpPr>
        <p:spPr>
          <a:xfrm>
            <a:off x="1679666" y="4770000"/>
            <a:ext cx="256333" cy="1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3</a:t>
            </a:r>
          </a:p>
        </p:txBody>
      </p:sp>
      <p:sp>
        <p:nvSpPr>
          <p:cNvPr id="295" name="TextBox 294"/>
          <p:cNvSpPr txBox="1"/>
          <p:nvPr/>
        </p:nvSpPr>
        <p:spPr>
          <a:xfrm>
            <a:off x="1679666" y="4910000"/>
            <a:ext cx="256333" cy="115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550" b="0" i="0">
                <a:solidFill>
                  <a:srgbClr val="7F7F7F"/>
                </a:solidFill>
                <a:latin typeface="Noto Sans KR"/>
                <a:ea typeface="Noto Sans KR"/>
                <a:cs typeface="Noto Sans KR"/>
              </a:rPr>
              <a:t>화</a:t>
            </a:r>
          </a:p>
        </p:txBody>
      </p:sp>
      <p:sp>
        <p:nvSpPr>
          <p:cNvPr id="296" name="TextBox 295"/>
          <p:cNvSpPr txBox="1"/>
          <p:nvPr/>
        </p:nvSpPr>
        <p:spPr>
          <a:xfrm>
            <a:off x="1936000" y="4770000"/>
            <a:ext cx="256333" cy="1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4</a:t>
            </a:r>
          </a:p>
        </p:txBody>
      </p:sp>
      <p:sp>
        <p:nvSpPr>
          <p:cNvPr id="297" name="TextBox 296"/>
          <p:cNvSpPr txBox="1"/>
          <p:nvPr/>
        </p:nvSpPr>
        <p:spPr>
          <a:xfrm>
            <a:off x="1936000" y="4910000"/>
            <a:ext cx="256333" cy="115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550" b="0" i="0">
                <a:solidFill>
                  <a:srgbClr val="7F7F7F"/>
                </a:solidFill>
                <a:latin typeface="Noto Sans KR"/>
                <a:ea typeface="Noto Sans KR"/>
                <a:cs typeface="Noto Sans KR"/>
              </a:rPr>
              <a:t>수</a:t>
            </a:r>
          </a:p>
        </p:txBody>
      </p:sp>
      <p:sp>
        <p:nvSpPr>
          <p:cNvPr id="298" name="TextBox 297"/>
          <p:cNvSpPr txBox="1"/>
          <p:nvPr/>
        </p:nvSpPr>
        <p:spPr>
          <a:xfrm>
            <a:off x="2192333" y="4770000"/>
            <a:ext cx="256333" cy="1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5</a:t>
            </a:r>
          </a:p>
        </p:txBody>
      </p:sp>
      <p:sp>
        <p:nvSpPr>
          <p:cNvPr id="299" name="TextBox 298"/>
          <p:cNvSpPr txBox="1"/>
          <p:nvPr/>
        </p:nvSpPr>
        <p:spPr>
          <a:xfrm>
            <a:off x="2192333" y="4910000"/>
            <a:ext cx="256333" cy="115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550" b="0" i="0">
                <a:solidFill>
                  <a:srgbClr val="7F7F7F"/>
                </a:solidFill>
                <a:latin typeface="Noto Sans KR"/>
                <a:ea typeface="Noto Sans KR"/>
                <a:cs typeface="Noto Sans KR"/>
              </a:rPr>
              <a:t>목</a:t>
            </a:r>
          </a:p>
        </p:txBody>
      </p:sp>
      <p:sp>
        <p:nvSpPr>
          <p:cNvPr id="300" name="TextBox 299"/>
          <p:cNvSpPr txBox="1"/>
          <p:nvPr/>
        </p:nvSpPr>
        <p:spPr>
          <a:xfrm>
            <a:off x="2448666" y="4770000"/>
            <a:ext cx="256333" cy="1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6</a:t>
            </a:r>
          </a:p>
        </p:txBody>
      </p:sp>
      <p:sp>
        <p:nvSpPr>
          <p:cNvPr id="301" name="TextBox 300"/>
          <p:cNvSpPr txBox="1"/>
          <p:nvPr/>
        </p:nvSpPr>
        <p:spPr>
          <a:xfrm>
            <a:off x="2448666" y="4910000"/>
            <a:ext cx="256333" cy="115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550" b="0" i="0">
                <a:solidFill>
                  <a:srgbClr val="7F7F7F"/>
                </a:solidFill>
                <a:latin typeface="Noto Sans KR"/>
                <a:ea typeface="Noto Sans KR"/>
                <a:cs typeface="Noto Sans KR"/>
              </a:rPr>
              <a:t>금</a:t>
            </a:r>
          </a:p>
        </p:txBody>
      </p:sp>
      <p:sp>
        <p:nvSpPr>
          <p:cNvPr id="302" name="Rectangle 301"/>
          <p:cNvSpPr/>
          <p:nvPr/>
        </p:nvSpPr>
        <p:spPr>
          <a:xfrm>
            <a:off x="2705000" y="4770000"/>
            <a:ext cx="256333" cy="845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 lIns="30000" rIns="30000" tIns="0" bIns="0" wrap="square"/>
          <a:lstStyle/>
          <a:p>
            <a:pPr algn="ctr"/>
          </a:p>
        </p:txBody>
      </p:sp>
      <p:sp>
        <p:nvSpPr>
          <p:cNvPr id="303" name="TextBox 302"/>
          <p:cNvSpPr txBox="1"/>
          <p:nvPr/>
        </p:nvSpPr>
        <p:spPr>
          <a:xfrm>
            <a:off x="2705000" y="4770000"/>
            <a:ext cx="256333" cy="1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7</a:t>
            </a:r>
          </a:p>
        </p:txBody>
      </p:sp>
      <p:sp>
        <p:nvSpPr>
          <p:cNvPr id="304" name="TextBox 303"/>
          <p:cNvSpPr txBox="1"/>
          <p:nvPr/>
        </p:nvSpPr>
        <p:spPr>
          <a:xfrm>
            <a:off x="2705000" y="4910000"/>
            <a:ext cx="256333" cy="115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550" b="0" i="0">
                <a:solidFill>
                  <a:srgbClr val="7F7F7F"/>
                </a:solidFill>
                <a:latin typeface="Noto Sans KR"/>
                <a:ea typeface="Noto Sans KR"/>
                <a:cs typeface="Noto Sans KR"/>
              </a:rPr>
              <a:t>토</a:t>
            </a:r>
          </a:p>
        </p:txBody>
      </p:sp>
      <p:sp>
        <p:nvSpPr>
          <p:cNvPr id="305" name="Rectangle 304"/>
          <p:cNvSpPr/>
          <p:nvPr/>
        </p:nvSpPr>
        <p:spPr>
          <a:xfrm>
            <a:off x="2961333" y="4770000"/>
            <a:ext cx="256333" cy="845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 lIns="30000" rIns="30000" tIns="0" bIns="0" wrap="square"/>
          <a:lstStyle/>
          <a:p>
            <a:pPr algn="ctr"/>
          </a:p>
        </p:txBody>
      </p:sp>
      <p:sp>
        <p:nvSpPr>
          <p:cNvPr id="306" name="TextBox 305"/>
          <p:cNvSpPr txBox="1"/>
          <p:nvPr/>
        </p:nvSpPr>
        <p:spPr>
          <a:xfrm>
            <a:off x="2961333" y="4770000"/>
            <a:ext cx="256333" cy="1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1" i="0">
                <a:solidFill>
                  <a:srgbClr val="EB002C"/>
                </a:solidFill>
                <a:latin typeface="Noto Sans KR"/>
                <a:ea typeface="Noto Sans KR"/>
                <a:cs typeface="Noto Sans KR"/>
              </a:rPr>
              <a:t>8</a:t>
            </a:r>
          </a:p>
        </p:txBody>
      </p:sp>
      <p:sp>
        <p:nvSpPr>
          <p:cNvPr id="307" name="TextBox 306"/>
          <p:cNvSpPr txBox="1"/>
          <p:nvPr/>
        </p:nvSpPr>
        <p:spPr>
          <a:xfrm>
            <a:off x="2961333" y="4910000"/>
            <a:ext cx="256333" cy="115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550" b="0" i="0">
                <a:solidFill>
                  <a:srgbClr val="EB002C"/>
                </a:solidFill>
                <a:latin typeface="Noto Sans KR"/>
                <a:ea typeface="Noto Sans KR"/>
                <a:cs typeface="Noto Sans KR"/>
              </a:rPr>
              <a:t>일</a:t>
            </a:r>
          </a:p>
        </p:txBody>
      </p:sp>
      <p:sp>
        <p:nvSpPr>
          <p:cNvPr id="308" name="TextBox 307"/>
          <p:cNvSpPr txBox="1"/>
          <p:nvPr/>
        </p:nvSpPr>
        <p:spPr>
          <a:xfrm>
            <a:off x="3217666" y="4770000"/>
            <a:ext cx="256333" cy="1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9</a:t>
            </a:r>
          </a:p>
        </p:txBody>
      </p:sp>
      <p:sp>
        <p:nvSpPr>
          <p:cNvPr id="309" name="TextBox 308"/>
          <p:cNvSpPr txBox="1"/>
          <p:nvPr/>
        </p:nvSpPr>
        <p:spPr>
          <a:xfrm>
            <a:off x="3217666" y="4910000"/>
            <a:ext cx="256333" cy="115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550" b="0" i="0">
                <a:solidFill>
                  <a:srgbClr val="7F7F7F"/>
                </a:solidFill>
                <a:latin typeface="Noto Sans KR"/>
                <a:ea typeface="Noto Sans KR"/>
                <a:cs typeface="Noto Sans KR"/>
              </a:rPr>
              <a:t>월</a:t>
            </a:r>
          </a:p>
        </p:txBody>
      </p:sp>
      <p:sp>
        <p:nvSpPr>
          <p:cNvPr id="310" name="TextBox 309"/>
          <p:cNvSpPr txBox="1"/>
          <p:nvPr/>
        </p:nvSpPr>
        <p:spPr>
          <a:xfrm>
            <a:off x="3474000" y="4770000"/>
            <a:ext cx="256333" cy="1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10</a:t>
            </a:r>
          </a:p>
        </p:txBody>
      </p:sp>
      <p:sp>
        <p:nvSpPr>
          <p:cNvPr id="311" name="TextBox 310"/>
          <p:cNvSpPr txBox="1"/>
          <p:nvPr/>
        </p:nvSpPr>
        <p:spPr>
          <a:xfrm>
            <a:off x="3474000" y="4910000"/>
            <a:ext cx="256333" cy="115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550" b="0" i="0">
                <a:solidFill>
                  <a:srgbClr val="7F7F7F"/>
                </a:solidFill>
                <a:latin typeface="Noto Sans KR"/>
                <a:ea typeface="Noto Sans KR"/>
                <a:cs typeface="Noto Sans KR"/>
              </a:rPr>
              <a:t>화</a:t>
            </a:r>
          </a:p>
        </p:txBody>
      </p:sp>
      <p:sp>
        <p:nvSpPr>
          <p:cNvPr id="312" name="TextBox 311"/>
          <p:cNvSpPr txBox="1"/>
          <p:nvPr/>
        </p:nvSpPr>
        <p:spPr>
          <a:xfrm>
            <a:off x="3730333" y="4770000"/>
            <a:ext cx="256333" cy="1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11</a:t>
            </a:r>
          </a:p>
        </p:txBody>
      </p:sp>
      <p:sp>
        <p:nvSpPr>
          <p:cNvPr id="313" name="TextBox 312"/>
          <p:cNvSpPr txBox="1"/>
          <p:nvPr/>
        </p:nvSpPr>
        <p:spPr>
          <a:xfrm>
            <a:off x="3730333" y="4910000"/>
            <a:ext cx="256333" cy="115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550" b="0" i="0">
                <a:solidFill>
                  <a:srgbClr val="7F7F7F"/>
                </a:solidFill>
                <a:latin typeface="Noto Sans KR"/>
                <a:ea typeface="Noto Sans KR"/>
                <a:cs typeface="Noto Sans KR"/>
              </a:rPr>
              <a:t>수</a:t>
            </a:r>
          </a:p>
        </p:txBody>
      </p:sp>
      <p:sp>
        <p:nvSpPr>
          <p:cNvPr id="314" name="TextBox 313"/>
          <p:cNvSpPr txBox="1"/>
          <p:nvPr/>
        </p:nvSpPr>
        <p:spPr>
          <a:xfrm>
            <a:off x="3986666" y="4770000"/>
            <a:ext cx="256333" cy="1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12</a:t>
            </a:r>
          </a:p>
        </p:txBody>
      </p:sp>
      <p:sp>
        <p:nvSpPr>
          <p:cNvPr id="315" name="TextBox 314"/>
          <p:cNvSpPr txBox="1"/>
          <p:nvPr/>
        </p:nvSpPr>
        <p:spPr>
          <a:xfrm>
            <a:off x="3986666" y="4910000"/>
            <a:ext cx="256333" cy="115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550" b="0" i="0">
                <a:solidFill>
                  <a:srgbClr val="7F7F7F"/>
                </a:solidFill>
                <a:latin typeface="Noto Sans KR"/>
                <a:ea typeface="Noto Sans KR"/>
                <a:cs typeface="Noto Sans KR"/>
              </a:rPr>
              <a:t>목</a:t>
            </a:r>
          </a:p>
        </p:txBody>
      </p:sp>
      <p:sp>
        <p:nvSpPr>
          <p:cNvPr id="316" name="TextBox 315"/>
          <p:cNvSpPr txBox="1"/>
          <p:nvPr/>
        </p:nvSpPr>
        <p:spPr>
          <a:xfrm>
            <a:off x="4243000" y="4770000"/>
            <a:ext cx="256333" cy="1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13</a:t>
            </a:r>
          </a:p>
        </p:txBody>
      </p:sp>
      <p:sp>
        <p:nvSpPr>
          <p:cNvPr id="317" name="TextBox 316"/>
          <p:cNvSpPr txBox="1"/>
          <p:nvPr/>
        </p:nvSpPr>
        <p:spPr>
          <a:xfrm>
            <a:off x="4243000" y="4910000"/>
            <a:ext cx="256333" cy="115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550" b="0" i="0">
                <a:solidFill>
                  <a:srgbClr val="7F7F7F"/>
                </a:solidFill>
                <a:latin typeface="Noto Sans KR"/>
                <a:ea typeface="Noto Sans KR"/>
                <a:cs typeface="Noto Sans KR"/>
              </a:rPr>
              <a:t>금</a:t>
            </a:r>
          </a:p>
        </p:txBody>
      </p:sp>
      <p:sp>
        <p:nvSpPr>
          <p:cNvPr id="318" name="Rectangle 317"/>
          <p:cNvSpPr/>
          <p:nvPr/>
        </p:nvSpPr>
        <p:spPr>
          <a:xfrm>
            <a:off x="4499333" y="4770000"/>
            <a:ext cx="256333" cy="845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 lIns="30000" rIns="30000" tIns="0" bIns="0" wrap="square"/>
          <a:lstStyle/>
          <a:p>
            <a:pPr algn="ctr"/>
          </a:p>
        </p:txBody>
      </p:sp>
      <p:sp>
        <p:nvSpPr>
          <p:cNvPr id="319" name="TextBox 318"/>
          <p:cNvSpPr txBox="1"/>
          <p:nvPr/>
        </p:nvSpPr>
        <p:spPr>
          <a:xfrm>
            <a:off x="4499333" y="4770000"/>
            <a:ext cx="256333" cy="1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14</a:t>
            </a:r>
          </a:p>
        </p:txBody>
      </p:sp>
      <p:sp>
        <p:nvSpPr>
          <p:cNvPr id="320" name="TextBox 319"/>
          <p:cNvSpPr txBox="1"/>
          <p:nvPr/>
        </p:nvSpPr>
        <p:spPr>
          <a:xfrm>
            <a:off x="4499333" y="4910000"/>
            <a:ext cx="256333" cy="115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550" b="0" i="0">
                <a:solidFill>
                  <a:srgbClr val="7F7F7F"/>
                </a:solidFill>
                <a:latin typeface="Noto Sans KR"/>
                <a:ea typeface="Noto Sans KR"/>
                <a:cs typeface="Noto Sans KR"/>
              </a:rPr>
              <a:t>토</a:t>
            </a:r>
          </a:p>
        </p:txBody>
      </p:sp>
      <p:sp>
        <p:nvSpPr>
          <p:cNvPr id="321" name="Rectangle 320"/>
          <p:cNvSpPr/>
          <p:nvPr/>
        </p:nvSpPr>
        <p:spPr>
          <a:xfrm>
            <a:off x="4755666" y="4770000"/>
            <a:ext cx="256333" cy="845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 lIns="30000" rIns="30000" tIns="0" bIns="0" wrap="square"/>
          <a:lstStyle/>
          <a:p>
            <a:pPr algn="ctr"/>
          </a:p>
        </p:txBody>
      </p:sp>
      <p:sp>
        <p:nvSpPr>
          <p:cNvPr id="322" name="TextBox 321"/>
          <p:cNvSpPr txBox="1"/>
          <p:nvPr/>
        </p:nvSpPr>
        <p:spPr>
          <a:xfrm>
            <a:off x="4755666" y="4770000"/>
            <a:ext cx="256333" cy="1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1" i="0">
                <a:solidFill>
                  <a:srgbClr val="EB002C"/>
                </a:solidFill>
                <a:latin typeface="Noto Sans KR"/>
                <a:ea typeface="Noto Sans KR"/>
                <a:cs typeface="Noto Sans KR"/>
              </a:rPr>
              <a:t>15</a:t>
            </a:r>
          </a:p>
        </p:txBody>
      </p:sp>
      <p:sp>
        <p:nvSpPr>
          <p:cNvPr id="323" name="TextBox 322"/>
          <p:cNvSpPr txBox="1"/>
          <p:nvPr/>
        </p:nvSpPr>
        <p:spPr>
          <a:xfrm>
            <a:off x="4755666" y="4910000"/>
            <a:ext cx="256333" cy="115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550" b="0" i="0">
                <a:solidFill>
                  <a:srgbClr val="EB002C"/>
                </a:solidFill>
                <a:latin typeface="Noto Sans KR"/>
                <a:ea typeface="Noto Sans KR"/>
                <a:cs typeface="Noto Sans KR"/>
              </a:rPr>
              <a:t>일</a:t>
            </a:r>
          </a:p>
        </p:txBody>
      </p:sp>
      <p:sp>
        <p:nvSpPr>
          <p:cNvPr id="324" name="TextBox 323"/>
          <p:cNvSpPr txBox="1"/>
          <p:nvPr/>
        </p:nvSpPr>
        <p:spPr>
          <a:xfrm>
            <a:off x="5012000" y="4770000"/>
            <a:ext cx="256333" cy="1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16</a:t>
            </a:r>
          </a:p>
        </p:txBody>
      </p:sp>
      <p:sp>
        <p:nvSpPr>
          <p:cNvPr id="325" name="TextBox 324"/>
          <p:cNvSpPr txBox="1"/>
          <p:nvPr/>
        </p:nvSpPr>
        <p:spPr>
          <a:xfrm>
            <a:off x="5012000" y="4910000"/>
            <a:ext cx="256333" cy="115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550" b="0" i="0">
                <a:solidFill>
                  <a:srgbClr val="7F7F7F"/>
                </a:solidFill>
                <a:latin typeface="Noto Sans KR"/>
                <a:ea typeface="Noto Sans KR"/>
                <a:cs typeface="Noto Sans KR"/>
              </a:rPr>
              <a:t>월</a:t>
            </a:r>
          </a:p>
        </p:txBody>
      </p:sp>
      <p:sp>
        <p:nvSpPr>
          <p:cNvPr id="326" name="TextBox 325"/>
          <p:cNvSpPr txBox="1"/>
          <p:nvPr/>
        </p:nvSpPr>
        <p:spPr>
          <a:xfrm>
            <a:off x="5268333" y="4770000"/>
            <a:ext cx="256333" cy="1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17</a:t>
            </a:r>
          </a:p>
        </p:txBody>
      </p:sp>
      <p:sp>
        <p:nvSpPr>
          <p:cNvPr id="327" name="TextBox 326"/>
          <p:cNvSpPr txBox="1"/>
          <p:nvPr/>
        </p:nvSpPr>
        <p:spPr>
          <a:xfrm>
            <a:off x="5268333" y="4910000"/>
            <a:ext cx="256333" cy="115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550" b="0" i="0">
                <a:solidFill>
                  <a:srgbClr val="7F7F7F"/>
                </a:solidFill>
                <a:latin typeface="Noto Sans KR"/>
                <a:ea typeface="Noto Sans KR"/>
                <a:cs typeface="Noto Sans KR"/>
              </a:rPr>
              <a:t>화</a:t>
            </a:r>
          </a:p>
        </p:txBody>
      </p:sp>
      <p:sp>
        <p:nvSpPr>
          <p:cNvPr id="328" name="TextBox 327"/>
          <p:cNvSpPr txBox="1"/>
          <p:nvPr/>
        </p:nvSpPr>
        <p:spPr>
          <a:xfrm>
            <a:off x="5524666" y="4770000"/>
            <a:ext cx="256333" cy="1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18</a:t>
            </a:r>
          </a:p>
        </p:txBody>
      </p:sp>
      <p:sp>
        <p:nvSpPr>
          <p:cNvPr id="329" name="TextBox 328"/>
          <p:cNvSpPr txBox="1"/>
          <p:nvPr/>
        </p:nvSpPr>
        <p:spPr>
          <a:xfrm>
            <a:off x="5524666" y="4910000"/>
            <a:ext cx="256333" cy="115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550" b="0" i="0">
                <a:solidFill>
                  <a:srgbClr val="7F7F7F"/>
                </a:solidFill>
                <a:latin typeface="Noto Sans KR"/>
                <a:ea typeface="Noto Sans KR"/>
                <a:cs typeface="Noto Sans KR"/>
              </a:rPr>
              <a:t>수</a:t>
            </a:r>
          </a:p>
        </p:txBody>
      </p:sp>
      <p:sp>
        <p:nvSpPr>
          <p:cNvPr id="330" name="TextBox 329"/>
          <p:cNvSpPr txBox="1"/>
          <p:nvPr/>
        </p:nvSpPr>
        <p:spPr>
          <a:xfrm>
            <a:off x="5781000" y="4770000"/>
            <a:ext cx="256333" cy="1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19</a:t>
            </a:r>
          </a:p>
        </p:txBody>
      </p:sp>
      <p:sp>
        <p:nvSpPr>
          <p:cNvPr id="331" name="TextBox 330"/>
          <p:cNvSpPr txBox="1"/>
          <p:nvPr/>
        </p:nvSpPr>
        <p:spPr>
          <a:xfrm>
            <a:off x="5781000" y="4910000"/>
            <a:ext cx="256333" cy="115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550" b="0" i="0">
                <a:solidFill>
                  <a:srgbClr val="7F7F7F"/>
                </a:solidFill>
                <a:latin typeface="Noto Sans KR"/>
                <a:ea typeface="Noto Sans KR"/>
                <a:cs typeface="Noto Sans KR"/>
              </a:rPr>
              <a:t>목</a:t>
            </a:r>
          </a:p>
        </p:txBody>
      </p:sp>
      <p:sp>
        <p:nvSpPr>
          <p:cNvPr id="332" name="TextBox 331"/>
          <p:cNvSpPr txBox="1"/>
          <p:nvPr/>
        </p:nvSpPr>
        <p:spPr>
          <a:xfrm>
            <a:off x="6037333" y="4770000"/>
            <a:ext cx="256333" cy="1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20</a:t>
            </a:r>
          </a:p>
        </p:txBody>
      </p:sp>
      <p:sp>
        <p:nvSpPr>
          <p:cNvPr id="333" name="TextBox 332"/>
          <p:cNvSpPr txBox="1"/>
          <p:nvPr/>
        </p:nvSpPr>
        <p:spPr>
          <a:xfrm>
            <a:off x="6037333" y="4910000"/>
            <a:ext cx="256333" cy="115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550" b="0" i="0">
                <a:solidFill>
                  <a:srgbClr val="7F7F7F"/>
                </a:solidFill>
                <a:latin typeface="Noto Sans KR"/>
                <a:ea typeface="Noto Sans KR"/>
                <a:cs typeface="Noto Sans KR"/>
              </a:rPr>
              <a:t>금</a:t>
            </a:r>
          </a:p>
        </p:txBody>
      </p:sp>
      <p:sp>
        <p:nvSpPr>
          <p:cNvPr id="334" name="Rectangle 333"/>
          <p:cNvSpPr/>
          <p:nvPr/>
        </p:nvSpPr>
        <p:spPr>
          <a:xfrm>
            <a:off x="6293666" y="4770000"/>
            <a:ext cx="256333" cy="845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 lIns="30000" rIns="30000" tIns="0" bIns="0" wrap="square"/>
          <a:lstStyle/>
          <a:p>
            <a:pPr algn="ctr"/>
          </a:p>
        </p:txBody>
      </p:sp>
      <p:sp>
        <p:nvSpPr>
          <p:cNvPr id="335" name="TextBox 334"/>
          <p:cNvSpPr txBox="1"/>
          <p:nvPr/>
        </p:nvSpPr>
        <p:spPr>
          <a:xfrm>
            <a:off x="6293666" y="4770000"/>
            <a:ext cx="256333" cy="1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21</a:t>
            </a:r>
          </a:p>
        </p:txBody>
      </p:sp>
      <p:sp>
        <p:nvSpPr>
          <p:cNvPr id="336" name="TextBox 335"/>
          <p:cNvSpPr txBox="1"/>
          <p:nvPr/>
        </p:nvSpPr>
        <p:spPr>
          <a:xfrm>
            <a:off x="6293666" y="4910000"/>
            <a:ext cx="256333" cy="115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550" b="0" i="0">
                <a:solidFill>
                  <a:srgbClr val="7F7F7F"/>
                </a:solidFill>
                <a:latin typeface="Noto Sans KR"/>
                <a:ea typeface="Noto Sans KR"/>
                <a:cs typeface="Noto Sans KR"/>
              </a:rPr>
              <a:t>토</a:t>
            </a:r>
          </a:p>
        </p:txBody>
      </p:sp>
      <p:sp>
        <p:nvSpPr>
          <p:cNvPr id="337" name="Rectangle 336"/>
          <p:cNvSpPr/>
          <p:nvPr/>
        </p:nvSpPr>
        <p:spPr>
          <a:xfrm>
            <a:off x="6550000" y="4770000"/>
            <a:ext cx="256333" cy="845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 lIns="30000" rIns="30000" tIns="0" bIns="0" wrap="square"/>
          <a:lstStyle/>
          <a:p>
            <a:pPr algn="ctr"/>
          </a:p>
        </p:txBody>
      </p:sp>
      <p:sp>
        <p:nvSpPr>
          <p:cNvPr id="338" name="TextBox 337"/>
          <p:cNvSpPr txBox="1"/>
          <p:nvPr/>
        </p:nvSpPr>
        <p:spPr>
          <a:xfrm>
            <a:off x="6550000" y="4770000"/>
            <a:ext cx="256333" cy="1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1" i="0">
                <a:solidFill>
                  <a:srgbClr val="EB002C"/>
                </a:solidFill>
                <a:latin typeface="Noto Sans KR"/>
                <a:ea typeface="Noto Sans KR"/>
                <a:cs typeface="Noto Sans KR"/>
              </a:rPr>
              <a:t>22</a:t>
            </a:r>
          </a:p>
        </p:txBody>
      </p:sp>
      <p:sp>
        <p:nvSpPr>
          <p:cNvPr id="339" name="TextBox 338"/>
          <p:cNvSpPr txBox="1"/>
          <p:nvPr/>
        </p:nvSpPr>
        <p:spPr>
          <a:xfrm>
            <a:off x="6550000" y="4910000"/>
            <a:ext cx="256333" cy="115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550" b="0" i="0">
                <a:solidFill>
                  <a:srgbClr val="EB002C"/>
                </a:solidFill>
                <a:latin typeface="Noto Sans KR"/>
                <a:ea typeface="Noto Sans KR"/>
                <a:cs typeface="Noto Sans KR"/>
              </a:rPr>
              <a:t>일</a:t>
            </a:r>
          </a:p>
        </p:txBody>
      </p:sp>
      <p:sp>
        <p:nvSpPr>
          <p:cNvPr id="340" name="TextBox 339"/>
          <p:cNvSpPr txBox="1"/>
          <p:nvPr/>
        </p:nvSpPr>
        <p:spPr>
          <a:xfrm>
            <a:off x="6806333" y="4770000"/>
            <a:ext cx="256333" cy="1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23</a:t>
            </a:r>
          </a:p>
        </p:txBody>
      </p:sp>
      <p:sp>
        <p:nvSpPr>
          <p:cNvPr id="341" name="TextBox 340"/>
          <p:cNvSpPr txBox="1"/>
          <p:nvPr/>
        </p:nvSpPr>
        <p:spPr>
          <a:xfrm>
            <a:off x="6806333" y="4910000"/>
            <a:ext cx="256333" cy="115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550" b="0" i="0">
                <a:solidFill>
                  <a:srgbClr val="7F7F7F"/>
                </a:solidFill>
                <a:latin typeface="Noto Sans KR"/>
                <a:ea typeface="Noto Sans KR"/>
                <a:cs typeface="Noto Sans KR"/>
              </a:rPr>
              <a:t>월</a:t>
            </a:r>
          </a:p>
        </p:txBody>
      </p:sp>
      <p:sp>
        <p:nvSpPr>
          <p:cNvPr id="342" name="TextBox 341"/>
          <p:cNvSpPr txBox="1"/>
          <p:nvPr/>
        </p:nvSpPr>
        <p:spPr>
          <a:xfrm>
            <a:off x="7062666" y="4770000"/>
            <a:ext cx="256333" cy="1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24</a:t>
            </a:r>
          </a:p>
        </p:txBody>
      </p:sp>
      <p:sp>
        <p:nvSpPr>
          <p:cNvPr id="343" name="TextBox 342"/>
          <p:cNvSpPr txBox="1"/>
          <p:nvPr/>
        </p:nvSpPr>
        <p:spPr>
          <a:xfrm>
            <a:off x="7062666" y="4910000"/>
            <a:ext cx="256333" cy="115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550" b="0" i="0">
                <a:solidFill>
                  <a:srgbClr val="7F7F7F"/>
                </a:solidFill>
                <a:latin typeface="Noto Sans KR"/>
                <a:ea typeface="Noto Sans KR"/>
                <a:cs typeface="Noto Sans KR"/>
              </a:rPr>
              <a:t>화</a:t>
            </a:r>
          </a:p>
        </p:txBody>
      </p:sp>
      <p:sp>
        <p:nvSpPr>
          <p:cNvPr id="344" name="TextBox 343"/>
          <p:cNvSpPr txBox="1"/>
          <p:nvPr/>
        </p:nvSpPr>
        <p:spPr>
          <a:xfrm>
            <a:off x="7319000" y="4770000"/>
            <a:ext cx="256333" cy="1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25</a:t>
            </a:r>
          </a:p>
        </p:txBody>
      </p:sp>
      <p:sp>
        <p:nvSpPr>
          <p:cNvPr id="345" name="TextBox 344"/>
          <p:cNvSpPr txBox="1"/>
          <p:nvPr/>
        </p:nvSpPr>
        <p:spPr>
          <a:xfrm>
            <a:off x="7319000" y="4910000"/>
            <a:ext cx="256333" cy="115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550" b="0" i="0">
                <a:solidFill>
                  <a:srgbClr val="7F7F7F"/>
                </a:solidFill>
                <a:latin typeface="Noto Sans KR"/>
                <a:ea typeface="Noto Sans KR"/>
                <a:cs typeface="Noto Sans KR"/>
              </a:rPr>
              <a:t>수</a:t>
            </a:r>
          </a:p>
        </p:txBody>
      </p:sp>
      <p:sp>
        <p:nvSpPr>
          <p:cNvPr id="346" name="TextBox 345"/>
          <p:cNvSpPr txBox="1"/>
          <p:nvPr/>
        </p:nvSpPr>
        <p:spPr>
          <a:xfrm>
            <a:off x="7575333" y="4770000"/>
            <a:ext cx="256333" cy="1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26</a:t>
            </a:r>
          </a:p>
        </p:txBody>
      </p:sp>
      <p:sp>
        <p:nvSpPr>
          <p:cNvPr id="347" name="TextBox 346"/>
          <p:cNvSpPr txBox="1"/>
          <p:nvPr/>
        </p:nvSpPr>
        <p:spPr>
          <a:xfrm>
            <a:off x="7575333" y="4910000"/>
            <a:ext cx="256333" cy="115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550" b="0" i="0">
                <a:solidFill>
                  <a:srgbClr val="7F7F7F"/>
                </a:solidFill>
                <a:latin typeface="Noto Sans KR"/>
                <a:ea typeface="Noto Sans KR"/>
                <a:cs typeface="Noto Sans KR"/>
              </a:rPr>
              <a:t>목</a:t>
            </a:r>
          </a:p>
        </p:txBody>
      </p:sp>
      <p:sp>
        <p:nvSpPr>
          <p:cNvPr id="348" name="TextBox 347"/>
          <p:cNvSpPr txBox="1"/>
          <p:nvPr/>
        </p:nvSpPr>
        <p:spPr>
          <a:xfrm>
            <a:off x="7831666" y="4770000"/>
            <a:ext cx="256333" cy="1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27</a:t>
            </a:r>
          </a:p>
        </p:txBody>
      </p:sp>
      <p:sp>
        <p:nvSpPr>
          <p:cNvPr id="349" name="TextBox 348"/>
          <p:cNvSpPr txBox="1"/>
          <p:nvPr/>
        </p:nvSpPr>
        <p:spPr>
          <a:xfrm>
            <a:off x="7831666" y="4910000"/>
            <a:ext cx="256333" cy="115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550" b="0" i="0">
                <a:solidFill>
                  <a:srgbClr val="7F7F7F"/>
                </a:solidFill>
                <a:latin typeface="Noto Sans KR"/>
                <a:ea typeface="Noto Sans KR"/>
                <a:cs typeface="Noto Sans KR"/>
              </a:rPr>
              <a:t>금</a:t>
            </a:r>
          </a:p>
        </p:txBody>
      </p:sp>
      <p:sp>
        <p:nvSpPr>
          <p:cNvPr id="350" name="Rectangle 349"/>
          <p:cNvSpPr/>
          <p:nvPr/>
        </p:nvSpPr>
        <p:spPr>
          <a:xfrm>
            <a:off x="8088000" y="4770000"/>
            <a:ext cx="256333" cy="845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 lIns="30000" rIns="30000" tIns="0" bIns="0" wrap="square"/>
          <a:lstStyle/>
          <a:p>
            <a:pPr algn="ctr"/>
          </a:p>
        </p:txBody>
      </p:sp>
      <p:sp>
        <p:nvSpPr>
          <p:cNvPr id="351" name="TextBox 350"/>
          <p:cNvSpPr txBox="1"/>
          <p:nvPr/>
        </p:nvSpPr>
        <p:spPr>
          <a:xfrm>
            <a:off x="8088000" y="4770000"/>
            <a:ext cx="256333" cy="1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28</a:t>
            </a:r>
          </a:p>
        </p:txBody>
      </p:sp>
      <p:sp>
        <p:nvSpPr>
          <p:cNvPr id="352" name="TextBox 351"/>
          <p:cNvSpPr txBox="1"/>
          <p:nvPr/>
        </p:nvSpPr>
        <p:spPr>
          <a:xfrm>
            <a:off x="8088000" y="4910000"/>
            <a:ext cx="256333" cy="115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550" b="0" i="0">
                <a:solidFill>
                  <a:srgbClr val="7F7F7F"/>
                </a:solidFill>
                <a:latin typeface="Noto Sans KR"/>
                <a:ea typeface="Noto Sans KR"/>
                <a:cs typeface="Noto Sans KR"/>
              </a:rPr>
              <a:t>토</a:t>
            </a:r>
          </a:p>
        </p:txBody>
      </p:sp>
      <p:sp>
        <p:nvSpPr>
          <p:cNvPr id="353" name="Rectangle 352"/>
          <p:cNvSpPr/>
          <p:nvPr/>
        </p:nvSpPr>
        <p:spPr>
          <a:xfrm>
            <a:off x="8344333" y="4770000"/>
            <a:ext cx="256333" cy="845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 lIns="30000" rIns="30000" tIns="0" bIns="0" wrap="square"/>
          <a:lstStyle/>
          <a:p>
            <a:pPr algn="ctr"/>
          </a:p>
        </p:txBody>
      </p:sp>
      <p:sp>
        <p:nvSpPr>
          <p:cNvPr id="354" name="TextBox 353"/>
          <p:cNvSpPr txBox="1"/>
          <p:nvPr/>
        </p:nvSpPr>
        <p:spPr>
          <a:xfrm>
            <a:off x="8344333" y="4770000"/>
            <a:ext cx="256333" cy="1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1" i="0">
                <a:solidFill>
                  <a:srgbClr val="EB002C"/>
                </a:solidFill>
                <a:latin typeface="Noto Sans KR"/>
                <a:ea typeface="Noto Sans KR"/>
                <a:cs typeface="Noto Sans KR"/>
              </a:rPr>
              <a:t>29</a:t>
            </a:r>
          </a:p>
        </p:txBody>
      </p:sp>
      <p:sp>
        <p:nvSpPr>
          <p:cNvPr id="355" name="TextBox 354"/>
          <p:cNvSpPr txBox="1"/>
          <p:nvPr/>
        </p:nvSpPr>
        <p:spPr>
          <a:xfrm>
            <a:off x="8344333" y="4910000"/>
            <a:ext cx="256333" cy="115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550" b="0" i="0">
                <a:solidFill>
                  <a:srgbClr val="EB002C"/>
                </a:solidFill>
                <a:latin typeface="Noto Sans KR"/>
                <a:ea typeface="Noto Sans KR"/>
                <a:cs typeface="Noto Sans KR"/>
              </a:rPr>
              <a:t>일</a:t>
            </a:r>
          </a:p>
        </p:txBody>
      </p:sp>
      <p:sp>
        <p:nvSpPr>
          <p:cNvPr id="356" name="TextBox 355"/>
          <p:cNvSpPr txBox="1"/>
          <p:nvPr/>
        </p:nvSpPr>
        <p:spPr>
          <a:xfrm>
            <a:off x="8600666" y="4770000"/>
            <a:ext cx="256333" cy="1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30</a:t>
            </a:r>
          </a:p>
        </p:txBody>
      </p:sp>
      <p:sp>
        <p:nvSpPr>
          <p:cNvPr id="357" name="TextBox 356"/>
          <p:cNvSpPr txBox="1"/>
          <p:nvPr/>
        </p:nvSpPr>
        <p:spPr>
          <a:xfrm>
            <a:off x="8600666" y="4910000"/>
            <a:ext cx="256333" cy="115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550" b="0" i="0">
                <a:solidFill>
                  <a:srgbClr val="7F7F7F"/>
                </a:solidFill>
                <a:latin typeface="Noto Sans KR"/>
                <a:ea typeface="Noto Sans KR"/>
                <a:cs typeface="Noto Sans KR"/>
              </a:rPr>
              <a:t>월</a:t>
            </a:r>
          </a:p>
        </p:txBody>
      </p:sp>
      <p:cxnSp>
        <p:nvCxnSpPr>
          <p:cNvPr id="358" name="Connector 357"/>
          <p:cNvCxnSpPr/>
          <p:nvPr/>
        </p:nvCxnSpPr>
        <p:spPr>
          <a:xfrm>
            <a:off x="1167000" y="5025000"/>
            <a:ext cx="0" cy="590000"/>
          </a:xfrm>
          <a:prstGeom prst="line">
            <a:avLst/>
          </a:prstGeom>
          <a:ln w="5080">
            <a:solidFill>
              <a:srgbClr val="D9D9D9"/>
            </a:solidFill>
          </a:ln>
        </p:spPr>
      </p:cxnSp>
      <p:cxnSp>
        <p:nvCxnSpPr>
          <p:cNvPr id="359" name="Connector 358"/>
          <p:cNvCxnSpPr/>
          <p:nvPr/>
        </p:nvCxnSpPr>
        <p:spPr>
          <a:xfrm>
            <a:off x="1423333" y="5025000"/>
            <a:ext cx="0" cy="590000"/>
          </a:xfrm>
          <a:prstGeom prst="line">
            <a:avLst/>
          </a:prstGeom>
          <a:ln w="5080">
            <a:solidFill>
              <a:srgbClr val="D9D9D9"/>
            </a:solidFill>
          </a:ln>
        </p:spPr>
      </p:cxnSp>
      <p:cxnSp>
        <p:nvCxnSpPr>
          <p:cNvPr id="360" name="Connector 359"/>
          <p:cNvCxnSpPr/>
          <p:nvPr/>
        </p:nvCxnSpPr>
        <p:spPr>
          <a:xfrm>
            <a:off x="1679666" y="5025000"/>
            <a:ext cx="0" cy="590000"/>
          </a:xfrm>
          <a:prstGeom prst="line">
            <a:avLst/>
          </a:prstGeom>
          <a:ln w="5080">
            <a:solidFill>
              <a:srgbClr val="D9D9D9"/>
            </a:solidFill>
          </a:ln>
        </p:spPr>
      </p:cxnSp>
      <p:cxnSp>
        <p:nvCxnSpPr>
          <p:cNvPr id="361" name="Connector 360"/>
          <p:cNvCxnSpPr/>
          <p:nvPr/>
        </p:nvCxnSpPr>
        <p:spPr>
          <a:xfrm>
            <a:off x="1936000" y="5025000"/>
            <a:ext cx="0" cy="590000"/>
          </a:xfrm>
          <a:prstGeom prst="line">
            <a:avLst/>
          </a:prstGeom>
          <a:ln w="5080">
            <a:solidFill>
              <a:srgbClr val="D9D9D9"/>
            </a:solidFill>
          </a:ln>
        </p:spPr>
      </p:cxnSp>
      <p:cxnSp>
        <p:nvCxnSpPr>
          <p:cNvPr id="362" name="Connector 361"/>
          <p:cNvCxnSpPr/>
          <p:nvPr/>
        </p:nvCxnSpPr>
        <p:spPr>
          <a:xfrm>
            <a:off x="2192333" y="5025000"/>
            <a:ext cx="0" cy="590000"/>
          </a:xfrm>
          <a:prstGeom prst="line">
            <a:avLst/>
          </a:prstGeom>
          <a:ln w="5080">
            <a:solidFill>
              <a:srgbClr val="D9D9D9"/>
            </a:solidFill>
          </a:ln>
        </p:spPr>
      </p:cxnSp>
      <p:cxnSp>
        <p:nvCxnSpPr>
          <p:cNvPr id="363" name="Connector 362"/>
          <p:cNvCxnSpPr/>
          <p:nvPr/>
        </p:nvCxnSpPr>
        <p:spPr>
          <a:xfrm>
            <a:off x="2448666" y="5025000"/>
            <a:ext cx="0" cy="590000"/>
          </a:xfrm>
          <a:prstGeom prst="line">
            <a:avLst/>
          </a:prstGeom>
          <a:ln w="5080">
            <a:solidFill>
              <a:srgbClr val="D9D9D9"/>
            </a:solidFill>
          </a:ln>
        </p:spPr>
      </p:cxnSp>
      <p:cxnSp>
        <p:nvCxnSpPr>
          <p:cNvPr id="364" name="Connector 363"/>
          <p:cNvCxnSpPr/>
          <p:nvPr/>
        </p:nvCxnSpPr>
        <p:spPr>
          <a:xfrm>
            <a:off x="2705000" y="5025000"/>
            <a:ext cx="0" cy="590000"/>
          </a:xfrm>
          <a:prstGeom prst="line">
            <a:avLst/>
          </a:prstGeom>
          <a:ln w="5080">
            <a:solidFill>
              <a:srgbClr val="D9D9D9"/>
            </a:solidFill>
          </a:ln>
        </p:spPr>
      </p:cxnSp>
      <p:cxnSp>
        <p:nvCxnSpPr>
          <p:cNvPr id="365" name="Connector 364"/>
          <p:cNvCxnSpPr/>
          <p:nvPr/>
        </p:nvCxnSpPr>
        <p:spPr>
          <a:xfrm>
            <a:off x="2961333" y="5025000"/>
            <a:ext cx="0" cy="590000"/>
          </a:xfrm>
          <a:prstGeom prst="line">
            <a:avLst/>
          </a:prstGeom>
          <a:ln w="5080">
            <a:solidFill>
              <a:srgbClr val="D9D9D9"/>
            </a:solidFill>
          </a:ln>
        </p:spPr>
      </p:cxnSp>
      <p:cxnSp>
        <p:nvCxnSpPr>
          <p:cNvPr id="366" name="Connector 365"/>
          <p:cNvCxnSpPr/>
          <p:nvPr/>
        </p:nvCxnSpPr>
        <p:spPr>
          <a:xfrm>
            <a:off x="3217666" y="5025000"/>
            <a:ext cx="0" cy="590000"/>
          </a:xfrm>
          <a:prstGeom prst="line">
            <a:avLst/>
          </a:prstGeom>
          <a:ln w="5080">
            <a:solidFill>
              <a:srgbClr val="D9D9D9"/>
            </a:solidFill>
          </a:ln>
        </p:spPr>
      </p:cxnSp>
      <p:cxnSp>
        <p:nvCxnSpPr>
          <p:cNvPr id="367" name="Connector 366"/>
          <p:cNvCxnSpPr/>
          <p:nvPr/>
        </p:nvCxnSpPr>
        <p:spPr>
          <a:xfrm>
            <a:off x="3474000" y="5025000"/>
            <a:ext cx="0" cy="590000"/>
          </a:xfrm>
          <a:prstGeom prst="line">
            <a:avLst/>
          </a:prstGeom>
          <a:ln w="5080">
            <a:solidFill>
              <a:srgbClr val="D9D9D9"/>
            </a:solidFill>
          </a:ln>
        </p:spPr>
      </p:cxnSp>
      <p:cxnSp>
        <p:nvCxnSpPr>
          <p:cNvPr id="368" name="Connector 367"/>
          <p:cNvCxnSpPr/>
          <p:nvPr/>
        </p:nvCxnSpPr>
        <p:spPr>
          <a:xfrm>
            <a:off x="3730333" y="5025000"/>
            <a:ext cx="0" cy="590000"/>
          </a:xfrm>
          <a:prstGeom prst="line">
            <a:avLst/>
          </a:prstGeom>
          <a:ln w="5080">
            <a:solidFill>
              <a:srgbClr val="D9D9D9"/>
            </a:solidFill>
          </a:ln>
        </p:spPr>
      </p:cxnSp>
      <p:cxnSp>
        <p:nvCxnSpPr>
          <p:cNvPr id="369" name="Connector 368"/>
          <p:cNvCxnSpPr/>
          <p:nvPr/>
        </p:nvCxnSpPr>
        <p:spPr>
          <a:xfrm>
            <a:off x="3986666" y="5025000"/>
            <a:ext cx="0" cy="590000"/>
          </a:xfrm>
          <a:prstGeom prst="line">
            <a:avLst/>
          </a:prstGeom>
          <a:ln w="5080">
            <a:solidFill>
              <a:srgbClr val="D9D9D9"/>
            </a:solidFill>
          </a:ln>
        </p:spPr>
      </p:cxnSp>
      <p:cxnSp>
        <p:nvCxnSpPr>
          <p:cNvPr id="370" name="Connector 369"/>
          <p:cNvCxnSpPr/>
          <p:nvPr/>
        </p:nvCxnSpPr>
        <p:spPr>
          <a:xfrm>
            <a:off x="4243000" y="5025000"/>
            <a:ext cx="0" cy="590000"/>
          </a:xfrm>
          <a:prstGeom prst="line">
            <a:avLst/>
          </a:prstGeom>
          <a:ln w="5080">
            <a:solidFill>
              <a:srgbClr val="D9D9D9"/>
            </a:solidFill>
          </a:ln>
        </p:spPr>
      </p:cxnSp>
      <p:cxnSp>
        <p:nvCxnSpPr>
          <p:cNvPr id="371" name="Connector 370"/>
          <p:cNvCxnSpPr/>
          <p:nvPr/>
        </p:nvCxnSpPr>
        <p:spPr>
          <a:xfrm>
            <a:off x="4499333" y="5025000"/>
            <a:ext cx="0" cy="590000"/>
          </a:xfrm>
          <a:prstGeom prst="line">
            <a:avLst/>
          </a:prstGeom>
          <a:ln w="5080">
            <a:solidFill>
              <a:srgbClr val="D9D9D9"/>
            </a:solidFill>
          </a:ln>
        </p:spPr>
      </p:cxnSp>
      <p:cxnSp>
        <p:nvCxnSpPr>
          <p:cNvPr id="372" name="Connector 371"/>
          <p:cNvCxnSpPr/>
          <p:nvPr/>
        </p:nvCxnSpPr>
        <p:spPr>
          <a:xfrm>
            <a:off x="4755666" y="5025000"/>
            <a:ext cx="0" cy="590000"/>
          </a:xfrm>
          <a:prstGeom prst="line">
            <a:avLst/>
          </a:prstGeom>
          <a:ln w="5080">
            <a:solidFill>
              <a:srgbClr val="D9D9D9"/>
            </a:solidFill>
          </a:ln>
        </p:spPr>
      </p:cxnSp>
      <p:cxnSp>
        <p:nvCxnSpPr>
          <p:cNvPr id="373" name="Connector 372"/>
          <p:cNvCxnSpPr/>
          <p:nvPr/>
        </p:nvCxnSpPr>
        <p:spPr>
          <a:xfrm>
            <a:off x="5012000" y="5025000"/>
            <a:ext cx="0" cy="590000"/>
          </a:xfrm>
          <a:prstGeom prst="line">
            <a:avLst/>
          </a:prstGeom>
          <a:ln w="5080">
            <a:solidFill>
              <a:srgbClr val="D9D9D9"/>
            </a:solidFill>
          </a:ln>
        </p:spPr>
      </p:cxnSp>
      <p:cxnSp>
        <p:nvCxnSpPr>
          <p:cNvPr id="374" name="Connector 373"/>
          <p:cNvCxnSpPr/>
          <p:nvPr/>
        </p:nvCxnSpPr>
        <p:spPr>
          <a:xfrm>
            <a:off x="5268333" y="5025000"/>
            <a:ext cx="0" cy="590000"/>
          </a:xfrm>
          <a:prstGeom prst="line">
            <a:avLst/>
          </a:prstGeom>
          <a:ln w="5080">
            <a:solidFill>
              <a:srgbClr val="D9D9D9"/>
            </a:solidFill>
          </a:ln>
        </p:spPr>
      </p:cxnSp>
      <p:cxnSp>
        <p:nvCxnSpPr>
          <p:cNvPr id="375" name="Connector 374"/>
          <p:cNvCxnSpPr/>
          <p:nvPr/>
        </p:nvCxnSpPr>
        <p:spPr>
          <a:xfrm>
            <a:off x="5524666" y="5025000"/>
            <a:ext cx="0" cy="590000"/>
          </a:xfrm>
          <a:prstGeom prst="line">
            <a:avLst/>
          </a:prstGeom>
          <a:ln w="5080">
            <a:solidFill>
              <a:srgbClr val="D9D9D9"/>
            </a:solidFill>
          </a:ln>
        </p:spPr>
      </p:cxnSp>
      <p:cxnSp>
        <p:nvCxnSpPr>
          <p:cNvPr id="376" name="Connector 375"/>
          <p:cNvCxnSpPr/>
          <p:nvPr/>
        </p:nvCxnSpPr>
        <p:spPr>
          <a:xfrm>
            <a:off x="5781000" y="5025000"/>
            <a:ext cx="0" cy="590000"/>
          </a:xfrm>
          <a:prstGeom prst="line">
            <a:avLst/>
          </a:prstGeom>
          <a:ln w="5080">
            <a:solidFill>
              <a:srgbClr val="D9D9D9"/>
            </a:solidFill>
          </a:ln>
        </p:spPr>
      </p:cxnSp>
      <p:cxnSp>
        <p:nvCxnSpPr>
          <p:cNvPr id="377" name="Connector 376"/>
          <p:cNvCxnSpPr/>
          <p:nvPr/>
        </p:nvCxnSpPr>
        <p:spPr>
          <a:xfrm>
            <a:off x="6037333" y="5025000"/>
            <a:ext cx="0" cy="590000"/>
          </a:xfrm>
          <a:prstGeom prst="line">
            <a:avLst/>
          </a:prstGeom>
          <a:ln w="5080">
            <a:solidFill>
              <a:srgbClr val="D9D9D9"/>
            </a:solidFill>
          </a:ln>
        </p:spPr>
      </p:cxnSp>
      <p:cxnSp>
        <p:nvCxnSpPr>
          <p:cNvPr id="378" name="Connector 377"/>
          <p:cNvCxnSpPr/>
          <p:nvPr/>
        </p:nvCxnSpPr>
        <p:spPr>
          <a:xfrm>
            <a:off x="6293666" y="5025000"/>
            <a:ext cx="0" cy="590000"/>
          </a:xfrm>
          <a:prstGeom prst="line">
            <a:avLst/>
          </a:prstGeom>
          <a:ln w="5080">
            <a:solidFill>
              <a:srgbClr val="D9D9D9"/>
            </a:solidFill>
          </a:ln>
        </p:spPr>
      </p:cxnSp>
      <p:cxnSp>
        <p:nvCxnSpPr>
          <p:cNvPr id="379" name="Connector 378"/>
          <p:cNvCxnSpPr/>
          <p:nvPr/>
        </p:nvCxnSpPr>
        <p:spPr>
          <a:xfrm>
            <a:off x="6550000" y="5025000"/>
            <a:ext cx="0" cy="590000"/>
          </a:xfrm>
          <a:prstGeom prst="line">
            <a:avLst/>
          </a:prstGeom>
          <a:ln w="5080">
            <a:solidFill>
              <a:srgbClr val="D9D9D9"/>
            </a:solidFill>
          </a:ln>
        </p:spPr>
      </p:cxnSp>
      <p:cxnSp>
        <p:nvCxnSpPr>
          <p:cNvPr id="380" name="Connector 379"/>
          <p:cNvCxnSpPr/>
          <p:nvPr/>
        </p:nvCxnSpPr>
        <p:spPr>
          <a:xfrm>
            <a:off x="6806333" y="5025000"/>
            <a:ext cx="0" cy="590000"/>
          </a:xfrm>
          <a:prstGeom prst="line">
            <a:avLst/>
          </a:prstGeom>
          <a:ln w="5080">
            <a:solidFill>
              <a:srgbClr val="D9D9D9"/>
            </a:solidFill>
          </a:ln>
        </p:spPr>
      </p:cxnSp>
      <p:cxnSp>
        <p:nvCxnSpPr>
          <p:cNvPr id="381" name="Connector 380"/>
          <p:cNvCxnSpPr/>
          <p:nvPr/>
        </p:nvCxnSpPr>
        <p:spPr>
          <a:xfrm>
            <a:off x="7062666" y="5025000"/>
            <a:ext cx="0" cy="590000"/>
          </a:xfrm>
          <a:prstGeom prst="line">
            <a:avLst/>
          </a:prstGeom>
          <a:ln w="5080">
            <a:solidFill>
              <a:srgbClr val="D9D9D9"/>
            </a:solidFill>
          </a:ln>
        </p:spPr>
      </p:cxnSp>
      <p:cxnSp>
        <p:nvCxnSpPr>
          <p:cNvPr id="382" name="Connector 381"/>
          <p:cNvCxnSpPr/>
          <p:nvPr/>
        </p:nvCxnSpPr>
        <p:spPr>
          <a:xfrm>
            <a:off x="7319000" y="5025000"/>
            <a:ext cx="0" cy="590000"/>
          </a:xfrm>
          <a:prstGeom prst="line">
            <a:avLst/>
          </a:prstGeom>
          <a:ln w="5080">
            <a:solidFill>
              <a:srgbClr val="D9D9D9"/>
            </a:solidFill>
          </a:ln>
        </p:spPr>
      </p:cxnSp>
      <p:cxnSp>
        <p:nvCxnSpPr>
          <p:cNvPr id="383" name="Connector 382"/>
          <p:cNvCxnSpPr/>
          <p:nvPr/>
        </p:nvCxnSpPr>
        <p:spPr>
          <a:xfrm>
            <a:off x="7575333" y="5025000"/>
            <a:ext cx="0" cy="590000"/>
          </a:xfrm>
          <a:prstGeom prst="line">
            <a:avLst/>
          </a:prstGeom>
          <a:ln w="5080">
            <a:solidFill>
              <a:srgbClr val="D9D9D9"/>
            </a:solidFill>
          </a:ln>
        </p:spPr>
      </p:cxnSp>
      <p:cxnSp>
        <p:nvCxnSpPr>
          <p:cNvPr id="384" name="Connector 383"/>
          <p:cNvCxnSpPr/>
          <p:nvPr/>
        </p:nvCxnSpPr>
        <p:spPr>
          <a:xfrm>
            <a:off x="7831666" y="5025000"/>
            <a:ext cx="0" cy="590000"/>
          </a:xfrm>
          <a:prstGeom prst="line">
            <a:avLst/>
          </a:prstGeom>
          <a:ln w="5080">
            <a:solidFill>
              <a:srgbClr val="D9D9D9"/>
            </a:solidFill>
          </a:ln>
        </p:spPr>
      </p:cxnSp>
      <p:cxnSp>
        <p:nvCxnSpPr>
          <p:cNvPr id="385" name="Connector 384"/>
          <p:cNvCxnSpPr/>
          <p:nvPr/>
        </p:nvCxnSpPr>
        <p:spPr>
          <a:xfrm>
            <a:off x="8088000" y="5025000"/>
            <a:ext cx="0" cy="590000"/>
          </a:xfrm>
          <a:prstGeom prst="line">
            <a:avLst/>
          </a:prstGeom>
          <a:ln w="5080">
            <a:solidFill>
              <a:srgbClr val="D9D9D9"/>
            </a:solidFill>
          </a:ln>
        </p:spPr>
      </p:cxnSp>
      <p:cxnSp>
        <p:nvCxnSpPr>
          <p:cNvPr id="386" name="Connector 385"/>
          <p:cNvCxnSpPr/>
          <p:nvPr/>
        </p:nvCxnSpPr>
        <p:spPr>
          <a:xfrm>
            <a:off x="8344333" y="5025000"/>
            <a:ext cx="0" cy="590000"/>
          </a:xfrm>
          <a:prstGeom prst="line">
            <a:avLst/>
          </a:prstGeom>
          <a:ln w="5080">
            <a:solidFill>
              <a:srgbClr val="D9D9D9"/>
            </a:solidFill>
          </a:ln>
        </p:spPr>
      </p:cxnSp>
      <p:cxnSp>
        <p:nvCxnSpPr>
          <p:cNvPr id="387" name="Connector 386"/>
          <p:cNvCxnSpPr/>
          <p:nvPr/>
        </p:nvCxnSpPr>
        <p:spPr>
          <a:xfrm>
            <a:off x="8600666" y="5025000"/>
            <a:ext cx="0" cy="590000"/>
          </a:xfrm>
          <a:prstGeom prst="line">
            <a:avLst/>
          </a:prstGeom>
          <a:ln w="5080">
            <a:solidFill>
              <a:srgbClr val="D9D9D9"/>
            </a:solidFill>
          </a:ln>
        </p:spPr>
      </p:cxnSp>
      <p:cxnSp>
        <p:nvCxnSpPr>
          <p:cNvPr id="388" name="Connector 387"/>
          <p:cNvCxnSpPr/>
          <p:nvPr/>
        </p:nvCxnSpPr>
        <p:spPr>
          <a:xfrm>
            <a:off x="8857000" y="5025000"/>
            <a:ext cx="0" cy="590000"/>
          </a:xfrm>
          <a:prstGeom prst="line">
            <a:avLst/>
          </a:prstGeom>
          <a:ln w="5080">
            <a:solidFill>
              <a:srgbClr val="D9D9D9"/>
            </a:solidFill>
          </a:ln>
        </p:spPr>
      </p:cxnSp>
      <p:cxnSp>
        <p:nvCxnSpPr>
          <p:cNvPr id="389" name="Connector 388"/>
          <p:cNvCxnSpPr/>
          <p:nvPr/>
        </p:nvCxnSpPr>
        <p:spPr>
          <a:xfrm>
            <a:off x="1167000" y="5025000"/>
            <a:ext cx="7690000" cy="0"/>
          </a:xfrm>
          <a:prstGeom prst="line">
            <a:avLst/>
          </a:prstGeom>
          <a:ln w="6350">
            <a:solidFill>
              <a:srgbClr val="BFBFBF"/>
            </a:solidFill>
          </a:ln>
        </p:spPr>
      </p:cxnSp>
      <p:cxnSp>
        <p:nvCxnSpPr>
          <p:cNvPr id="390" name="Connector 389"/>
          <p:cNvCxnSpPr/>
          <p:nvPr/>
        </p:nvCxnSpPr>
        <p:spPr>
          <a:xfrm>
            <a:off x="1167000" y="5615000"/>
            <a:ext cx="7690000" cy="0"/>
          </a:xfrm>
          <a:prstGeom prst="line">
            <a:avLst/>
          </a:prstGeom>
          <a:ln w="6350">
            <a:solidFill>
              <a:srgbClr val="BFBFBF"/>
            </a:solidFill>
          </a:ln>
        </p:spPr>
      </p:cxnSp>
      <p:sp>
        <p:nvSpPr>
          <p:cNvPr id="391" name="TextBox 390"/>
          <p:cNvSpPr txBox="1"/>
          <p:nvPr/>
        </p:nvSpPr>
        <p:spPr>
          <a:xfrm>
            <a:off x="287000" y="4770000"/>
            <a:ext cx="850000" cy="1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11월 (2026)</a:t>
            </a:r>
          </a:p>
        </p:txBody>
      </p:sp>
      <p:sp>
        <p:nvSpPr>
          <p:cNvPr id="392" name="TextBox 391"/>
          <p:cNvSpPr txBox="1"/>
          <p:nvPr/>
        </p:nvSpPr>
        <p:spPr>
          <a:xfrm>
            <a:off x="287000" y="4910000"/>
            <a:ext cx="850000" cy="115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580" b="0" i="0">
                <a:solidFill>
                  <a:srgbClr val="7F7F7F"/>
                </a:solidFill>
                <a:latin typeface="Noto Sans KR"/>
                <a:ea typeface="Noto Sans KR"/>
                <a:cs typeface="Noto Sans KR"/>
              </a:rPr>
              <a:t>24 h 연속 · 720 h</a:t>
            </a:r>
          </a:p>
        </p:txBody>
      </p:sp>
      <p:sp>
        <p:nvSpPr>
          <p:cNvPr id="393" name="TextBox 392"/>
          <p:cNvSpPr txBox="1"/>
          <p:nvPr/>
        </p:nvSpPr>
        <p:spPr>
          <a:xfrm>
            <a:off x="287000" y="5025000"/>
            <a:ext cx="850000" cy="25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정제기 1대</a:t>
            </a:r>
          </a:p>
        </p:txBody>
      </p:sp>
      <p:sp>
        <p:nvSpPr>
          <p:cNvPr id="394" name="TextBox 393"/>
          <p:cNvSpPr txBox="1"/>
          <p:nvPr/>
        </p:nvSpPr>
        <p:spPr>
          <a:xfrm>
            <a:off x="287000" y="5275000"/>
            <a:ext cx="850000" cy="19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FQC·충진·OQC</a:t>
            </a:r>
          </a:p>
        </p:txBody>
      </p:sp>
      <p:sp>
        <p:nvSpPr>
          <p:cNvPr id="395" name="TextBox 394"/>
          <p:cNvSpPr txBox="1"/>
          <p:nvPr/>
        </p:nvSpPr>
        <p:spPr>
          <a:xfrm>
            <a:off x="287000" y="5465000"/>
            <a:ext cx="850000" cy="15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누적 생산 kg</a:t>
            </a:r>
          </a:p>
        </p:txBody>
      </p:sp>
      <p:sp>
        <p:nvSpPr>
          <p:cNvPr id="396" name="Rectangle 395"/>
          <p:cNvSpPr/>
          <p:nvPr/>
        </p:nvSpPr>
        <p:spPr>
          <a:xfrm>
            <a:off x="1167000" y="5055000"/>
            <a:ext cx="608791" cy="190000"/>
          </a:xfrm>
          <a:prstGeom prst="rect">
            <a:avLst/>
          </a:prstGeom>
          <a:solidFill>
            <a:srgbClr val="FF7900"/>
          </a:solidFill>
          <a:ln w="6350">
            <a:solidFill>
              <a:srgbClr val="FFFFFF"/>
            </a:solidFill>
          </a:ln>
        </p:spPr>
        <p:txBody>
          <a:bodyPr rtlCol="0" anchor="ctr" lIns="30000" rIns="30000" tIns="0" bIns="0" wrap="square"/>
          <a:lstStyle/>
          <a:p>
            <a:pPr algn="ctr"/>
            <a:r>
              <a:rPr sz="63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B1</a:t>
            </a:r>
          </a:p>
        </p:txBody>
      </p:sp>
      <p:sp>
        <p:nvSpPr>
          <p:cNvPr id="397" name="Rectangle 396"/>
          <p:cNvSpPr/>
          <p:nvPr/>
        </p:nvSpPr>
        <p:spPr>
          <a:xfrm>
            <a:off x="1775791" y="5085000"/>
            <a:ext cx="90299" cy="130000"/>
          </a:xfrm>
          <a:prstGeom prst="rect">
            <a:avLst/>
          </a:prstGeom>
          <a:solidFill>
            <a:srgbClr val="FFF2CC"/>
          </a:solidFill>
          <a:ln w="5080">
            <a:solidFill>
              <a:srgbClr val="BF9000"/>
            </a:solidFill>
            <a:prstDash val="dash"/>
          </a:ln>
        </p:spPr>
        <p:txBody>
          <a:bodyPr rtlCol="0" anchor="ctr" lIns="30000" rIns="30000" tIns="0" bIns="0" wrap="square"/>
          <a:lstStyle/>
          <a:p>
            <a:pPr algn="ctr"/>
          </a:p>
        </p:txBody>
      </p:sp>
      <p:sp>
        <p:nvSpPr>
          <p:cNvPr id="398" name="Rectangle 397"/>
          <p:cNvSpPr/>
          <p:nvPr/>
        </p:nvSpPr>
        <p:spPr>
          <a:xfrm>
            <a:off x="1775791" y="5310000"/>
            <a:ext cx="213611" cy="120000"/>
          </a:xfrm>
          <a:prstGeom prst="rect">
            <a:avLst/>
          </a:prstGeom>
          <a:solidFill>
            <a:srgbClr val="548235"/>
          </a:solidFill>
          <a:ln>
            <a:noFill/>
          </a:ln>
        </p:spPr>
        <p:txBody>
          <a:bodyPr rtlCol="0" anchor="ctr" lIns="30000" rIns="30000" tIns="0" bIns="0" wrap="square"/>
          <a:lstStyle/>
          <a:p>
            <a:pPr algn="ctr"/>
          </a:p>
        </p:txBody>
      </p:sp>
      <p:sp>
        <p:nvSpPr>
          <p:cNvPr id="399" name="TextBox 398"/>
          <p:cNvSpPr txBox="1"/>
          <p:nvPr/>
        </p:nvSpPr>
        <p:spPr>
          <a:xfrm>
            <a:off x="1555791" y="5465000"/>
            <a:ext cx="440000" cy="15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540" b="1" i="0">
                <a:solidFill>
                  <a:srgbClr val="2E75B6"/>
                </a:solidFill>
                <a:latin typeface="Noto Sans KR"/>
                <a:ea typeface="Noto Sans KR"/>
                <a:cs typeface="Noto Sans KR"/>
              </a:rPr>
              <a:t>190</a:t>
            </a:r>
          </a:p>
        </p:txBody>
      </p:sp>
      <p:sp>
        <p:nvSpPr>
          <p:cNvPr id="400" name="Rectangle 399"/>
          <p:cNvSpPr/>
          <p:nvPr/>
        </p:nvSpPr>
        <p:spPr>
          <a:xfrm>
            <a:off x="1866090" y="5055000"/>
            <a:ext cx="608791" cy="190000"/>
          </a:xfrm>
          <a:prstGeom prst="rect">
            <a:avLst/>
          </a:prstGeom>
          <a:solidFill>
            <a:srgbClr val="FF7900"/>
          </a:solidFill>
          <a:ln w="6350">
            <a:solidFill>
              <a:srgbClr val="FFFFFF"/>
            </a:solidFill>
          </a:ln>
        </p:spPr>
        <p:txBody>
          <a:bodyPr rtlCol="0" anchor="ctr" lIns="30000" rIns="30000" tIns="0" bIns="0" wrap="square"/>
          <a:lstStyle/>
          <a:p>
            <a:pPr algn="ctr"/>
            <a:r>
              <a:rPr sz="63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B2</a:t>
            </a:r>
          </a:p>
        </p:txBody>
      </p:sp>
      <p:sp>
        <p:nvSpPr>
          <p:cNvPr id="401" name="Rectangle 400"/>
          <p:cNvSpPr/>
          <p:nvPr/>
        </p:nvSpPr>
        <p:spPr>
          <a:xfrm>
            <a:off x="2474882" y="5085000"/>
            <a:ext cx="90299" cy="130000"/>
          </a:xfrm>
          <a:prstGeom prst="rect">
            <a:avLst/>
          </a:prstGeom>
          <a:solidFill>
            <a:srgbClr val="FFF2CC"/>
          </a:solidFill>
          <a:ln w="5080">
            <a:solidFill>
              <a:srgbClr val="BF9000"/>
            </a:solidFill>
            <a:prstDash val="dash"/>
          </a:ln>
        </p:spPr>
        <p:txBody>
          <a:bodyPr rtlCol="0" anchor="ctr" lIns="30000" rIns="30000" tIns="0" bIns="0" wrap="square"/>
          <a:lstStyle/>
          <a:p>
            <a:pPr algn="ctr"/>
          </a:p>
        </p:txBody>
      </p:sp>
      <p:sp>
        <p:nvSpPr>
          <p:cNvPr id="402" name="Rectangle 401"/>
          <p:cNvSpPr/>
          <p:nvPr/>
        </p:nvSpPr>
        <p:spPr>
          <a:xfrm>
            <a:off x="2474882" y="5310000"/>
            <a:ext cx="213611" cy="120000"/>
          </a:xfrm>
          <a:prstGeom prst="rect">
            <a:avLst/>
          </a:prstGeom>
          <a:solidFill>
            <a:srgbClr val="548235"/>
          </a:solidFill>
          <a:ln>
            <a:noFill/>
          </a:ln>
        </p:spPr>
        <p:txBody>
          <a:bodyPr rtlCol="0" anchor="ctr" lIns="30000" rIns="30000" tIns="0" bIns="0" wrap="square"/>
          <a:lstStyle/>
          <a:p>
            <a:pPr algn="ctr"/>
          </a:p>
        </p:txBody>
      </p:sp>
      <p:sp>
        <p:nvSpPr>
          <p:cNvPr id="403" name="TextBox 402"/>
          <p:cNvSpPr txBox="1"/>
          <p:nvPr/>
        </p:nvSpPr>
        <p:spPr>
          <a:xfrm>
            <a:off x="2254882" y="5465000"/>
            <a:ext cx="440000" cy="15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540" b="1" i="0">
                <a:solidFill>
                  <a:srgbClr val="2E75B6"/>
                </a:solidFill>
                <a:latin typeface="Noto Sans KR"/>
                <a:ea typeface="Noto Sans KR"/>
                <a:cs typeface="Noto Sans KR"/>
              </a:rPr>
              <a:t>380</a:t>
            </a:r>
          </a:p>
        </p:txBody>
      </p:sp>
      <p:sp>
        <p:nvSpPr>
          <p:cNvPr id="404" name="Rectangle 403"/>
          <p:cNvSpPr/>
          <p:nvPr/>
        </p:nvSpPr>
        <p:spPr>
          <a:xfrm>
            <a:off x="2565181" y="5055000"/>
            <a:ext cx="608791" cy="190000"/>
          </a:xfrm>
          <a:prstGeom prst="rect">
            <a:avLst/>
          </a:prstGeom>
          <a:solidFill>
            <a:srgbClr val="FF7900"/>
          </a:solidFill>
          <a:ln w="6350">
            <a:solidFill>
              <a:srgbClr val="FFFFFF"/>
            </a:solidFill>
          </a:ln>
        </p:spPr>
        <p:txBody>
          <a:bodyPr rtlCol="0" anchor="ctr" lIns="30000" rIns="30000" tIns="0" bIns="0" wrap="square"/>
          <a:lstStyle/>
          <a:p>
            <a:pPr algn="ctr"/>
            <a:r>
              <a:rPr sz="63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B3</a:t>
            </a:r>
          </a:p>
        </p:txBody>
      </p:sp>
      <p:sp>
        <p:nvSpPr>
          <p:cNvPr id="405" name="Rectangle 404"/>
          <p:cNvSpPr/>
          <p:nvPr/>
        </p:nvSpPr>
        <p:spPr>
          <a:xfrm>
            <a:off x="3173973" y="5085000"/>
            <a:ext cx="90299" cy="130000"/>
          </a:xfrm>
          <a:prstGeom prst="rect">
            <a:avLst/>
          </a:prstGeom>
          <a:solidFill>
            <a:srgbClr val="FFF2CC"/>
          </a:solidFill>
          <a:ln w="5080">
            <a:solidFill>
              <a:srgbClr val="BF9000"/>
            </a:solidFill>
            <a:prstDash val="dash"/>
          </a:ln>
        </p:spPr>
        <p:txBody>
          <a:bodyPr rtlCol="0" anchor="ctr" lIns="30000" rIns="30000" tIns="0" bIns="0" wrap="square"/>
          <a:lstStyle/>
          <a:p>
            <a:pPr algn="ctr"/>
          </a:p>
        </p:txBody>
      </p:sp>
      <p:sp>
        <p:nvSpPr>
          <p:cNvPr id="406" name="Rectangle 405"/>
          <p:cNvSpPr/>
          <p:nvPr/>
        </p:nvSpPr>
        <p:spPr>
          <a:xfrm>
            <a:off x="3173973" y="5310000"/>
            <a:ext cx="213611" cy="120000"/>
          </a:xfrm>
          <a:prstGeom prst="rect">
            <a:avLst/>
          </a:prstGeom>
          <a:solidFill>
            <a:srgbClr val="548235"/>
          </a:solidFill>
          <a:ln>
            <a:noFill/>
          </a:ln>
        </p:spPr>
        <p:txBody>
          <a:bodyPr rtlCol="0" anchor="ctr" lIns="30000" rIns="30000" tIns="0" bIns="0" wrap="square"/>
          <a:lstStyle/>
          <a:p>
            <a:pPr algn="ctr"/>
          </a:p>
        </p:txBody>
      </p:sp>
      <p:sp>
        <p:nvSpPr>
          <p:cNvPr id="407" name="TextBox 406"/>
          <p:cNvSpPr txBox="1"/>
          <p:nvPr/>
        </p:nvSpPr>
        <p:spPr>
          <a:xfrm>
            <a:off x="2953973" y="5465000"/>
            <a:ext cx="440000" cy="15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540" b="1" i="0">
                <a:solidFill>
                  <a:srgbClr val="2E75B6"/>
                </a:solidFill>
                <a:latin typeface="Noto Sans KR"/>
                <a:ea typeface="Noto Sans KR"/>
                <a:cs typeface="Noto Sans KR"/>
              </a:rPr>
              <a:t>570</a:t>
            </a:r>
          </a:p>
        </p:txBody>
      </p:sp>
      <p:sp>
        <p:nvSpPr>
          <p:cNvPr id="408" name="Rectangle 407"/>
          <p:cNvSpPr/>
          <p:nvPr/>
        </p:nvSpPr>
        <p:spPr>
          <a:xfrm>
            <a:off x="3264272" y="5055000"/>
            <a:ext cx="608791" cy="190000"/>
          </a:xfrm>
          <a:prstGeom prst="rect">
            <a:avLst/>
          </a:prstGeom>
          <a:solidFill>
            <a:srgbClr val="FF7900"/>
          </a:solidFill>
          <a:ln w="6350">
            <a:solidFill>
              <a:srgbClr val="FFFFFF"/>
            </a:solidFill>
          </a:ln>
        </p:spPr>
        <p:txBody>
          <a:bodyPr rtlCol="0" anchor="ctr" lIns="30000" rIns="30000" tIns="0" bIns="0" wrap="square"/>
          <a:lstStyle/>
          <a:p>
            <a:pPr algn="ctr"/>
            <a:r>
              <a:rPr sz="63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B4</a:t>
            </a:r>
          </a:p>
        </p:txBody>
      </p:sp>
      <p:sp>
        <p:nvSpPr>
          <p:cNvPr id="409" name="Rectangle 408"/>
          <p:cNvSpPr/>
          <p:nvPr/>
        </p:nvSpPr>
        <p:spPr>
          <a:xfrm>
            <a:off x="3873064" y="5085000"/>
            <a:ext cx="90299" cy="130000"/>
          </a:xfrm>
          <a:prstGeom prst="rect">
            <a:avLst/>
          </a:prstGeom>
          <a:solidFill>
            <a:srgbClr val="FFF2CC"/>
          </a:solidFill>
          <a:ln w="5080">
            <a:solidFill>
              <a:srgbClr val="BF9000"/>
            </a:solidFill>
            <a:prstDash val="dash"/>
          </a:ln>
        </p:spPr>
        <p:txBody>
          <a:bodyPr rtlCol="0" anchor="ctr" lIns="30000" rIns="30000" tIns="0" bIns="0" wrap="square"/>
          <a:lstStyle/>
          <a:p>
            <a:pPr algn="ctr"/>
          </a:p>
        </p:txBody>
      </p:sp>
      <p:sp>
        <p:nvSpPr>
          <p:cNvPr id="410" name="Rectangle 409"/>
          <p:cNvSpPr/>
          <p:nvPr/>
        </p:nvSpPr>
        <p:spPr>
          <a:xfrm>
            <a:off x="3873064" y="5310000"/>
            <a:ext cx="213611" cy="120000"/>
          </a:xfrm>
          <a:prstGeom prst="rect">
            <a:avLst/>
          </a:prstGeom>
          <a:solidFill>
            <a:srgbClr val="548235"/>
          </a:solidFill>
          <a:ln>
            <a:noFill/>
          </a:ln>
        </p:spPr>
        <p:txBody>
          <a:bodyPr rtlCol="0" anchor="ctr" lIns="30000" rIns="30000" tIns="0" bIns="0" wrap="square"/>
          <a:lstStyle/>
          <a:p>
            <a:pPr algn="ctr"/>
          </a:p>
        </p:txBody>
      </p:sp>
      <p:sp>
        <p:nvSpPr>
          <p:cNvPr id="411" name="TextBox 410"/>
          <p:cNvSpPr txBox="1"/>
          <p:nvPr/>
        </p:nvSpPr>
        <p:spPr>
          <a:xfrm>
            <a:off x="3653064" y="5465000"/>
            <a:ext cx="440000" cy="15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540" b="1" i="0">
                <a:solidFill>
                  <a:srgbClr val="2E75B6"/>
                </a:solidFill>
                <a:latin typeface="Noto Sans KR"/>
                <a:ea typeface="Noto Sans KR"/>
                <a:cs typeface="Noto Sans KR"/>
              </a:rPr>
              <a:t>760</a:t>
            </a:r>
          </a:p>
        </p:txBody>
      </p:sp>
      <p:sp>
        <p:nvSpPr>
          <p:cNvPr id="412" name="Rectangle 411"/>
          <p:cNvSpPr/>
          <p:nvPr/>
        </p:nvSpPr>
        <p:spPr>
          <a:xfrm>
            <a:off x="3963363" y="5055000"/>
            <a:ext cx="608791" cy="190000"/>
          </a:xfrm>
          <a:prstGeom prst="rect">
            <a:avLst/>
          </a:prstGeom>
          <a:solidFill>
            <a:srgbClr val="FF7900"/>
          </a:solidFill>
          <a:ln w="6350">
            <a:solidFill>
              <a:srgbClr val="FFFFFF"/>
            </a:solidFill>
          </a:ln>
        </p:spPr>
        <p:txBody>
          <a:bodyPr rtlCol="0" anchor="ctr" lIns="30000" rIns="30000" tIns="0" bIns="0" wrap="square"/>
          <a:lstStyle/>
          <a:p>
            <a:pPr algn="ctr"/>
            <a:r>
              <a:rPr sz="63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B5</a:t>
            </a:r>
          </a:p>
        </p:txBody>
      </p:sp>
      <p:sp>
        <p:nvSpPr>
          <p:cNvPr id="413" name="Rectangle 412"/>
          <p:cNvSpPr/>
          <p:nvPr/>
        </p:nvSpPr>
        <p:spPr>
          <a:xfrm>
            <a:off x="4572155" y="5085000"/>
            <a:ext cx="90299" cy="130000"/>
          </a:xfrm>
          <a:prstGeom prst="rect">
            <a:avLst/>
          </a:prstGeom>
          <a:solidFill>
            <a:srgbClr val="FFF2CC"/>
          </a:solidFill>
          <a:ln w="5080">
            <a:solidFill>
              <a:srgbClr val="BF9000"/>
            </a:solidFill>
            <a:prstDash val="dash"/>
          </a:ln>
        </p:spPr>
        <p:txBody>
          <a:bodyPr rtlCol="0" anchor="ctr" lIns="30000" rIns="30000" tIns="0" bIns="0" wrap="square"/>
          <a:lstStyle/>
          <a:p>
            <a:pPr algn="ctr"/>
          </a:p>
        </p:txBody>
      </p:sp>
      <p:sp>
        <p:nvSpPr>
          <p:cNvPr id="414" name="Rectangle 413"/>
          <p:cNvSpPr/>
          <p:nvPr/>
        </p:nvSpPr>
        <p:spPr>
          <a:xfrm>
            <a:off x="4572155" y="5310000"/>
            <a:ext cx="213611" cy="120000"/>
          </a:xfrm>
          <a:prstGeom prst="rect">
            <a:avLst/>
          </a:prstGeom>
          <a:solidFill>
            <a:srgbClr val="548235"/>
          </a:solidFill>
          <a:ln>
            <a:noFill/>
          </a:ln>
        </p:spPr>
        <p:txBody>
          <a:bodyPr rtlCol="0" anchor="ctr" lIns="30000" rIns="30000" tIns="0" bIns="0" wrap="square"/>
          <a:lstStyle/>
          <a:p>
            <a:pPr algn="ctr"/>
          </a:p>
        </p:txBody>
      </p:sp>
      <p:sp>
        <p:nvSpPr>
          <p:cNvPr id="415" name="TextBox 414"/>
          <p:cNvSpPr txBox="1"/>
          <p:nvPr/>
        </p:nvSpPr>
        <p:spPr>
          <a:xfrm>
            <a:off x="4352155" y="5465000"/>
            <a:ext cx="440000" cy="15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540" b="1" i="0">
                <a:solidFill>
                  <a:srgbClr val="2E75B6"/>
                </a:solidFill>
                <a:latin typeface="Noto Sans KR"/>
                <a:ea typeface="Noto Sans KR"/>
                <a:cs typeface="Noto Sans KR"/>
              </a:rPr>
              <a:t>950</a:t>
            </a:r>
          </a:p>
        </p:txBody>
      </p:sp>
      <p:sp>
        <p:nvSpPr>
          <p:cNvPr id="416" name="Rectangle 415"/>
          <p:cNvSpPr/>
          <p:nvPr/>
        </p:nvSpPr>
        <p:spPr>
          <a:xfrm>
            <a:off x="4662454" y="5055000"/>
            <a:ext cx="608791" cy="190000"/>
          </a:xfrm>
          <a:prstGeom prst="rect">
            <a:avLst/>
          </a:prstGeom>
          <a:solidFill>
            <a:srgbClr val="FF7900"/>
          </a:solidFill>
          <a:ln w="6350">
            <a:solidFill>
              <a:srgbClr val="FFFFFF"/>
            </a:solidFill>
          </a:ln>
        </p:spPr>
        <p:txBody>
          <a:bodyPr rtlCol="0" anchor="ctr" lIns="30000" rIns="30000" tIns="0" bIns="0" wrap="square"/>
          <a:lstStyle/>
          <a:p>
            <a:pPr algn="ctr"/>
            <a:r>
              <a:rPr sz="63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B6</a:t>
            </a:r>
          </a:p>
        </p:txBody>
      </p:sp>
      <p:sp>
        <p:nvSpPr>
          <p:cNvPr id="417" name="Rectangle 416"/>
          <p:cNvSpPr/>
          <p:nvPr/>
        </p:nvSpPr>
        <p:spPr>
          <a:xfrm>
            <a:off x="5271246" y="5085000"/>
            <a:ext cx="90299" cy="130000"/>
          </a:xfrm>
          <a:prstGeom prst="rect">
            <a:avLst/>
          </a:prstGeom>
          <a:solidFill>
            <a:srgbClr val="FFF2CC"/>
          </a:solidFill>
          <a:ln w="5080">
            <a:solidFill>
              <a:srgbClr val="BF9000"/>
            </a:solidFill>
            <a:prstDash val="dash"/>
          </a:ln>
        </p:spPr>
        <p:txBody>
          <a:bodyPr rtlCol="0" anchor="ctr" lIns="30000" rIns="30000" tIns="0" bIns="0" wrap="square"/>
          <a:lstStyle/>
          <a:p>
            <a:pPr algn="ctr"/>
          </a:p>
        </p:txBody>
      </p:sp>
      <p:sp>
        <p:nvSpPr>
          <p:cNvPr id="418" name="Rectangle 417"/>
          <p:cNvSpPr/>
          <p:nvPr/>
        </p:nvSpPr>
        <p:spPr>
          <a:xfrm>
            <a:off x="5271246" y="5310000"/>
            <a:ext cx="213611" cy="120000"/>
          </a:xfrm>
          <a:prstGeom prst="rect">
            <a:avLst/>
          </a:prstGeom>
          <a:solidFill>
            <a:srgbClr val="548235"/>
          </a:solidFill>
          <a:ln>
            <a:noFill/>
          </a:ln>
        </p:spPr>
        <p:txBody>
          <a:bodyPr rtlCol="0" anchor="ctr" lIns="30000" rIns="30000" tIns="0" bIns="0" wrap="square"/>
          <a:lstStyle/>
          <a:p>
            <a:pPr algn="ctr"/>
          </a:p>
        </p:txBody>
      </p:sp>
      <p:sp>
        <p:nvSpPr>
          <p:cNvPr id="419" name="TextBox 418"/>
          <p:cNvSpPr txBox="1"/>
          <p:nvPr/>
        </p:nvSpPr>
        <p:spPr>
          <a:xfrm>
            <a:off x="5051246" y="5465000"/>
            <a:ext cx="440000" cy="15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540" b="1" i="0">
                <a:solidFill>
                  <a:srgbClr val="2E75B6"/>
                </a:solidFill>
                <a:latin typeface="Noto Sans KR"/>
                <a:ea typeface="Noto Sans KR"/>
                <a:cs typeface="Noto Sans KR"/>
              </a:rPr>
              <a:t>1,140</a:t>
            </a:r>
          </a:p>
        </p:txBody>
      </p:sp>
      <p:sp>
        <p:nvSpPr>
          <p:cNvPr id="420" name="Rectangle 419"/>
          <p:cNvSpPr/>
          <p:nvPr/>
        </p:nvSpPr>
        <p:spPr>
          <a:xfrm>
            <a:off x="5361545" y="5055000"/>
            <a:ext cx="608791" cy="190000"/>
          </a:xfrm>
          <a:prstGeom prst="rect">
            <a:avLst/>
          </a:prstGeom>
          <a:solidFill>
            <a:srgbClr val="FF7900"/>
          </a:solidFill>
          <a:ln w="6350">
            <a:solidFill>
              <a:srgbClr val="FFFFFF"/>
            </a:solidFill>
          </a:ln>
        </p:spPr>
        <p:txBody>
          <a:bodyPr rtlCol="0" anchor="ctr" lIns="30000" rIns="30000" tIns="0" bIns="0" wrap="square"/>
          <a:lstStyle/>
          <a:p>
            <a:pPr algn="ctr"/>
            <a:r>
              <a:rPr sz="63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B7</a:t>
            </a:r>
          </a:p>
        </p:txBody>
      </p:sp>
      <p:sp>
        <p:nvSpPr>
          <p:cNvPr id="421" name="Rectangle 420"/>
          <p:cNvSpPr/>
          <p:nvPr/>
        </p:nvSpPr>
        <p:spPr>
          <a:xfrm>
            <a:off x="5970337" y="5085000"/>
            <a:ext cx="90299" cy="130000"/>
          </a:xfrm>
          <a:prstGeom prst="rect">
            <a:avLst/>
          </a:prstGeom>
          <a:solidFill>
            <a:srgbClr val="FFF2CC"/>
          </a:solidFill>
          <a:ln w="5080">
            <a:solidFill>
              <a:srgbClr val="BF9000"/>
            </a:solidFill>
            <a:prstDash val="dash"/>
          </a:ln>
        </p:spPr>
        <p:txBody>
          <a:bodyPr rtlCol="0" anchor="ctr" lIns="30000" rIns="30000" tIns="0" bIns="0" wrap="square"/>
          <a:lstStyle/>
          <a:p>
            <a:pPr algn="ctr"/>
          </a:p>
        </p:txBody>
      </p:sp>
      <p:sp>
        <p:nvSpPr>
          <p:cNvPr id="422" name="Rectangle 421"/>
          <p:cNvSpPr/>
          <p:nvPr/>
        </p:nvSpPr>
        <p:spPr>
          <a:xfrm>
            <a:off x="5970337" y="5310000"/>
            <a:ext cx="213611" cy="120000"/>
          </a:xfrm>
          <a:prstGeom prst="rect">
            <a:avLst/>
          </a:prstGeom>
          <a:solidFill>
            <a:srgbClr val="548235"/>
          </a:solidFill>
          <a:ln>
            <a:noFill/>
          </a:ln>
        </p:spPr>
        <p:txBody>
          <a:bodyPr rtlCol="0" anchor="ctr" lIns="30000" rIns="30000" tIns="0" bIns="0" wrap="square"/>
          <a:lstStyle/>
          <a:p>
            <a:pPr algn="ctr"/>
          </a:p>
        </p:txBody>
      </p:sp>
      <p:sp>
        <p:nvSpPr>
          <p:cNvPr id="423" name="TextBox 422"/>
          <p:cNvSpPr txBox="1"/>
          <p:nvPr/>
        </p:nvSpPr>
        <p:spPr>
          <a:xfrm>
            <a:off x="5750337" y="5465000"/>
            <a:ext cx="440000" cy="15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540" b="1" i="0">
                <a:solidFill>
                  <a:srgbClr val="2E75B6"/>
                </a:solidFill>
                <a:latin typeface="Noto Sans KR"/>
                <a:ea typeface="Noto Sans KR"/>
                <a:cs typeface="Noto Sans KR"/>
              </a:rPr>
              <a:t>1,330</a:t>
            </a:r>
          </a:p>
        </p:txBody>
      </p:sp>
      <p:sp>
        <p:nvSpPr>
          <p:cNvPr id="424" name="Rectangle 423"/>
          <p:cNvSpPr/>
          <p:nvPr/>
        </p:nvSpPr>
        <p:spPr>
          <a:xfrm>
            <a:off x="6060636" y="5055000"/>
            <a:ext cx="608791" cy="190000"/>
          </a:xfrm>
          <a:prstGeom prst="rect">
            <a:avLst/>
          </a:prstGeom>
          <a:solidFill>
            <a:srgbClr val="FF7900"/>
          </a:solidFill>
          <a:ln w="6350">
            <a:solidFill>
              <a:srgbClr val="FFFFFF"/>
            </a:solidFill>
          </a:ln>
        </p:spPr>
        <p:txBody>
          <a:bodyPr rtlCol="0" anchor="ctr" lIns="30000" rIns="30000" tIns="0" bIns="0" wrap="square"/>
          <a:lstStyle/>
          <a:p>
            <a:pPr algn="ctr"/>
            <a:r>
              <a:rPr sz="63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B8</a:t>
            </a:r>
          </a:p>
        </p:txBody>
      </p:sp>
      <p:sp>
        <p:nvSpPr>
          <p:cNvPr id="425" name="Rectangle 424"/>
          <p:cNvSpPr/>
          <p:nvPr/>
        </p:nvSpPr>
        <p:spPr>
          <a:xfrm>
            <a:off x="6669428" y="5085000"/>
            <a:ext cx="90299" cy="130000"/>
          </a:xfrm>
          <a:prstGeom prst="rect">
            <a:avLst/>
          </a:prstGeom>
          <a:solidFill>
            <a:srgbClr val="FFF2CC"/>
          </a:solidFill>
          <a:ln w="5080">
            <a:solidFill>
              <a:srgbClr val="BF9000"/>
            </a:solidFill>
            <a:prstDash val="dash"/>
          </a:ln>
        </p:spPr>
        <p:txBody>
          <a:bodyPr rtlCol="0" anchor="ctr" lIns="30000" rIns="30000" tIns="0" bIns="0" wrap="square"/>
          <a:lstStyle/>
          <a:p>
            <a:pPr algn="ctr"/>
          </a:p>
        </p:txBody>
      </p:sp>
      <p:sp>
        <p:nvSpPr>
          <p:cNvPr id="426" name="Rectangle 425"/>
          <p:cNvSpPr/>
          <p:nvPr/>
        </p:nvSpPr>
        <p:spPr>
          <a:xfrm>
            <a:off x="6669428" y="5310000"/>
            <a:ext cx="213611" cy="120000"/>
          </a:xfrm>
          <a:prstGeom prst="rect">
            <a:avLst/>
          </a:prstGeom>
          <a:solidFill>
            <a:srgbClr val="548235"/>
          </a:solidFill>
          <a:ln>
            <a:noFill/>
          </a:ln>
        </p:spPr>
        <p:txBody>
          <a:bodyPr rtlCol="0" anchor="ctr" lIns="30000" rIns="30000" tIns="0" bIns="0" wrap="square"/>
          <a:lstStyle/>
          <a:p>
            <a:pPr algn="ctr"/>
          </a:p>
        </p:txBody>
      </p:sp>
      <p:sp>
        <p:nvSpPr>
          <p:cNvPr id="427" name="TextBox 426"/>
          <p:cNvSpPr txBox="1"/>
          <p:nvPr/>
        </p:nvSpPr>
        <p:spPr>
          <a:xfrm>
            <a:off x="6449428" y="5465000"/>
            <a:ext cx="440000" cy="15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540" b="1" i="0">
                <a:solidFill>
                  <a:srgbClr val="2E75B6"/>
                </a:solidFill>
                <a:latin typeface="Noto Sans KR"/>
                <a:ea typeface="Noto Sans KR"/>
                <a:cs typeface="Noto Sans KR"/>
              </a:rPr>
              <a:t>1,520</a:t>
            </a:r>
          </a:p>
        </p:txBody>
      </p:sp>
      <p:sp>
        <p:nvSpPr>
          <p:cNvPr id="428" name="Rectangle 427"/>
          <p:cNvSpPr/>
          <p:nvPr/>
        </p:nvSpPr>
        <p:spPr>
          <a:xfrm>
            <a:off x="6759727" y="5055000"/>
            <a:ext cx="608791" cy="190000"/>
          </a:xfrm>
          <a:prstGeom prst="rect">
            <a:avLst/>
          </a:prstGeom>
          <a:solidFill>
            <a:srgbClr val="FF7900"/>
          </a:solidFill>
          <a:ln w="6350">
            <a:solidFill>
              <a:srgbClr val="FFFFFF"/>
            </a:solidFill>
          </a:ln>
        </p:spPr>
        <p:txBody>
          <a:bodyPr rtlCol="0" anchor="ctr" lIns="30000" rIns="30000" tIns="0" bIns="0" wrap="square"/>
          <a:lstStyle/>
          <a:p>
            <a:pPr algn="ctr"/>
            <a:r>
              <a:rPr sz="63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B9</a:t>
            </a:r>
          </a:p>
        </p:txBody>
      </p:sp>
      <p:sp>
        <p:nvSpPr>
          <p:cNvPr id="429" name="Rectangle 428"/>
          <p:cNvSpPr/>
          <p:nvPr/>
        </p:nvSpPr>
        <p:spPr>
          <a:xfrm>
            <a:off x="7368518" y="5085000"/>
            <a:ext cx="90299" cy="130000"/>
          </a:xfrm>
          <a:prstGeom prst="rect">
            <a:avLst/>
          </a:prstGeom>
          <a:solidFill>
            <a:srgbClr val="FFF2CC"/>
          </a:solidFill>
          <a:ln w="5080">
            <a:solidFill>
              <a:srgbClr val="BF9000"/>
            </a:solidFill>
            <a:prstDash val="dash"/>
          </a:ln>
        </p:spPr>
        <p:txBody>
          <a:bodyPr rtlCol="0" anchor="ctr" lIns="30000" rIns="30000" tIns="0" bIns="0" wrap="square"/>
          <a:lstStyle/>
          <a:p>
            <a:pPr algn="ctr"/>
          </a:p>
        </p:txBody>
      </p:sp>
      <p:sp>
        <p:nvSpPr>
          <p:cNvPr id="430" name="Rectangle 429"/>
          <p:cNvSpPr/>
          <p:nvPr/>
        </p:nvSpPr>
        <p:spPr>
          <a:xfrm>
            <a:off x="7368518" y="5310000"/>
            <a:ext cx="213611" cy="120000"/>
          </a:xfrm>
          <a:prstGeom prst="rect">
            <a:avLst/>
          </a:prstGeom>
          <a:solidFill>
            <a:srgbClr val="548235"/>
          </a:solidFill>
          <a:ln>
            <a:noFill/>
          </a:ln>
        </p:spPr>
        <p:txBody>
          <a:bodyPr rtlCol="0" anchor="ctr" lIns="30000" rIns="30000" tIns="0" bIns="0" wrap="square"/>
          <a:lstStyle/>
          <a:p>
            <a:pPr algn="ctr"/>
          </a:p>
        </p:txBody>
      </p:sp>
      <p:sp>
        <p:nvSpPr>
          <p:cNvPr id="431" name="TextBox 430"/>
          <p:cNvSpPr txBox="1"/>
          <p:nvPr/>
        </p:nvSpPr>
        <p:spPr>
          <a:xfrm>
            <a:off x="7148518" y="5465000"/>
            <a:ext cx="440000" cy="15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540" b="1" i="0">
                <a:solidFill>
                  <a:srgbClr val="2E75B6"/>
                </a:solidFill>
                <a:latin typeface="Noto Sans KR"/>
                <a:ea typeface="Noto Sans KR"/>
                <a:cs typeface="Noto Sans KR"/>
              </a:rPr>
              <a:t>1,710</a:t>
            </a:r>
          </a:p>
        </p:txBody>
      </p:sp>
      <p:sp>
        <p:nvSpPr>
          <p:cNvPr id="432" name="Rectangle 431"/>
          <p:cNvSpPr/>
          <p:nvPr/>
        </p:nvSpPr>
        <p:spPr>
          <a:xfrm>
            <a:off x="7458818" y="5055000"/>
            <a:ext cx="608791" cy="190000"/>
          </a:xfrm>
          <a:prstGeom prst="rect">
            <a:avLst/>
          </a:prstGeom>
          <a:solidFill>
            <a:srgbClr val="FF7900"/>
          </a:solidFill>
          <a:ln w="6350">
            <a:solidFill>
              <a:srgbClr val="FFFFFF"/>
            </a:solidFill>
          </a:ln>
        </p:spPr>
        <p:txBody>
          <a:bodyPr rtlCol="0" anchor="ctr" lIns="30000" rIns="30000" tIns="0" bIns="0" wrap="square"/>
          <a:lstStyle/>
          <a:p>
            <a:pPr algn="ctr"/>
            <a:r>
              <a:rPr sz="63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B10</a:t>
            </a:r>
          </a:p>
        </p:txBody>
      </p:sp>
      <p:sp>
        <p:nvSpPr>
          <p:cNvPr id="433" name="Rectangle 432"/>
          <p:cNvSpPr/>
          <p:nvPr/>
        </p:nvSpPr>
        <p:spPr>
          <a:xfrm>
            <a:off x="8067609" y="5085000"/>
            <a:ext cx="90299" cy="130000"/>
          </a:xfrm>
          <a:prstGeom prst="rect">
            <a:avLst/>
          </a:prstGeom>
          <a:solidFill>
            <a:srgbClr val="FFF2CC"/>
          </a:solidFill>
          <a:ln w="5080">
            <a:solidFill>
              <a:srgbClr val="BF9000"/>
            </a:solidFill>
            <a:prstDash val="dash"/>
          </a:ln>
        </p:spPr>
        <p:txBody>
          <a:bodyPr rtlCol="0" anchor="ctr" lIns="30000" rIns="30000" tIns="0" bIns="0" wrap="square"/>
          <a:lstStyle/>
          <a:p>
            <a:pPr algn="ctr"/>
          </a:p>
        </p:txBody>
      </p:sp>
      <p:sp>
        <p:nvSpPr>
          <p:cNvPr id="434" name="Rectangle 433"/>
          <p:cNvSpPr/>
          <p:nvPr/>
        </p:nvSpPr>
        <p:spPr>
          <a:xfrm>
            <a:off x="8067609" y="5310000"/>
            <a:ext cx="213611" cy="120000"/>
          </a:xfrm>
          <a:prstGeom prst="rect">
            <a:avLst/>
          </a:prstGeom>
          <a:solidFill>
            <a:srgbClr val="548235"/>
          </a:solidFill>
          <a:ln>
            <a:noFill/>
          </a:ln>
        </p:spPr>
        <p:txBody>
          <a:bodyPr rtlCol="0" anchor="ctr" lIns="30000" rIns="30000" tIns="0" bIns="0" wrap="square"/>
          <a:lstStyle/>
          <a:p>
            <a:pPr algn="ctr"/>
          </a:p>
        </p:txBody>
      </p:sp>
      <p:sp>
        <p:nvSpPr>
          <p:cNvPr id="435" name="TextBox 434"/>
          <p:cNvSpPr txBox="1"/>
          <p:nvPr/>
        </p:nvSpPr>
        <p:spPr>
          <a:xfrm>
            <a:off x="7847609" y="5465000"/>
            <a:ext cx="440000" cy="15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540" b="1" i="0">
                <a:solidFill>
                  <a:srgbClr val="2E75B6"/>
                </a:solidFill>
                <a:latin typeface="Noto Sans KR"/>
                <a:ea typeface="Noto Sans KR"/>
                <a:cs typeface="Noto Sans KR"/>
              </a:rPr>
              <a:t>1,900</a:t>
            </a:r>
          </a:p>
        </p:txBody>
      </p:sp>
      <p:sp>
        <p:nvSpPr>
          <p:cNvPr id="436" name="Rectangle 435"/>
          <p:cNvSpPr/>
          <p:nvPr/>
        </p:nvSpPr>
        <p:spPr>
          <a:xfrm>
            <a:off x="8157909" y="5055000"/>
            <a:ext cx="608791" cy="190000"/>
          </a:xfrm>
          <a:prstGeom prst="rect">
            <a:avLst/>
          </a:prstGeom>
          <a:solidFill>
            <a:srgbClr val="FF7900"/>
          </a:solidFill>
          <a:ln w="6350">
            <a:solidFill>
              <a:srgbClr val="FFFFFF"/>
            </a:solidFill>
          </a:ln>
        </p:spPr>
        <p:txBody>
          <a:bodyPr rtlCol="0" anchor="ctr" lIns="30000" rIns="30000" tIns="0" bIns="0" wrap="square"/>
          <a:lstStyle/>
          <a:p>
            <a:pPr algn="ctr"/>
            <a:r>
              <a:rPr sz="63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B11</a:t>
            </a:r>
          </a:p>
        </p:txBody>
      </p:sp>
      <p:sp>
        <p:nvSpPr>
          <p:cNvPr id="437" name="Rectangle 436"/>
          <p:cNvSpPr/>
          <p:nvPr/>
        </p:nvSpPr>
        <p:spPr>
          <a:xfrm>
            <a:off x="8766700" y="5085000"/>
            <a:ext cx="90299" cy="130000"/>
          </a:xfrm>
          <a:prstGeom prst="rect">
            <a:avLst/>
          </a:prstGeom>
          <a:solidFill>
            <a:srgbClr val="FFF2CC"/>
          </a:solidFill>
          <a:ln w="5080">
            <a:solidFill>
              <a:srgbClr val="BF9000"/>
            </a:solidFill>
            <a:prstDash val="dash"/>
          </a:ln>
        </p:spPr>
        <p:txBody>
          <a:bodyPr rtlCol="0" anchor="ctr" lIns="30000" rIns="30000" tIns="0" bIns="0" wrap="square"/>
          <a:lstStyle/>
          <a:p>
            <a:pPr algn="ctr"/>
          </a:p>
        </p:txBody>
      </p:sp>
      <p:sp>
        <p:nvSpPr>
          <p:cNvPr id="438" name="Rectangle 437"/>
          <p:cNvSpPr/>
          <p:nvPr/>
        </p:nvSpPr>
        <p:spPr>
          <a:xfrm>
            <a:off x="8766700" y="5310000"/>
            <a:ext cx="90299" cy="120000"/>
          </a:xfrm>
          <a:prstGeom prst="rect">
            <a:avLst/>
          </a:prstGeom>
          <a:solidFill>
            <a:srgbClr val="548235"/>
          </a:solidFill>
          <a:ln>
            <a:noFill/>
          </a:ln>
        </p:spPr>
        <p:txBody>
          <a:bodyPr rtlCol="0" anchor="ctr" lIns="30000" rIns="30000" tIns="0" bIns="0" wrap="square"/>
          <a:lstStyle/>
          <a:p>
            <a:pPr algn="ctr"/>
          </a:p>
        </p:txBody>
      </p:sp>
      <p:sp>
        <p:nvSpPr>
          <p:cNvPr id="439" name="TextBox 438"/>
          <p:cNvSpPr txBox="1"/>
          <p:nvPr/>
        </p:nvSpPr>
        <p:spPr>
          <a:xfrm>
            <a:off x="8546700" y="5465000"/>
            <a:ext cx="440000" cy="15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540" b="1" i="0">
                <a:solidFill>
                  <a:srgbClr val="2E75B6"/>
                </a:solidFill>
                <a:latin typeface="Noto Sans KR"/>
                <a:ea typeface="Noto Sans KR"/>
                <a:cs typeface="Noto Sans KR"/>
              </a:rPr>
              <a:t>2,090</a:t>
            </a:r>
          </a:p>
        </p:txBody>
      </p:sp>
      <p:sp>
        <p:nvSpPr>
          <p:cNvPr id="440" name="Rectangle 439"/>
          <p:cNvSpPr/>
          <p:nvPr/>
        </p:nvSpPr>
        <p:spPr>
          <a:xfrm>
            <a:off x="6237000" y="4560000"/>
            <a:ext cx="150000" cy="100000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txBody>
          <a:bodyPr rtlCol="0" anchor="ctr" lIns="30000" rIns="30000" tIns="0" bIns="0" wrap="square"/>
          <a:lstStyle/>
          <a:p>
            <a:pPr algn="ctr"/>
          </a:p>
        </p:txBody>
      </p:sp>
      <p:sp>
        <p:nvSpPr>
          <p:cNvPr id="441" name="TextBox 440"/>
          <p:cNvSpPr txBox="1"/>
          <p:nvPr/>
        </p:nvSpPr>
        <p:spPr>
          <a:xfrm>
            <a:off x="6417000" y="4535000"/>
            <a:ext cx="7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600" b="0" i="0">
                <a:solidFill>
                  <a:srgbClr val="3F3F3F"/>
                </a:solidFill>
                <a:latin typeface="Noto Sans KR"/>
                <a:ea typeface="Noto Sans KR"/>
                <a:cs typeface="Noto Sans KR"/>
              </a:rPr>
              <a:t>정제 57 h</a:t>
            </a:r>
          </a:p>
        </p:txBody>
      </p:sp>
      <p:sp>
        <p:nvSpPr>
          <p:cNvPr id="442" name="Rectangle 441"/>
          <p:cNvSpPr/>
          <p:nvPr/>
        </p:nvSpPr>
        <p:spPr>
          <a:xfrm>
            <a:off x="7107000" y="4560000"/>
            <a:ext cx="150000" cy="100000"/>
          </a:xfrm>
          <a:prstGeom prst="rect">
            <a:avLst/>
          </a:prstGeom>
          <a:solidFill>
            <a:srgbClr val="FFF2CC"/>
          </a:solidFill>
          <a:ln w="6350">
            <a:solidFill>
              <a:srgbClr val="BF9000"/>
            </a:solidFill>
            <a:prstDash val="dash"/>
          </a:ln>
        </p:spPr>
        <p:txBody>
          <a:bodyPr rtlCol="0" anchor="ctr" lIns="30000" rIns="30000" tIns="0" bIns="0" wrap="square"/>
          <a:lstStyle/>
          <a:p>
            <a:pPr algn="ctr"/>
          </a:p>
        </p:txBody>
      </p:sp>
      <p:sp>
        <p:nvSpPr>
          <p:cNvPr id="443" name="TextBox 442"/>
          <p:cNvSpPr txBox="1"/>
          <p:nvPr/>
        </p:nvSpPr>
        <p:spPr>
          <a:xfrm>
            <a:off x="7287000" y="4535000"/>
            <a:ext cx="7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600" b="0" i="0">
                <a:solidFill>
                  <a:srgbClr val="3F3F3F"/>
                </a:solidFill>
                <a:latin typeface="Noto Sans KR"/>
                <a:ea typeface="Noto Sans KR"/>
                <a:cs typeface="Noto Sans KR"/>
              </a:rPr>
              <a:t>전환·대기</a:t>
            </a:r>
          </a:p>
        </p:txBody>
      </p:sp>
      <p:sp>
        <p:nvSpPr>
          <p:cNvPr id="444" name="Rectangle 443"/>
          <p:cNvSpPr/>
          <p:nvPr/>
        </p:nvSpPr>
        <p:spPr>
          <a:xfrm>
            <a:off x="7977000" y="4560000"/>
            <a:ext cx="150000" cy="100000"/>
          </a:xfrm>
          <a:prstGeom prst="rect">
            <a:avLst/>
          </a:prstGeom>
          <a:solidFill>
            <a:srgbClr val="548235"/>
          </a:solidFill>
          <a:ln>
            <a:noFill/>
          </a:ln>
        </p:spPr>
        <p:txBody>
          <a:bodyPr rtlCol="0" anchor="ctr" lIns="30000" rIns="30000" tIns="0" bIns="0" wrap="square"/>
          <a:lstStyle/>
          <a:p>
            <a:pPr algn="ctr"/>
          </a:p>
        </p:txBody>
      </p:sp>
      <p:sp>
        <p:nvSpPr>
          <p:cNvPr id="445" name="TextBox 444"/>
          <p:cNvSpPr txBox="1"/>
          <p:nvPr/>
        </p:nvSpPr>
        <p:spPr>
          <a:xfrm>
            <a:off x="8157000" y="4535000"/>
            <a:ext cx="7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600" b="0" i="0">
                <a:solidFill>
                  <a:srgbClr val="3F3F3F"/>
                </a:solidFill>
                <a:latin typeface="Noto Sans KR"/>
                <a:ea typeface="Noto Sans KR"/>
                <a:cs typeface="Noto Sans KR"/>
              </a:rPr>
              <a:t>충진 20 h</a:t>
            </a:r>
          </a:p>
        </p:txBody>
      </p:sp>
      <p:sp>
        <p:nvSpPr>
          <p:cNvPr id="446" name="Rectangle 445"/>
          <p:cNvSpPr/>
          <p:nvPr/>
        </p:nvSpPr>
        <p:spPr>
          <a:xfrm>
            <a:off x="287000" y="5665000"/>
            <a:ext cx="2090000" cy="420000"/>
          </a:xfrm>
          <a:prstGeom prst="rect">
            <a:avLst/>
          </a:prstGeom>
          <a:solidFill>
            <a:srgbClr val="FDEDF0"/>
          </a:solidFill>
          <a:ln w="12700">
            <a:solidFill>
              <a:srgbClr val="EB002C"/>
            </a:solidFill>
          </a:ln>
        </p:spPr>
        <p:txBody>
          <a:bodyPr rtlCol="0" anchor="ctr" lIns="30000" rIns="30000" tIns="0" bIns="0" wrap="square"/>
          <a:lstStyle/>
          <a:p>
            <a:pPr algn="ctr"/>
          </a:p>
        </p:txBody>
      </p:sp>
      <p:sp>
        <p:nvSpPr>
          <p:cNvPr id="447" name="TextBox 446"/>
          <p:cNvSpPr txBox="1"/>
          <p:nvPr/>
        </p:nvSpPr>
        <p:spPr>
          <a:xfrm>
            <a:off x="337000" y="5690000"/>
            <a:ext cx="1990000" cy="39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11월 결과  </a:t>
            </a:r>
            <a:r>
              <a:rPr sz="900" b="1" i="0">
                <a:solidFill>
                  <a:srgbClr val="EB002C"/>
                </a:solidFill>
                <a:latin typeface="Noto Sans KR"/>
                <a:ea typeface="Noto Sans KR"/>
                <a:cs typeface="Noto Sans KR"/>
              </a:rPr>
              <a:t>11 Batch · 2,090 kg</a:t>
            </a:r>
          </a:p>
          <a:p>
            <a:pPr algn="ctr">
              <a:spcAft>
                <a:spcPts val="0"/>
              </a:spcAft>
            </a:pPr>
            <a:r>
              <a:rPr sz="600" b="0" i="0">
                <a:solidFill>
                  <a:srgbClr val="7F7F7F"/>
                </a:solidFill>
                <a:latin typeface="Noto Sans KR"/>
                <a:ea typeface="Noto Sans KR"/>
                <a:cs typeface="Noto Sans KR"/>
              </a:rPr>
              <a:t>B11 11/30 15:32 완료 · 잔여 8.5 h</a:t>
            </a:r>
          </a:p>
        </p:txBody>
      </p:sp>
      <p:sp>
        <p:nvSpPr>
          <p:cNvPr id="448" name="Rectangle 447"/>
          <p:cNvSpPr/>
          <p:nvPr/>
        </p:nvSpPr>
        <p:spPr>
          <a:xfrm>
            <a:off x="2447000" y="5665000"/>
            <a:ext cx="209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7F7F7F"/>
            </a:solidFill>
            <a:prstDash val="dash"/>
          </a:ln>
        </p:spPr>
        <p:txBody>
          <a:bodyPr rtlCol="0" anchor="ctr" lIns="30000" rIns="30000" tIns="0" bIns="0" wrap="square"/>
          <a:lstStyle/>
          <a:p>
            <a:pPr algn="ctr"/>
          </a:p>
        </p:txBody>
      </p:sp>
      <p:sp>
        <p:nvSpPr>
          <p:cNvPr id="449" name="TextBox 448"/>
          <p:cNvSpPr txBox="1"/>
          <p:nvPr/>
        </p:nvSpPr>
        <p:spPr>
          <a:xfrm>
            <a:off x="2497000" y="5690000"/>
            <a:ext cx="1990000" cy="39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시간 검증  </a:t>
            </a:r>
            <a:r>
              <a:rPr sz="900" b="1" i="0">
                <a:solidFill>
                  <a:srgbClr val="3F3F3F"/>
                </a:solidFill>
                <a:latin typeface="Noto Sans KR"/>
                <a:ea typeface="Noto Sans KR"/>
                <a:cs typeface="Noto Sans KR"/>
              </a:rPr>
              <a:t>627 h + 93 h = 720 h</a:t>
            </a:r>
          </a:p>
          <a:p>
            <a:pPr algn="ctr">
              <a:spcAft>
                <a:spcPts val="0"/>
              </a:spcAft>
            </a:pPr>
            <a:r>
              <a:rPr sz="600" b="0" i="0">
                <a:solidFill>
                  <a:srgbClr val="7F7F7F"/>
                </a:solidFill>
                <a:latin typeface="Noto Sans KR"/>
                <a:ea typeface="Noto Sans KR"/>
                <a:cs typeface="Noto Sans KR"/>
              </a:rPr>
              <a:t>정제 11×57 + 전환·대기 11×8.5</a:t>
            </a:r>
          </a:p>
        </p:txBody>
      </p:sp>
      <p:sp>
        <p:nvSpPr>
          <p:cNvPr id="450" name="Rectangle 449"/>
          <p:cNvSpPr/>
          <p:nvPr/>
        </p:nvSpPr>
        <p:spPr>
          <a:xfrm>
            <a:off x="4607000" y="5665000"/>
            <a:ext cx="2090000" cy="420000"/>
          </a:xfrm>
          <a:prstGeom prst="rect">
            <a:avLst/>
          </a:prstGeom>
          <a:solidFill>
            <a:srgbClr val="FFF8E7"/>
          </a:solidFill>
          <a:ln w="12700">
            <a:solidFill>
              <a:srgbClr val="BF9000"/>
            </a:solidFill>
          </a:ln>
        </p:spPr>
        <p:txBody>
          <a:bodyPr rtlCol="0" anchor="ctr" lIns="30000" rIns="30000" tIns="0" bIns="0" wrap="square"/>
          <a:lstStyle/>
          <a:p>
            <a:pPr algn="ctr"/>
          </a:p>
        </p:txBody>
      </p:sp>
      <p:sp>
        <p:nvSpPr>
          <p:cNvPr id="451" name="TextBox 450"/>
          <p:cNvSpPr txBox="1"/>
          <p:nvPr/>
        </p:nvSpPr>
        <p:spPr>
          <a:xfrm>
            <a:off x="4657000" y="5690000"/>
            <a:ext cx="1990000" cy="39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비교 (참고)  </a:t>
            </a:r>
            <a:r>
              <a:rPr sz="900" b="1" i="0">
                <a:solidFill>
                  <a:srgbClr val="7F6000"/>
                </a:solidFill>
                <a:latin typeface="Noto Sans KR"/>
                <a:ea typeface="Noto Sans KR"/>
                <a:cs typeface="Noto Sans KR"/>
              </a:rPr>
              <a:t>57 h 연속 12 · 관측 10.7</a:t>
            </a:r>
          </a:p>
          <a:p>
            <a:pPr algn="ctr">
              <a:spcAft>
                <a:spcPts val="0"/>
              </a:spcAft>
            </a:pPr>
            <a:r>
              <a:rPr sz="600" b="0" i="0">
                <a:solidFill>
                  <a:srgbClr val="7F7F7F"/>
                </a:solidFill>
                <a:latin typeface="Noto Sans KR"/>
                <a:ea typeface="Noto Sans KR"/>
                <a:cs typeface="Noto Sans KR"/>
              </a:rPr>
              <a:t>12번째는 36 h 진행 → 이월 / 67.5 h</a:t>
            </a:r>
          </a:p>
        </p:txBody>
      </p:sp>
      <p:sp>
        <p:nvSpPr>
          <p:cNvPr id="452" name="Rectangle 451"/>
          <p:cNvSpPr/>
          <p:nvPr/>
        </p:nvSpPr>
        <p:spPr>
          <a:xfrm>
            <a:off x="6767000" y="5665000"/>
            <a:ext cx="2090000" cy="420000"/>
          </a:xfrm>
          <a:prstGeom prst="rect">
            <a:avLst/>
          </a:prstGeom>
          <a:solidFill>
            <a:srgbClr val="FDEDF0"/>
          </a:solidFill>
          <a:ln w="12700">
            <a:solidFill>
              <a:srgbClr val="EB002C"/>
            </a:solidFill>
          </a:ln>
        </p:spPr>
        <p:txBody>
          <a:bodyPr rtlCol="0" anchor="ctr" lIns="30000" rIns="30000" tIns="0" bIns="0" wrap="square"/>
          <a:lstStyle/>
          <a:p>
            <a:pPr algn="ctr"/>
          </a:p>
        </p:txBody>
      </p:sp>
      <p:sp>
        <p:nvSpPr>
          <p:cNvPr id="453" name="TextBox 452"/>
          <p:cNvSpPr txBox="1"/>
          <p:nvPr/>
        </p:nvSpPr>
        <p:spPr>
          <a:xfrm>
            <a:off x="6817000" y="5690000"/>
            <a:ext cx="1990000" cy="39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현재 연간 Capa.  </a:t>
            </a:r>
            <a:r>
              <a:rPr sz="900" b="1" i="0">
                <a:solidFill>
                  <a:srgbClr val="EB002C"/>
                </a:solidFill>
                <a:latin typeface="Noto Sans KR"/>
                <a:ea typeface="Noto Sans KR"/>
                <a:cs typeface="Noto Sans KR"/>
              </a:rPr>
              <a:t>26.2톤 = 월 11.49</a:t>
            </a:r>
          </a:p>
          <a:p>
            <a:pPr algn="ctr">
              <a:spcAft>
                <a:spcPts val="0"/>
              </a:spcAft>
            </a:pPr>
            <a:r>
              <a:rPr sz="600" b="0" i="0">
                <a:solidFill>
                  <a:srgbClr val="7F7F7F"/>
                </a:solidFill>
                <a:latin typeface="Noto Sans KR"/>
                <a:ea typeface="Noto Sans KR"/>
                <a:cs typeface="Noto Sans KR"/>
              </a:rPr>
              <a:t>57 h 기준 · '27.6까지 적용 (전제) · 사이클 62.7 h</a:t>
            </a:r>
          </a:p>
        </p:txBody>
      </p:sp>
    </p:spTree>
    <p:extLst>
      <p:ext uri="{BB962C8B-B14F-4D97-AF65-F5344CB8AC3E}">
        <p14:creationId xmlns:p14="http://schemas.microsoft.com/office/powerpoint/2010/main" val="129899069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2BE96E-E472-E164-23F2-95F3E9DCB4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5E2DD2F-BCF5-ECAE-E5D5-3CF0B6E970A6}"/>
              </a:ext>
            </a:extLst>
          </p:cNvPr>
          <p:cNvSpPr txBox="1"/>
          <p:nvPr/>
        </p:nvSpPr>
        <p:spPr>
          <a:xfrm>
            <a:off x="419241" y="188640"/>
            <a:ext cx="740000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algn="ctr">
              <a:defRPr kumimoji="1" sz="2800" b="1">
                <a:solidFill>
                  <a:schemeClr val="tx1">
                    <a:lumMod val="95000"/>
                    <a:lumOff val="5000"/>
                  </a:schemeClr>
                </a:solidFill>
                <a:latin typeface="Noto Sans KR" pitchFamily="2" charset="-127"/>
                <a:ea typeface="Noto Sans KR" pitchFamily="2" charset="-127"/>
              </a:defRPr>
            </a:lvl1pPr>
          </a:lstStyle>
          <a:p>
            <a:pPr algn="l"/>
            <a:r>
              <a:rPr lang="en-US" altLang="ko-KR" sz="1800" dirty="0" b="1">
                <a:gradFill>
                  <a:gsLst>
                    <a:gs pos="0">
                      <a:srgbClr val="FF7900"/>
                    </a:gs>
                    <a:gs pos="67000">
                      <a:srgbClr val="EB002C"/>
                    </a:gs>
                  </a:gsLst>
                  <a:lin ang="5400000" scaled="1"/>
                </a:gradFill>
              </a:rPr>
              <a:t>To-be | 공정과 리플럭스 계획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5E334A9-F66D-C6A4-7BE9-6D50F9536A48}"/>
              </a:ext>
            </a:extLst>
          </p:cNvPr>
          <p:cNvSpPr/>
          <p:nvPr/>
        </p:nvSpPr>
        <p:spPr>
          <a:xfrm>
            <a:off x="243076" y="0"/>
            <a:ext cx="45719" cy="900000"/>
          </a:xfrm>
          <a:prstGeom prst="rect">
            <a:avLst/>
          </a:prstGeom>
          <a:solidFill>
            <a:srgbClr val="EB002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2E35880-4093-876B-A5F4-41C1E861B78E}"/>
              </a:ext>
            </a:extLst>
          </p:cNvPr>
          <p:cNvSpPr txBox="1"/>
          <p:nvPr/>
        </p:nvSpPr>
        <p:spPr>
          <a:xfrm>
            <a:off x="683568" y="649029"/>
            <a:ext cx="8217356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algn="ctr">
              <a:defRPr kumimoji="1" sz="2800" b="1">
                <a:solidFill>
                  <a:schemeClr val="tx1">
                    <a:lumMod val="95000"/>
                    <a:lumOff val="5000"/>
                  </a:schemeClr>
                </a:solidFill>
                <a:latin typeface="Noto Sans KR" pitchFamily="2" charset="-127"/>
                <a:ea typeface="Noto Sans KR" pitchFamily="2" charset="-127"/>
              </a:defRPr>
            </a:lvl1pPr>
          </a:lstStyle>
          <a:p>
            <a:pPr algn="l"/>
            <a:r>
              <a:rPr lang="en-US" altLang="ko-KR" sz="1600" dirty="0"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동일 정제기 1대 개선 · 5 Gal 글로브 박스 유지 · 200 L ARS · '27.7 생산 시작</a:t>
            </a:r>
            <a:endParaRPr lang="en-US" altLang="ko-KR" sz="1600" dirty="0">
              <a:solidFill>
                <a:srgbClr val="FB6306"/>
              </a:solidFill>
              <a:latin typeface="Noto Sans KR" panose="02000503000000020004" pitchFamily="2" charset="-127"/>
              <a:ea typeface="Noto Sans KR" panose="02000503000000020004" pitchFamily="2" charset="-127"/>
              <a:cs typeface="Noto Sans KR" panose="02000503000000020004" pitchFamily="2" charset="-127"/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8FCEA6BD-DE04-59B4-A8D4-190141D5218B}"/>
              </a:ext>
            </a:extLst>
          </p:cNvPr>
          <p:cNvSpPr>
            <a:spLocks noChangeAspect="1"/>
          </p:cNvSpPr>
          <p:nvPr/>
        </p:nvSpPr>
        <p:spPr>
          <a:xfrm>
            <a:off x="419241" y="682139"/>
            <a:ext cx="180000" cy="180000"/>
          </a:xfrm>
          <a:prstGeom prst="ellipse">
            <a:avLst/>
          </a:prstGeom>
          <a:solidFill>
            <a:srgbClr val="EB002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 b="1" dirty="0">
                <a:latin typeface="Noto Sans KR" pitchFamily="2" charset="-127"/>
                <a:ea typeface="Noto Sans KR" pitchFamily="2" charset="-127"/>
              </a:rPr>
              <a:t>2</a:t>
            </a:r>
            <a:endParaRPr kumimoji="1" lang="ko-KR" altLang="en-US" sz="1000" b="1" dirty="0">
              <a:latin typeface="Noto Sans KR" pitchFamily="2" charset="-127"/>
              <a:ea typeface="Noto Sans KR" pitchFamily="2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B8A963E8-7BFA-8421-BB5D-9C25023F1E9B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8384" y="165102"/>
            <a:ext cx="872541" cy="372545"/>
          </a:xfrm>
          <a:prstGeom prst="rect">
            <a:avLst/>
          </a:prstGeom>
        </p:spPr>
      </p:pic>
      <p:sp>
        <p:nvSpPr>
          <p:cNvPr id="161" name="직사각형 160">
            <a:extLst>
              <a:ext uri="{FF2B5EF4-FFF2-40B4-BE49-F238E27FC236}">
                <a16:creationId xmlns:a16="http://schemas.microsoft.com/office/drawing/2014/main" id="{93943A90-8311-883B-A173-01407C63CEE4}"/>
              </a:ext>
            </a:extLst>
          </p:cNvPr>
          <p:cNvSpPr/>
          <p:nvPr/>
        </p:nvSpPr>
        <p:spPr>
          <a:xfrm>
            <a:off x="234424" y="6411907"/>
            <a:ext cx="1027462" cy="252555"/>
          </a:xfrm>
          <a:prstGeom prst="rect">
            <a:avLst/>
          </a:prstGeom>
          <a:noFill/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ko-KR" sz="1100" dirty="0">
                <a:solidFill>
                  <a:schemeClr val="bg1">
                    <a:lumMod val="50000"/>
                  </a:schemeClr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Confidential</a:t>
            </a:r>
            <a:endParaRPr kumimoji="1" lang="ko-KR" altLang="en-US" sz="1100" dirty="0">
              <a:solidFill>
                <a:schemeClr val="bg1">
                  <a:lumMod val="50000"/>
                </a:schemeClr>
              </a:solidFill>
              <a:latin typeface="Noto Sans KR" panose="02000503000000020004" pitchFamily="2" charset="-127"/>
              <a:ea typeface="Noto Sans KR" panose="02000503000000020004" pitchFamily="2" charset="-127"/>
              <a:cs typeface="Noto Sans KR" panose="02000503000000020004" pitchFamily="2" charset="-127"/>
            </a:endParaRPr>
          </a:p>
        </p:txBody>
      </p:sp>
      <p:cxnSp>
        <p:nvCxnSpPr>
          <p:cNvPr id="163" name="직선 연결선[R] 162">
            <a:extLst>
              <a:ext uri="{FF2B5EF4-FFF2-40B4-BE49-F238E27FC236}">
                <a16:creationId xmlns:a16="http://schemas.microsoft.com/office/drawing/2014/main" id="{8DEBABA2-333E-086B-36F6-137958AA3974}"/>
              </a:ext>
            </a:extLst>
          </p:cNvPr>
          <p:cNvCxnSpPr>
            <a:cxnSpLocks/>
          </p:cNvCxnSpPr>
          <p:nvPr/>
        </p:nvCxnSpPr>
        <p:spPr>
          <a:xfrm>
            <a:off x="1442533" y="6538184"/>
            <a:ext cx="7200800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8D53F489-CBFB-4C6F-878D-02975AD51256}"/>
              </a:ext>
            </a:extLst>
          </p:cNvPr>
          <p:cNvSpPr txBox="1"/>
          <p:nvPr/>
        </p:nvSpPr>
        <p:spPr>
          <a:xfrm>
            <a:off x="3972000" y="6461240"/>
            <a:ext cx="1200000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kumimoji="1" lang="en-US" altLang="ko-KR" sz="1000" dirty="0" b="0" i="0">
                <a:solidFill>
                  <a:srgbClr val="7F7F7F"/>
                </a:solidFill>
                <a:latin typeface="Noto Sans KR" panose="02000403000000020004" pitchFamily="2" charset="-127"/>
                <a:ea typeface="Noto Sans KR" panose="02000403000000020004" pitchFamily="2" charset="-127"/>
                <a:cs typeface="Noto Sans KR" panose="02000403000000020004" pitchFamily="2" charset="-127"/>
              </a:rPr>
              <a:t>- 2 -</a:t>
            </a:r>
            <a:endParaRPr kumimoji="1" lang="ko-KR" altLang="en-US" sz="1000" dirty="0">
              <a:solidFill>
                <a:schemeClr val="bg1">
                  <a:lumMod val="50000"/>
                </a:schemeClr>
              </a:solidFill>
              <a:latin typeface="Noto Sans KR" panose="02000403000000020004" pitchFamily="2" charset="-127"/>
              <a:ea typeface="Noto Sans KR" panose="02000403000000020004" pitchFamily="2" charset="-127"/>
              <a:cs typeface="Noto Sans KR" panose="02000403000000020004" pitchFamily="2" charset="-127"/>
            </a:endParaRPr>
          </a:p>
        </p:txBody>
      </p:sp>
      <p:sp>
        <p:nvSpPr>
          <p:cNvPr id="164" name="TextBox 163"/>
          <p:cNvSpPr txBox="1"/>
          <p:nvPr/>
        </p:nvSpPr>
        <p:spPr>
          <a:xfrm>
            <a:off x="5657000" y="6300000"/>
            <a:ext cx="32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7F7F7F"/>
                </a:solidFill>
                <a:latin typeface="Noto Sans KR"/>
                <a:ea typeface="Noto Sans KR"/>
                <a:cs typeface="Noto Sans KR"/>
              </a:rPr>
              <a:t>공란 : 담당부서 확인 후 입력</a:t>
            </a:r>
          </a:p>
        </p:txBody>
      </p:sp>
      <p:sp>
        <p:nvSpPr>
          <p:cNvPr id="165" name="Can 164"/>
          <p:cNvSpPr/>
          <p:nvPr/>
        </p:nvSpPr>
        <p:spPr>
          <a:xfrm>
            <a:off x="457000" y="1100000"/>
            <a:ext cx="360000" cy="420000"/>
          </a:xfrm>
          <a:prstGeom prst="can">
            <a:avLst/>
          </a:prstGeom>
          <a:solidFill>
            <a:srgbClr val="EDEDED"/>
          </a:solidFill>
          <a:ln w="15875">
            <a:solidFill>
              <a:srgbClr val="7F7F7F"/>
            </a:solidFill>
          </a:ln>
        </p:spPr>
        <p:txBody>
          <a:bodyPr rtlCol="0" anchor="ctr" lIns="30000" rIns="30000" tIns="0" bIns="0" wrap="square"/>
          <a:lstStyle/>
          <a:p>
            <a:pPr algn="ctr"/>
            <a:r>
              <a:rPr sz="70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Crude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287000" y="1570000"/>
            <a:ext cx="700000" cy="32000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rtlCol="0" anchor="ctr" lIns="30000" rIns="30000" tIns="0" bIns="0" wrap="square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287000" y="1570000"/>
            <a:ext cx="700000" cy="340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rtlCol="0" anchor="ctr" lIns="30000" rIns="30000" tIns="0" bIns="0" wrap="square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302000" y="1615000"/>
            <a:ext cx="670000" cy="265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78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원재료 입고</a:t>
            </a:r>
          </a:p>
          <a:p>
            <a:pPr algn="ctr">
              <a:spcAft>
                <a:spcPts val="0"/>
              </a:spcAft>
            </a:pPr>
            <a:r>
              <a:rPr sz="630" b="0" i="0">
                <a:solidFill>
                  <a:srgbClr val="7F7F7F"/>
                </a:solidFill>
                <a:latin typeface="Noto Sans KR"/>
                <a:ea typeface="Noto Sans KR"/>
                <a:cs typeface="Noto Sans KR"/>
              </a:rPr>
              <a:t>Lake Materials</a:t>
            </a:r>
          </a:p>
        </p:txBody>
      </p:sp>
      <p:sp>
        <p:nvSpPr>
          <p:cNvPr id="169" name="Rounded Rectangle 168"/>
          <p:cNvSpPr/>
          <p:nvPr/>
        </p:nvSpPr>
        <p:spPr>
          <a:xfrm>
            <a:off x="1307000" y="1180000"/>
            <a:ext cx="500000" cy="260000"/>
          </a:xfrm>
          <a:prstGeom prst="roundRect">
            <a:avLst>
              <a:gd name="adj" fmla="val 20000"/>
            </a:avLst>
          </a:prstGeom>
          <a:solidFill>
            <a:srgbClr val="2E75B6"/>
          </a:solidFill>
          <a:ln>
            <a:noFill/>
          </a:ln>
        </p:spPr>
        <p:txBody>
          <a:bodyPr rtlCol="0" anchor="ctr" lIns="30000" rIns="30000" tIns="0" bIns="0"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IQC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1237000" y="1570000"/>
            <a:ext cx="640000" cy="32000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rtlCol="0" anchor="ctr" lIns="30000" rIns="30000" tIns="0" bIns="0" wrap="square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1237000" y="1570000"/>
            <a:ext cx="640000" cy="34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rtlCol="0" anchor="ctr" lIns="30000" rIns="30000" tIns="0" bIns="0" wrap="square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1252000" y="1615000"/>
            <a:ext cx="610000" cy="265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78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수입검사</a:t>
            </a:r>
          </a:p>
          <a:p>
            <a:pPr algn="ctr">
              <a:spcAft>
                <a:spcPts val="0"/>
              </a:spcAft>
            </a:pPr>
            <a:r>
              <a:rPr sz="630" b="0" i="0">
                <a:solidFill>
                  <a:srgbClr val="7F7F7F"/>
                </a:solidFill>
                <a:latin typeface="Noto Sans KR"/>
                <a:ea typeface="Noto Sans KR"/>
                <a:cs typeface="Noto Sans KR"/>
              </a:rPr>
              <a:t>NMR·ICP·IC</a:t>
            </a:r>
          </a:p>
        </p:txBody>
      </p:sp>
      <p:sp>
        <p:nvSpPr>
          <p:cNvPr id="173" name="Can 172"/>
          <p:cNvSpPr/>
          <p:nvPr/>
        </p:nvSpPr>
        <p:spPr>
          <a:xfrm>
            <a:off x="2342000" y="1140000"/>
            <a:ext cx="270000" cy="340000"/>
          </a:xfrm>
          <a:prstGeom prst="can">
            <a:avLst/>
          </a:prstGeom>
          <a:solidFill>
            <a:srgbClr val="EDEDED"/>
          </a:solidFill>
          <a:ln w="15875">
            <a:solidFill>
              <a:srgbClr val="7F7F7F"/>
            </a:solidFill>
          </a:ln>
        </p:spPr>
        <p:txBody>
          <a:bodyPr rtlCol="0" anchor="ctr" lIns="30000" rIns="30000" tIns="0" bIns="0" wrap="square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2127000" y="1570000"/>
            <a:ext cx="700000" cy="32000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rtlCol="0" anchor="ctr" lIns="30000" rIns="30000" tIns="0" bIns="0" wrap="square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2127000" y="1570000"/>
            <a:ext cx="700000" cy="34000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txBody>
          <a:bodyPr rtlCol="0" anchor="ctr" lIns="30000" rIns="30000" tIns="0" bIns="0" wrap="square"/>
          <a:lstStyle/>
          <a:p>
            <a:pPr algn="ctr"/>
          </a:p>
        </p:txBody>
      </p:sp>
      <p:sp>
        <p:nvSpPr>
          <p:cNvPr id="176" name="TextBox 175"/>
          <p:cNvSpPr txBox="1"/>
          <p:nvPr/>
        </p:nvSpPr>
        <p:spPr>
          <a:xfrm>
            <a:off x="2142000" y="1615000"/>
            <a:ext cx="670000" cy="265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78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준비 · 투입</a:t>
            </a:r>
          </a:p>
          <a:p>
            <a:pPr algn="ctr">
              <a:spcAft>
                <a:spcPts val="0"/>
              </a:spcAft>
            </a:pPr>
            <a:r>
              <a:rPr sz="630" b="0" i="0">
                <a:solidFill>
                  <a:srgbClr val="7F7F7F"/>
                </a:solidFill>
                <a:latin typeface="Noto Sans KR"/>
                <a:ea typeface="Noto Sans KR"/>
                <a:cs typeface="Noto Sans KR"/>
              </a:rPr>
              <a:t>Canister → 정제기</a:t>
            </a:r>
          </a:p>
        </p:txBody>
      </p:sp>
      <p:sp>
        <p:nvSpPr>
          <p:cNvPr id="177" name="Rectangle 176"/>
          <p:cNvSpPr/>
          <p:nvPr/>
        </p:nvSpPr>
        <p:spPr>
          <a:xfrm>
            <a:off x="3037000" y="1030000"/>
            <a:ext cx="1330000" cy="890000"/>
          </a:xfrm>
          <a:prstGeom prst="rect">
            <a:avLst/>
          </a:prstGeom>
          <a:solidFill>
            <a:srgbClr val="FDEDF0"/>
          </a:solidFill>
          <a:ln w="25400">
            <a:solidFill>
              <a:srgbClr val="EB002C"/>
            </a:solidFill>
          </a:ln>
        </p:spPr>
        <p:txBody>
          <a:bodyPr rtlCol="0" anchor="ctr" lIns="30000" rIns="30000" tIns="0" bIns="0" wrap="square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3652000" y="1065000"/>
            <a:ext cx="100000" cy="140000"/>
          </a:xfrm>
          <a:prstGeom prst="rect">
            <a:avLst/>
          </a:prstGeom>
          <a:solidFill>
            <a:srgbClr val="BFBFBF"/>
          </a:solidFill>
          <a:ln w="12700">
            <a:solidFill>
              <a:srgbClr val="7F7F7F"/>
            </a:solidFill>
          </a:ln>
        </p:spPr>
        <p:txBody>
          <a:bodyPr rtlCol="0" anchor="ctr" lIns="30000" rIns="30000" tIns="0" bIns="0" wrap="square"/>
          <a:lstStyle/>
          <a:p>
            <a:pPr algn="ctr"/>
          </a:p>
        </p:txBody>
      </p:sp>
      <p:sp>
        <p:nvSpPr>
          <p:cNvPr id="179" name="Round Same Side Corner Rectangle 178"/>
          <p:cNvSpPr/>
          <p:nvPr/>
        </p:nvSpPr>
        <p:spPr>
          <a:xfrm rot="10800000">
            <a:off x="3512000" y="1195000"/>
            <a:ext cx="380000" cy="355000"/>
          </a:xfrm>
          <a:prstGeom prst="round2SameRect">
            <a:avLst>
              <a:gd name="adj1" fmla="val 0"/>
              <a:gd name="adj2" fmla="val 50000"/>
            </a:avLst>
          </a:prstGeom>
          <a:solidFill>
            <a:srgbClr val="A6A6A6"/>
          </a:solidFill>
          <a:ln w="15875">
            <a:solidFill>
              <a:srgbClr val="595959"/>
            </a:solidFill>
          </a:ln>
        </p:spPr>
        <p:txBody>
          <a:bodyPr rtlCol="0" anchor="ctr" lIns="30000" rIns="30000" tIns="0" bIns="0" wrap="square"/>
          <a:lstStyle/>
          <a:p>
            <a:pPr algn="ctr"/>
          </a:p>
        </p:txBody>
      </p:sp>
      <p:sp>
        <p:nvSpPr>
          <p:cNvPr id="180" name="TextBox 179"/>
          <p:cNvSpPr txBox="1"/>
          <p:nvPr/>
        </p:nvSpPr>
        <p:spPr>
          <a:xfrm>
            <a:off x="3512000" y="1260000"/>
            <a:ext cx="380000" cy="2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정제기</a:t>
            </a:r>
          </a:p>
        </p:txBody>
      </p:sp>
      <p:sp>
        <p:nvSpPr>
          <p:cNvPr id="181" name="Rectangle 180"/>
          <p:cNvSpPr/>
          <p:nvPr/>
        </p:nvSpPr>
        <p:spPr>
          <a:xfrm>
            <a:off x="3077000" y="1570000"/>
            <a:ext cx="1250000" cy="32000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rtlCol="0" anchor="ctr" lIns="30000" rIns="30000" tIns="0" bIns="0" wrap="square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3077000" y="1570000"/>
            <a:ext cx="1250000" cy="34000"/>
          </a:xfrm>
          <a:prstGeom prst="rect">
            <a:avLst/>
          </a:prstGeom>
          <a:solidFill>
            <a:srgbClr val="EB002C"/>
          </a:solidFill>
          <a:ln>
            <a:noFill/>
          </a:ln>
        </p:spPr>
        <p:txBody>
          <a:bodyPr rtlCol="0" anchor="ctr" lIns="30000" rIns="30000" tIns="0" bIns="0" wrap="square"/>
          <a:lstStyle/>
          <a:p>
            <a:pPr algn="ctr"/>
          </a:p>
        </p:txBody>
      </p:sp>
      <p:sp>
        <p:nvSpPr>
          <p:cNvPr id="183" name="TextBox 182"/>
          <p:cNvSpPr txBox="1"/>
          <p:nvPr/>
        </p:nvSpPr>
        <p:spPr>
          <a:xfrm>
            <a:off x="3092000" y="1615000"/>
            <a:ext cx="1220000" cy="265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780" b="1" i="0">
                <a:solidFill>
                  <a:srgbClr val="EB002C"/>
                </a:solidFill>
                <a:latin typeface="Noto Sans KR"/>
                <a:ea typeface="Noto Sans KR"/>
                <a:cs typeface="Noto Sans KR"/>
              </a:rPr>
              <a:t>정제기 1대 · 리플럭스</a:t>
            </a:r>
          </a:p>
          <a:p>
            <a:pPr algn="ctr">
              <a:spcAft>
                <a:spcPts val="0"/>
              </a:spcAft>
            </a:pPr>
            <a:r>
              <a:rPr sz="630" b="0" i="0">
                <a:solidFill>
                  <a:srgbClr val="7F7F7F"/>
                </a:solidFill>
                <a:latin typeface="Noto Sans KR"/>
                <a:ea typeface="Noto Sans KR"/>
                <a:cs typeface="Noto Sans KR"/>
              </a:rPr>
              <a:t>'27.7 적용 · 3개 고객 공동</a:t>
            </a:r>
          </a:p>
        </p:txBody>
      </p:sp>
      <p:sp>
        <p:nvSpPr>
          <p:cNvPr id="184" name="Rounded Rectangle 183"/>
          <p:cNvSpPr/>
          <p:nvPr/>
        </p:nvSpPr>
        <p:spPr>
          <a:xfrm>
            <a:off x="4647000" y="1180000"/>
            <a:ext cx="500000" cy="260000"/>
          </a:xfrm>
          <a:prstGeom prst="roundRect">
            <a:avLst>
              <a:gd name="adj" fmla="val 20000"/>
            </a:avLst>
          </a:prstGeom>
          <a:solidFill>
            <a:srgbClr val="2E75B6"/>
          </a:solidFill>
          <a:ln>
            <a:noFill/>
          </a:ln>
        </p:spPr>
        <p:txBody>
          <a:bodyPr rtlCol="0" anchor="ctr" lIns="30000" rIns="30000" tIns="0" bIns="0"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PQC</a:t>
            </a:r>
          </a:p>
        </p:txBody>
      </p:sp>
      <p:sp>
        <p:nvSpPr>
          <p:cNvPr id="185" name="Rectangle 184"/>
          <p:cNvSpPr/>
          <p:nvPr/>
        </p:nvSpPr>
        <p:spPr>
          <a:xfrm>
            <a:off x="4577000" y="1570000"/>
            <a:ext cx="640000" cy="32000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rtlCol="0" anchor="ctr" lIns="30000" rIns="30000" tIns="0" bIns="0" wrap="square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4577000" y="1570000"/>
            <a:ext cx="640000" cy="34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rtlCol="0" anchor="ctr" lIns="30000" rIns="30000" tIns="0" bIns="0" wrap="square"/>
          <a:lstStyle/>
          <a:p>
            <a:pPr algn="ctr"/>
          </a:p>
        </p:txBody>
      </p:sp>
      <p:sp>
        <p:nvSpPr>
          <p:cNvPr id="187" name="TextBox 186"/>
          <p:cNvSpPr txBox="1"/>
          <p:nvPr/>
        </p:nvSpPr>
        <p:spPr>
          <a:xfrm>
            <a:off x="4592000" y="1615000"/>
            <a:ext cx="610000" cy="265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78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공정검사</a:t>
            </a:r>
          </a:p>
          <a:p>
            <a:pPr algn="ctr">
              <a:spcAft>
                <a:spcPts val="0"/>
              </a:spcAft>
            </a:pPr>
            <a:r>
              <a:rPr sz="630" b="0" i="0">
                <a:solidFill>
                  <a:srgbClr val="7F7F7F"/>
                </a:solidFill>
                <a:latin typeface="Noto Sans KR"/>
                <a:ea typeface="Noto Sans KR"/>
                <a:cs typeface="Noto Sans KR"/>
              </a:rPr>
              <a:t>NMR</a:t>
            </a:r>
          </a:p>
        </p:txBody>
      </p:sp>
      <p:sp>
        <p:nvSpPr>
          <p:cNvPr id="188" name="Can 187"/>
          <p:cNvSpPr/>
          <p:nvPr/>
        </p:nvSpPr>
        <p:spPr>
          <a:xfrm>
            <a:off x="5647000" y="1100000"/>
            <a:ext cx="400000" cy="420000"/>
          </a:xfrm>
          <a:prstGeom prst="can">
            <a:avLst/>
          </a:prstGeom>
          <a:solidFill>
            <a:srgbClr val="FFE3CC"/>
          </a:solidFill>
          <a:ln w="15875">
            <a:solidFill>
              <a:srgbClr val="FF7900"/>
            </a:solidFill>
          </a:ln>
        </p:spPr>
        <p:txBody>
          <a:bodyPr rtlCol="0" anchor="ctr" lIns="30000" rIns="30000" tIns="0" bIns="0" wrap="square"/>
          <a:lstStyle/>
          <a:p>
            <a:pPr algn="ctr"/>
            <a:r>
              <a:rPr sz="65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Product</a:t>
            </a:r>
          </a:p>
        </p:txBody>
      </p:sp>
      <p:sp>
        <p:nvSpPr>
          <p:cNvPr id="189" name="Rectangle 188"/>
          <p:cNvSpPr/>
          <p:nvPr/>
        </p:nvSpPr>
        <p:spPr>
          <a:xfrm>
            <a:off x="5467000" y="1570000"/>
            <a:ext cx="760000" cy="32000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rtlCol="0" anchor="ctr" lIns="30000" rIns="30000" tIns="0" bIns="0" wrap="square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5467000" y="1570000"/>
            <a:ext cx="760000" cy="34000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txBody>
          <a:bodyPr rtlCol="0" anchor="ctr" lIns="30000" rIns="30000" tIns="0" bIns="0" wrap="square"/>
          <a:lstStyle/>
          <a:p>
            <a:pPr algn="ctr"/>
          </a:p>
        </p:txBody>
      </p:sp>
      <p:sp>
        <p:nvSpPr>
          <p:cNvPr id="191" name="TextBox 190"/>
          <p:cNvSpPr txBox="1"/>
          <p:nvPr/>
        </p:nvSpPr>
        <p:spPr>
          <a:xfrm>
            <a:off x="5482000" y="1615000"/>
            <a:ext cx="730000" cy="265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78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Product Tank</a:t>
            </a:r>
          </a:p>
          <a:p>
            <a:pPr algn="ctr">
              <a:spcAft>
                <a:spcPts val="0"/>
              </a:spcAft>
            </a:pPr>
            <a:r>
              <a:rPr sz="630" b="0" i="0">
                <a:solidFill>
                  <a:srgbClr val="7F7F7F"/>
                </a:solidFill>
                <a:latin typeface="Noto Sans KR"/>
                <a:ea typeface="Noto Sans KR"/>
                <a:cs typeface="Noto Sans KR"/>
              </a:rPr>
              <a:t>PQC 합격 후 이송</a:t>
            </a:r>
          </a:p>
        </p:txBody>
      </p:sp>
      <p:cxnSp>
        <p:nvCxnSpPr>
          <p:cNvPr id="192" name="Connector 191"/>
          <p:cNvCxnSpPr/>
          <p:nvPr/>
        </p:nvCxnSpPr>
        <p:spPr>
          <a:xfrm>
            <a:off x="817000" y="1310000"/>
            <a:ext cx="490000" cy="0"/>
          </a:xfrm>
          <a:prstGeom prst="line">
            <a:avLst/>
          </a:prstGeom>
          <a:ln w="15875">
            <a:solidFill>
              <a:srgbClr val="1A1A1A"/>
            </a:solidFill>
            <a:tailEnd type="triangle" w="med" len="med"/>
          </a:ln>
        </p:spPr>
      </p:cxnSp>
      <p:cxnSp>
        <p:nvCxnSpPr>
          <p:cNvPr id="193" name="Connector 192"/>
          <p:cNvCxnSpPr/>
          <p:nvPr/>
        </p:nvCxnSpPr>
        <p:spPr>
          <a:xfrm>
            <a:off x="1807000" y="1310000"/>
            <a:ext cx="535000" cy="0"/>
          </a:xfrm>
          <a:prstGeom prst="line">
            <a:avLst/>
          </a:prstGeom>
          <a:ln w="15875">
            <a:solidFill>
              <a:srgbClr val="1A1A1A"/>
            </a:solidFill>
            <a:tailEnd type="triangle" w="med" len="med"/>
          </a:ln>
        </p:spPr>
      </p:cxnSp>
      <p:cxnSp>
        <p:nvCxnSpPr>
          <p:cNvPr id="194" name="Connector 193"/>
          <p:cNvCxnSpPr/>
          <p:nvPr/>
        </p:nvCxnSpPr>
        <p:spPr>
          <a:xfrm>
            <a:off x="2612000" y="1310000"/>
            <a:ext cx="900000" cy="0"/>
          </a:xfrm>
          <a:prstGeom prst="line">
            <a:avLst/>
          </a:prstGeom>
          <a:ln w="15875">
            <a:solidFill>
              <a:srgbClr val="1A1A1A"/>
            </a:solidFill>
            <a:tailEnd type="triangle" w="med" len="med"/>
          </a:ln>
        </p:spPr>
      </p:cxnSp>
      <p:cxnSp>
        <p:nvCxnSpPr>
          <p:cNvPr id="195" name="Connector 194"/>
          <p:cNvCxnSpPr/>
          <p:nvPr/>
        </p:nvCxnSpPr>
        <p:spPr>
          <a:xfrm>
            <a:off x="3892000" y="1310000"/>
            <a:ext cx="755000" cy="0"/>
          </a:xfrm>
          <a:prstGeom prst="line">
            <a:avLst/>
          </a:prstGeom>
          <a:ln w="15875">
            <a:solidFill>
              <a:srgbClr val="1A1A1A"/>
            </a:solidFill>
            <a:tailEnd type="triangle" w="med" len="med"/>
          </a:ln>
        </p:spPr>
      </p:cxnSp>
      <p:cxnSp>
        <p:nvCxnSpPr>
          <p:cNvPr id="196" name="Connector 195"/>
          <p:cNvCxnSpPr/>
          <p:nvPr/>
        </p:nvCxnSpPr>
        <p:spPr>
          <a:xfrm>
            <a:off x="5147000" y="1310000"/>
            <a:ext cx="500000" cy="0"/>
          </a:xfrm>
          <a:prstGeom prst="line">
            <a:avLst/>
          </a:prstGeom>
          <a:ln w="15875">
            <a:solidFill>
              <a:srgbClr val="1A1A1A"/>
            </a:solidFill>
            <a:tailEnd type="triangle" w="med" len="med"/>
          </a:ln>
        </p:spPr>
      </p:cxnSp>
      <p:sp>
        <p:nvSpPr>
          <p:cNvPr id="197" name="Rounded Rectangle 196"/>
          <p:cNvSpPr/>
          <p:nvPr/>
        </p:nvSpPr>
        <p:spPr>
          <a:xfrm>
            <a:off x="387000" y="1915000"/>
            <a:ext cx="500000" cy="150000"/>
          </a:xfrm>
          <a:prstGeom prst="roundRect">
            <a:avLst>
              <a:gd name="adj" fmla="val 30000"/>
            </a:avLst>
          </a:prstGeom>
          <a:solidFill>
            <a:srgbClr val="E2EFD9"/>
          </a:solidFill>
          <a:ln w="9525">
            <a:solidFill>
              <a:srgbClr val="548235"/>
            </a:solidFill>
          </a:ln>
        </p:spPr>
        <p:txBody>
          <a:bodyPr rtlCol="0" anchor="ctr" lIns="30000" rIns="30000" tIns="0" bIns="0" wrap="square"/>
          <a:lstStyle/>
          <a:p>
            <a:pPr algn="ctr"/>
            <a:r>
              <a:rPr sz="650" b="1" i="0">
                <a:solidFill>
                  <a:srgbClr val="385723"/>
                </a:solidFill>
                <a:latin typeface="Noto Sans KR"/>
                <a:ea typeface="Noto Sans KR"/>
                <a:cs typeface="Noto Sans KR"/>
              </a:rPr>
              <a:t>–</a:t>
            </a:r>
          </a:p>
        </p:txBody>
      </p:sp>
      <p:sp>
        <p:nvSpPr>
          <p:cNvPr id="198" name="Rounded Rectangle 197"/>
          <p:cNvSpPr/>
          <p:nvPr/>
        </p:nvSpPr>
        <p:spPr>
          <a:xfrm>
            <a:off x="1307000" y="1915000"/>
            <a:ext cx="500000" cy="150000"/>
          </a:xfrm>
          <a:prstGeom prst="roundRect">
            <a:avLst>
              <a:gd name="adj" fmla="val 30000"/>
            </a:avLst>
          </a:prstGeom>
          <a:solidFill>
            <a:srgbClr val="E2EFD9"/>
          </a:solidFill>
          <a:ln w="9525">
            <a:solidFill>
              <a:srgbClr val="548235"/>
            </a:solidFill>
          </a:ln>
        </p:spPr>
        <p:txBody>
          <a:bodyPr rtlCol="0" anchor="ctr" lIns="30000" rIns="30000" tIns="0" bIns="0" wrap="square"/>
          <a:lstStyle/>
          <a:p>
            <a:pPr algn="ctr"/>
            <a:r>
              <a:rPr sz="650" b="1" i="0">
                <a:solidFill>
                  <a:srgbClr val="385723"/>
                </a:solidFill>
                <a:latin typeface="Noto Sans KR"/>
                <a:ea typeface="Noto Sans KR"/>
                <a:cs typeface="Noto Sans KR"/>
              </a:rPr>
              <a:t>2 h</a:t>
            </a:r>
          </a:p>
        </p:txBody>
      </p:sp>
      <p:sp>
        <p:nvSpPr>
          <p:cNvPr id="199" name="Rounded Rectangle 198"/>
          <p:cNvSpPr/>
          <p:nvPr/>
        </p:nvSpPr>
        <p:spPr>
          <a:xfrm>
            <a:off x="2197000" y="1915000"/>
            <a:ext cx="560000" cy="150000"/>
          </a:xfrm>
          <a:prstGeom prst="roundRect">
            <a:avLst>
              <a:gd name="adj" fmla="val 30000"/>
            </a:avLst>
          </a:prstGeom>
          <a:solidFill>
            <a:srgbClr val="FFF2CC"/>
          </a:solidFill>
          <a:ln w="9525">
            <a:solidFill>
              <a:srgbClr val="BF9000"/>
            </a:solidFill>
          </a:ln>
        </p:spPr>
        <p:txBody>
          <a:bodyPr rtlCol="0" anchor="ctr" lIns="30000" rIns="30000" tIns="0" bIns="0" wrap="square"/>
          <a:lstStyle/>
          <a:p>
            <a:pPr algn="ctr"/>
            <a:r>
              <a:rPr sz="630" b="0" i="0">
                <a:solidFill>
                  <a:srgbClr val="7F6000"/>
                </a:solidFill>
                <a:latin typeface="Noto Sans KR"/>
                <a:ea typeface="Noto Sans KR"/>
                <a:cs typeface="Noto Sans KR"/>
              </a:rPr>
              <a:t>미확인 h</a:t>
            </a:r>
          </a:p>
        </p:txBody>
      </p:sp>
      <p:sp>
        <p:nvSpPr>
          <p:cNvPr id="200" name="Rounded Rectangle 199"/>
          <p:cNvSpPr/>
          <p:nvPr/>
        </p:nvSpPr>
        <p:spPr>
          <a:xfrm>
            <a:off x="3227000" y="1915000"/>
            <a:ext cx="950000" cy="150000"/>
          </a:xfrm>
          <a:prstGeom prst="roundRect">
            <a:avLst>
              <a:gd name="adj" fmla="val 30000"/>
            </a:avLst>
          </a:prstGeom>
          <a:solidFill>
            <a:srgbClr val="FFF2CC"/>
          </a:solidFill>
          <a:ln w="9525">
            <a:solidFill>
              <a:srgbClr val="BF9000"/>
            </a:solidFill>
          </a:ln>
        </p:spPr>
        <p:txBody>
          <a:bodyPr rtlCol="0" anchor="ctr" lIns="30000" rIns="30000" tIns="0" bIns="0" wrap="square"/>
          <a:lstStyle/>
          <a:p>
            <a:pPr algn="ctr"/>
            <a:r>
              <a:rPr sz="630" b="0" i="0">
                <a:solidFill>
                  <a:srgbClr val="7F6000"/>
                </a:solidFill>
                <a:latin typeface="Noto Sans KR"/>
                <a:ea typeface="Noto Sans KR"/>
                <a:cs typeface="Noto Sans KR"/>
              </a:rPr>
              <a:t>정제 약 29 h 필요</a:t>
            </a:r>
          </a:p>
        </p:txBody>
      </p:sp>
      <p:sp>
        <p:nvSpPr>
          <p:cNvPr id="201" name="Rounded Rectangle 200"/>
          <p:cNvSpPr/>
          <p:nvPr/>
        </p:nvSpPr>
        <p:spPr>
          <a:xfrm>
            <a:off x="4647000" y="1915000"/>
            <a:ext cx="500000" cy="150000"/>
          </a:xfrm>
          <a:prstGeom prst="roundRect">
            <a:avLst>
              <a:gd name="adj" fmla="val 30000"/>
            </a:avLst>
          </a:prstGeom>
          <a:solidFill>
            <a:srgbClr val="FFF2CC"/>
          </a:solidFill>
          <a:ln w="9525">
            <a:solidFill>
              <a:srgbClr val="BF9000"/>
            </a:solidFill>
          </a:ln>
        </p:spPr>
        <p:txBody>
          <a:bodyPr rtlCol="0" anchor="ctr" lIns="30000" rIns="30000" tIns="0" bIns="0" wrap="square"/>
          <a:lstStyle/>
          <a:p>
            <a:pPr algn="ctr"/>
            <a:r>
              <a:rPr sz="630" b="0" i="0">
                <a:solidFill>
                  <a:srgbClr val="7F6000"/>
                </a:solidFill>
                <a:latin typeface="Noto Sans KR"/>
                <a:ea typeface="Noto Sans KR"/>
                <a:cs typeface="Noto Sans KR"/>
              </a:rPr>
              <a:t>미확인 h</a:t>
            </a:r>
          </a:p>
        </p:txBody>
      </p:sp>
      <p:sp>
        <p:nvSpPr>
          <p:cNvPr id="202" name="Rounded Rectangle 201"/>
          <p:cNvSpPr/>
          <p:nvPr/>
        </p:nvSpPr>
        <p:spPr>
          <a:xfrm>
            <a:off x="5537000" y="1915000"/>
            <a:ext cx="620000" cy="150000"/>
          </a:xfrm>
          <a:prstGeom prst="roundRect">
            <a:avLst>
              <a:gd name="adj" fmla="val 30000"/>
            </a:avLst>
          </a:prstGeom>
          <a:solidFill>
            <a:srgbClr val="FFF2CC"/>
          </a:solidFill>
          <a:ln w="9525">
            <a:solidFill>
              <a:srgbClr val="BF9000"/>
            </a:solidFill>
          </a:ln>
        </p:spPr>
        <p:txBody>
          <a:bodyPr rtlCol="0" anchor="ctr" lIns="30000" rIns="30000" tIns="0" bIns="0" wrap="square"/>
          <a:lstStyle/>
          <a:p>
            <a:pPr algn="ctr"/>
            <a:r>
              <a:rPr sz="630" b="0" i="0">
                <a:solidFill>
                  <a:srgbClr val="7F6000"/>
                </a:solidFill>
                <a:latin typeface="Noto Sans KR"/>
                <a:ea typeface="Noto Sans KR"/>
                <a:cs typeface="Noto Sans KR"/>
              </a:rPr>
              <a:t>미확인 h</a:t>
            </a:r>
          </a:p>
        </p:txBody>
      </p:sp>
      <p:sp>
        <p:nvSpPr>
          <p:cNvPr id="203" name="Rounded Rectangle 202"/>
          <p:cNvSpPr/>
          <p:nvPr/>
        </p:nvSpPr>
        <p:spPr>
          <a:xfrm>
            <a:off x="357000" y="2640000"/>
            <a:ext cx="520000" cy="260000"/>
          </a:xfrm>
          <a:prstGeom prst="roundRect">
            <a:avLst>
              <a:gd name="adj" fmla="val 20000"/>
            </a:avLst>
          </a:prstGeom>
          <a:solidFill>
            <a:srgbClr val="2E75B6"/>
          </a:solidFill>
          <a:ln>
            <a:noFill/>
          </a:ln>
        </p:spPr>
        <p:txBody>
          <a:bodyPr rtlCol="0" anchor="ctr" lIns="30000" rIns="30000" tIns="0" bIns="0"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FQC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287000" y="2920000"/>
            <a:ext cx="660000" cy="1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제품검사</a:t>
            </a:r>
          </a:p>
        </p:txBody>
      </p:sp>
      <p:sp>
        <p:nvSpPr>
          <p:cNvPr id="205" name="Rounded Rectangle 204"/>
          <p:cNvSpPr/>
          <p:nvPr/>
        </p:nvSpPr>
        <p:spPr>
          <a:xfrm>
            <a:off x="387000" y="3100000"/>
            <a:ext cx="460000" cy="150000"/>
          </a:xfrm>
          <a:prstGeom prst="roundRect">
            <a:avLst>
              <a:gd name="adj" fmla="val 30000"/>
            </a:avLst>
          </a:prstGeom>
          <a:solidFill>
            <a:srgbClr val="E2EFD9"/>
          </a:solidFill>
          <a:ln w="9525">
            <a:solidFill>
              <a:srgbClr val="548235"/>
            </a:solidFill>
          </a:ln>
        </p:spPr>
        <p:txBody>
          <a:bodyPr rtlCol="0" anchor="ctr" lIns="30000" rIns="30000" tIns="0" bIns="0" wrap="square"/>
          <a:lstStyle/>
          <a:p>
            <a:pPr algn="ctr"/>
            <a:r>
              <a:rPr sz="650" b="1" i="0">
                <a:solidFill>
                  <a:srgbClr val="385723"/>
                </a:solidFill>
                <a:latin typeface="Noto Sans KR"/>
                <a:ea typeface="Noto Sans KR"/>
                <a:cs typeface="Noto Sans KR"/>
              </a:rPr>
              <a:t>2 h</a:t>
            </a:r>
          </a:p>
        </p:txBody>
      </p:sp>
      <p:cxnSp>
        <p:nvCxnSpPr>
          <p:cNvPr id="206" name="Connector 205"/>
          <p:cNvCxnSpPr/>
          <p:nvPr/>
        </p:nvCxnSpPr>
        <p:spPr>
          <a:xfrm>
            <a:off x="877000" y="2770000"/>
            <a:ext cx="240000" cy="0"/>
          </a:xfrm>
          <a:prstGeom prst="line">
            <a:avLst/>
          </a:prstGeom>
          <a:ln w="15875">
            <a:solidFill>
              <a:srgbClr val="1A1A1A"/>
            </a:solidFill>
          </a:ln>
        </p:spPr>
      </p:cxnSp>
      <p:cxnSp>
        <p:nvCxnSpPr>
          <p:cNvPr id="207" name="Connector 206"/>
          <p:cNvCxnSpPr/>
          <p:nvPr/>
        </p:nvCxnSpPr>
        <p:spPr>
          <a:xfrm>
            <a:off x="1117000" y="2510000"/>
            <a:ext cx="0" cy="520000"/>
          </a:xfrm>
          <a:prstGeom prst="line">
            <a:avLst/>
          </a:prstGeom>
          <a:ln w="15875">
            <a:solidFill>
              <a:srgbClr val="1A1A1A"/>
            </a:solidFill>
          </a:ln>
        </p:spPr>
      </p:cxnSp>
      <p:cxnSp>
        <p:nvCxnSpPr>
          <p:cNvPr id="208" name="Connector 207"/>
          <p:cNvCxnSpPr/>
          <p:nvPr/>
        </p:nvCxnSpPr>
        <p:spPr>
          <a:xfrm>
            <a:off x="1117000" y="2510000"/>
            <a:ext cx="170000" cy="0"/>
          </a:xfrm>
          <a:prstGeom prst="line">
            <a:avLst/>
          </a:prstGeom>
          <a:ln w="15875">
            <a:solidFill>
              <a:srgbClr val="1A1A1A"/>
            </a:solidFill>
            <a:tailEnd type="triangle" w="med" len="med"/>
          </a:ln>
        </p:spPr>
      </p:cxnSp>
      <p:cxnSp>
        <p:nvCxnSpPr>
          <p:cNvPr id="209" name="Connector 208"/>
          <p:cNvCxnSpPr/>
          <p:nvPr/>
        </p:nvCxnSpPr>
        <p:spPr>
          <a:xfrm>
            <a:off x="1117000" y="3030000"/>
            <a:ext cx="170000" cy="0"/>
          </a:xfrm>
          <a:prstGeom prst="line">
            <a:avLst/>
          </a:prstGeom>
          <a:ln w="15875">
            <a:solidFill>
              <a:srgbClr val="1A1A1A"/>
            </a:solidFill>
            <a:tailEnd type="triangle" w="med" len="med"/>
          </a:ln>
        </p:spPr>
      </p:cxnSp>
      <p:sp>
        <p:nvSpPr>
          <p:cNvPr id="210" name="Rectangle 209"/>
          <p:cNvSpPr/>
          <p:nvPr/>
        </p:nvSpPr>
        <p:spPr>
          <a:xfrm>
            <a:off x="1287000" y="2300000"/>
            <a:ext cx="2250000" cy="420000"/>
          </a:xfrm>
          <a:prstGeom prst="rect">
            <a:avLst/>
          </a:prstGeom>
          <a:solidFill>
            <a:srgbClr val="E2EFD9"/>
          </a:solidFill>
          <a:ln w="15875">
            <a:solidFill>
              <a:srgbClr val="548235"/>
            </a:solidFill>
          </a:ln>
        </p:spPr>
        <p:txBody>
          <a:bodyPr rtlCol="0" anchor="ctr" lIns="30000" rIns="30000" tIns="0" bIns="0" wrap="square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1287000" y="2300000"/>
            <a:ext cx="45000" cy="420000"/>
          </a:xfrm>
          <a:prstGeom prst="rect">
            <a:avLst/>
          </a:prstGeom>
          <a:solidFill>
            <a:srgbClr val="548235"/>
          </a:solidFill>
          <a:ln>
            <a:noFill/>
          </a:ln>
        </p:spPr>
        <p:txBody>
          <a:bodyPr rtlCol="0" anchor="ctr" lIns="30000" rIns="30000" tIns="0" bIns="0" wrap="square"/>
          <a:lstStyle/>
          <a:p>
            <a:pPr algn="ctr"/>
          </a:p>
        </p:txBody>
      </p:sp>
      <p:sp>
        <p:nvSpPr>
          <p:cNvPr id="212" name="Rounded Rectangle 211"/>
          <p:cNvSpPr/>
          <p:nvPr/>
        </p:nvSpPr>
        <p:spPr>
          <a:xfrm>
            <a:off x="1387000" y="2400000"/>
            <a:ext cx="420000" cy="220000"/>
          </a:xfrm>
          <a:prstGeom prst="roundRect">
            <a:avLst>
              <a:gd name="adj" fmla="val 15000"/>
            </a:avLst>
          </a:prstGeom>
          <a:solidFill>
            <a:srgbClr val="548235"/>
          </a:solidFill>
          <a:ln>
            <a:noFill/>
          </a:ln>
        </p:spPr>
        <p:txBody>
          <a:bodyPr rtlCol="0" anchor="ctr" lIns="30000" rIns="30000" tIns="0" bIns="0" wrap="square"/>
          <a:lstStyle/>
          <a:p>
            <a:pPr algn="ctr"/>
            <a:r>
              <a:rPr sz="7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G/B</a:t>
            </a:r>
          </a:p>
        </p:txBody>
      </p:sp>
      <p:sp>
        <p:nvSpPr>
          <p:cNvPr id="213" name="TextBox 212"/>
          <p:cNvSpPr txBox="1"/>
          <p:nvPr/>
        </p:nvSpPr>
        <p:spPr>
          <a:xfrm>
            <a:off x="1867000" y="2310000"/>
            <a:ext cx="1630000" cy="4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6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5 Gal 글로브 박스 충진</a:t>
            </a:r>
          </a:p>
          <a:p>
            <a:pPr algn="l">
              <a:spcAft>
                <a:spcPts val="0"/>
              </a:spcAft>
            </a:pPr>
            <a:r>
              <a:rPr sz="620" b="0" i="0">
                <a:solidFill>
                  <a:srgbClr val="7F7F7F"/>
                </a:solidFill>
                <a:latin typeface="Noto Sans KR"/>
                <a:ea typeface="Noto Sans KR"/>
                <a:cs typeface="Noto Sans KR"/>
              </a:rPr>
              <a:t>20 kg/병 · 필터 포함 · 유지</a:t>
            </a:r>
          </a:p>
          <a:p>
            <a:pPr algn="l">
              <a:spcAft>
                <a:spcPts val="0"/>
              </a:spcAft>
            </a:pPr>
            <a:r>
              <a:rPr sz="630" b="1" i="0">
                <a:solidFill>
                  <a:srgbClr val="385723"/>
                </a:solidFill>
                <a:latin typeface="Noto Sans KR"/>
                <a:ea typeface="Noto Sans KR"/>
                <a:cs typeface="Noto Sans KR"/>
              </a:rPr>
              <a:t>2 h/병 · 약 8병 16 h</a:t>
            </a:r>
          </a:p>
        </p:txBody>
      </p:sp>
      <p:sp>
        <p:nvSpPr>
          <p:cNvPr id="214" name="Rectangle 213"/>
          <p:cNvSpPr/>
          <p:nvPr/>
        </p:nvSpPr>
        <p:spPr>
          <a:xfrm>
            <a:off x="1287000" y="2820000"/>
            <a:ext cx="2250000" cy="420000"/>
          </a:xfrm>
          <a:prstGeom prst="rect">
            <a:avLst/>
          </a:prstGeom>
          <a:solidFill>
            <a:srgbClr val="EFE6F7"/>
          </a:solidFill>
          <a:ln w="15875">
            <a:solidFill>
              <a:srgbClr val="7030A0"/>
            </a:solidFill>
          </a:ln>
        </p:spPr>
        <p:txBody>
          <a:bodyPr rtlCol="0" anchor="ctr" lIns="30000" rIns="30000" tIns="0" bIns="0" wrap="square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1287000" y="2820000"/>
            <a:ext cx="45000" cy="42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rtlCol="0" anchor="ctr" lIns="30000" rIns="30000" tIns="0" bIns="0" wrap="square"/>
          <a:lstStyle/>
          <a:p>
            <a:pPr algn="ctr"/>
          </a:p>
        </p:txBody>
      </p:sp>
      <p:sp>
        <p:nvSpPr>
          <p:cNvPr id="216" name="Rounded Rectangle 215"/>
          <p:cNvSpPr/>
          <p:nvPr/>
        </p:nvSpPr>
        <p:spPr>
          <a:xfrm>
            <a:off x="1387000" y="2920000"/>
            <a:ext cx="420000" cy="220000"/>
          </a:xfrm>
          <a:prstGeom prst="roundRect">
            <a:avLst>
              <a:gd name="adj" fmla="val 15000"/>
            </a:avLst>
          </a:prstGeom>
          <a:solidFill>
            <a:srgbClr val="7030A0"/>
          </a:solidFill>
          <a:ln>
            <a:noFill/>
          </a:ln>
        </p:spPr>
        <p:txBody>
          <a:bodyPr rtlCol="0" anchor="ctr" lIns="30000" rIns="30000" tIns="0" bIns="0" wrap="square"/>
          <a:lstStyle/>
          <a:p>
            <a:pPr algn="ctr"/>
            <a:r>
              <a:rPr sz="7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ARS</a:t>
            </a:r>
          </a:p>
        </p:txBody>
      </p:sp>
      <p:sp>
        <p:nvSpPr>
          <p:cNvPr id="217" name="TextBox 216"/>
          <p:cNvSpPr txBox="1"/>
          <p:nvPr/>
        </p:nvSpPr>
        <p:spPr>
          <a:xfrm>
            <a:off x="1867000" y="2830000"/>
            <a:ext cx="1630000" cy="4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6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200 L ARS 자동 충진</a:t>
            </a:r>
          </a:p>
          <a:p>
            <a:pPr algn="l">
              <a:spcAft>
                <a:spcPts val="0"/>
              </a:spcAft>
            </a:pPr>
            <a:r>
              <a:rPr sz="620" b="0" i="0">
                <a:solidFill>
                  <a:srgbClr val="7F7F7F"/>
                </a:solidFill>
                <a:latin typeface="Noto Sans KR"/>
                <a:ea typeface="Noto Sans KR"/>
                <a:cs typeface="Noto Sans KR"/>
              </a:rPr>
              <a:t>140 kg/용기 · 필터 포함 · '27 운영</a:t>
            </a:r>
          </a:p>
          <a:p>
            <a:pPr algn="l">
              <a:spcAft>
                <a:spcPts val="0"/>
              </a:spcAft>
            </a:pPr>
            <a:r>
              <a:rPr sz="630" b="1" i="0">
                <a:solidFill>
                  <a:srgbClr val="385723"/>
                </a:solidFill>
                <a:latin typeface="Noto Sans KR"/>
                <a:ea typeface="Noto Sans KR"/>
                <a:cs typeface="Noto Sans KR"/>
              </a:rPr>
              <a:t>8 h (범위 확인)</a:t>
            </a:r>
          </a:p>
        </p:txBody>
      </p:sp>
      <p:sp>
        <p:nvSpPr>
          <p:cNvPr id="218" name="Rounded Rectangle 217"/>
          <p:cNvSpPr/>
          <p:nvPr/>
        </p:nvSpPr>
        <p:spPr>
          <a:xfrm>
            <a:off x="3637000" y="2380000"/>
            <a:ext cx="460000" cy="260000"/>
          </a:xfrm>
          <a:prstGeom prst="roundRect">
            <a:avLst>
              <a:gd name="adj" fmla="val 20000"/>
            </a:avLst>
          </a:prstGeom>
          <a:solidFill>
            <a:srgbClr val="2E75B6"/>
          </a:solidFill>
          <a:ln>
            <a:noFill/>
          </a:ln>
        </p:spPr>
        <p:txBody>
          <a:bodyPr rtlCol="0" anchor="ctr" lIns="30000" rIns="30000" tIns="0" bIns="0"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OQC</a:t>
            </a:r>
          </a:p>
        </p:txBody>
      </p:sp>
      <p:cxnSp>
        <p:nvCxnSpPr>
          <p:cNvPr id="219" name="Connector 218"/>
          <p:cNvCxnSpPr/>
          <p:nvPr/>
        </p:nvCxnSpPr>
        <p:spPr>
          <a:xfrm>
            <a:off x="3537000" y="2510000"/>
            <a:ext cx="100000" cy="0"/>
          </a:xfrm>
          <a:prstGeom prst="line">
            <a:avLst/>
          </a:prstGeom>
          <a:ln w="15875">
            <a:solidFill>
              <a:srgbClr val="1A1A1A"/>
            </a:solidFill>
            <a:tailEnd type="triangle" w="med" len="med"/>
          </a:ln>
        </p:spPr>
      </p:cxnSp>
      <p:cxnSp>
        <p:nvCxnSpPr>
          <p:cNvPr id="220" name="Connector 219"/>
          <p:cNvCxnSpPr/>
          <p:nvPr/>
        </p:nvCxnSpPr>
        <p:spPr>
          <a:xfrm>
            <a:off x="4097000" y="2510000"/>
            <a:ext cx="280000" cy="0"/>
          </a:xfrm>
          <a:prstGeom prst="line">
            <a:avLst/>
          </a:prstGeom>
          <a:ln w="15875">
            <a:solidFill>
              <a:srgbClr val="1A1A1A"/>
            </a:solidFill>
            <a:tailEnd type="triangle" w="med" len="med"/>
          </a:ln>
        </p:spPr>
      </p:cxnSp>
      <p:sp>
        <p:nvSpPr>
          <p:cNvPr id="221" name="Rectangle 220"/>
          <p:cNvSpPr/>
          <p:nvPr/>
        </p:nvSpPr>
        <p:spPr>
          <a:xfrm>
            <a:off x="4377000" y="2300000"/>
            <a:ext cx="2003000" cy="420000"/>
          </a:xfrm>
          <a:prstGeom prst="rect">
            <a:avLst/>
          </a:prstGeom>
          <a:solidFill>
            <a:srgbClr val="D9D9D9"/>
          </a:solidFill>
          <a:ln w="12700">
            <a:solidFill>
              <a:srgbClr val="404040"/>
            </a:solidFill>
          </a:ln>
        </p:spPr>
        <p:txBody>
          <a:bodyPr rtlCol="0" anchor="ctr" lIns="30000" rIns="30000" tIns="0" bIns="0" wrap="square"/>
          <a:lstStyle/>
          <a:p>
            <a:pPr algn="ctr"/>
          </a:p>
        </p:txBody>
      </p:sp>
      <p:sp>
        <p:nvSpPr>
          <p:cNvPr id="222" name="TextBox 221"/>
          <p:cNvSpPr txBox="1"/>
          <p:nvPr/>
        </p:nvSpPr>
        <p:spPr>
          <a:xfrm>
            <a:off x="4437000" y="2300000"/>
            <a:ext cx="1923000" cy="4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출하 </a:t>
            </a:r>
            <a:r>
              <a:rPr sz="700" b="0" i="0">
                <a:solidFill>
                  <a:srgbClr val="EB002C"/>
                </a:solidFill>
                <a:latin typeface="Noto Sans KR"/>
                <a:ea typeface="Noto Sans KR"/>
                <a:cs typeface="Noto Sans KR"/>
              </a:rPr>
              <a:t>■</a:t>
            </a:r>
            <a:r>
              <a:rPr sz="75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 SK하이닉스  </a:t>
            </a:r>
            <a:r>
              <a:rPr sz="700" b="0" i="0">
                <a:solidFill>
                  <a:srgbClr val="1B8A95"/>
                </a:solidFill>
                <a:latin typeface="Noto Sans KR"/>
                <a:ea typeface="Noto Sans KR"/>
                <a:cs typeface="Noto Sans KR"/>
              </a:rPr>
              <a:t>■</a:t>
            </a:r>
            <a:r>
              <a:rPr sz="75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 CXMT</a:t>
            </a:r>
          </a:p>
        </p:txBody>
      </p:sp>
      <p:sp>
        <p:nvSpPr>
          <p:cNvPr id="223" name="Rounded Rectangle 222"/>
          <p:cNvSpPr/>
          <p:nvPr/>
        </p:nvSpPr>
        <p:spPr>
          <a:xfrm>
            <a:off x="3637000" y="2900000"/>
            <a:ext cx="460000" cy="260000"/>
          </a:xfrm>
          <a:prstGeom prst="roundRect">
            <a:avLst>
              <a:gd name="adj" fmla="val 20000"/>
            </a:avLst>
          </a:prstGeom>
          <a:solidFill>
            <a:srgbClr val="2E75B6"/>
          </a:solidFill>
          <a:ln>
            <a:noFill/>
          </a:ln>
        </p:spPr>
        <p:txBody>
          <a:bodyPr rtlCol="0" anchor="ctr" lIns="30000" rIns="30000" tIns="0" bIns="0"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OQC</a:t>
            </a:r>
          </a:p>
        </p:txBody>
      </p:sp>
      <p:cxnSp>
        <p:nvCxnSpPr>
          <p:cNvPr id="224" name="Connector 223"/>
          <p:cNvCxnSpPr/>
          <p:nvPr/>
        </p:nvCxnSpPr>
        <p:spPr>
          <a:xfrm>
            <a:off x="3537000" y="3030000"/>
            <a:ext cx="100000" cy="0"/>
          </a:xfrm>
          <a:prstGeom prst="line">
            <a:avLst/>
          </a:prstGeom>
          <a:ln w="15875">
            <a:solidFill>
              <a:srgbClr val="1A1A1A"/>
            </a:solidFill>
            <a:tailEnd type="triangle" w="med" len="med"/>
          </a:ln>
        </p:spPr>
      </p:cxnSp>
      <p:cxnSp>
        <p:nvCxnSpPr>
          <p:cNvPr id="225" name="Connector 224"/>
          <p:cNvCxnSpPr/>
          <p:nvPr/>
        </p:nvCxnSpPr>
        <p:spPr>
          <a:xfrm>
            <a:off x="4097000" y="3030000"/>
            <a:ext cx="280000" cy="0"/>
          </a:xfrm>
          <a:prstGeom prst="line">
            <a:avLst/>
          </a:prstGeom>
          <a:ln w="15875">
            <a:solidFill>
              <a:srgbClr val="1A1A1A"/>
            </a:solidFill>
            <a:tailEnd type="triangle" w="med" len="med"/>
          </a:ln>
        </p:spPr>
      </p:cxnSp>
      <p:sp>
        <p:nvSpPr>
          <p:cNvPr id="226" name="Rectangle 225"/>
          <p:cNvSpPr/>
          <p:nvPr/>
        </p:nvSpPr>
        <p:spPr>
          <a:xfrm>
            <a:off x="4377000" y="2820000"/>
            <a:ext cx="2003000" cy="420000"/>
          </a:xfrm>
          <a:prstGeom prst="rect">
            <a:avLst/>
          </a:prstGeom>
          <a:solidFill>
            <a:srgbClr val="D9D9D9"/>
          </a:solidFill>
          <a:ln w="12700">
            <a:solidFill>
              <a:srgbClr val="404040"/>
            </a:solidFill>
          </a:ln>
        </p:spPr>
        <p:txBody>
          <a:bodyPr rtlCol="0" anchor="ctr" lIns="30000" rIns="30000" tIns="0" bIns="0" wrap="square"/>
          <a:lstStyle/>
          <a:p>
            <a:pPr algn="ctr"/>
          </a:p>
        </p:txBody>
      </p:sp>
      <p:sp>
        <p:nvSpPr>
          <p:cNvPr id="227" name="TextBox 226"/>
          <p:cNvSpPr txBox="1"/>
          <p:nvPr/>
        </p:nvSpPr>
        <p:spPr>
          <a:xfrm>
            <a:off x="4437000" y="2820000"/>
            <a:ext cx="1923000" cy="4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출하 </a:t>
            </a:r>
            <a:r>
              <a:rPr sz="700" b="0" i="0">
                <a:solidFill>
                  <a:srgbClr val="FF7900"/>
                </a:solidFill>
                <a:latin typeface="Noto Sans KR"/>
                <a:ea typeface="Noto Sans KR"/>
                <a:cs typeface="Noto Sans KR"/>
              </a:rPr>
              <a:t>■</a:t>
            </a:r>
            <a:r>
              <a:rPr sz="75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 이지켐</a:t>
            </a:r>
          </a:p>
        </p:txBody>
      </p:sp>
      <p:sp>
        <p:nvSpPr>
          <p:cNvPr id="228" name="TextBox 227"/>
          <p:cNvSpPr txBox="1"/>
          <p:nvPr/>
        </p:nvSpPr>
        <p:spPr>
          <a:xfrm>
            <a:off x="3567000" y="3250000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630" b="1" i="0">
                <a:solidFill>
                  <a:srgbClr val="385723"/>
                </a:solidFill>
                <a:latin typeface="Noto Sans KR"/>
                <a:ea typeface="Noto Sans KR"/>
                <a:cs typeface="Noto Sans KR"/>
              </a:rPr>
              <a:t>OQC·출하 2 h</a:t>
            </a:r>
          </a:p>
        </p:txBody>
      </p:sp>
      <p:cxnSp>
        <p:nvCxnSpPr>
          <p:cNvPr id="229" name="Connector 228"/>
          <p:cNvCxnSpPr/>
          <p:nvPr/>
        </p:nvCxnSpPr>
        <p:spPr>
          <a:xfrm>
            <a:off x="5847000" y="2065000"/>
            <a:ext cx="0" cy="165000"/>
          </a:xfrm>
          <a:prstGeom prst="line">
            <a:avLst/>
          </a:prstGeom>
          <a:ln w="15875">
            <a:solidFill>
              <a:srgbClr val="1A1A1A"/>
            </a:solidFill>
          </a:ln>
        </p:spPr>
      </p:cxnSp>
      <p:cxnSp>
        <p:nvCxnSpPr>
          <p:cNvPr id="230" name="Connector 229"/>
          <p:cNvCxnSpPr/>
          <p:nvPr/>
        </p:nvCxnSpPr>
        <p:spPr>
          <a:xfrm flipH="1">
            <a:off x="617000" y="2230000"/>
            <a:ext cx="5230000" cy="0"/>
          </a:xfrm>
          <a:prstGeom prst="line">
            <a:avLst/>
          </a:prstGeom>
          <a:ln w="15875">
            <a:solidFill>
              <a:srgbClr val="1A1A1A"/>
            </a:solidFill>
          </a:ln>
        </p:spPr>
      </p:cxnSp>
      <p:cxnSp>
        <p:nvCxnSpPr>
          <p:cNvPr id="231" name="Connector 230"/>
          <p:cNvCxnSpPr/>
          <p:nvPr/>
        </p:nvCxnSpPr>
        <p:spPr>
          <a:xfrm>
            <a:off x="617000" y="2230000"/>
            <a:ext cx="0" cy="410000"/>
          </a:xfrm>
          <a:prstGeom prst="line">
            <a:avLst/>
          </a:prstGeom>
          <a:ln w="15875">
            <a:solidFill>
              <a:srgbClr val="1A1A1A"/>
            </a:solidFill>
            <a:tailEnd type="triangle" w="med" len="med"/>
          </a:ln>
        </p:spPr>
      </p:cxnSp>
      <p:cxnSp>
        <p:nvCxnSpPr>
          <p:cNvPr id="232" name="Connector 231"/>
          <p:cNvCxnSpPr/>
          <p:nvPr/>
        </p:nvCxnSpPr>
        <p:spPr>
          <a:xfrm flipV="1">
            <a:off x="4897000" y="975000"/>
            <a:ext cx="0" cy="205000"/>
          </a:xfrm>
          <a:prstGeom prst="line">
            <a:avLst/>
          </a:prstGeom>
          <a:ln w="12700">
            <a:solidFill>
              <a:srgbClr val="E00000"/>
            </a:solidFill>
            <a:prstDash val="dash"/>
          </a:ln>
        </p:spPr>
      </p:cxnSp>
      <p:cxnSp>
        <p:nvCxnSpPr>
          <p:cNvPr id="233" name="Connector 232"/>
          <p:cNvCxnSpPr/>
          <p:nvPr/>
        </p:nvCxnSpPr>
        <p:spPr>
          <a:xfrm flipH="1">
            <a:off x="3702000" y="975000"/>
            <a:ext cx="1195000" cy="0"/>
          </a:xfrm>
          <a:prstGeom prst="line">
            <a:avLst/>
          </a:prstGeom>
          <a:ln w="12700">
            <a:solidFill>
              <a:srgbClr val="E00000"/>
            </a:solidFill>
            <a:prstDash val="dash"/>
          </a:ln>
        </p:spPr>
      </p:cxnSp>
      <p:cxnSp>
        <p:nvCxnSpPr>
          <p:cNvPr id="234" name="Connector 233"/>
          <p:cNvCxnSpPr/>
          <p:nvPr/>
        </p:nvCxnSpPr>
        <p:spPr>
          <a:xfrm>
            <a:off x="3702000" y="975000"/>
            <a:ext cx="0" cy="85000"/>
          </a:xfrm>
          <a:prstGeom prst="line">
            <a:avLst/>
          </a:prstGeom>
          <a:ln w="12700">
            <a:solidFill>
              <a:srgbClr val="E00000"/>
            </a:solidFill>
            <a:prstDash val="dash"/>
            <a:tailEnd type="triangle" w="med" len="med"/>
          </a:ln>
        </p:spPr>
      </p:cxnSp>
      <p:sp>
        <p:nvSpPr>
          <p:cNvPr id="235" name="TextBox 234"/>
          <p:cNvSpPr txBox="1"/>
          <p:nvPr/>
        </p:nvSpPr>
        <p:spPr>
          <a:xfrm>
            <a:off x="4927000" y="955000"/>
            <a:ext cx="1100000" cy="1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630" b="1" i="0">
                <a:solidFill>
                  <a:srgbClr val="E00000"/>
                </a:solidFill>
                <a:latin typeface="Noto Sans KR"/>
                <a:ea typeface="Noto Sans KR"/>
                <a:cs typeface="Noto Sans KR"/>
              </a:rPr>
              <a:t>PQC NG → 정제 복귀</a:t>
            </a:r>
          </a:p>
        </p:txBody>
      </p:sp>
      <p:cxnSp>
        <p:nvCxnSpPr>
          <p:cNvPr id="236" name="Connector 235"/>
          <p:cNvCxnSpPr/>
          <p:nvPr/>
        </p:nvCxnSpPr>
        <p:spPr>
          <a:xfrm flipV="1">
            <a:off x="797000" y="2300000"/>
            <a:ext cx="0" cy="340000"/>
          </a:xfrm>
          <a:prstGeom prst="line">
            <a:avLst/>
          </a:prstGeom>
          <a:ln w="12700">
            <a:solidFill>
              <a:srgbClr val="E00000"/>
            </a:solidFill>
            <a:prstDash val="dash"/>
          </a:ln>
        </p:spPr>
      </p:cxnSp>
      <p:cxnSp>
        <p:nvCxnSpPr>
          <p:cNvPr id="237" name="Connector 236"/>
          <p:cNvCxnSpPr/>
          <p:nvPr/>
        </p:nvCxnSpPr>
        <p:spPr>
          <a:xfrm>
            <a:off x="797000" y="2300000"/>
            <a:ext cx="3155000" cy="0"/>
          </a:xfrm>
          <a:prstGeom prst="line">
            <a:avLst/>
          </a:prstGeom>
          <a:ln w="12700">
            <a:solidFill>
              <a:srgbClr val="E00000"/>
            </a:solidFill>
            <a:prstDash val="dash"/>
          </a:ln>
        </p:spPr>
      </p:cxnSp>
      <p:cxnSp>
        <p:nvCxnSpPr>
          <p:cNvPr id="238" name="Connector 237"/>
          <p:cNvCxnSpPr/>
          <p:nvPr/>
        </p:nvCxnSpPr>
        <p:spPr>
          <a:xfrm flipV="1">
            <a:off x="3952000" y="1910000"/>
            <a:ext cx="0" cy="390000"/>
          </a:xfrm>
          <a:prstGeom prst="line">
            <a:avLst/>
          </a:prstGeom>
          <a:ln w="12700">
            <a:solidFill>
              <a:srgbClr val="E00000"/>
            </a:solidFill>
            <a:prstDash val="dash"/>
            <a:tailEnd type="triangle" w="med" len="med"/>
          </a:ln>
        </p:spPr>
      </p:cxnSp>
      <p:sp>
        <p:nvSpPr>
          <p:cNvPr id="239" name="TextBox 238"/>
          <p:cNvSpPr txBox="1"/>
          <p:nvPr/>
        </p:nvSpPr>
        <p:spPr>
          <a:xfrm>
            <a:off x="4002000" y="2150000"/>
            <a:ext cx="1400000" cy="1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630" b="1" i="0">
                <a:solidFill>
                  <a:srgbClr val="E00000"/>
                </a:solidFill>
                <a:latin typeface="Noto Sans KR"/>
                <a:ea typeface="Noto Sans KR"/>
                <a:cs typeface="Noto Sans KR"/>
              </a:rPr>
              <a:t>FQC NG → 정제 복귀 (조건 확인)</a:t>
            </a:r>
          </a:p>
        </p:txBody>
      </p:sp>
      <p:sp>
        <p:nvSpPr>
          <p:cNvPr id="240" name="Rectangle 239"/>
          <p:cNvSpPr/>
          <p:nvPr/>
        </p:nvSpPr>
        <p:spPr>
          <a:xfrm>
            <a:off x="6480000" y="1010000"/>
            <a:ext cx="2377000" cy="2250000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txBody>
          <a:bodyPr rtlCol="0" anchor="ctr" lIns="30000" rIns="30000" tIns="0" bIns="0" wrap="square"/>
          <a:lstStyle/>
          <a:p>
            <a:pPr algn="ctr"/>
          </a:p>
        </p:txBody>
      </p:sp>
      <p:sp>
        <p:nvSpPr>
          <p:cNvPr id="241" name="TextBox 240"/>
          <p:cNvSpPr txBox="1"/>
          <p:nvPr/>
        </p:nvSpPr>
        <p:spPr>
          <a:xfrm>
            <a:off x="6570000" y="1070000"/>
            <a:ext cx="2197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개선 영향 구간</a:t>
            </a:r>
          </a:p>
        </p:txBody>
      </p:sp>
      <p:sp>
        <p:nvSpPr>
          <p:cNvPr id="242" name="Rounded Rectangle 241"/>
          <p:cNvSpPr/>
          <p:nvPr/>
        </p:nvSpPr>
        <p:spPr>
          <a:xfrm>
            <a:off x="6570000" y="1360000"/>
            <a:ext cx="540000" cy="190000"/>
          </a:xfrm>
          <a:prstGeom prst="roundRect">
            <a:avLst>
              <a:gd name="adj" fmla="val 30000"/>
            </a:avLst>
          </a:prstGeom>
          <a:solidFill>
            <a:srgbClr val="EB002C"/>
          </a:solidFill>
          <a:ln>
            <a:noFill/>
          </a:ln>
        </p:spPr>
        <p:txBody>
          <a:bodyPr rtlCol="0" anchor="ctr" lIns="30000" rIns="30000" tIns="0" bIns="0" wrap="square"/>
          <a:lstStyle/>
          <a:p>
            <a:pPr algn="ctr"/>
            <a:r>
              <a:rPr sz="73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리플럭스</a:t>
            </a:r>
          </a:p>
        </p:txBody>
      </p:sp>
      <p:sp>
        <p:nvSpPr>
          <p:cNvPr id="243" name="TextBox 242"/>
          <p:cNvSpPr txBox="1"/>
          <p:nvPr/>
        </p:nvSpPr>
        <p:spPr>
          <a:xfrm>
            <a:off x="7170000" y="1340000"/>
            <a:ext cx="1617000" cy="3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정제 공정 · '27.7 생산 시작</a:t>
            </a:r>
          </a:p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7F7F7F"/>
                </a:solidFill>
                <a:latin typeface="Noto Sans KR"/>
                <a:ea typeface="Noto Sans KR"/>
                <a:cs typeface="Noto Sans KR"/>
              </a:rPr>
              <a:t>+21 톤/년 (12개월 환산)</a:t>
            </a:r>
          </a:p>
        </p:txBody>
      </p:sp>
      <p:sp>
        <p:nvSpPr>
          <p:cNvPr id="244" name="Rounded Rectangle 243"/>
          <p:cNvSpPr/>
          <p:nvPr/>
        </p:nvSpPr>
        <p:spPr>
          <a:xfrm>
            <a:off x="6570000" y="1780000"/>
            <a:ext cx="540000" cy="190000"/>
          </a:xfrm>
          <a:prstGeom prst="roundRect">
            <a:avLst>
              <a:gd name="adj" fmla="val 30000"/>
            </a:avLst>
          </a:prstGeom>
          <a:solidFill>
            <a:srgbClr val="7030A0"/>
          </a:solidFill>
          <a:ln>
            <a:noFill/>
          </a:ln>
        </p:spPr>
        <p:txBody>
          <a:bodyPr rtlCol="0" anchor="ctr" lIns="30000" rIns="30000" tIns="0" bIns="0" wrap="square"/>
          <a:lstStyle/>
          <a:p>
            <a:pPr algn="ctr"/>
            <a:r>
              <a:rPr sz="73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ARS</a:t>
            </a:r>
          </a:p>
        </p:txBody>
      </p:sp>
      <p:sp>
        <p:nvSpPr>
          <p:cNvPr id="245" name="TextBox 244"/>
          <p:cNvSpPr txBox="1"/>
          <p:nvPr/>
        </p:nvSpPr>
        <p:spPr>
          <a:xfrm>
            <a:off x="7170000" y="1760000"/>
            <a:ext cx="1617000" cy="3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200 L 충진 · '26 설치 / '27 운영</a:t>
            </a:r>
          </a:p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7F7F7F"/>
                </a:solidFill>
                <a:latin typeface="Noto Sans KR"/>
                <a:ea typeface="Noto Sans KR"/>
                <a:cs typeface="Noto Sans KR"/>
              </a:rPr>
              <a:t>충진 개선 · Capa. 가산 없음</a:t>
            </a:r>
          </a:p>
        </p:txBody>
      </p:sp>
      <p:sp>
        <p:nvSpPr>
          <p:cNvPr id="246" name="Rounded Rectangle 245"/>
          <p:cNvSpPr/>
          <p:nvPr/>
        </p:nvSpPr>
        <p:spPr>
          <a:xfrm>
            <a:off x="6570000" y="2200000"/>
            <a:ext cx="540000" cy="190000"/>
          </a:xfrm>
          <a:prstGeom prst="roundRect">
            <a:avLst>
              <a:gd name="adj" fmla="val 30000"/>
            </a:avLst>
          </a:prstGeom>
          <a:solidFill>
            <a:srgbClr val="548235"/>
          </a:solidFill>
          <a:ln>
            <a:noFill/>
          </a:ln>
        </p:spPr>
        <p:txBody>
          <a:bodyPr rtlCol="0" anchor="ctr" lIns="30000" rIns="30000" tIns="0" bIns="0" wrap="square"/>
          <a:lstStyle/>
          <a:p>
            <a:pPr algn="ctr"/>
            <a:r>
              <a:rPr sz="73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유지</a:t>
            </a:r>
          </a:p>
        </p:txBody>
      </p:sp>
      <p:sp>
        <p:nvSpPr>
          <p:cNvPr id="247" name="TextBox 246"/>
          <p:cNvSpPr txBox="1"/>
          <p:nvPr/>
        </p:nvSpPr>
        <p:spPr>
          <a:xfrm>
            <a:off x="7170000" y="2180000"/>
            <a:ext cx="1617000" cy="3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5 Gal 글로브 박스</a:t>
            </a:r>
          </a:p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7F7F7F"/>
                </a:solidFill>
                <a:latin typeface="Noto Sans KR"/>
                <a:ea typeface="Noto Sans KR"/>
                <a:cs typeface="Noto Sans KR"/>
              </a:rPr>
              <a:t>하이닉스 · CXMT 변경 없음</a:t>
            </a:r>
          </a:p>
        </p:txBody>
      </p:sp>
      <p:sp>
        <p:nvSpPr>
          <p:cNvPr id="248" name="TextBox 247"/>
          <p:cNvSpPr txBox="1"/>
          <p:nvPr/>
        </p:nvSpPr>
        <p:spPr>
          <a:xfrm>
            <a:off x="6570000" y="2600000"/>
            <a:ext cx="2197000" cy="4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680" b="0" i="0">
                <a:solidFill>
                  <a:srgbClr val="3F3F3F"/>
                </a:solidFill>
                <a:latin typeface="Noto Sans KR"/>
                <a:ea typeface="Noto Sans KR"/>
                <a:cs typeface="Noto Sans KR"/>
              </a:rPr>
              <a:t>· 정제기 증설 아님 (동일 1대 개선)</a:t>
            </a:r>
          </a:p>
          <a:p>
            <a:pPr algn="l">
              <a:spcAft>
                <a:spcPts val="0"/>
              </a:spcAft>
            </a:pPr>
            <a:r>
              <a:rPr sz="680" b="0" i="0">
                <a:solidFill>
                  <a:srgbClr val="3F3F3F"/>
                </a:solidFill>
                <a:latin typeface="Noto Sans KR"/>
                <a:ea typeface="Noto Sans KR"/>
                <a:cs typeface="Noto Sans KR"/>
              </a:rPr>
              <a:t>· 정제 · 충진 병렬 운영 유지</a:t>
            </a:r>
          </a:p>
        </p:txBody>
      </p:sp>
      <p:sp>
        <p:nvSpPr>
          <p:cNvPr id="249" name="Rounded Rectangle 248"/>
          <p:cNvSpPr/>
          <p:nvPr/>
        </p:nvSpPr>
        <p:spPr>
          <a:xfrm>
            <a:off x="6570000" y="2950000"/>
            <a:ext cx="380000" cy="130000"/>
          </a:xfrm>
          <a:prstGeom prst="roundRect">
            <a:avLst/>
          </a:prstGeom>
          <a:solidFill>
            <a:srgbClr val="E2EFD9"/>
          </a:solidFill>
          <a:ln w="9525">
            <a:solidFill>
              <a:srgbClr val="548235"/>
            </a:solidFill>
          </a:ln>
        </p:spPr>
        <p:txBody>
          <a:bodyPr rtlCol="0" anchor="ctr" lIns="30000" rIns="30000" tIns="0" bIns="0" wrap="square"/>
          <a:lstStyle/>
          <a:p>
            <a:pPr algn="ctr"/>
          </a:p>
        </p:txBody>
      </p:sp>
      <p:sp>
        <p:nvSpPr>
          <p:cNvPr id="250" name="TextBox 249"/>
          <p:cNvSpPr txBox="1"/>
          <p:nvPr/>
        </p:nvSpPr>
        <p:spPr>
          <a:xfrm>
            <a:off x="7000000" y="2930000"/>
            <a:ext cx="800000" cy="17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3F3F3F"/>
                </a:solidFill>
                <a:latin typeface="Noto Sans KR"/>
                <a:ea typeface="Noto Sans KR"/>
                <a:cs typeface="Noto Sans KR"/>
              </a:rPr>
              <a:t>제공 시간</a:t>
            </a:r>
          </a:p>
        </p:txBody>
      </p:sp>
      <p:sp>
        <p:nvSpPr>
          <p:cNvPr id="251" name="Rounded Rectangle 250"/>
          <p:cNvSpPr/>
          <p:nvPr/>
        </p:nvSpPr>
        <p:spPr>
          <a:xfrm>
            <a:off x="7730000" y="2950000"/>
            <a:ext cx="380000" cy="130000"/>
          </a:xfrm>
          <a:prstGeom prst="roundRect">
            <a:avLst/>
          </a:prstGeom>
          <a:solidFill>
            <a:srgbClr val="FFF2CC"/>
          </a:solidFill>
          <a:ln w="9525">
            <a:solidFill>
              <a:srgbClr val="BF9000"/>
            </a:solidFill>
          </a:ln>
        </p:spPr>
        <p:txBody>
          <a:bodyPr rtlCol="0" anchor="ctr" lIns="30000" rIns="30000" tIns="0" bIns="0" wrap="square"/>
          <a:lstStyle/>
          <a:p>
            <a:pPr algn="ctr"/>
          </a:p>
        </p:txBody>
      </p:sp>
      <p:sp>
        <p:nvSpPr>
          <p:cNvPr id="252" name="TextBox 251"/>
          <p:cNvSpPr txBox="1"/>
          <p:nvPr/>
        </p:nvSpPr>
        <p:spPr>
          <a:xfrm>
            <a:off x="8160000" y="2930000"/>
            <a:ext cx="700000" cy="17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3F3F3F"/>
                </a:solidFill>
                <a:latin typeface="Noto Sans KR"/>
                <a:ea typeface="Noto Sans KR"/>
                <a:cs typeface="Noto Sans KR"/>
              </a:rPr>
              <a:t>미확인</a:t>
            </a:r>
          </a:p>
        </p:txBody>
      </p:sp>
      <p:cxnSp>
        <p:nvCxnSpPr>
          <p:cNvPr id="253" name="Connector 252"/>
          <p:cNvCxnSpPr/>
          <p:nvPr/>
        </p:nvCxnSpPr>
        <p:spPr>
          <a:xfrm>
            <a:off x="6570000" y="3180000"/>
            <a:ext cx="260000" cy="0"/>
          </a:xfrm>
          <a:prstGeom prst="line">
            <a:avLst/>
          </a:prstGeom>
          <a:ln w="12700">
            <a:solidFill>
              <a:srgbClr val="E00000"/>
            </a:solidFill>
            <a:prstDash val="dash"/>
          </a:ln>
        </p:spPr>
      </p:cxnSp>
      <p:sp>
        <p:nvSpPr>
          <p:cNvPr id="254" name="TextBox 253"/>
          <p:cNvSpPr txBox="1"/>
          <p:nvPr/>
        </p:nvSpPr>
        <p:spPr>
          <a:xfrm>
            <a:off x="6880000" y="3105000"/>
            <a:ext cx="15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3F3F3F"/>
                </a:solidFill>
                <a:latin typeface="Noto Sans KR"/>
                <a:ea typeface="Noto Sans KR"/>
                <a:cs typeface="Noto Sans KR"/>
              </a:rPr>
              <a:t>부적합 복귀 (조건 확인)</a:t>
            </a:r>
          </a:p>
        </p:txBody>
      </p:sp>
      <p:sp>
        <p:nvSpPr>
          <p:cNvPr id="255" name="Rectangle 254"/>
          <p:cNvSpPr/>
          <p:nvPr/>
        </p:nvSpPr>
        <p:spPr>
          <a:xfrm>
            <a:off x="287000" y="3430000"/>
            <a:ext cx="50000" cy="165000"/>
          </a:xfrm>
          <a:prstGeom prst="rect">
            <a:avLst/>
          </a:prstGeom>
          <a:solidFill>
            <a:srgbClr val="EB002C"/>
          </a:solidFill>
          <a:ln>
            <a:noFill/>
          </a:ln>
        </p:spPr>
        <p:txBody>
          <a:bodyPr rtlCol="0" anchor="ctr" lIns="30000" rIns="30000" tIns="0" bIns="0" wrap="square"/>
          <a:lstStyle/>
          <a:p>
            <a:pPr algn="ctr"/>
          </a:p>
        </p:txBody>
      </p:sp>
      <p:sp>
        <p:nvSpPr>
          <p:cNvPr id="256" name="TextBox 255"/>
          <p:cNvSpPr txBox="1"/>
          <p:nvPr/>
        </p:nvSpPr>
        <p:spPr>
          <a:xfrm>
            <a:off x="397000" y="3400000"/>
            <a:ext cx="8000000" cy="2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① 리플럭스 · ARS 일정</a:t>
            </a:r>
            <a:r>
              <a:rPr sz="700" b="0" i="0">
                <a:solidFill>
                  <a:srgbClr val="7F7F7F"/>
                </a:solidFill>
                <a:latin typeface="Noto Sans KR"/>
                <a:ea typeface="Noto Sans KR"/>
                <a:cs typeface="Noto Sans KR"/>
              </a:rPr>
              <a:t>   전제 : '27.6까지 57 h · 26.2톤/년 생산 → '27.7부터 리플럭스 47.2톤/년 생산</a:t>
            </a:r>
          </a:p>
        </p:txBody>
      </p:sp>
      <p:graphicFrame>
        <p:nvGraphicFramePr>
          <p:cNvPr id="257" name="Table 256"/>
          <p:cNvGraphicFramePr>
            <a:graphicFrameLocks noGrp="1"/>
          </p:cNvGraphicFramePr>
          <p:nvPr/>
        </p:nvGraphicFramePr>
        <p:xfrm>
          <a:off x="287000" y="3620000"/>
          <a:ext cx="8569988" cy="895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00000"/>
                <a:gridCol w="381666"/>
                <a:gridCol w="381666"/>
                <a:gridCol w="381666"/>
                <a:gridCol w="381666"/>
                <a:gridCol w="381666"/>
                <a:gridCol w="381666"/>
                <a:gridCol w="381666"/>
                <a:gridCol w="381666"/>
                <a:gridCol w="381666"/>
                <a:gridCol w="381666"/>
                <a:gridCol w="381666"/>
                <a:gridCol w="381666"/>
                <a:gridCol w="381666"/>
                <a:gridCol w="381666"/>
                <a:gridCol w="381666"/>
                <a:gridCol w="381666"/>
                <a:gridCol w="381666"/>
                <a:gridCol w="381666"/>
              </a:tblGrid>
              <a:tr h="150000">
                <a:tc rowSpan="2">
                  <a:txBody>
                    <a:bodyPr/>
                    <a:lstStyle/>
                    <a:p>
                      <a:pPr algn="l"/>
                      <a:r>
                        <a:rPr sz="680" b="1" i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구분</a:t>
                      </a:r>
                      <a:endParaRPr sz="680"/>
                    </a:p>
                  </a:txBody>
                  <a:tcPr anchor="ctr" marL="45000" marR="45000" marT="15000" marB="15000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A1A1A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5F6F8"/>
                    </a:solidFill>
                  </a:tcPr>
                </a:tc>
                <a:tc gridSpan="12">
                  <a:txBody>
                    <a:bodyPr/>
                    <a:lstStyle/>
                    <a:p>
                      <a:pPr algn="ctr"/>
                      <a:r>
                        <a:rPr sz="700" b="1" i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2027년</a:t>
                      </a:r>
                      <a:endParaRPr sz="700"/>
                    </a:p>
                  </a:txBody>
                  <a:tcPr anchor="ctr" marL="45000" marR="45000" marT="15000" marB="15000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A1A1A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5F6F8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6">
                  <a:txBody>
                    <a:bodyPr/>
                    <a:lstStyle/>
                    <a:p>
                      <a:pPr algn="ctr"/>
                      <a:r>
                        <a:rPr sz="700" b="1" i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2028년</a:t>
                      </a:r>
                      <a:endParaRPr sz="700"/>
                    </a:p>
                  </a:txBody>
                  <a:tcPr anchor="ctr" marL="45000" marR="45000" marT="15000" marB="15000">
                    <a:lnL w="6350">
                      <a:solidFill>
                        <a:srgbClr val="BFBFBF"/>
                      </a:solidFill>
                    </a:lnL>
                    <a:lnR w="0">
                      <a:noFill/>
                    </a:lnR>
                    <a:lnT w="12700">
                      <a:solidFill>
                        <a:srgbClr val="1A1A1A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EDEDED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145000">
                <a:tc vMerge="1">
                  <a:txBody>
                    <a:bodyPr/>
                    <a:lstStyle/>
                    <a:p>
                      <a:pPr algn="ctr"/>
                      <a:r>
                        <a:rPr sz="600" b="0" i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 </a:t>
                      </a:r>
                      <a:endParaRPr sz="600"/>
                    </a:p>
                  </a:txBody>
                  <a:tcPr anchor="ctr" marL="45000" marR="45000" marT="15000" marB="150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30" b="1" i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</a:t>
                      </a:r>
                      <a:endParaRPr sz="630"/>
                    </a:p>
                  </a:txBody>
                  <a:tcPr anchor="ctr" marL="45000" marR="45000" marT="15000" marB="150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30" b="1" i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</a:t>
                      </a:r>
                      <a:endParaRPr sz="630"/>
                    </a:p>
                  </a:txBody>
                  <a:tcPr anchor="ctr" marL="45000" marR="45000" marT="15000" marB="150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30" b="1" i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</a:t>
                      </a:r>
                      <a:endParaRPr sz="630"/>
                    </a:p>
                  </a:txBody>
                  <a:tcPr anchor="ctr" marL="45000" marR="45000" marT="15000" marB="150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30" b="1" i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</a:t>
                      </a:r>
                      <a:endParaRPr sz="630"/>
                    </a:p>
                  </a:txBody>
                  <a:tcPr anchor="ctr" marL="45000" marR="45000" marT="15000" marB="150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30" b="1" i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</a:t>
                      </a:r>
                      <a:endParaRPr sz="630"/>
                    </a:p>
                  </a:txBody>
                  <a:tcPr anchor="ctr" marL="45000" marR="45000" marT="15000" marB="150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30" b="1" i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</a:t>
                      </a:r>
                      <a:endParaRPr sz="630"/>
                    </a:p>
                  </a:txBody>
                  <a:tcPr anchor="ctr" marL="45000" marR="45000" marT="15000" marB="150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30" b="1" i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</a:t>
                      </a:r>
                      <a:endParaRPr sz="630"/>
                    </a:p>
                  </a:txBody>
                  <a:tcPr anchor="ctr" marL="45000" marR="45000" marT="15000" marB="150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30" b="1" i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8</a:t>
                      </a:r>
                      <a:endParaRPr sz="630"/>
                    </a:p>
                  </a:txBody>
                  <a:tcPr anchor="ctr" marL="45000" marR="45000" marT="15000" marB="150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30" b="1" i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9</a:t>
                      </a:r>
                      <a:endParaRPr sz="630"/>
                    </a:p>
                  </a:txBody>
                  <a:tcPr anchor="ctr" marL="45000" marR="45000" marT="15000" marB="150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30" b="1" i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</a:t>
                      </a:r>
                      <a:endParaRPr sz="630"/>
                    </a:p>
                  </a:txBody>
                  <a:tcPr anchor="ctr" marL="45000" marR="45000" marT="15000" marB="150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30" b="1" i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11</a:t>
                      </a:r>
                      <a:endParaRPr sz="630"/>
                    </a:p>
                  </a:txBody>
                  <a:tcPr anchor="ctr" marL="45000" marR="45000" marT="15000" marB="150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30" b="1" i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12</a:t>
                      </a:r>
                      <a:endParaRPr sz="630"/>
                    </a:p>
                  </a:txBody>
                  <a:tcPr anchor="ctr" marL="45000" marR="45000" marT="15000" marB="150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30" b="1" i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</a:t>
                      </a:r>
                      <a:endParaRPr sz="630"/>
                    </a:p>
                  </a:txBody>
                  <a:tcPr anchor="ctr" marL="45000" marR="45000" marT="15000" marB="15000">
                    <a:lnL w="6350">
                      <a:solidFill>
                        <a:srgbClr val="BFBFBF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30" b="1" i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</a:t>
                      </a:r>
                      <a:endParaRPr sz="630"/>
                    </a:p>
                  </a:txBody>
                  <a:tcPr anchor="ctr" marL="45000" marR="45000" marT="15000" marB="150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30" b="1" i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</a:t>
                      </a:r>
                      <a:endParaRPr sz="630"/>
                    </a:p>
                  </a:txBody>
                  <a:tcPr anchor="ctr" marL="45000" marR="45000" marT="15000" marB="150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30" b="1" i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</a:t>
                      </a:r>
                      <a:endParaRPr sz="630"/>
                    </a:p>
                  </a:txBody>
                  <a:tcPr anchor="ctr" marL="45000" marR="45000" marT="15000" marB="150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30" b="1" i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</a:t>
                      </a:r>
                      <a:endParaRPr sz="630"/>
                    </a:p>
                  </a:txBody>
                  <a:tcPr anchor="ctr" marL="45000" marR="45000" marT="15000" marB="150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30" b="1" i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</a:t>
                      </a:r>
                      <a:endParaRPr sz="630"/>
                    </a:p>
                  </a:txBody>
                  <a:tcPr anchor="ctr" marL="45000" marR="45000" marT="15000" marB="150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DEDED"/>
                    </a:solidFill>
                  </a:tcPr>
                </a:tc>
              </a:tr>
              <a:tr h="150000">
                <a:tc>
                  <a:txBody>
                    <a:bodyPr/>
                    <a:lstStyle/>
                    <a:p>
                      <a:pPr algn="l"/>
                      <a:r>
                        <a:rPr sz="630" b="0" i="0">
                          <a:solidFill>
                            <a:srgbClr val="EB00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■ </a:t>
                      </a:r>
                      <a:r>
                        <a:rPr sz="680" b="1" i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리플럭스 공사</a:t>
                      </a:r>
                      <a:endParaRPr sz="630"/>
                    </a:p>
                  </a:txBody>
                  <a:tcPr anchor="ctr" marL="45000" marR="45000" marT="15000" marB="150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 i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 </a:t>
                      </a:r>
                      <a:endParaRPr sz="600"/>
                    </a:p>
                  </a:txBody>
                  <a:tcPr anchor="ctr" marL="45000" marR="45000" marT="15000" marB="150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sz="630" b="1" i="0">
                          <a:solidFill>
                            <a:srgbClr val="EB00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공사 (2~5월) · 생산 유지 전제</a:t>
                      </a:r>
                      <a:endParaRPr sz="63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8C9D2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 i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 </a:t>
                      </a:r>
                      <a:endParaRPr sz="60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 i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 </a:t>
                      </a:r>
                      <a:endParaRPr sz="60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 i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 </a:t>
                      </a:r>
                      <a:endParaRPr sz="60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 i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 </a:t>
                      </a:r>
                      <a:endParaRPr sz="60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 i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 </a:t>
                      </a:r>
                      <a:endParaRPr sz="60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 i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 </a:t>
                      </a:r>
                      <a:endParaRPr sz="60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 i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 </a:t>
                      </a:r>
                      <a:endParaRPr sz="60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 i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 </a:t>
                      </a:r>
                      <a:endParaRPr sz="600"/>
                    </a:p>
                  </a:txBody>
                  <a:tcPr anchor="ctr" marL="45000" marR="45000" marT="15000" marB="15000">
                    <a:lnL w="6350">
                      <a:solidFill>
                        <a:srgbClr val="BFBFBF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 i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 </a:t>
                      </a:r>
                      <a:endParaRPr sz="60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 i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 </a:t>
                      </a:r>
                      <a:endParaRPr sz="60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 i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 </a:t>
                      </a:r>
                      <a:endParaRPr sz="60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 i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 </a:t>
                      </a:r>
                      <a:endParaRPr sz="60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 i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 </a:t>
                      </a:r>
                      <a:endParaRPr sz="60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50000">
                <a:tc>
                  <a:txBody>
                    <a:bodyPr/>
                    <a:lstStyle/>
                    <a:p>
                      <a:pPr algn="l"/>
                      <a:r>
                        <a:rPr sz="630" b="0" i="0">
                          <a:solidFill>
                            <a:srgbClr val="EB00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■ </a:t>
                      </a:r>
                      <a:r>
                        <a:rPr sz="680" b="1" i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시운전</a:t>
                      </a:r>
                      <a:endParaRPr sz="630"/>
                    </a:p>
                  </a:txBody>
                  <a:tcPr anchor="ctr" marL="45000" marR="45000" marT="15000" marB="150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 i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 </a:t>
                      </a:r>
                      <a:endParaRPr sz="600"/>
                    </a:p>
                  </a:txBody>
                  <a:tcPr anchor="ctr" marL="45000" marR="45000" marT="15000" marB="150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 i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 </a:t>
                      </a:r>
                      <a:endParaRPr sz="60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 i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 </a:t>
                      </a:r>
                      <a:endParaRPr sz="60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 i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 </a:t>
                      </a:r>
                      <a:endParaRPr sz="60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 i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 </a:t>
                      </a:r>
                      <a:endParaRPr sz="60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30" b="1" i="0">
                          <a:solidFill>
                            <a:srgbClr val="EB00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시운전</a:t>
                      </a:r>
                      <a:endParaRPr sz="63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29CA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 i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 </a:t>
                      </a:r>
                      <a:endParaRPr sz="60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 i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 </a:t>
                      </a:r>
                      <a:endParaRPr sz="60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 i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 </a:t>
                      </a:r>
                      <a:endParaRPr sz="60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 i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 </a:t>
                      </a:r>
                      <a:endParaRPr sz="60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 i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 </a:t>
                      </a:r>
                      <a:endParaRPr sz="60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 i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 </a:t>
                      </a:r>
                      <a:endParaRPr sz="60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 i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 </a:t>
                      </a:r>
                      <a:endParaRPr sz="600"/>
                    </a:p>
                  </a:txBody>
                  <a:tcPr anchor="ctr" marL="45000" marR="45000" marT="15000" marB="15000">
                    <a:lnL w="6350">
                      <a:solidFill>
                        <a:srgbClr val="BFBFBF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 i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 </a:t>
                      </a:r>
                      <a:endParaRPr sz="60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 i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 </a:t>
                      </a:r>
                      <a:endParaRPr sz="60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 i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 </a:t>
                      </a:r>
                      <a:endParaRPr sz="60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 i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 </a:t>
                      </a:r>
                      <a:endParaRPr sz="60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 i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 </a:t>
                      </a:r>
                      <a:endParaRPr sz="60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50000">
                <a:tc>
                  <a:txBody>
                    <a:bodyPr/>
                    <a:lstStyle/>
                    <a:p>
                      <a:pPr algn="l"/>
                      <a:r>
                        <a:rPr sz="630" b="0" i="0">
                          <a:solidFill>
                            <a:srgbClr val="EB00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■ </a:t>
                      </a:r>
                      <a:r>
                        <a:rPr sz="680" b="1" i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리플럭스 적용 생산</a:t>
                      </a:r>
                      <a:endParaRPr sz="630"/>
                    </a:p>
                  </a:txBody>
                  <a:tcPr anchor="ctr" marL="45000" marR="45000" marT="15000" marB="150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 i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 </a:t>
                      </a:r>
                      <a:endParaRPr sz="600"/>
                    </a:p>
                  </a:txBody>
                  <a:tcPr anchor="ctr" marL="45000" marR="45000" marT="15000" marB="150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 i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 </a:t>
                      </a:r>
                      <a:endParaRPr sz="60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 i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 </a:t>
                      </a:r>
                      <a:endParaRPr sz="60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 i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 </a:t>
                      </a:r>
                      <a:endParaRPr sz="60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 i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 </a:t>
                      </a:r>
                      <a:endParaRPr sz="60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 i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 </a:t>
                      </a:r>
                      <a:endParaRPr sz="60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 gridSpan="12">
                  <a:txBody>
                    <a:bodyPr/>
                    <a:lstStyle/>
                    <a:p>
                      <a:pPr algn="ctr"/>
                      <a:r>
                        <a:rPr sz="630" b="1" i="0">
                          <a:solidFill>
                            <a:srgbClr val="EB00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생산 시작 '27.7 · 최초 12개월 '27.7~'28.6</a:t>
                      </a:r>
                      <a:endParaRPr sz="63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DEDF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150000">
                <a:tc>
                  <a:txBody>
                    <a:bodyPr/>
                    <a:lstStyle/>
                    <a:p>
                      <a:pPr algn="l"/>
                      <a:r>
                        <a:rPr sz="630" b="0" i="0">
                          <a:solidFill>
                            <a:srgbClr val="7030A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■ </a:t>
                      </a:r>
                      <a:r>
                        <a:rPr sz="680" b="1" i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ARS 200 L 자동 충진</a:t>
                      </a:r>
                      <a:endParaRPr sz="630"/>
                    </a:p>
                  </a:txBody>
                  <a:tcPr anchor="ctr" marL="45000" marR="45000" marT="15000" marB="150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 gridSpan="18">
                  <a:txBody>
                    <a:bodyPr/>
                    <a:lstStyle/>
                    <a:p>
                      <a:pPr algn="ctr"/>
                      <a:r>
                        <a:rPr sz="630" b="1" i="0">
                          <a:solidFill>
                            <a:srgbClr val="7030A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운영 계획 ('26 설치 → '27~)</a:t>
                      </a:r>
                      <a:endParaRPr sz="630"/>
                    </a:p>
                  </a:txBody>
                  <a:tcPr anchor="ctr" marL="45000" marR="45000" marT="15000" marB="150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FE6F7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sp>
        <p:nvSpPr>
          <p:cNvPr id="258" name="Rectangle 257"/>
          <p:cNvSpPr/>
          <p:nvPr/>
        </p:nvSpPr>
        <p:spPr>
          <a:xfrm>
            <a:off x="287000" y="4630000"/>
            <a:ext cx="50000" cy="165000"/>
          </a:xfrm>
          <a:prstGeom prst="rect">
            <a:avLst/>
          </a:prstGeom>
          <a:solidFill>
            <a:srgbClr val="EB002C"/>
          </a:solidFill>
          <a:ln>
            <a:noFill/>
          </a:ln>
        </p:spPr>
        <p:txBody>
          <a:bodyPr rtlCol="0" anchor="ctr" lIns="30000" rIns="30000" tIns="0" bIns="0" wrap="square"/>
          <a:lstStyle/>
          <a:p>
            <a:pPr algn="ctr"/>
          </a:p>
        </p:txBody>
      </p:sp>
      <p:sp>
        <p:nvSpPr>
          <p:cNvPr id="259" name="TextBox 258"/>
          <p:cNvSpPr txBox="1"/>
          <p:nvPr/>
        </p:nvSpPr>
        <p:spPr>
          <a:xfrm>
            <a:off x="397000" y="4600000"/>
            <a:ext cx="8000000" cy="2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② 리플럭스 후 필요 정제시간 — 47.2톤 달성 조건 (11월 예시)</a:t>
            </a:r>
            <a:r>
              <a:rPr sz="700" b="0" i="0">
                <a:solidFill>
                  <a:srgbClr val="7F7F7F"/>
                </a:solidFill>
                <a:latin typeface="Noto Sans KR"/>
                <a:ea typeface="Noto Sans KR"/>
                <a:cs typeface="Noto Sans KR"/>
              </a:rPr>
              <a:t>   사이클 34.8 h = 필요 정제 29.1 h + 정제 외 5.7 h</a:t>
            </a:r>
          </a:p>
        </p:txBody>
      </p:sp>
      <p:sp>
        <p:nvSpPr>
          <p:cNvPr id="260" name="Rectangle 259"/>
          <p:cNvSpPr/>
          <p:nvPr/>
        </p:nvSpPr>
        <p:spPr>
          <a:xfrm>
            <a:off x="1167000" y="4840000"/>
            <a:ext cx="256333" cy="845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 lIns="30000" rIns="30000" tIns="0" bIns="0" wrap="square"/>
          <a:lstStyle/>
          <a:p>
            <a:pPr algn="ctr"/>
          </a:p>
        </p:txBody>
      </p:sp>
      <p:sp>
        <p:nvSpPr>
          <p:cNvPr id="261" name="TextBox 260"/>
          <p:cNvSpPr txBox="1"/>
          <p:nvPr/>
        </p:nvSpPr>
        <p:spPr>
          <a:xfrm>
            <a:off x="1167000" y="4840000"/>
            <a:ext cx="256333" cy="1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1" i="0">
                <a:solidFill>
                  <a:srgbClr val="EB002C"/>
                </a:solidFill>
                <a:latin typeface="Noto Sans KR"/>
                <a:ea typeface="Noto Sans KR"/>
                <a:cs typeface="Noto Sans KR"/>
              </a:rPr>
              <a:t>1</a:t>
            </a:r>
          </a:p>
        </p:txBody>
      </p:sp>
      <p:sp>
        <p:nvSpPr>
          <p:cNvPr id="262" name="TextBox 261"/>
          <p:cNvSpPr txBox="1"/>
          <p:nvPr/>
        </p:nvSpPr>
        <p:spPr>
          <a:xfrm>
            <a:off x="1167000" y="4980000"/>
            <a:ext cx="256333" cy="115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550" b="0" i="0">
                <a:solidFill>
                  <a:srgbClr val="EB002C"/>
                </a:solidFill>
                <a:latin typeface="Noto Sans KR"/>
                <a:ea typeface="Noto Sans KR"/>
                <a:cs typeface="Noto Sans KR"/>
              </a:rPr>
              <a:t>일</a:t>
            </a:r>
          </a:p>
        </p:txBody>
      </p:sp>
      <p:sp>
        <p:nvSpPr>
          <p:cNvPr id="263" name="TextBox 262"/>
          <p:cNvSpPr txBox="1"/>
          <p:nvPr/>
        </p:nvSpPr>
        <p:spPr>
          <a:xfrm>
            <a:off x="1423333" y="4840000"/>
            <a:ext cx="256333" cy="1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2</a:t>
            </a:r>
          </a:p>
        </p:txBody>
      </p:sp>
      <p:sp>
        <p:nvSpPr>
          <p:cNvPr id="264" name="TextBox 263"/>
          <p:cNvSpPr txBox="1"/>
          <p:nvPr/>
        </p:nvSpPr>
        <p:spPr>
          <a:xfrm>
            <a:off x="1423333" y="4980000"/>
            <a:ext cx="256333" cy="115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550" b="0" i="0">
                <a:solidFill>
                  <a:srgbClr val="7F7F7F"/>
                </a:solidFill>
                <a:latin typeface="Noto Sans KR"/>
                <a:ea typeface="Noto Sans KR"/>
                <a:cs typeface="Noto Sans KR"/>
              </a:rPr>
              <a:t>월</a:t>
            </a:r>
          </a:p>
        </p:txBody>
      </p:sp>
      <p:sp>
        <p:nvSpPr>
          <p:cNvPr id="265" name="TextBox 264"/>
          <p:cNvSpPr txBox="1"/>
          <p:nvPr/>
        </p:nvSpPr>
        <p:spPr>
          <a:xfrm>
            <a:off x="1679666" y="4840000"/>
            <a:ext cx="256333" cy="1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3</a:t>
            </a:r>
          </a:p>
        </p:txBody>
      </p:sp>
      <p:sp>
        <p:nvSpPr>
          <p:cNvPr id="266" name="TextBox 265"/>
          <p:cNvSpPr txBox="1"/>
          <p:nvPr/>
        </p:nvSpPr>
        <p:spPr>
          <a:xfrm>
            <a:off x="1679666" y="4980000"/>
            <a:ext cx="256333" cy="115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550" b="0" i="0">
                <a:solidFill>
                  <a:srgbClr val="7F7F7F"/>
                </a:solidFill>
                <a:latin typeface="Noto Sans KR"/>
                <a:ea typeface="Noto Sans KR"/>
                <a:cs typeface="Noto Sans KR"/>
              </a:rPr>
              <a:t>화</a:t>
            </a:r>
          </a:p>
        </p:txBody>
      </p:sp>
      <p:sp>
        <p:nvSpPr>
          <p:cNvPr id="267" name="TextBox 266"/>
          <p:cNvSpPr txBox="1"/>
          <p:nvPr/>
        </p:nvSpPr>
        <p:spPr>
          <a:xfrm>
            <a:off x="1936000" y="4840000"/>
            <a:ext cx="256333" cy="1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4</a:t>
            </a:r>
          </a:p>
        </p:txBody>
      </p:sp>
      <p:sp>
        <p:nvSpPr>
          <p:cNvPr id="268" name="TextBox 267"/>
          <p:cNvSpPr txBox="1"/>
          <p:nvPr/>
        </p:nvSpPr>
        <p:spPr>
          <a:xfrm>
            <a:off x="1936000" y="4980000"/>
            <a:ext cx="256333" cy="115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550" b="0" i="0">
                <a:solidFill>
                  <a:srgbClr val="7F7F7F"/>
                </a:solidFill>
                <a:latin typeface="Noto Sans KR"/>
                <a:ea typeface="Noto Sans KR"/>
                <a:cs typeface="Noto Sans KR"/>
              </a:rPr>
              <a:t>수</a:t>
            </a:r>
          </a:p>
        </p:txBody>
      </p:sp>
      <p:sp>
        <p:nvSpPr>
          <p:cNvPr id="269" name="TextBox 268"/>
          <p:cNvSpPr txBox="1"/>
          <p:nvPr/>
        </p:nvSpPr>
        <p:spPr>
          <a:xfrm>
            <a:off x="2192333" y="4840000"/>
            <a:ext cx="256333" cy="1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5</a:t>
            </a:r>
          </a:p>
        </p:txBody>
      </p:sp>
      <p:sp>
        <p:nvSpPr>
          <p:cNvPr id="270" name="TextBox 269"/>
          <p:cNvSpPr txBox="1"/>
          <p:nvPr/>
        </p:nvSpPr>
        <p:spPr>
          <a:xfrm>
            <a:off x="2192333" y="4980000"/>
            <a:ext cx="256333" cy="115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550" b="0" i="0">
                <a:solidFill>
                  <a:srgbClr val="7F7F7F"/>
                </a:solidFill>
                <a:latin typeface="Noto Sans KR"/>
                <a:ea typeface="Noto Sans KR"/>
                <a:cs typeface="Noto Sans KR"/>
              </a:rPr>
              <a:t>목</a:t>
            </a:r>
          </a:p>
        </p:txBody>
      </p:sp>
      <p:sp>
        <p:nvSpPr>
          <p:cNvPr id="271" name="TextBox 270"/>
          <p:cNvSpPr txBox="1"/>
          <p:nvPr/>
        </p:nvSpPr>
        <p:spPr>
          <a:xfrm>
            <a:off x="2448666" y="4840000"/>
            <a:ext cx="256333" cy="1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6</a:t>
            </a:r>
          </a:p>
        </p:txBody>
      </p:sp>
      <p:sp>
        <p:nvSpPr>
          <p:cNvPr id="272" name="TextBox 271"/>
          <p:cNvSpPr txBox="1"/>
          <p:nvPr/>
        </p:nvSpPr>
        <p:spPr>
          <a:xfrm>
            <a:off x="2448666" y="4980000"/>
            <a:ext cx="256333" cy="115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550" b="0" i="0">
                <a:solidFill>
                  <a:srgbClr val="7F7F7F"/>
                </a:solidFill>
                <a:latin typeface="Noto Sans KR"/>
                <a:ea typeface="Noto Sans KR"/>
                <a:cs typeface="Noto Sans KR"/>
              </a:rPr>
              <a:t>금</a:t>
            </a:r>
          </a:p>
        </p:txBody>
      </p:sp>
      <p:sp>
        <p:nvSpPr>
          <p:cNvPr id="273" name="Rectangle 272"/>
          <p:cNvSpPr/>
          <p:nvPr/>
        </p:nvSpPr>
        <p:spPr>
          <a:xfrm>
            <a:off x="2705000" y="4840000"/>
            <a:ext cx="256333" cy="845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 lIns="30000" rIns="30000" tIns="0" bIns="0" wrap="square"/>
          <a:lstStyle/>
          <a:p>
            <a:pPr algn="ctr"/>
          </a:p>
        </p:txBody>
      </p:sp>
      <p:sp>
        <p:nvSpPr>
          <p:cNvPr id="274" name="TextBox 273"/>
          <p:cNvSpPr txBox="1"/>
          <p:nvPr/>
        </p:nvSpPr>
        <p:spPr>
          <a:xfrm>
            <a:off x="2705000" y="4840000"/>
            <a:ext cx="256333" cy="1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7</a:t>
            </a:r>
          </a:p>
        </p:txBody>
      </p:sp>
      <p:sp>
        <p:nvSpPr>
          <p:cNvPr id="275" name="TextBox 274"/>
          <p:cNvSpPr txBox="1"/>
          <p:nvPr/>
        </p:nvSpPr>
        <p:spPr>
          <a:xfrm>
            <a:off x="2705000" y="4980000"/>
            <a:ext cx="256333" cy="115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550" b="0" i="0">
                <a:solidFill>
                  <a:srgbClr val="7F7F7F"/>
                </a:solidFill>
                <a:latin typeface="Noto Sans KR"/>
                <a:ea typeface="Noto Sans KR"/>
                <a:cs typeface="Noto Sans KR"/>
              </a:rPr>
              <a:t>토</a:t>
            </a:r>
          </a:p>
        </p:txBody>
      </p:sp>
      <p:sp>
        <p:nvSpPr>
          <p:cNvPr id="276" name="Rectangle 275"/>
          <p:cNvSpPr/>
          <p:nvPr/>
        </p:nvSpPr>
        <p:spPr>
          <a:xfrm>
            <a:off x="2961333" y="4840000"/>
            <a:ext cx="256333" cy="845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 lIns="30000" rIns="30000" tIns="0" bIns="0" wrap="square"/>
          <a:lstStyle/>
          <a:p>
            <a:pPr algn="ctr"/>
          </a:p>
        </p:txBody>
      </p:sp>
      <p:sp>
        <p:nvSpPr>
          <p:cNvPr id="277" name="TextBox 276"/>
          <p:cNvSpPr txBox="1"/>
          <p:nvPr/>
        </p:nvSpPr>
        <p:spPr>
          <a:xfrm>
            <a:off x="2961333" y="4840000"/>
            <a:ext cx="256333" cy="1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1" i="0">
                <a:solidFill>
                  <a:srgbClr val="EB002C"/>
                </a:solidFill>
                <a:latin typeface="Noto Sans KR"/>
                <a:ea typeface="Noto Sans KR"/>
                <a:cs typeface="Noto Sans KR"/>
              </a:rPr>
              <a:t>8</a:t>
            </a:r>
          </a:p>
        </p:txBody>
      </p:sp>
      <p:sp>
        <p:nvSpPr>
          <p:cNvPr id="278" name="TextBox 277"/>
          <p:cNvSpPr txBox="1"/>
          <p:nvPr/>
        </p:nvSpPr>
        <p:spPr>
          <a:xfrm>
            <a:off x="2961333" y="4980000"/>
            <a:ext cx="256333" cy="115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550" b="0" i="0">
                <a:solidFill>
                  <a:srgbClr val="EB002C"/>
                </a:solidFill>
                <a:latin typeface="Noto Sans KR"/>
                <a:ea typeface="Noto Sans KR"/>
                <a:cs typeface="Noto Sans KR"/>
              </a:rPr>
              <a:t>일</a:t>
            </a:r>
          </a:p>
        </p:txBody>
      </p:sp>
      <p:sp>
        <p:nvSpPr>
          <p:cNvPr id="279" name="TextBox 278"/>
          <p:cNvSpPr txBox="1"/>
          <p:nvPr/>
        </p:nvSpPr>
        <p:spPr>
          <a:xfrm>
            <a:off x="3217666" y="4840000"/>
            <a:ext cx="256333" cy="1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9</a:t>
            </a:r>
          </a:p>
        </p:txBody>
      </p:sp>
      <p:sp>
        <p:nvSpPr>
          <p:cNvPr id="280" name="TextBox 279"/>
          <p:cNvSpPr txBox="1"/>
          <p:nvPr/>
        </p:nvSpPr>
        <p:spPr>
          <a:xfrm>
            <a:off x="3217666" y="4980000"/>
            <a:ext cx="256333" cy="115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550" b="0" i="0">
                <a:solidFill>
                  <a:srgbClr val="7F7F7F"/>
                </a:solidFill>
                <a:latin typeface="Noto Sans KR"/>
                <a:ea typeface="Noto Sans KR"/>
                <a:cs typeface="Noto Sans KR"/>
              </a:rPr>
              <a:t>월</a:t>
            </a:r>
          </a:p>
        </p:txBody>
      </p:sp>
      <p:sp>
        <p:nvSpPr>
          <p:cNvPr id="281" name="TextBox 280"/>
          <p:cNvSpPr txBox="1"/>
          <p:nvPr/>
        </p:nvSpPr>
        <p:spPr>
          <a:xfrm>
            <a:off x="3474000" y="4840000"/>
            <a:ext cx="256333" cy="1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10</a:t>
            </a:r>
          </a:p>
        </p:txBody>
      </p:sp>
      <p:sp>
        <p:nvSpPr>
          <p:cNvPr id="282" name="TextBox 281"/>
          <p:cNvSpPr txBox="1"/>
          <p:nvPr/>
        </p:nvSpPr>
        <p:spPr>
          <a:xfrm>
            <a:off x="3474000" y="4980000"/>
            <a:ext cx="256333" cy="115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550" b="0" i="0">
                <a:solidFill>
                  <a:srgbClr val="7F7F7F"/>
                </a:solidFill>
                <a:latin typeface="Noto Sans KR"/>
                <a:ea typeface="Noto Sans KR"/>
                <a:cs typeface="Noto Sans KR"/>
              </a:rPr>
              <a:t>화</a:t>
            </a:r>
          </a:p>
        </p:txBody>
      </p:sp>
      <p:sp>
        <p:nvSpPr>
          <p:cNvPr id="283" name="TextBox 282"/>
          <p:cNvSpPr txBox="1"/>
          <p:nvPr/>
        </p:nvSpPr>
        <p:spPr>
          <a:xfrm>
            <a:off x="3730333" y="4840000"/>
            <a:ext cx="256333" cy="1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11</a:t>
            </a:r>
          </a:p>
        </p:txBody>
      </p:sp>
      <p:sp>
        <p:nvSpPr>
          <p:cNvPr id="284" name="TextBox 283"/>
          <p:cNvSpPr txBox="1"/>
          <p:nvPr/>
        </p:nvSpPr>
        <p:spPr>
          <a:xfrm>
            <a:off x="3730333" y="4980000"/>
            <a:ext cx="256333" cy="115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550" b="0" i="0">
                <a:solidFill>
                  <a:srgbClr val="7F7F7F"/>
                </a:solidFill>
                <a:latin typeface="Noto Sans KR"/>
                <a:ea typeface="Noto Sans KR"/>
                <a:cs typeface="Noto Sans KR"/>
              </a:rPr>
              <a:t>수</a:t>
            </a:r>
          </a:p>
        </p:txBody>
      </p:sp>
      <p:sp>
        <p:nvSpPr>
          <p:cNvPr id="285" name="TextBox 284"/>
          <p:cNvSpPr txBox="1"/>
          <p:nvPr/>
        </p:nvSpPr>
        <p:spPr>
          <a:xfrm>
            <a:off x="3986666" y="4840000"/>
            <a:ext cx="256333" cy="1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12</a:t>
            </a:r>
          </a:p>
        </p:txBody>
      </p:sp>
      <p:sp>
        <p:nvSpPr>
          <p:cNvPr id="286" name="TextBox 285"/>
          <p:cNvSpPr txBox="1"/>
          <p:nvPr/>
        </p:nvSpPr>
        <p:spPr>
          <a:xfrm>
            <a:off x="3986666" y="4980000"/>
            <a:ext cx="256333" cy="115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550" b="0" i="0">
                <a:solidFill>
                  <a:srgbClr val="7F7F7F"/>
                </a:solidFill>
                <a:latin typeface="Noto Sans KR"/>
                <a:ea typeface="Noto Sans KR"/>
                <a:cs typeface="Noto Sans KR"/>
              </a:rPr>
              <a:t>목</a:t>
            </a:r>
          </a:p>
        </p:txBody>
      </p:sp>
      <p:sp>
        <p:nvSpPr>
          <p:cNvPr id="287" name="TextBox 286"/>
          <p:cNvSpPr txBox="1"/>
          <p:nvPr/>
        </p:nvSpPr>
        <p:spPr>
          <a:xfrm>
            <a:off x="4243000" y="4840000"/>
            <a:ext cx="256333" cy="1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13</a:t>
            </a:r>
          </a:p>
        </p:txBody>
      </p:sp>
      <p:sp>
        <p:nvSpPr>
          <p:cNvPr id="288" name="TextBox 287"/>
          <p:cNvSpPr txBox="1"/>
          <p:nvPr/>
        </p:nvSpPr>
        <p:spPr>
          <a:xfrm>
            <a:off x="4243000" y="4980000"/>
            <a:ext cx="256333" cy="115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550" b="0" i="0">
                <a:solidFill>
                  <a:srgbClr val="7F7F7F"/>
                </a:solidFill>
                <a:latin typeface="Noto Sans KR"/>
                <a:ea typeface="Noto Sans KR"/>
                <a:cs typeface="Noto Sans KR"/>
              </a:rPr>
              <a:t>금</a:t>
            </a:r>
          </a:p>
        </p:txBody>
      </p:sp>
      <p:sp>
        <p:nvSpPr>
          <p:cNvPr id="289" name="Rectangle 288"/>
          <p:cNvSpPr/>
          <p:nvPr/>
        </p:nvSpPr>
        <p:spPr>
          <a:xfrm>
            <a:off x="4499333" y="4840000"/>
            <a:ext cx="256333" cy="845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 lIns="30000" rIns="30000" tIns="0" bIns="0" wrap="square"/>
          <a:lstStyle/>
          <a:p>
            <a:pPr algn="ctr"/>
          </a:p>
        </p:txBody>
      </p:sp>
      <p:sp>
        <p:nvSpPr>
          <p:cNvPr id="290" name="TextBox 289"/>
          <p:cNvSpPr txBox="1"/>
          <p:nvPr/>
        </p:nvSpPr>
        <p:spPr>
          <a:xfrm>
            <a:off x="4499333" y="4840000"/>
            <a:ext cx="256333" cy="1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14</a:t>
            </a:r>
          </a:p>
        </p:txBody>
      </p:sp>
      <p:sp>
        <p:nvSpPr>
          <p:cNvPr id="291" name="TextBox 290"/>
          <p:cNvSpPr txBox="1"/>
          <p:nvPr/>
        </p:nvSpPr>
        <p:spPr>
          <a:xfrm>
            <a:off x="4499333" y="4980000"/>
            <a:ext cx="256333" cy="115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550" b="0" i="0">
                <a:solidFill>
                  <a:srgbClr val="7F7F7F"/>
                </a:solidFill>
                <a:latin typeface="Noto Sans KR"/>
                <a:ea typeface="Noto Sans KR"/>
                <a:cs typeface="Noto Sans KR"/>
              </a:rPr>
              <a:t>토</a:t>
            </a:r>
          </a:p>
        </p:txBody>
      </p:sp>
      <p:sp>
        <p:nvSpPr>
          <p:cNvPr id="292" name="Rectangle 291"/>
          <p:cNvSpPr/>
          <p:nvPr/>
        </p:nvSpPr>
        <p:spPr>
          <a:xfrm>
            <a:off x="4755666" y="4840000"/>
            <a:ext cx="256333" cy="845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 lIns="30000" rIns="30000" tIns="0" bIns="0" wrap="square"/>
          <a:lstStyle/>
          <a:p>
            <a:pPr algn="ctr"/>
          </a:p>
        </p:txBody>
      </p:sp>
      <p:sp>
        <p:nvSpPr>
          <p:cNvPr id="293" name="TextBox 292"/>
          <p:cNvSpPr txBox="1"/>
          <p:nvPr/>
        </p:nvSpPr>
        <p:spPr>
          <a:xfrm>
            <a:off x="4755666" y="4840000"/>
            <a:ext cx="256333" cy="1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1" i="0">
                <a:solidFill>
                  <a:srgbClr val="EB002C"/>
                </a:solidFill>
                <a:latin typeface="Noto Sans KR"/>
                <a:ea typeface="Noto Sans KR"/>
                <a:cs typeface="Noto Sans KR"/>
              </a:rPr>
              <a:t>15</a:t>
            </a:r>
          </a:p>
        </p:txBody>
      </p:sp>
      <p:sp>
        <p:nvSpPr>
          <p:cNvPr id="294" name="TextBox 293"/>
          <p:cNvSpPr txBox="1"/>
          <p:nvPr/>
        </p:nvSpPr>
        <p:spPr>
          <a:xfrm>
            <a:off x="4755666" y="4980000"/>
            <a:ext cx="256333" cy="115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550" b="0" i="0">
                <a:solidFill>
                  <a:srgbClr val="EB002C"/>
                </a:solidFill>
                <a:latin typeface="Noto Sans KR"/>
                <a:ea typeface="Noto Sans KR"/>
                <a:cs typeface="Noto Sans KR"/>
              </a:rPr>
              <a:t>일</a:t>
            </a:r>
          </a:p>
        </p:txBody>
      </p:sp>
      <p:sp>
        <p:nvSpPr>
          <p:cNvPr id="295" name="TextBox 294"/>
          <p:cNvSpPr txBox="1"/>
          <p:nvPr/>
        </p:nvSpPr>
        <p:spPr>
          <a:xfrm>
            <a:off x="5012000" y="4840000"/>
            <a:ext cx="256333" cy="1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16</a:t>
            </a:r>
          </a:p>
        </p:txBody>
      </p:sp>
      <p:sp>
        <p:nvSpPr>
          <p:cNvPr id="296" name="TextBox 295"/>
          <p:cNvSpPr txBox="1"/>
          <p:nvPr/>
        </p:nvSpPr>
        <p:spPr>
          <a:xfrm>
            <a:off x="5012000" y="4980000"/>
            <a:ext cx="256333" cy="115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550" b="0" i="0">
                <a:solidFill>
                  <a:srgbClr val="7F7F7F"/>
                </a:solidFill>
                <a:latin typeface="Noto Sans KR"/>
                <a:ea typeface="Noto Sans KR"/>
                <a:cs typeface="Noto Sans KR"/>
              </a:rPr>
              <a:t>월</a:t>
            </a:r>
          </a:p>
        </p:txBody>
      </p:sp>
      <p:sp>
        <p:nvSpPr>
          <p:cNvPr id="297" name="TextBox 296"/>
          <p:cNvSpPr txBox="1"/>
          <p:nvPr/>
        </p:nvSpPr>
        <p:spPr>
          <a:xfrm>
            <a:off x="5268333" y="4840000"/>
            <a:ext cx="256333" cy="1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17</a:t>
            </a:r>
          </a:p>
        </p:txBody>
      </p:sp>
      <p:sp>
        <p:nvSpPr>
          <p:cNvPr id="298" name="TextBox 297"/>
          <p:cNvSpPr txBox="1"/>
          <p:nvPr/>
        </p:nvSpPr>
        <p:spPr>
          <a:xfrm>
            <a:off x="5268333" y="4980000"/>
            <a:ext cx="256333" cy="115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550" b="0" i="0">
                <a:solidFill>
                  <a:srgbClr val="7F7F7F"/>
                </a:solidFill>
                <a:latin typeface="Noto Sans KR"/>
                <a:ea typeface="Noto Sans KR"/>
                <a:cs typeface="Noto Sans KR"/>
              </a:rPr>
              <a:t>화</a:t>
            </a:r>
          </a:p>
        </p:txBody>
      </p:sp>
      <p:sp>
        <p:nvSpPr>
          <p:cNvPr id="299" name="TextBox 298"/>
          <p:cNvSpPr txBox="1"/>
          <p:nvPr/>
        </p:nvSpPr>
        <p:spPr>
          <a:xfrm>
            <a:off x="5524666" y="4840000"/>
            <a:ext cx="256333" cy="1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18</a:t>
            </a:r>
          </a:p>
        </p:txBody>
      </p:sp>
      <p:sp>
        <p:nvSpPr>
          <p:cNvPr id="300" name="TextBox 299"/>
          <p:cNvSpPr txBox="1"/>
          <p:nvPr/>
        </p:nvSpPr>
        <p:spPr>
          <a:xfrm>
            <a:off x="5524666" y="4980000"/>
            <a:ext cx="256333" cy="115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550" b="0" i="0">
                <a:solidFill>
                  <a:srgbClr val="7F7F7F"/>
                </a:solidFill>
                <a:latin typeface="Noto Sans KR"/>
                <a:ea typeface="Noto Sans KR"/>
                <a:cs typeface="Noto Sans KR"/>
              </a:rPr>
              <a:t>수</a:t>
            </a:r>
          </a:p>
        </p:txBody>
      </p:sp>
      <p:sp>
        <p:nvSpPr>
          <p:cNvPr id="301" name="TextBox 300"/>
          <p:cNvSpPr txBox="1"/>
          <p:nvPr/>
        </p:nvSpPr>
        <p:spPr>
          <a:xfrm>
            <a:off x="5781000" y="4840000"/>
            <a:ext cx="256333" cy="1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19</a:t>
            </a:r>
          </a:p>
        </p:txBody>
      </p:sp>
      <p:sp>
        <p:nvSpPr>
          <p:cNvPr id="302" name="TextBox 301"/>
          <p:cNvSpPr txBox="1"/>
          <p:nvPr/>
        </p:nvSpPr>
        <p:spPr>
          <a:xfrm>
            <a:off x="5781000" y="4980000"/>
            <a:ext cx="256333" cy="115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550" b="0" i="0">
                <a:solidFill>
                  <a:srgbClr val="7F7F7F"/>
                </a:solidFill>
                <a:latin typeface="Noto Sans KR"/>
                <a:ea typeface="Noto Sans KR"/>
                <a:cs typeface="Noto Sans KR"/>
              </a:rPr>
              <a:t>목</a:t>
            </a:r>
          </a:p>
        </p:txBody>
      </p:sp>
      <p:sp>
        <p:nvSpPr>
          <p:cNvPr id="303" name="TextBox 302"/>
          <p:cNvSpPr txBox="1"/>
          <p:nvPr/>
        </p:nvSpPr>
        <p:spPr>
          <a:xfrm>
            <a:off x="6037333" y="4840000"/>
            <a:ext cx="256333" cy="1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20</a:t>
            </a:r>
          </a:p>
        </p:txBody>
      </p:sp>
      <p:sp>
        <p:nvSpPr>
          <p:cNvPr id="304" name="TextBox 303"/>
          <p:cNvSpPr txBox="1"/>
          <p:nvPr/>
        </p:nvSpPr>
        <p:spPr>
          <a:xfrm>
            <a:off x="6037333" y="4980000"/>
            <a:ext cx="256333" cy="115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550" b="0" i="0">
                <a:solidFill>
                  <a:srgbClr val="7F7F7F"/>
                </a:solidFill>
                <a:latin typeface="Noto Sans KR"/>
                <a:ea typeface="Noto Sans KR"/>
                <a:cs typeface="Noto Sans KR"/>
              </a:rPr>
              <a:t>금</a:t>
            </a:r>
          </a:p>
        </p:txBody>
      </p:sp>
      <p:sp>
        <p:nvSpPr>
          <p:cNvPr id="305" name="Rectangle 304"/>
          <p:cNvSpPr/>
          <p:nvPr/>
        </p:nvSpPr>
        <p:spPr>
          <a:xfrm>
            <a:off x="6293666" y="4840000"/>
            <a:ext cx="256333" cy="845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 lIns="30000" rIns="30000" tIns="0" bIns="0" wrap="square"/>
          <a:lstStyle/>
          <a:p>
            <a:pPr algn="ctr"/>
          </a:p>
        </p:txBody>
      </p:sp>
      <p:sp>
        <p:nvSpPr>
          <p:cNvPr id="306" name="TextBox 305"/>
          <p:cNvSpPr txBox="1"/>
          <p:nvPr/>
        </p:nvSpPr>
        <p:spPr>
          <a:xfrm>
            <a:off x="6293666" y="4840000"/>
            <a:ext cx="256333" cy="1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21</a:t>
            </a:r>
          </a:p>
        </p:txBody>
      </p:sp>
      <p:sp>
        <p:nvSpPr>
          <p:cNvPr id="307" name="TextBox 306"/>
          <p:cNvSpPr txBox="1"/>
          <p:nvPr/>
        </p:nvSpPr>
        <p:spPr>
          <a:xfrm>
            <a:off x="6293666" y="4980000"/>
            <a:ext cx="256333" cy="115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550" b="0" i="0">
                <a:solidFill>
                  <a:srgbClr val="7F7F7F"/>
                </a:solidFill>
                <a:latin typeface="Noto Sans KR"/>
                <a:ea typeface="Noto Sans KR"/>
                <a:cs typeface="Noto Sans KR"/>
              </a:rPr>
              <a:t>토</a:t>
            </a:r>
          </a:p>
        </p:txBody>
      </p:sp>
      <p:sp>
        <p:nvSpPr>
          <p:cNvPr id="308" name="Rectangle 307"/>
          <p:cNvSpPr/>
          <p:nvPr/>
        </p:nvSpPr>
        <p:spPr>
          <a:xfrm>
            <a:off x="6550000" y="4840000"/>
            <a:ext cx="256333" cy="845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 lIns="30000" rIns="30000" tIns="0" bIns="0" wrap="square"/>
          <a:lstStyle/>
          <a:p>
            <a:pPr algn="ctr"/>
          </a:p>
        </p:txBody>
      </p:sp>
      <p:sp>
        <p:nvSpPr>
          <p:cNvPr id="309" name="TextBox 308"/>
          <p:cNvSpPr txBox="1"/>
          <p:nvPr/>
        </p:nvSpPr>
        <p:spPr>
          <a:xfrm>
            <a:off x="6550000" y="4840000"/>
            <a:ext cx="256333" cy="1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1" i="0">
                <a:solidFill>
                  <a:srgbClr val="EB002C"/>
                </a:solidFill>
                <a:latin typeface="Noto Sans KR"/>
                <a:ea typeface="Noto Sans KR"/>
                <a:cs typeface="Noto Sans KR"/>
              </a:rPr>
              <a:t>22</a:t>
            </a:r>
          </a:p>
        </p:txBody>
      </p:sp>
      <p:sp>
        <p:nvSpPr>
          <p:cNvPr id="310" name="TextBox 309"/>
          <p:cNvSpPr txBox="1"/>
          <p:nvPr/>
        </p:nvSpPr>
        <p:spPr>
          <a:xfrm>
            <a:off x="6550000" y="4980000"/>
            <a:ext cx="256333" cy="115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550" b="0" i="0">
                <a:solidFill>
                  <a:srgbClr val="EB002C"/>
                </a:solidFill>
                <a:latin typeface="Noto Sans KR"/>
                <a:ea typeface="Noto Sans KR"/>
                <a:cs typeface="Noto Sans KR"/>
              </a:rPr>
              <a:t>일</a:t>
            </a:r>
          </a:p>
        </p:txBody>
      </p:sp>
      <p:sp>
        <p:nvSpPr>
          <p:cNvPr id="311" name="TextBox 310"/>
          <p:cNvSpPr txBox="1"/>
          <p:nvPr/>
        </p:nvSpPr>
        <p:spPr>
          <a:xfrm>
            <a:off x="6806333" y="4840000"/>
            <a:ext cx="256333" cy="1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23</a:t>
            </a:r>
          </a:p>
        </p:txBody>
      </p:sp>
      <p:sp>
        <p:nvSpPr>
          <p:cNvPr id="312" name="TextBox 311"/>
          <p:cNvSpPr txBox="1"/>
          <p:nvPr/>
        </p:nvSpPr>
        <p:spPr>
          <a:xfrm>
            <a:off x="6806333" y="4980000"/>
            <a:ext cx="256333" cy="115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550" b="0" i="0">
                <a:solidFill>
                  <a:srgbClr val="7F7F7F"/>
                </a:solidFill>
                <a:latin typeface="Noto Sans KR"/>
                <a:ea typeface="Noto Sans KR"/>
                <a:cs typeface="Noto Sans KR"/>
              </a:rPr>
              <a:t>월</a:t>
            </a:r>
          </a:p>
        </p:txBody>
      </p:sp>
      <p:sp>
        <p:nvSpPr>
          <p:cNvPr id="313" name="TextBox 312"/>
          <p:cNvSpPr txBox="1"/>
          <p:nvPr/>
        </p:nvSpPr>
        <p:spPr>
          <a:xfrm>
            <a:off x="7062666" y="4840000"/>
            <a:ext cx="256333" cy="1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24</a:t>
            </a:r>
          </a:p>
        </p:txBody>
      </p:sp>
      <p:sp>
        <p:nvSpPr>
          <p:cNvPr id="314" name="TextBox 313"/>
          <p:cNvSpPr txBox="1"/>
          <p:nvPr/>
        </p:nvSpPr>
        <p:spPr>
          <a:xfrm>
            <a:off x="7062666" y="4980000"/>
            <a:ext cx="256333" cy="115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550" b="0" i="0">
                <a:solidFill>
                  <a:srgbClr val="7F7F7F"/>
                </a:solidFill>
                <a:latin typeface="Noto Sans KR"/>
                <a:ea typeface="Noto Sans KR"/>
                <a:cs typeface="Noto Sans KR"/>
              </a:rPr>
              <a:t>화</a:t>
            </a:r>
          </a:p>
        </p:txBody>
      </p:sp>
      <p:sp>
        <p:nvSpPr>
          <p:cNvPr id="315" name="TextBox 314"/>
          <p:cNvSpPr txBox="1"/>
          <p:nvPr/>
        </p:nvSpPr>
        <p:spPr>
          <a:xfrm>
            <a:off x="7319000" y="4840000"/>
            <a:ext cx="256333" cy="1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25</a:t>
            </a:r>
          </a:p>
        </p:txBody>
      </p:sp>
      <p:sp>
        <p:nvSpPr>
          <p:cNvPr id="316" name="TextBox 315"/>
          <p:cNvSpPr txBox="1"/>
          <p:nvPr/>
        </p:nvSpPr>
        <p:spPr>
          <a:xfrm>
            <a:off x="7319000" y="4980000"/>
            <a:ext cx="256333" cy="115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550" b="0" i="0">
                <a:solidFill>
                  <a:srgbClr val="7F7F7F"/>
                </a:solidFill>
                <a:latin typeface="Noto Sans KR"/>
                <a:ea typeface="Noto Sans KR"/>
                <a:cs typeface="Noto Sans KR"/>
              </a:rPr>
              <a:t>수</a:t>
            </a:r>
          </a:p>
        </p:txBody>
      </p:sp>
      <p:sp>
        <p:nvSpPr>
          <p:cNvPr id="317" name="TextBox 316"/>
          <p:cNvSpPr txBox="1"/>
          <p:nvPr/>
        </p:nvSpPr>
        <p:spPr>
          <a:xfrm>
            <a:off x="7575333" y="4840000"/>
            <a:ext cx="256333" cy="1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26</a:t>
            </a:r>
          </a:p>
        </p:txBody>
      </p:sp>
      <p:sp>
        <p:nvSpPr>
          <p:cNvPr id="318" name="TextBox 317"/>
          <p:cNvSpPr txBox="1"/>
          <p:nvPr/>
        </p:nvSpPr>
        <p:spPr>
          <a:xfrm>
            <a:off x="7575333" y="4980000"/>
            <a:ext cx="256333" cy="115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550" b="0" i="0">
                <a:solidFill>
                  <a:srgbClr val="7F7F7F"/>
                </a:solidFill>
                <a:latin typeface="Noto Sans KR"/>
                <a:ea typeface="Noto Sans KR"/>
                <a:cs typeface="Noto Sans KR"/>
              </a:rPr>
              <a:t>목</a:t>
            </a:r>
          </a:p>
        </p:txBody>
      </p:sp>
      <p:sp>
        <p:nvSpPr>
          <p:cNvPr id="319" name="TextBox 318"/>
          <p:cNvSpPr txBox="1"/>
          <p:nvPr/>
        </p:nvSpPr>
        <p:spPr>
          <a:xfrm>
            <a:off x="7831666" y="4840000"/>
            <a:ext cx="256333" cy="1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27</a:t>
            </a:r>
          </a:p>
        </p:txBody>
      </p:sp>
      <p:sp>
        <p:nvSpPr>
          <p:cNvPr id="320" name="TextBox 319"/>
          <p:cNvSpPr txBox="1"/>
          <p:nvPr/>
        </p:nvSpPr>
        <p:spPr>
          <a:xfrm>
            <a:off x="7831666" y="4980000"/>
            <a:ext cx="256333" cy="115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550" b="0" i="0">
                <a:solidFill>
                  <a:srgbClr val="7F7F7F"/>
                </a:solidFill>
                <a:latin typeface="Noto Sans KR"/>
                <a:ea typeface="Noto Sans KR"/>
                <a:cs typeface="Noto Sans KR"/>
              </a:rPr>
              <a:t>금</a:t>
            </a:r>
          </a:p>
        </p:txBody>
      </p:sp>
      <p:sp>
        <p:nvSpPr>
          <p:cNvPr id="321" name="Rectangle 320"/>
          <p:cNvSpPr/>
          <p:nvPr/>
        </p:nvSpPr>
        <p:spPr>
          <a:xfrm>
            <a:off x="8088000" y="4840000"/>
            <a:ext cx="256333" cy="845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 lIns="30000" rIns="30000" tIns="0" bIns="0" wrap="square"/>
          <a:lstStyle/>
          <a:p>
            <a:pPr algn="ctr"/>
          </a:p>
        </p:txBody>
      </p:sp>
      <p:sp>
        <p:nvSpPr>
          <p:cNvPr id="322" name="TextBox 321"/>
          <p:cNvSpPr txBox="1"/>
          <p:nvPr/>
        </p:nvSpPr>
        <p:spPr>
          <a:xfrm>
            <a:off x="8088000" y="4840000"/>
            <a:ext cx="256333" cy="1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28</a:t>
            </a:r>
          </a:p>
        </p:txBody>
      </p:sp>
      <p:sp>
        <p:nvSpPr>
          <p:cNvPr id="323" name="TextBox 322"/>
          <p:cNvSpPr txBox="1"/>
          <p:nvPr/>
        </p:nvSpPr>
        <p:spPr>
          <a:xfrm>
            <a:off x="8088000" y="4980000"/>
            <a:ext cx="256333" cy="115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550" b="0" i="0">
                <a:solidFill>
                  <a:srgbClr val="7F7F7F"/>
                </a:solidFill>
                <a:latin typeface="Noto Sans KR"/>
                <a:ea typeface="Noto Sans KR"/>
                <a:cs typeface="Noto Sans KR"/>
              </a:rPr>
              <a:t>토</a:t>
            </a:r>
          </a:p>
        </p:txBody>
      </p:sp>
      <p:sp>
        <p:nvSpPr>
          <p:cNvPr id="324" name="Rectangle 323"/>
          <p:cNvSpPr/>
          <p:nvPr/>
        </p:nvSpPr>
        <p:spPr>
          <a:xfrm>
            <a:off x="8344333" y="4840000"/>
            <a:ext cx="256333" cy="845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 lIns="30000" rIns="30000" tIns="0" bIns="0" wrap="square"/>
          <a:lstStyle/>
          <a:p>
            <a:pPr algn="ctr"/>
          </a:p>
        </p:txBody>
      </p:sp>
      <p:sp>
        <p:nvSpPr>
          <p:cNvPr id="325" name="TextBox 324"/>
          <p:cNvSpPr txBox="1"/>
          <p:nvPr/>
        </p:nvSpPr>
        <p:spPr>
          <a:xfrm>
            <a:off x="8344333" y="4840000"/>
            <a:ext cx="256333" cy="1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1" i="0">
                <a:solidFill>
                  <a:srgbClr val="EB002C"/>
                </a:solidFill>
                <a:latin typeface="Noto Sans KR"/>
                <a:ea typeface="Noto Sans KR"/>
                <a:cs typeface="Noto Sans KR"/>
              </a:rPr>
              <a:t>29</a:t>
            </a:r>
          </a:p>
        </p:txBody>
      </p:sp>
      <p:sp>
        <p:nvSpPr>
          <p:cNvPr id="326" name="TextBox 325"/>
          <p:cNvSpPr txBox="1"/>
          <p:nvPr/>
        </p:nvSpPr>
        <p:spPr>
          <a:xfrm>
            <a:off x="8344333" y="4980000"/>
            <a:ext cx="256333" cy="115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550" b="0" i="0">
                <a:solidFill>
                  <a:srgbClr val="EB002C"/>
                </a:solidFill>
                <a:latin typeface="Noto Sans KR"/>
                <a:ea typeface="Noto Sans KR"/>
                <a:cs typeface="Noto Sans KR"/>
              </a:rPr>
              <a:t>일</a:t>
            </a:r>
          </a:p>
        </p:txBody>
      </p:sp>
      <p:sp>
        <p:nvSpPr>
          <p:cNvPr id="327" name="TextBox 326"/>
          <p:cNvSpPr txBox="1"/>
          <p:nvPr/>
        </p:nvSpPr>
        <p:spPr>
          <a:xfrm>
            <a:off x="8600666" y="4840000"/>
            <a:ext cx="256333" cy="1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30</a:t>
            </a:r>
          </a:p>
        </p:txBody>
      </p:sp>
      <p:sp>
        <p:nvSpPr>
          <p:cNvPr id="328" name="TextBox 327"/>
          <p:cNvSpPr txBox="1"/>
          <p:nvPr/>
        </p:nvSpPr>
        <p:spPr>
          <a:xfrm>
            <a:off x="8600666" y="4980000"/>
            <a:ext cx="256333" cy="115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550" b="0" i="0">
                <a:solidFill>
                  <a:srgbClr val="7F7F7F"/>
                </a:solidFill>
                <a:latin typeface="Noto Sans KR"/>
                <a:ea typeface="Noto Sans KR"/>
                <a:cs typeface="Noto Sans KR"/>
              </a:rPr>
              <a:t>월</a:t>
            </a:r>
          </a:p>
        </p:txBody>
      </p:sp>
      <p:cxnSp>
        <p:nvCxnSpPr>
          <p:cNvPr id="329" name="Connector 328"/>
          <p:cNvCxnSpPr/>
          <p:nvPr/>
        </p:nvCxnSpPr>
        <p:spPr>
          <a:xfrm>
            <a:off x="1167000" y="5095000"/>
            <a:ext cx="0" cy="590000"/>
          </a:xfrm>
          <a:prstGeom prst="line">
            <a:avLst/>
          </a:prstGeom>
          <a:ln w="5080">
            <a:solidFill>
              <a:srgbClr val="D9D9D9"/>
            </a:solidFill>
          </a:ln>
        </p:spPr>
      </p:cxnSp>
      <p:cxnSp>
        <p:nvCxnSpPr>
          <p:cNvPr id="330" name="Connector 329"/>
          <p:cNvCxnSpPr/>
          <p:nvPr/>
        </p:nvCxnSpPr>
        <p:spPr>
          <a:xfrm>
            <a:off x="1423333" y="5095000"/>
            <a:ext cx="0" cy="590000"/>
          </a:xfrm>
          <a:prstGeom prst="line">
            <a:avLst/>
          </a:prstGeom>
          <a:ln w="5080">
            <a:solidFill>
              <a:srgbClr val="D9D9D9"/>
            </a:solidFill>
          </a:ln>
        </p:spPr>
      </p:cxnSp>
      <p:cxnSp>
        <p:nvCxnSpPr>
          <p:cNvPr id="331" name="Connector 330"/>
          <p:cNvCxnSpPr/>
          <p:nvPr/>
        </p:nvCxnSpPr>
        <p:spPr>
          <a:xfrm>
            <a:off x="1679666" y="5095000"/>
            <a:ext cx="0" cy="590000"/>
          </a:xfrm>
          <a:prstGeom prst="line">
            <a:avLst/>
          </a:prstGeom>
          <a:ln w="5080">
            <a:solidFill>
              <a:srgbClr val="D9D9D9"/>
            </a:solidFill>
          </a:ln>
        </p:spPr>
      </p:cxnSp>
      <p:cxnSp>
        <p:nvCxnSpPr>
          <p:cNvPr id="332" name="Connector 331"/>
          <p:cNvCxnSpPr/>
          <p:nvPr/>
        </p:nvCxnSpPr>
        <p:spPr>
          <a:xfrm>
            <a:off x="1936000" y="5095000"/>
            <a:ext cx="0" cy="590000"/>
          </a:xfrm>
          <a:prstGeom prst="line">
            <a:avLst/>
          </a:prstGeom>
          <a:ln w="5080">
            <a:solidFill>
              <a:srgbClr val="D9D9D9"/>
            </a:solidFill>
          </a:ln>
        </p:spPr>
      </p:cxnSp>
      <p:cxnSp>
        <p:nvCxnSpPr>
          <p:cNvPr id="333" name="Connector 332"/>
          <p:cNvCxnSpPr/>
          <p:nvPr/>
        </p:nvCxnSpPr>
        <p:spPr>
          <a:xfrm>
            <a:off x="2192333" y="5095000"/>
            <a:ext cx="0" cy="590000"/>
          </a:xfrm>
          <a:prstGeom prst="line">
            <a:avLst/>
          </a:prstGeom>
          <a:ln w="5080">
            <a:solidFill>
              <a:srgbClr val="D9D9D9"/>
            </a:solidFill>
          </a:ln>
        </p:spPr>
      </p:cxnSp>
      <p:cxnSp>
        <p:nvCxnSpPr>
          <p:cNvPr id="334" name="Connector 333"/>
          <p:cNvCxnSpPr/>
          <p:nvPr/>
        </p:nvCxnSpPr>
        <p:spPr>
          <a:xfrm>
            <a:off x="2448666" y="5095000"/>
            <a:ext cx="0" cy="590000"/>
          </a:xfrm>
          <a:prstGeom prst="line">
            <a:avLst/>
          </a:prstGeom>
          <a:ln w="5080">
            <a:solidFill>
              <a:srgbClr val="D9D9D9"/>
            </a:solidFill>
          </a:ln>
        </p:spPr>
      </p:cxnSp>
      <p:cxnSp>
        <p:nvCxnSpPr>
          <p:cNvPr id="335" name="Connector 334"/>
          <p:cNvCxnSpPr/>
          <p:nvPr/>
        </p:nvCxnSpPr>
        <p:spPr>
          <a:xfrm>
            <a:off x="2705000" y="5095000"/>
            <a:ext cx="0" cy="590000"/>
          </a:xfrm>
          <a:prstGeom prst="line">
            <a:avLst/>
          </a:prstGeom>
          <a:ln w="5080">
            <a:solidFill>
              <a:srgbClr val="D9D9D9"/>
            </a:solidFill>
          </a:ln>
        </p:spPr>
      </p:cxnSp>
      <p:cxnSp>
        <p:nvCxnSpPr>
          <p:cNvPr id="336" name="Connector 335"/>
          <p:cNvCxnSpPr/>
          <p:nvPr/>
        </p:nvCxnSpPr>
        <p:spPr>
          <a:xfrm>
            <a:off x="2961333" y="5095000"/>
            <a:ext cx="0" cy="590000"/>
          </a:xfrm>
          <a:prstGeom prst="line">
            <a:avLst/>
          </a:prstGeom>
          <a:ln w="5080">
            <a:solidFill>
              <a:srgbClr val="D9D9D9"/>
            </a:solidFill>
          </a:ln>
        </p:spPr>
      </p:cxnSp>
      <p:cxnSp>
        <p:nvCxnSpPr>
          <p:cNvPr id="337" name="Connector 336"/>
          <p:cNvCxnSpPr/>
          <p:nvPr/>
        </p:nvCxnSpPr>
        <p:spPr>
          <a:xfrm>
            <a:off x="3217666" y="5095000"/>
            <a:ext cx="0" cy="590000"/>
          </a:xfrm>
          <a:prstGeom prst="line">
            <a:avLst/>
          </a:prstGeom>
          <a:ln w="5080">
            <a:solidFill>
              <a:srgbClr val="D9D9D9"/>
            </a:solidFill>
          </a:ln>
        </p:spPr>
      </p:cxnSp>
      <p:cxnSp>
        <p:nvCxnSpPr>
          <p:cNvPr id="338" name="Connector 337"/>
          <p:cNvCxnSpPr/>
          <p:nvPr/>
        </p:nvCxnSpPr>
        <p:spPr>
          <a:xfrm>
            <a:off x="3474000" y="5095000"/>
            <a:ext cx="0" cy="590000"/>
          </a:xfrm>
          <a:prstGeom prst="line">
            <a:avLst/>
          </a:prstGeom>
          <a:ln w="5080">
            <a:solidFill>
              <a:srgbClr val="D9D9D9"/>
            </a:solidFill>
          </a:ln>
        </p:spPr>
      </p:cxnSp>
      <p:cxnSp>
        <p:nvCxnSpPr>
          <p:cNvPr id="339" name="Connector 338"/>
          <p:cNvCxnSpPr/>
          <p:nvPr/>
        </p:nvCxnSpPr>
        <p:spPr>
          <a:xfrm>
            <a:off x="3730333" y="5095000"/>
            <a:ext cx="0" cy="590000"/>
          </a:xfrm>
          <a:prstGeom prst="line">
            <a:avLst/>
          </a:prstGeom>
          <a:ln w="5080">
            <a:solidFill>
              <a:srgbClr val="D9D9D9"/>
            </a:solidFill>
          </a:ln>
        </p:spPr>
      </p:cxnSp>
      <p:cxnSp>
        <p:nvCxnSpPr>
          <p:cNvPr id="340" name="Connector 339"/>
          <p:cNvCxnSpPr/>
          <p:nvPr/>
        </p:nvCxnSpPr>
        <p:spPr>
          <a:xfrm>
            <a:off x="3986666" y="5095000"/>
            <a:ext cx="0" cy="590000"/>
          </a:xfrm>
          <a:prstGeom prst="line">
            <a:avLst/>
          </a:prstGeom>
          <a:ln w="5080">
            <a:solidFill>
              <a:srgbClr val="D9D9D9"/>
            </a:solidFill>
          </a:ln>
        </p:spPr>
      </p:cxnSp>
      <p:cxnSp>
        <p:nvCxnSpPr>
          <p:cNvPr id="341" name="Connector 340"/>
          <p:cNvCxnSpPr/>
          <p:nvPr/>
        </p:nvCxnSpPr>
        <p:spPr>
          <a:xfrm>
            <a:off x="4243000" y="5095000"/>
            <a:ext cx="0" cy="590000"/>
          </a:xfrm>
          <a:prstGeom prst="line">
            <a:avLst/>
          </a:prstGeom>
          <a:ln w="5080">
            <a:solidFill>
              <a:srgbClr val="D9D9D9"/>
            </a:solidFill>
          </a:ln>
        </p:spPr>
      </p:cxnSp>
      <p:cxnSp>
        <p:nvCxnSpPr>
          <p:cNvPr id="342" name="Connector 341"/>
          <p:cNvCxnSpPr/>
          <p:nvPr/>
        </p:nvCxnSpPr>
        <p:spPr>
          <a:xfrm>
            <a:off x="4499333" y="5095000"/>
            <a:ext cx="0" cy="590000"/>
          </a:xfrm>
          <a:prstGeom prst="line">
            <a:avLst/>
          </a:prstGeom>
          <a:ln w="5080">
            <a:solidFill>
              <a:srgbClr val="D9D9D9"/>
            </a:solidFill>
          </a:ln>
        </p:spPr>
      </p:cxnSp>
      <p:cxnSp>
        <p:nvCxnSpPr>
          <p:cNvPr id="343" name="Connector 342"/>
          <p:cNvCxnSpPr/>
          <p:nvPr/>
        </p:nvCxnSpPr>
        <p:spPr>
          <a:xfrm>
            <a:off x="4755666" y="5095000"/>
            <a:ext cx="0" cy="590000"/>
          </a:xfrm>
          <a:prstGeom prst="line">
            <a:avLst/>
          </a:prstGeom>
          <a:ln w="5080">
            <a:solidFill>
              <a:srgbClr val="D9D9D9"/>
            </a:solidFill>
          </a:ln>
        </p:spPr>
      </p:cxnSp>
      <p:cxnSp>
        <p:nvCxnSpPr>
          <p:cNvPr id="344" name="Connector 343"/>
          <p:cNvCxnSpPr/>
          <p:nvPr/>
        </p:nvCxnSpPr>
        <p:spPr>
          <a:xfrm>
            <a:off x="5012000" y="5095000"/>
            <a:ext cx="0" cy="590000"/>
          </a:xfrm>
          <a:prstGeom prst="line">
            <a:avLst/>
          </a:prstGeom>
          <a:ln w="5080">
            <a:solidFill>
              <a:srgbClr val="D9D9D9"/>
            </a:solidFill>
          </a:ln>
        </p:spPr>
      </p:cxnSp>
      <p:cxnSp>
        <p:nvCxnSpPr>
          <p:cNvPr id="345" name="Connector 344"/>
          <p:cNvCxnSpPr/>
          <p:nvPr/>
        </p:nvCxnSpPr>
        <p:spPr>
          <a:xfrm>
            <a:off x="5268333" y="5095000"/>
            <a:ext cx="0" cy="590000"/>
          </a:xfrm>
          <a:prstGeom prst="line">
            <a:avLst/>
          </a:prstGeom>
          <a:ln w="5080">
            <a:solidFill>
              <a:srgbClr val="D9D9D9"/>
            </a:solidFill>
          </a:ln>
        </p:spPr>
      </p:cxnSp>
      <p:cxnSp>
        <p:nvCxnSpPr>
          <p:cNvPr id="346" name="Connector 345"/>
          <p:cNvCxnSpPr/>
          <p:nvPr/>
        </p:nvCxnSpPr>
        <p:spPr>
          <a:xfrm>
            <a:off x="5524666" y="5095000"/>
            <a:ext cx="0" cy="590000"/>
          </a:xfrm>
          <a:prstGeom prst="line">
            <a:avLst/>
          </a:prstGeom>
          <a:ln w="5080">
            <a:solidFill>
              <a:srgbClr val="D9D9D9"/>
            </a:solidFill>
          </a:ln>
        </p:spPr>
      </p:cxnSp>
      <p:cxnSp>
        <p:nvCxnSpPr>
          <p:cNvPr id="347" name="Connector 346"/>
          <p:cNvCxnSpPr/>
          <p:nvPr/>
        </p:nvCxnSpPr>
        <p:spPr>
          <a:xfrm>
            <a:off x="5781000" y="5095000"/>
            <a:ext cx="0" cy="590000"/>
          </a:xfrm>
          <a:prstGeom prst="line">
            <a:avLst/>
          </a:prstGeom>
          <a:ln w="5080">
            <a:solidFill>
              <a:srgbClr val="D9D9D9"/>
            </a:solidFill>
          </a:ln>
        </p:spPr>
      </p:cxnSp>
      <p:cxnSp>
        <p:nvCxnSpPr>
          <p:cNvPr id="348" name="Connector 347"/>
          <p:cNvCxnSpPr/>
          <p:nvPr/>
        </p:nvCxnSpPr>
        <p:spPr>
          <a:xfrm>
            <a:off x="6037333" y="5095000"/>
            <a:ext cx="0" cy="590000"/>
          </a:xfrm>
          <a:prstGeom prst="line">
            <a:avLst/>
          </a:prstGeom>
          <a:ln w="5080">
            <a:solidFill>
              <a:srgbClr val="D9D9D9"/>
            </a:solidFill>
          </a:ln>
        </p:spPr>
      </p:cxnSp>
      <p:cxnSp>
        <p:nvCxnSpPr>
          <p:cNvPr id="349" name="Connector 348"/>
          <p:cNvCxnSpPr/>
          <p:nvPr/>
        </p:nvCxnSpPr>
        <p:spPr>
          <a:xfrm>
            <a:off x="6293666" y="5095000"/>
            <a:ext cx="0" cy="590000"/>
          </a:xfrm>
          <a:prstGeom prst="line">
            <a:avLst/>
          </a:prstGeom>
          <a:ln w="5080">
            <a:solidFill>
              <a:srgbClr val="D9D9D9"/>
            </a:solidFill>
          </a:ln>
        </p:spPr>
      </p:cxnSp>
      <p:cxnSp>
        <p:nvCxnSpPr>
          <p:cNvPr id="350" name="Connector 349"/>
          <p:cNvCxnSpPr/>
          <p:nvPr/>
        </p:nvCxnSpPr>
        <p:spPr>
          <a:xfrm>
            <a:off x="6550000" y="5095000"/>
            <a:ext cx="0" cy="590000"/>
          </a:xfrm>
          <a:prstGeom prst="line">
            <a:avLst/>
          </a:prstGeom>
          <a:ln w="5080">
            <a:solidFill>
              <a:srgbClr val="D9D9D9"/>
            </a:solidFill>
          </a:ln>
        </p:spPr>
      </p:cxnSp>
      <p:cxnSp>
        <p:nvCxnSpPr>
          <p:cNvPr id="351" name="Connector 350"/>
          <p:cNvCxnSpPr/>
          <p:nvPr/>
        </p:nvCxnSpPr>
        <p:spPr>
          <a:xfrm>
            <a:off x="6806333" y="5095000"/>
            <a:ext cx="0" cy="590000"/>
          </a:xfrm>
          <a:prstGeom prst="line">
            <a:avLst/>
          </a:prstGeom>
          <a:ln w="5080">
            <a:solidFill>
              <a:srgbClr val="D9D9D9"/>
            </a:solidFill>
          </a:ln>
        </p:spPr>
      </p:cxnSp>
      <p:cxnSp>
        <p:nvCxnSpPr>
          <p:cNvPr id="352" name="Connector 351"/>
          <p:cNvCxnSpPr/>
          <p:nvPr/>
        </p:nvCxnSpPr>
        <p:spPr>
          <a:xfrm>
            <a:off x="7062666" y="5095000"/>
            <a:ext cx="0" cy="590000"/>
          </a:xfrm>
          <a:prstGeom prst="line">
            <a:avLst/>
          </a:prstGeom>
          <a:ln w="5080">
            <a:solidFill>
              <a:srgbClr val="D9D9D9"/>
            </a:solidFill>
          </a:ln>
        </p:spPr>
      </p:cxnSp>
      <p:cxnSp>
        <p:nvCxnSpPr>
          <p:cNvPr id="353" name="Connector 352"/>
          <p:cNvCxnSpPr/>
          <p:nvPr/>
        </p:nvCxnSpPr>
        <p:spPr>
          <a:xfrm>
            <a:off x="7319000" y="5095000"/>
            <a:ext cx="0" cy="590000"/>
          </a:xfrm>
          <a:prstGeom prst="line">
            <a:avLst/>
          </a:prstGeom>
          <a:ln w="5080">
            <a:solidFill>
              <a:srgbClr val="D9D9D9"/>
            </a:solidFill>
          </a:ln>
        </p:spPr>
      </p:cxnSp>
      <p:cxnSp>
        <p:nvCxnSpPr>
          <p:cNvPr id="354" name="Connector 353"/>
          <p:cNvCxnSpPr/>
          <p:nvPr/>
        </p:nvCxnSpPr>
        <p:spPr>
          <a:xfrm>
            <a:off x="7575333" y="5095000"/>
            <a:ext cx="0" cy="590000"/>
          </a:xfrm>
          <a:prstGeom prst="line">
            <a:avLst/>
          </a:prstGeom>
          <a:ln w="5080">
            <a:solidFill>
              <a:srgbClr val="D9D9D9"/>
            </a:solidFill>
          </a:ln>
        </p:spPr>
      </p:cxnSp>
      <p:cxnSp>
        <p:nvCxnSpPr>
          <p:cNvPr id="355" name="Connector 354"/>
          <p:cNvCxnSpPr/>
          <p:nvPr/>
        </p:nvCxnSpPr>
        <p:spPr>
          <a:xfrm>
            <a:off x="7831666" y="5095000"/>
            <a:ext cx="0" cy="590000"/>
          </a:xfrm>
          <a:prstGeom prst="line">
            <a:avLst/>
          </a:prstGeom>
          <a:ln w="5080">
            <a:solidFill>
              <a:srgbClr val="D9D9D9"/>
            </a:solidFill>
          </a:ln>
        </p:spPr>
      </p:cxnSp>
      <p:cxnSp>
        <p:nvCxnSpPr>
          <p:cNvPr id="356" name="Connector 355"/>
          <p:cNvCxnSpPr/>
          <p:nvPr/>
        </p:nvCxnSpPr>
        <p:spPr>
          <a:xfrm>
            <a:off x="8088000" y="5095000"/>
            <a:ext cx="0" cy="590000"/>
          </a:xfrm>
          <a:prstGeom prst="line">
            <a:avLst/>
          </a:prstGeom>
          <a:ln w="5080">
            <a:solidFill>
              <a:srgbClr val="D9D9D9"/>
            </a:solidFill>
          </a:ln>
        </p:spPr>
      </p:cxnSp>
      <p:cxnSp>
        <p:nvCxnSpPr>
          <p:cNvPr id="357" name="Connector 356"/>
          <p:cNvCxnSpPr/>
          <p:nvPr/>
        </p:nvCxnSpPr>
        <p:spPr>
          <a:xfrm>
            <a:off x="8344333" y="5095000"/>
            <a:ext cx="0" cy="590000"/>
          </a:xfrm>
          <a:prstGeom prst="line">
            <a:avLst/>
          </a:prstGeom>
          <a:ln w="5080">
            <a:solidFill>
              <a:srgbClr val="D9D9D9"/>
            </a:solidFill>
          </a:ln>
        </p:spPr>
      </p:cxnSp>
      <p:cxnSp>
        <p:nvCxnSpPr>
          <p:cNvPr id="358" name="Connector 357"/>
          <p:cNvCxnSpPr/>
          <p:nvPr/>
        </p:nvCxnSpPr>
        <p:spPr>
          <a:xfrm>
            <a:off x="8600666" y="5095000"/>
            <a:ext cx="0" cy="590000"/>
          </a:xfrm>
          <a:prstGeom prst="line">
            <a:avLst/>
          </a:prstGeom>
          <a:ln w="5080">
            <a:solidFill>
              <a:srgbClr val="D9D9D9"/>
            </a:solidFill>
          </a:ln>
        </p:spPr>
      </p:cxnSp>
      <p:cxnSp>
        <p:nvCxnSpPr>
          <p:cNvPr id="359" name="Connector 358"/>
          <p:cNvCxnSpPr/>
          <p:nvPr/>
        </p:nvCxnSpPr>
        <p:spPr>
          <a:xfrm>
            <a:off x="8857000" y="5095000"/>
            <a:ext cx="0" cy="590000"/>
          </a:xfrm>
          <a:prstGeom prst="line">
            <a:avLst/>
          </a:prstGeom>
          <a:ln w="5080">
            <a:solidFill>
              <a:srgbClr val="D9D9D9"/>
            </a:solidFill>
          </a:ln>
        </p:spPr>
      </p:cxnSp>
      <p:cxnSp>
        <p:nvCxnSpPr>
          <p:cNvPr id="360" name="Connector 359"/>
          <p:cNvCxnSpPr/>
          <p:nvPr/>
        </p:nvCxnSpPr>
        <p:spPr>
          <a:xfrm>
            <a:off x="1167000" y="5095000"/>
            <a:ext cx="7690000" cy="0"/>
          </a:xfrm>
          <a:prstGeom prst="line">
            <a:avLst/>
          </a:prstGeom>
          <a:ln w="6350">
            <a:solidFill>
              <a:srgbClr val="BFBFBF"/>
            </a:solidFill>
          </a:ln>
        </p:spPr>
      </p:cxnSp>
      <p:cxnSp>
        <p:nvCxnSpPr>
          <p:cNvPr id="361" name="Connector 360"/>
          <p:cNvCxnSpPr/>
          <p:nvPr/>
        </p:nvCxnSpPr>
        <p:spPr>
          <a:xfrm>
            <a:off x="1167000" y="5685000"/>
            <a:ext cx="7690000" cy="0"/>
          </a:xfrm>
          <a:prstGeom prst="line">
            <a:avLst/>
          </a:prstGeom>
          <a:ln w="6350">
            <a:solidFill>
              <a:srgbClr val="BFBFBF"/>
            </a:solidFill>
          </a:ln>
        </p:spPr>
      </p:cxnSp>
      <p:sp>
        <p:nvSpPr>
          <p:cNvPr id="362" name="TextBox 361"/>
          <p:cNvSpPr txBox="1"/>
          <p:nvPr/>
        </p:nvSpPr>
        <p:spPr>
          <a:xfrm>
            <a:off x="287000" y="4840000"/>
            <a:ext cx="850000" cy="1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11월 (2026)</a:t>
            </a:r>
          </a:p>
        </p:txBody>
      </p:sp>
      <p:sp>
        <p:nvSpPr>
          <p:cNvPr id="363" name="TextBox 362"/>
          <p:cNvSpPr txBox="1"/>
          <p:nvPr/>
        </p:nvSpPr>
        <p:spPr>
          <a:xfrm>
            <a:off x="287000" y="4980000"/>
            <a:ext cx="850000" cy="115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580" b="0" i="0">
                <a:solidFill>
                  <a:srgbClr val="7F7F7F"/>
                </a:solidFill>
                <a:latin typeface="Noto Sans KR"/>
                <a:ea typeface="Noto Sans KR"/>
                <a:cs typeface="Noto Sans KR"/>
              </a:rPr>
              <a:t>24 h 연속 · 720 h</a:t>
            </a:r>
          </a:p>
        </p:txBody>
      </p:sp>
      <p:sp>
        <p:nvSpPr>
          <p:cNvPr id="364" name="TextBox 363"/>
          <p:cNvSpPr txBox="1"/>
          <p:nvPr/>
        </p:nvSpPr>
        <p:spPr>
          <a:xfrm>
            <a:off x="287000" y="5095000"/>
            <a:ext cx="850000" cy="25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정제기 (필요)</a:t>
            </a:r>
          </a:p>
        </p:txBody>
      </p:sp>
      <p:sp>
        <p:nvSpPr>
          <p:cNvPr id="365" name="TextBox 364"/>
          <p:cNvSpPr txBox="1"/>
          <p:nvPr/>
        </p:nvSpPr>
        <p:spPr>
          <a:xfrm>
            <a:off x="287000" y="5345000"/>
            <a:ext cx="850000" cy="19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FQC·충진·OQC</a:t>
            </a:r>
          </a:p>
        </p:txBody>
      </p:sp>
      <p:sp>
        <p:nvSpPr>
          <p:cNvPr id="366" name="TextBox 365"/>
          <p:cNvSpPr txBox="1"/>
          <p:nvPr/>
        </p:nvSpPr>
        <p:spPr>
          <a:xfrm>
            <a:off x="287000" y="5535000"/>
            <a:ext cx="850000" cy="15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누적 생산 kg</a:t>
            </a:r>
          </a:p>
        </p:txBody>
      </p:sp>
      <p:sp>
        <p:nvSpPr>
          <p:cNvPr id="367" name="Rectangle 366"/>
          <p:cNvSpPr/>
          <p:nvPr/>
        </p:nvSpPr>
        <p:spPr>
          <a:xfrm>
            <a:off x="1167000" y="5125000"/>
            <a:ext cx="311051" cy="190000"/>
          </a:xfrm>
          <a:prstGeom prst="rect">
            <a:avLst/>
          </a:prstGeom>
          <a:solidFill>
            <a:srgbClr val="EB002C"/>
          </a:solidFill>
          <a:ln w="6350">
            <a:solidFill>
              <a:srgbClr val="FFFFFF"/>
            </a:solidFill>
          </a:ln>
        </p:spPr>
        <p:txBody>
          <a:bodyPr rtlCol="0" anchor="ctr" lIns="30000" rIns="30000" tIns="0" bIns="0" wrap="square"/>
          <a:lstStyle/>
          <a:p>
            <a:pPr algn="ctr"/>
            <a:r>
              <a:rPr sz="6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</a:t>
            </a:r>
          </a:p>
        </p:txBody>
      </p:sp>
      <p:sp>
        <p:nvSpPr>
          <p:cNvPr id="368" name="Rectangle 367"/>
          <p:cNvSpPr/>
          <p:nvPr/>
        </p:nvSpPr>
        <p:spPr>
          <a:xfrm>
            <a:off x="1478051" y="5155000"/>
            <a:ext cx="60414" cy="130000"/>
          </a:xfrm>
          <a:prstGeom prst="rect">
            <a:avLst/>
          </a:prstGeom>
          <a:solidFill>
            <a:srgbClr val="FFF2CC"/>
          </a:solidFill>
          <a:ln w="5080">
            <a:solidFill>
              <a:srgbClr val="BF9000"/>
            </a:solidFill>
            <a:prstDash val="dash"/>
          </a:ln>
        </p:spPr>
        <p:txBody>
          <a:bodyPr rtlCol="0" anchor="ctr" lIns="30000" rIns="30000" tIns="0" bIns="0" wrap="square"/>
          <a:lstStyle/>
          <a:p>
            <a:pPr algn="ctr"/>
          </a:p>
        </p:txBody>
      </p:sp>
      <p:sp>
        <p:nvSpPr>
          <p:cNvPr id="369" name="Rectangle 368"/>
          <p:cNvSpPr/>
          <p:nvPr/>
        </p:nvSpPr>
        <p:spPr>
          <a:xfrm>
            <a:off x="1478051" y="5380000"/>
            <a:ext cx="213611" cy="120000"/>
          </a:xfrm>
          <a:prstGeom prst="rect">
            <a:avLst/>
          </a:prstGeom>
          <a:solidFill>
            <a:srgbClr val="548235"/>
          </a:solidFill>
          <a:ln>
            <a:noFill/>
          </a:ln>
        </p:spPr>
        <p:txBody>
          <a:bodyPr rtlCol="0" anchor="ctr" lIns="30000" rIns="30000" tIns="0" bIns="0" wrap="square"/>
          <a:lstStyle/>
          <a:p>
            <a:pPr algn="ctr"/>
          </a:p>
        </p:txBody>
      </p:sp>
      <p:sp>
        <p:nvSpPr>
          <p:cNvPr id="370" name="TextBox 369"/>
          <p:cNvSpPr txBox="1"/>
          <p:nvPr/>
        </p:nvSpPr>
        <p:spPr>
          <a:xfrm>
            <a:off x="1258051" y="5535000"/>
            <a:ext cx="440000" cy="15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540" b="1" i="0">
                <a:solidFill>
                  <a:srgbClr val="2E75B6"/>
                </a:solidFill>
                <a:latin typeface="Noto Sans KR"/>
                <a:ea typeface="Noto Sans KR"/>
                <a:cs typeface="Noto Sans KR"/>
              </a:rPr>
              <a:t>190</a:t>
            </a:r>
          </a:p>
        </p:txBody>
      </p:sp>
      <p:sp>
        <p:nvSpPr>
          <p:cNvPr id="371" name="Rectangle 370"/>
          <p:cNvSpPr/>
          <p:nvPr/>
        </p:nvSpPr>
        <p:spPr>
          <a:xfrm>
            <a:off x="1538466" y="5125000"/>
            <a:ext cx="311051" cy="190000"/>
          </a:xfrm>
          <a:prstGeom prst="rect">
            <a:avLst/>
          </a:prstGeom>
          <a:solidFill>
            <a:srgbClr val="EB002C"/>
          </a:solidFill>
          <a:ln w="6350">
            <a:solidFill>
              <a:srgbClr val="FFFFFF"/>
            </a:solidFill>
          </a:ln>
        </p:spPr>
        <p:txBody>
          <a:bodyPr rtlCol="0" anchor="ctr" lIns="30000" rIns="30000" tIns="0" bIns="0" wrap="square"/>
          <a:lstStyle/>
          <a:p>
            <a:pPr algn="ctr"/>
            <a:r>
              <a:rPr sz="6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2</a:t>
            </a:r>
          </a:p>
        </p:txBody>
      </p:sp>
      <p:sp>
        <p:nvSpPr>
          <p:cNvPr id="372" name="Rectangle 371"/>
          <p:cNvSpPr/>
          <p:nvPr/>
        </p:nvSpPr>
        <p:spPr>
          <a:xfrm>
            <a:off x="1849517" y="5155000"/>
            <a:ext cx="60414" cy="130000"/>
          </a:xfrm>
          <a:prstGeom prst="rect">
            <a:avLst/>
          </a:prstGeom>
          <a:solidFill>
            <a:srgbClr val="FFF2CC"/>
          </a:solidFill>
          <a:ln w="5080">
            <a:solidFill>
              <a:srgbClr val="BF9000"/>
            </a:solidFill>
            <a:prstDash val="dash"/>
          </a:ln>
        </p:spPr>
        <p:txBody>
          <a:bodyPr rtlCol="0" anchor="ctr" lIns="30000" rIns="30000" tIns="0" bIns="0" wrap="square"/>
          <a:lstStyle/>
          <a:p>
            <a:pPr algn="ctr"/>
          </a:p>
        </p:txBody>
      </p:sp>
      <p:sp>
        <p:nvSpPr>
          <p:cNvPr id="373" name="Rectangle 372"/>
          <p:cNvSpPr/>
          <p:nvPr/>
        </p:nvSpPr>
        <p:spPr>
          <a:xfrm>
            <a:off x="1849517" y="5380000"/>
            <a:ext cx="213611" cy="120000"/>
          </a:xfrm>
          <a:prstGeom prst="rect">
            <a:avLst/>
          </a:prstGeom>
          <a:solidFill>
            <a:srgbClr val="548235"/>
          </a:solidFill>
          <a:ln>
            <a:noFill/>
          </a:ln>
        </p:spPr>
        <p:txBody>
          <a:bodyPr rtlCol="0" anchor="ctr" lIns="30000" rIns="30000" tIns="0" bIns="0" wrap="square"/>
          <a:lstStyle/>
          <a:p>
            <a:pPr algn="ctr"/>
          </a:p>
        </p:txBody>
      </p:sp>
      <p:sp>
        <p:nvSpPr>
          <p:cNvPr id="374" name="TextBox 373"/>
          <p:cNvSpPr txBox="1"/>
          <p:nvPr/>
        </p:nvSpPr>
        <p:spPr>
          <a:xfrm>
            <a:off x="1629517" y="5535000"/>
            <a:ext cx="440000" cy="15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540" b="1" i="0">
                <a:solidFill>
                  <a:srgbClr val="2E75B6"/>
                </a:solidFill>
                <a:latin typeface="Noto Sans KR"/>
                <a:ea typeface="Noto Sans KR"/>
                <a:cs typeface="Noto Sans KR"/>
              </a:rPr>
              <a:t>380</a:t>
            </a:r>
          </a:p>
        </p:txBody>
      </p:sp>
      <p:sp>
        <p:nvSpPr>
          <p:cNvPr id="375" name="Rectangle 374"/>
          <p:cNvSpPr/>
          <p:nvPr/>
        </p:nvSpPr>
        <p:spPr>
          <a:xfrm>
            <a:off x="1909932" y="5125000"/>
            <a:ext cx="311051" cy="190000"/>
          </a:xfrm>
          <a:prstGeom prst="rect">
            <a:avLst/>
          </a:prstGeom>
          <a:solidFill>
            <a:srgbClr val="EB002C"/>
          </a:solidFill>
          <a:ln w="6350">
            <a:solidFill>
              <a:srgbClr val="FFFFFF"/>
            </a:solidFill>
          </a:ln>
        </p:spPr>
        <p:txBody>
          <a:bodyPr rtlCol="0" anchor="ctr" lIns="30000" rIns="30000" tIns="0" bIns="0" wrap="square"/>
          <a:lstStyle/>
          <a:p>
            <a:pPr algn="ctr"/>
            <a:r>
              <a:rPr sz="6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3</a:t>
            </a:r>
          </a:p>
        </p:txBody>
      </p:sp>
      <p:sp>
        <p:nvSpPr>
          <p:cNvPr id="376" name="Rectangle 375"/>
          <p:cNvSpPr/>
          <p:nvPr/>
        </p:nvSpPr>
        <p:spPr>
          <a:xfrm>
            <a:off x="2220983" y="5155000"/>
            <a:ext cx="60414" cy="130000"/>
          </a:xfrm>
          <a:prstGeom prst="rect">
            <a:avLst/>
          </a:prstGeom>
          <a:solidFill>
            <a:srgbClr val="FFF2CC"/>
          </a:solidFill>
          <a:ln w="5080">
            <a:solidFill>
              <a:srgbClr val="BF9000"/>
            </a:solidFill>
            <a:prstDash val="dash"/>
          </a:ln>
        </p:spPr>
        <p:txBody>
          <a:bodyPr rtlCol="0" anchor="ctr" lIns="30000" rIns="30000" tIns="0" bIns="0" wrap="square"/>
          <a:lstStyle/>
          <a:p>
            <a:pPr algn="ctr"/>
          </a:p>
        </p:txBody>
      </p:sp>
      <p:sp>
        <p:nvSpPr>
          <p:cNvPr id="377" name="Rectangle 376"/>
          <p:cNvSpPr/>
          <p:nvPr/>
        </p:nvSpPr>
        <p:spPr>
          <a:xfrm>
            <a:off x="2220983" y="5380000"/>
            <a:ext cx="213611" cy="120000"/>
          </a:xfrm>
          <a:prstGeom prst="rect">
            <a:avLst/>
          </a:prstGeom>
          <a:solidFill>
            <a:srgbClr val="548235"/>
          </a:solidFill>
          <a:ln>
            <a:noFill/>
          </a:ln>
        </p:spPr>
        <p:txBody>
          <a:bodyPr rtlCol="0" anchor="ctr" lIns="30000" rIns="30000" tIns="0" bIns="0" wrap="square"/>
          <a:lstStyle/>
          <a:p>
            <a:pPr algn="ctr"/>
          </a:p>
        </p:txBody>
      </p:sp>
      <p:sp>
        <p:nvSpPr>
          <p:cNvPr id="378" name="TextBox 377"/>
          <p:cNvSpPr txBox="1"/>
          <p:nvPr/>
        </p:nvSpPr>
        <p:spPr>
          <a:xfrm>
            <a:off x="2000983" y="5535000"/>
            <a:ext cx="440000" cy="15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540" b="1" i="0">
                <a:solidFill>
                  <a:srgbClr val="2E75B6"/>
                </a:solidFill>
                <a:latin typeface="Noto Sans KR"/>
                <a:ea typeface="Noto Sans KR"/>
                <a:cs typeface="Noto Sans KR"/>
              </a:rPr>
              <a:t>570</a:t>
            </a:r>
          </a:p>
        </p:txBody>
      </p:sp>
      <p:sp>
        <p:nvSpPr>
          <p:cNvPr id="379" name="Rectangle 378"/>
          <p:cNvSpPr/>
          <p:nvPr/>
        </p:nvSpPr>
        <p:spPr>
          <a:xfrm>
            <a:off x="2281398" y="5125000"/>
            <a:ext cx="311051" cy="190000"/>
          </a:xfrm>
          <a:prstGeom prst="rect">
            <a:avLst/>
          </a:prstGeom>
          <a:solidFill>
            <a:srgbClr val="EB002C"/>
          </a:solidFill>
          <a:ln w="6350">
            <a:solidFill>
              <a:srgbClr val="FFFFFF"/>
            </a:solidFill>
          </a:ln>
        </p:spPr>
        <p:txBody>
          <a:bodyPr rtlCol="0" anchor="ctr" lIns="30000" rIns="30000" tIns="0" bIns="0" wrap="square"/>
          <a:lstStyle/>
          <a:p>
            <a:pPr algn="ctr"/>
            <a:r>
              <a:rPr sz="6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4</a:t>
            </a:r>
          </a:p>
        </p:txBody>
      </p:sp>
      <p:sp>
        <p:nvSpPr>
          <p:cNvPr id="380" name="Rectangle 379"/>
          <p:cNvSpPr/>
          <p:nvPr/>
        </p:nvSpPr>
        <p:spPr>
          <a:xfrm>
            <a:off x="2592449" y="5155000"/>
            <a:ext cx="60414" cy="130000"/>
          </a:xfrm>
          <a:prstGeom prst="rect">
            <a:avLst/>
          </a:prstGeom>
          <a:solidFill>
            <a:srgbClr val="FFF2CC"/>
          </a:solidFill>
          <a:ln w="5080">
            <a:solidFill>
              <a:srgbClr val="BF9000"/>
            </a:solidFill>
            <a:prstDash val="dash"/>
          </a:ln>
        </p:spPr>
        <p:txBody>
          <a:bodyPr rtlCol="0" anchor="ctr" lIns="30000" rIns="30000" tIns="0" bIns="0" wrap="square"/>
          <a:lstStyle/>
          <a:p>
            <a:pPr algn="ctr"/>
          </a:p>
        </p:txBody>
      </p:sp>
      <p:sp>
        <p:nvSpPr>
          <p:cNvPr id="381" name="Rectangle 380"/>
          <p:cNvSpPr/>
          <p:nvPr/>
        </p:nvSpPr>
        <p:spPr>
          <a:xfrm>
            <a:off x="2592449" y="5380000"/>
            <a:ext cx="213611" cy="120000"/>
          </a:xfrm>
          <a:prstGeom prst="rect">
            <a:avLst/>
          </a:prstGeom>
          <a:solidFill>
            <a:srgbClr val="548235"/>
          </a:solidFill>
          <a:ln>
            <a:noFill/>
          </a:ln>
        </p:spPr>
        <p:txBody>
          <a:bodyPr rtlCol="0" anchor="ctr" lIns="30000" rIns="30000" tIns="0" bIns="0" wrap="square"/>
          <a:lstStyle/>
          <a:p>
            <a:pPr algn="ctr"/>
          </a:p>
        </p:txBody>
      </p:sp>
      <p:sp>
        <p:nvSpPr>
          <p:cNvPr id="382" name="TextBox 381"/>
          <p:cNvSpPr txBox="1"/>
          <p:nvPr/>
        </p:nvSpPr>
        <p:spPr>
          <a:xfrm>
            <a:off x="2372449" y="5535000"/>
            <a:ext cx="440000" cy="15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540" b="1" i="0">
                <a:solidFill>
                  <a:srgbClr val="2E75B6"/>
                </a:solidFill>
                <a:latin typeface="Noto Sans KR"/>
                <a:ea typeface="Noto Sans KR"/>
                <a:cs typeface="Noto Sans KR"/>
              </a:rPr>
              <a:t>760</a:t>
            </a:r>
          </a:p>
        </p:txBody>
      </p:sp>
      <p:sp>
        <p:nvSpPr>
          <p:cNvPr id="383" name="Rectangle 382"/>
          <p:cNvSpPr/>
          <p:nvPr/>
        </p:nvSpPr>
        <p:spPr>
          <a:xfrm>
            <a:off x="2652864" y="5125000"/>
            <a:ext cx="311051" cy="190000"/>
          </a:xfrm>
          <a:prstGeom prst="rect">
            <a:avLst/>
          </a:prstGeom>
          <a:solidFill>
            <a:srgbClr val="EB002C"/>
          </a:solidFill>
          <a:ln w="6350">
            <a:solidFill>
              <a:srgbClr val="FFFFFF"/>
            </a:solidFill>
          </a:ln>
        </p:spPr>
        <p:txBody>
          <a:bodyPr rtlCol="0" anchor="ctr" lIns="30000" rIns="30000" tIns="0" bIns="0" wrap="square"/>
          <a:lstStyle/>
          <a:p>
            <a:pPr algn="ctr"/>
            <a:r>
              <a:rPr sz="6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5</a:t>
            </a:r>
          </a:p>
        </p:txBody>
      </p:sp>
      <p:sp>
        <p:nvSpPr>
          <p:cNvPr id="384" name="Rectangle 383"/>
          <p:cNvSpPr/>
          <p:nvPr/>
        </p:nvSpPr>
        <p:spPr>
          <a:xfrm>
            <a:off x="2963916" y="5155000"/>
            <a:ext cx="60414" cy="130000"/>
          </a:xfrm>
          <a:prstGeom prst="rect">
            <a:avLst/>
          </a:prstGeom>
          <a:solidFill>
            <a:srgbClr val="FFF2CC"/>
          </a:solidFill>
          <a:ln w="5080">
            <a:solidFill>
              <a:srgbClr val="BF9000"/>
            </a:solidFill>
            <a:prstDash val="dash"/>
          </a:ln>
        </p:spPr>
        <p:txBody>
          <a:bodyPr rtlCol="0" anchor="ctr" lIns="30000" rIns="30000" tIns="0" bIns="0" wrap="square"/>
          <a:lstStyle/>
          <a:p>
            <a:pPr algn="ctr"/>
          </a:p>
        </p:txBody>
      </p:sp>
      <p:sp>
        <p:nvSpPr>
          <p:cNvPr id="385" name="Rectangle 384"/>
          <p:cNvSpPr/>
          <p:nvPr/>
        </p:nvSpPr>
        <p:spPr>
          <a:xfrm>
            <a:off x="2963916" y="5380000"/>
            <a:ext cx="213611" cy="120000"/>
          </a:xfrm>
          <a:prstGeom prst="rect">
            <a:avLst/>
          </a:prstGeom>
          <a:solidFill>
            <a:srgbClr val="548235"/>
          </a:solidFill>
          <a:ln>
            <a:noFill/>
          </a:ln>
        </p:spPr>
        <p:txBody>
          <a:bodyPr rtlCol="0" anchor="ctr" lIns="30000" rIns="30000" tIns="0" bIns="0" wrap="square"/>
          <a:lstStyle/>
          <a:p>
            <a:pPr algn="ctr"/>
          </a:p>
        </p:txBody>
      </p:sp>
      <p:sp>
        <p:nvSpPr>
          <p:cNvPr id="386" name="TextBox 385"/>
          <p:cNvSpPr txBox="1"/>
          <p:nvPr/>
        </p:nvSpPr>
        <p:spPr>
          <a:xfrm>
            <a:off x="2743916" y="5535000"/>
            <a:ext cx="440000" cy="15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540" b="1" i="0">
                <a:solidFill>
                  <a:srgbClr val="2E75B6"/>
                </a:solidFill>
                <a:latin typeface="Noto Sans KR"/>
                <a:ea typeface="Noto Sans KR"/>
                <a:cs typeface="Noto Sans KR"/>
              </a:rPr>
              <a:t>950</a:t>
            </a:r>
          </a:p>
        </p:txBody>
      </p:sp>
      <p:sp>
        <p:nvSpPr>
          <p:cNvPr id="387" name="Rectangle 386"/>
          <p:cNvSpPr/>
          <p:nvPr/>
        </p:nvSpPr>
        <p:spPr>
          <a:xfrm>
            <a:off x="3024330" y="5125000"/>
            <a:ext cx="311051" cy="190000"/>
          </a:xfrm>
          <a:prstGeom prst="rect">
            <a:avLst/>
          </a:prstGeom>
          <a:solidFill>
            <a:srgbClr val="EB002C"/>
          </a:solidFill>
          <a:ln w="6350">
            <a:solidFill>
              <a:srgbClr val="FFFFFF"/>
            </a:solidFill>
          </a:ln>
        </p:spPr>
        <p:txBody>
          <a:bodyPr rtlCol="0" anchor="ctr" lIns="30000" rIns="30000" tIns="0" bIns="0" wrap="square"/>
          <a:lstStyle/>
          <a:p>
            <a:pPr algn="ctr"/>
            <a:r>
              <a:rPr sz="6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6</a:t>
            </a:r>
          </a:p>
        </p:txBody>
      </p:sp>
      <p:sp>
        <p:nvSpPr>
          <p:cNvPr id="388" name="Rectangle 387"/>
          <p:cNvSpPr/>
          <p:nvPr/>
        </p:nvSpPr>
        <p:spPr>
          <a:xfrm>
            <a:off x="3335382" y="5155000"/>
            <a:ext cx="60414" cy="130000"/>
          </a:xfrm>
          <a:prstGeom prst="rect">
            <a:avLst/>
          </a:prstGeom>
          <a:solidFill>
            <a:srgbClr val="FFF2CC"/>
          </a:solidFill>
          <a:ln w="5080">
            <a:solidFill>
              <a:srgbClr val="BF9000"/>
            </a:solidFill>
            <a:prstDash val="dash"/>
          </a:ln>
        </p:spPr>
        <p:txBody>
          <a:bodyPr rtlCol="0" anchor="ctr" lIns="30000" rIns="30000" tIns="0" bIns="0" wrap="square"/>
          <a:lstStyle/>
          <a:p>
            <a:pPr algn="ctr"/>
          </a:p>
        </p:txBody>
      </p:sp>
      <p:sp>
        <p:nvSpPr>
          <p:cNvPr id="389" name="Rectangle 388"/>
          <p:cNvSpPr/>
          <p:nvPr/>
        </p:nvSpPr>
        <p:spPr>
          <a:xfrm>
            <a:off x="3335382" y="5380000"/>
            <a:ext cx="213611" cy="120000"/>
          </a:xfrm>
          <a:prstGeom prst="rect">
            <a:avLst/>
          </a:prstGeom>
          <a:solidFill>
            <a:srgbClr val="548235"/>
          </a:solidFill>
          <a:ln>
            <a:noFill/>
          </a:ln>
        </p:spPr>
        <p:txBody>
          <a:bodyPr rtlCol="0" anchor="ctr" lIns="30000" rIns="30000" tIns="0" bIns="0" wrap="square"/>
          <a:lstStyle/>
          <a:p>
            <a:pPr algn="ctr"/>
          </a:p>
        </p:txBody>
      </p:sp>
      <p:sp>
        <p:nvSpPr>
          <p:cNvPr id="390" name="TextBox 389"/>
          <p:cNvSpPr txBox="1"/>
          <p:nvPr/>
        </p:nvSpPr>
        <p:spPr>
          <a:xfrm>
            <a:off x="3115382" y="5535000"/>
            <a:ext cx="440000" cy="15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540" b="1" i="0">
                <a:solidFill>
                  <a:srgbClr val="2E75B6"/>
                </a:solidFill>
                <a:latin typeface="Noto Sans KR"/>
                <a:ea typeface="Noto Sans KR"/>
                <a:cs typeface="Noto Sans KR"/>
              </a:rPr>
              <a:t>1,140</a:t>
            </a:r>
          </a:p>
        </p:txBody>
      </p:sp>
      <p:sp>
        <p:nvSpPr>
          <p:cNvPr id="391" name="Rectangle 390"/>
          <p:cNvSpPr/>
          <p:nvPr/>
        </p:nvSpPr>
        <p:spPr>
          <a:xfrm>
            <a:off x="3395796" y="5125000"/>
            <a:ext cx="311051" cy="190000"/>
          </a:xfrm>
          <a:prstGeom prst="rect">
            <a:avLst/>
          </a:prstGeom>
          <a:solidFill>
            <a:srgbClr val="EB002C"/>
          </a:solidFill>
          <a:ln w="6350">
            <a:solidFill>
              <a:srgbClr val="FFFFFF"/>
            </a:solidFill>
          </a:ln>
        </p:spPr>
        <p:txBody>
          <a:bodyPr rtlCol="0" anchor="ctr" lIns="30000" rIns="30000" tIns="0" bIns="0" wrap="square"/>
          <a:lstStyle/>
          <a:p>
            <a:pPr algn="ctr"/>
            <a:r>
              <a:rPr sz="6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7</a:t>
            </a:r>
          </a:p>
        </p:txBody>
      </p:sp>
      <p:sp>
        <p:nvSpPr>
          <p:cNvPr id="392" name="Rectangle 391"/>
          <p:cNvSpPr/>
          <p:nvPr/>
        </p:nvSpPr>
        <p:spPr>
          <a:xfrm>
            <a:off x="3706848" y="5155000"/>
            <a:ext cx="60414" cy="130000"/>
          </a:xfrm>
          <a:prstGeom prst="rect">
            <a:avLst/>
          </a:prstGeom>
          <a:solidFill>
            <a:srgbClr val="FFF2CC"/>
          </a:solidFill>
          <a:ln w="5080">
            <a:solidFill>
              <a:srgbClr val="BF9000"/>
            </a:solidFill>
            <a:prstDash val="dash"/>
          </a:ln>
        </p:spPr>
        <p:txBody>
          <a:bodyPr rtlCol="0" anchor="ctr" lIns="30000" rIns="30000" tIns="0" bIns="0" wrap="square"/>
          <a:lstStyle/>
          <a:p>
            <a:pPr algn="ctr"/>
          </a:p>
        </p:txBody>
      </p:sp>
      <p:sp>
        <p:nvSpPr>
          <p:cNvPr id="393" name="Rectangle 392"/>
          <p:cNvSpPr/>
          <p:nvPr/>
        </p:nvSpPr>
        <p:spPr>
          <a:xfrm>
            <a:off x="3706848" y="5380000"/>
            <a:ext cx="213611" cy="120000"/>
          </a:xfrm>
          <a:prstGeom prst="rect">
            <a:avLst/>
          </a:prstGeom>
          <a:solidFill>
            <a:srgbClr val="548235"/>
          </a:solidFill>
          <a:ln>
            <a:noFill/>
          </a:ln>
        </p:spPr>
        <p:txBody>
          <a:bodyPr rtlCol="0" anchor="ctr" lIns="30000" rIns="30000" tIns="0" bIns="0" wrap="square"/>
          <a:lstStyle/>
          <a:p>
            <a:pPr algn="ctr"/>
          </a:p>
        </p:txBody>
      </p:sp>
      <p:sp>
        <p:nvSpPr>
          <p:cNvPr id="394" name="TextBox 393"/>
          <p:cNvSpPr txBox="1"/>
          <p:nvPr/>
        </p:nvSpPr>
        <p:spPr>
          <a:xfrm>
            <a:off x="3486848" y="5535000"/>
            <a:ext cx="440000" cy="15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540" b="1" i="0">
                <a:solidFill>
                  <a:srgbClr val="2E75B6"/>
                </a:solidFill>
                <a:latin typeface="Noto Sans KR"/>
                <a:ea typeface="Noto Sans KR"/>
                <a:cs typeface="Noto Sans KR"/>
              </a:rPr>
              <a:t>1,330</a:t>
            </a:r>
          </a:p>
        </p:txBody>
      </p:sp>
      <p:sp>
        <p:nvSpPr>
          <p:cNvPr id="395" name="Rectangle 394"/>
          <p:cNvSpPr/>
          <p:nvPr/>
        </p:nvSpPr>
        <p:spPr>
          <a:xfrm>
            <a:off x="3767262" y="5125000"/>
            <a:ext cx="311051" cy="190000"/>
          </a:xfrm>
          <a:prstGeom prst="rect">
            <a:avLst/>
          </a:prstGeom>
          <a:solidFill>
            <a:srgbClr val="EB002C"/>
          </a:solidFill>
          <a:ln w="6350">
            <a:solidFill>
              <a:srgbClr val="FFFFFF"/>
            </a:solidFill>
          </a:ln>
        </p:spPr>
        <p:txBody>
          <a:bodyPr rtlCol="0" anchor="ctr" lIns="30000" rIns="30000" tIns="0" bIns="0" wrap="square"/>
          <a:lstStyle/>
          <a:p>
            <a:pPr algn="ctr"/>
            <a:r>
              <a:rPr sz="6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8</a:t>
            </a:r>
          </a:p>
        </p:txBody>
      </p:sp>
      <p:sp>
        <p:nvSpPr>
          <p:cNvPr id="396" name="Rectangle 395"/>
          <p:cNvSpPr/>
          <p:nvPr/>
        </p:nvSpPr>
        <p:spPr>
          <a:xfrm>
            <a:off x="4078314" y="5155000"/>
            <a:ext cx="60414" cy="130000"/>
          </a:xfrm>
          <a:prstGeom prst="rect">
            <a:avLst/>
          </a:prstGeom>
          <a:solidFill>
            <a:srgbClr val="FFF2CC"/>
          </a:solidFill>
          <a:ln w="5080">
            <a:solidFill>
              <a:srgbClr val="BF9000"/>
            </a:solidFill>
            <a:prstDash val="dash"/>
          </a:ln>
        </p:spPr>
        <p:txBody>
          <a:bodyPr rtlCol="0" anchor="ctr" lIns="30000" rIns="30000" tIns="0" bIns="0" wrap="square"/>
          <a:lstStyle/>
          <a:p>
            <a:pPr algn="ctr"/>
          </a:p>
        </p:txBody>
      </p:sp>
      <p:sp>
        <p:nvSpPr>
          <p:cNvPr id="397" name="Rectangle 396"/>
          <p:cNvSpPr/>
          <p:nvPr/>
        </p:nvSpPr>
        <p:spPr>
          <a:xfrm>
            <a:off x="4078314" y="5380000"/>
            <a:ext cx="213611" cy="120000"/>
          </a:xfrm>
          <a:prstGeom prst="rect">
            <a:avLst/>
          </a:prstGeom>
          <a:solidFill>
            <a:srgbClr val="548235"/>
          </a:solidFill>
          <a:ln>
            <a:noFill/>
          </a:ln>
        </p:spPr>
        <p:txBody>
          <a:bodyPr rtlCol="0" anchor="ctr" lIns="30000" rIns="30000" tIns="0" bIns="0" wrap="square"/>
          <a:lstStyle/>
          <a:p>
            <a:pPr algn="ctr"/>
          </a:p>
        </p:txBody>
      </p:sp>
      <p:sp>
        <p:nvSpPr>
          <p:cNvPr id="398" name="TextBox 397"/>
          <p:cNvSpPr txBox="1"/>
          <p:nvPr/>
        </p:nvSpPr>
        <p:spPr>
          <a:xfrm>
            <a:off x="3858314" y="5535000"/>
            <a:ext cx="440000" cy="15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540" b="1" i="0">
                <a:solidFill>
                  <a:srgbClr val="2E75B6"/>
                </a:solidFill>
                <a:latin typeface="Noto Sans KR"/>
                <a:ea typeface="Noto Sans KR"/>
                <a:cs typeface="Noto Sans KR"/>
              </a:rPr>
              <a:t>1,520</a:t>
            </a:r>
          </a:p>
        </p:txBody>
      </p:sp>
      <p:sp>
        <p:nvSpPr>
          <p:cNvPr id="399" name="Rectangle 398"/>
          <p:cNvSpPr/>
          <p:nvPr/>
        </p:nvSpPr>
        <p:spPr>
          <a:xfrm>
            <a:off x="4138728" y="5125000"/>
            <a:ext cx="311051" cy="190000"/>
          </a:xfrm>
          <a:prstGeom prst="rect">
            <a:avLst/>
          </a:prstGeom>
          <a:solidFill>
            <a:srgbClr val="EB002C"/>
          </a:solidFill>
          <a:ln w="6350">
            <a:solidFill>
              <a:srgbClr val="FFFFFF"/>
            </a:solidFill>
          </a:ln>
        </p:spPr>
        <p:txBody>
          <a:bodyPr rtlCol="0" anchor="ctr" lIns="30000" rIns="30000" tIns="0" bIns="0" wrap="square"/>
          <a:lstStyle/>
          <a:p>
            <a:pPr algn="ctr"/>
            <a:r>
              <a:rPr sz="6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9</a:t>
            </a:r>
          </a:p>
        </p:txBody>
      </p:sp>
      <p:sp>
        <p:nvSpPr>
          <p:cNvPr id="400" name="Rectangle 399"/>
          <p:cNvSpPr/>
          <p:nvPr/>
        </p:nvSpPr>
        <p:spPr>
          <a:xfrm>
            <a:off x="4449780" y="5155000"/>
            <a:ext cx="60414" cy="130000"/>
          </a:xfrm>
          <a:prstGeom prst="rect">
            <a:avLst/>
          </a:prstGeom>
          <a:solidFill>
            <a:srgbClr val="FFF2CC"/>
          </a:solidFill>
          <a:ln w="5080">
            <a:solidFill>
              <a:srgbClr val="BF9000"/>
            </a:solidFill>
            <a:prstDash val="dash"/>
          </a:ln>
        </p:spPr>
        <p:txBody>
          <a:bodyPr rtlCol="0" anchor="ctr" lIns="30000" rIns="30000" tIns="0" bIns="0" wrap="square"/>
          <a:lstStyle/>
          <a:p>
            <a:pPr algn="ctr"/>
          </a:p>
        </p:txBody>
      </p:sp>
      <p:sp>
        <p:nvSpPr>
          <p:cNvPr id="401" name="Rectangle 400"/>
          <p:cNvSpPr/>
          <p:nvPr/>
        </p:nvSpPr>
        <p:spPr>
          <a:xfrm>
            <a:off x="4449780" y="5380000"/>
            <a:ext cx="213611" cy="120000"/>
          </a:xfrm>
          <a:prstGeom prst="rect">
            <a:avLst/>
          </a:prstGeom>
          <a:solidFill>
            <a:srgbClr val="548235"/>
          </a:solidFill>
          <a:ln>
            <a:noFill/>
          </a:ln>
        </p:spPr>
        <p:txBody>
          <a:bodyPr rtlCol="0" anchor="ctr" lIns="30000" rIns="30000" tIns="0" bIns="0" wrap="square"/>
          <a:lstStyle/>
          <a:p>
            <a:pPr algn="ctr"/>
          </a:p>
        </p:txBody>
      </p:sp>
      <p:sp>
        <p:nvSpPr>
          <p:cNvPr id="402" name="TextBox 401"/>
          <p:cNvSpPr txBox="1"/>
          <p:nvPr/>
        </p:nvSpPr>
        <p:spPr>
          <a:xfrm>
            <a:off x="4229780" y="5535000"/>
            <a:ext cx="440000" cy="15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540" b="1" i="0">
                <a:solidFill>
                  <a:srgbClr val="2E75B6"/>
                </a:solidFill>
                <a:latin typeface="Noto Sans KR"/>
                <a:ea typeface="Noto Sans KR"/>
                <a:cs typeface="Noto Sans KR"/>
              </a:rPr>
              <a:t>1,710</a:t>
            </a:r>
          </a:p>
        </p:txBody>
      </p:sp>
      <p:sp>
        <p:nvSpPr>
          <p:cNvPr id="403" name="Rectangle 402"/>
          <p:cNvSpPr/>
          <p:nvPr/>
        </p:nvSpPr>
        <p:spPr>
          <a:xfrm>
            <a:off x="4510194" y="5125000"/>
            <a:ext cx="311051" cy="190000"/>
          </a:xfrm>
          <a:prstGeom prst="rect">
            <a:avLst/>
          </a:prstGeom>
          <a:solidFill>
            <a:srgbClr val="EB002C"/>
          </a:solidFill>
          <a:ln w="6350">
            <a:solidFill>
              <a:srgbClr val="FFFFFF"/>
            </a:solidFill>
          </a:ln>
        </p:spPr>
        <p:txBody>
          <a:bodyPr rtlCol="0" anchor="ctr" lIns="30000" rIns="30000" tIns="0" bIns="0" wrap="square"/>
          <a:lstStyle/>
          <a:p>
            <a:pPr algn="ctr"/>
            <a:r>
              <a:rPr sz="6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10</a:t>
            </a:r>
          </a:p>
        </p:txBody>
      </p:sp>
      <p:sp>
        <p:nvSpPr>
          <p:cNvPr id="404" name="Rectangle 403"/>
          <p:cNvSpPr/>
          <p:nvPr/>
        </p:nvSpPr>
        <p:spPr>
          <a:xfrm>
            <a:off x="4821246" y="5155000"/>
            <a:ext cx="60414" cy="130000"/>
          </a:xfrm>
          <a:prstGeom prst="rect">
            <a:avLst/>
          </a:prstGeom>
          <a:solidFill>
            <a:srgbClr val="FFF2CC"/>
          </a:solidFill>
          <a:ln w="5080">
            <a:solidFill>
              <a:srgbClr val="BF9000"/>
            </a:solidFill>
            <a:prstDash val="dash"/>
          </a:ln>
        </p:spPr>
        <p:txBody>
          <a:bodyPr rtlCol="0" anchor="ctr" lIns="30000" rIns="30000" tIns="0" bIns="0" wrap="square"/>
          <a:lstStyle/>
          <a:p>
            <a:pPr algn="ctr"/>
          </a:p>
        </p:txBody>
      </p:sp>
      <p:sp>
        <p:nvSpPr>
          <p:cNvPr id="405" name="Rectangle 404"/>
          <p:cNvSpPr/>
          <p:nvPr/>
        </p:nvSpPr>
        <p:spPr>
          <a:xfrm>
            <a:off x="4821246" y="5380000"/>
            <a:ext cx="213611" cy="120000"/>
          </a:xfrm>
          <a:prstGeom prst="rect">
            <a:avLst/>
          </a:prstGeom>
          <a:solidFill>
            <a:srgbClr val="548235"/>
          </a:solidFill>
          <a:ln>
            <a:noFill/>
          </a:ln>
        </p:spPr>
        <p:txBody>
          <a:bodyPr rtlCol="0" anchor="ctr" lIns="30000" rIns="30000" tIns="0" bIns="0" wrap="square"/>
          <a:lstStyle/>
          <a:p>
            <a:pPr algn="ctr"/>
          </a:p>
        </p:txBody>
      </p:sp>
      <p:sp>
        <p:nvSpPr>
          <p:cNvPr id="406" name="TextBox 405"/>
          <p:cNvSpPr txBox="1"/>
          <p:nvPr/>
        </p:nvSpPr>
        <p:spPr>
          <a:xfrm>
            <a:off x="4601246" y="5535000"/>
            <a:ext cx="440000" cy="15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540" b="1" i="0">
                <a:solidFill>
                  <a:srgbClr val="2E75B6"/>
                </a:solidFill>
                <a:latin typeface="Noto Sans KR"/>
                <a:ea typeface="Noto Sans KR"/>
                <a:cs typeface="Noto Sans KR"/>
              </a:rPr>
              <a:t>1,900</a:t>
            </a:r>
          </a:p>
        </p:txBody>
      </p:sp>
      <p:sp>
        <p:nvSpPr>
          <p:cNvPr id="407" name="Rectangle 406"/>
          <p:cNvSpPr/>
          <p:nvPr/>
        </p:nvSpPr>
        <p:spPr>
          <a:xfrm>
            <a:off x="4881661" y="5125000"/>
            <a:ext cx="311051" cy="190000"/>
          </a:xfrm>
          <a:prstGeom prst="rect">
            <a:avLst/>
          </a:prstGeom>
          <a:solidFill>
            <a:srgbClr val="EB002C"/>
          </a:solidFill>
          <a:ln w="6350">
            <a:solidFill>
              <a:srgbClr val="FFFFFF"/>
            </a:solidFill>
          </a:ln>
        </p:spPr>
        <p:txBody>
          <a:bodyPr rtlCol="0" anchor="ctr" lIns="30000" rIns="30000" tIns="0" bIns="0" wrap="square"/>
          <a:lstStyle/>
          <a:p>
            <a:pPr algn="ctr"/>
            <a:r>
              <a:rPr sz="6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11</a:t>
            </a:r>
          </a:p>
        </p:txBody>
      </p:sp>
      <p:sp>
        <p:nvSpPr>
          <p:cNvPr id="408" name="Rectangle 407"/>
          <p:cNvSpPr/>
          <p:nvPr/>
        </p:nvSpPr>
        <p:spPr>
          <a:xfrm>
            <a:off x="5192712" y="5155000"/>
            <a:ext cx="60414" cy="130000"/>
          </a:xfrm>
          <a:prstGeom prst="rect">
            <a:avLst/>
          </a:prstGeom>
          <a:solidFill>
            <a:srgbClr val="FFF2CC"/>
          </a:solidFill>
          <a:ln w="5080">
            <a:solidFill>
              <a:srgbClr val="BF9000"/>
            </a:solidFill>
            <a:prstDash val="dash"/>
          </a:ln>
        </p:spPr>
        <p:txBody>
          <a:bodyPr rtlCol="0" anchor="ctr" lIns="30000" rIns="30000" tIns="0" bIns="0" wrap="square"/>
          <a:lstStyle/>
          <a:p>
            <a:pPr algn="ctr"/>
          </a:p>
        </p:txBody>
      </p:sp>
      <p:sp>
        <p:nvSpPr>
          <p:cNvPr id="409" name="Rectangle 408"/>
          <p:cNvSpPr/>
          <p:nvPr/>
        </p:nvSpPr>
        <p:spPr>
          <a:xfrm>
            <a:off x="5192712" y="5380000"/>
            <a:ext cx="213611" cy="120000"/>
          </a:xfrm>
          <a:prstGeom prst="rect">
            <a:avLst/>
          </a:prstGeom>
          <a:solidFill>
            <a:srgbClr val="548235"/>
          </a:solidFill>
          <a:ln>
            <a:noFill/>
          </a:ln>
        </p:spPr>
        <p:txBody>
          <a:bodyPr rtlCol="0" anchor="ctr" lIns="30000" rIns="30000" tIns="0" bIns="0" wrap="square"/>
          <a:lstStyle/>
          <a:p>
            <a:pPr algn="ctr"/>
          </a:p>
        </p:txBody>
      </p:sp>
      <p:sp>
        <p:nvSpPr>
          <p:cNvPr id="410" name="TextBox 409"/>
          <p:cNvSpPr txBox="1"/>
          <p:nvPr/>
        </p:nvSpPr>
        <p:spPr>
          <a:xfrm>
            <a:off x="4972712" y="5535000"/>
            <a:ext cx="440000" cy="15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540" b="1" i="0">
                <a:solidFill>
                  <a:srgbClr val="2E75B6"/>
                </a:solidFill>
                <a:latin typeface="Noto Sans KR"/>
                <a:ea typeface="Noto Sans KR"/>
                <a:cs typeface="Noto Sans KR"/>
              </a:rPr>
              <a:t>2,090</a:t>
            </a:r>
          </a:p>
        </p:txBody>
      </p:sp>
      <p:sp>
        <p:nvSpPr>
          <p:cNvPr id="411" name="Rectangle 410"/>
          <p:cNvSpPr/>
          <p:nvPr/>
        </p:nvSpPr>
        <p:spPr>
          <a:xfrm>
            <a:off x="5253127" y="5125000"/>
            <a:ext cx="311051" cy="190000"/>
          </a:xfrm>
          <a:prstGeom prst="rect">
            <a:avLst/>
          </a:prstGeom>
          <a:solidFill>
            <a:srgbClr val="EB002C"/>
          </a:solidFill>
          <a:ln w="6350">
            <a:solidFill>
              <a:srgbClr val="FFFFFF"/>
            </a:solidFill>
          </a:ln>
        </p:spPr>
        <p:txBody>
          <a:bodyPr rtlCol="0" anchor="ctr" lIns="30000" rIns="30000" tIns="0" bIns="0" wrap="square"/>
          <a:lstStyle/>
          <a:p>
            <a:pPr algn="ctr"/>
            <a:r>
              <a:rPr sz="6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12</a:t>
            </a:r>
          </a:p>
        </p:txBody>
      </p:sp>
      <p:sp>
        <p:nvSpPr>
          <p:cNvPr id="412" name="Rectangle 411"/>
          <p:cNvSpPr/>
          <p:nvPr/>
        </p:nvSpPr>
        <p:spPr>
          <a:xfrm>
            <a:off x="5564178" y="5155000"/>
            <a:ext cx="60414" cy="130000"/>
          </a:xfrm>
          <a:prstGeom prst="rect">
            <a:avLst/>
          </a:prstGeom>
          <a:solidFill>
            <a:srgbClr val="FFF2CC"/>
          </a:solidFill>
          <a:ln w="5080">
            <a:solidFill>
              <a:srgbClr val="BF9000"/>
            </a:solidFill>
            <a:prstDash val="dash"/>
          </a:ln>
        </p:spPr>
        <p:txBody>
          <a:bodyPr rtlCol="0" anchor="ctr" lIns="30000" rIns="30000" tIns="0" bIns="0" wrap="square"/>
          <a:lstStyle/>
          <a:p>
            <a:pPr algn="ctr"/>
          </a:p>
        </p:txBody>
      </p:sp>
      <p:sp>
        <p:nvSpPr>
          <p:cNvPr id="413" name="Rectangle 412"/>
          <p:cNvSpPr/>
          <p:nvPr/>
        </p:nvSpPr>
        <p:spPr>
          <a:xfrm>
            <a:off x="5564178" y="5380000"/>
            <a:ext cx="213611" cy="120000"/>
          </a:xfrm>
          <a:prstGeom prst="rect">
            <a:avLst/>
          </a:prstGeom>
          <a:solidFill>
            <a:srgbClr val="548235"/>
          </a:solidFill>
          <a:ln>
            <a:noFill/>
          </a:ln>
        </p:spPr>
        <p:txBody>
          <a:bodyPr rtlCol="0" anchor="ctr" lIns="30000" rIns="30000" tIns="0" bIns="0" wrap="square"/>
          <a:lstStyle/>
          <a:p>
            <a:pPr algn="ctr"/>
          </a:p>
        </p:txBody>
      </p:sp>
      <p:sp>
        <p:nvSpPr>
          <p:cNvPr id="414" name="TextBox 413"/>
          <p:cNvSpPr txBox="1"/>
          <p:nvPr/>
        </p:nvSpPr>
        <p:spPr>
          <a:xfrm>
            <a:off x="5344178" y="5535000"/>
            <a:ext cx="440000" cy="15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540" b="1" i="0">
                <a:solidFill>
                  <a:srgbClr val="2E75B6"/>
                </a:solidFill>
                <a:latin typeface="Noto Sans KR"/>
                <a:ea typeface="Noto Sans KR"/>
                <a:cs typeface="Noto Sans KR"/>
              </a:rPr>
              <a:t>2,280</a:t>
            </a:r>
          </a:p>
        </p:txBody>
      </p:sp>
      <p:sp>
        <p:nvSpPr>
          <p:cNvPr id="415" name="Rectangle 414"/>
          <p:cNvSpPr/>
          <p:nvPr/>
        </p:nvSpPr>
        <p:spPr>
          <a:xfrm>
            <a:off x="5624593" y="5125000"/>
            <a:ext cx="311051" cy="190000"/>
          </a:xfrm>
          <a:prstGeom prst="rect">
            <a:avLst/>
          </a:prstGeom>
          <a:solidFill>
            <a:srgbClr val="EB002C"/>
          </a:solidFill>
          <a:ln w="6350">
            <a:solidFill>
              <a:srgbClr val="FFFFFF"/>
            </a:solidFill>
          </a:ln>
        </p:spPr>
        <p:txBody>
          <a:bodyPr rtlCol="0" anchor="ctr" lIns="30000" rIns="30000" tIns="0" bIns="0" wrap="square"/>
          <a:lstStyle/>
          <a:p>
            <a:pPr algn="ctr"/>
            <a:r>
              <a:rPr sz="6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13</a:t>
            </a:r>
          </a:p>
        </p:txBody>
      </p:sp>
      <p:sp>
        <p:nvSpPr>
          <p:cNvPr id="416" name="Rectangle 415"/>
          <p:cNvSpPr/>
          <p:nvPr/>
        </p:nvSpPr>
        <p:spPr>
          <a:xfrm>
            <a:off x="5935644" y="5155000"/>
            <a:ext cx="60414" cy="130000"/>
          </a:xfrm>
          <a:prstGeom prst="rect">
            <a:avLst/>
          </a:prstGeom>
          <a:solidFill>
            <a:srgbClr val="FFF2CC"/>
          </a:solidFill>
          <a:ln w="5080">
            <a:solidFill>
              <a:srgbClr val="BF9000"/>
            </a:solidFill>
            <a:prstDash val="dash"/>
          </a:ln>
        </p:spPr>
        <p:txBody>
          <a:bodyPr rtlCol="0" anchor="ctr" lIns="30000" rIns="30000" tIns="0" bIns="0" wrap="square"/>
          <a:lstStyle/>
          <a:p>
            <a:pPr algn="ctr"/>
          </a:p>
        </p:txBody>
      </p:sp>
      <p:sp>
        <p:nvSpPr>
          <p:cNvPr id="417" name="Rectangle 416"/>
          <p:cNvSpPr/>
          <p:nvPr/>
        </p:nvSpPr>
        <p:spPr>
          <a:xfrm>
            <a:off x="5935644" y="5380000"/>
            <a:ext cx="213611" cy="120000"/>
          </a:xfrm>
          <a:prstGeom prst="rect">
            <a:avLst/>
          </a:prstGeom>
          <a:solidFill>
            <a:srgbClr val="548235"/>
          </a:solidFill>
          <a:ln>
            <a:noFill/>
          </a:ln>
        </p:spPr>
        <p:txBody>
          <a:bodyPr rtlCol="0" anchor="ctr" lIns="30000" rIns="30000" tIns="0" bIns="0" wrap="square"/>
          <a:lstStyle/>
          <a:p>
            <a:pPr algn="ctr"/>
          </a:p>
        </p:txBody>
      </p:sp>
      <p:sp>
        <p:nvSpPr>
          <p:cNvPr id="418" name="TextBox 417"/>
          <p:cNvSpPr txBox="1"/>
          <p:nvPr/>
        </p:nvSpPr>
        <p:spPr>
          <a:xfrm>
            <a:off x="5715644" y="5535000"/>
            <a:ext cx="440000" cy="15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540" b="1" i="0">
                <a:solidFill>
                  <a:srgbClr val="2E75B6"/>
                </a:solidFill>
                <a:latin typeface="Noto Sans KR"/>
                <a:ea typeface="Noto Sans KR"/>
                <a:cs typeface="Noto Sans KR"/>
              </a:rPr>
              <a:t>2,470</a:t>
            </a:r>
          </a:p>
        </p:txBody>
      </p:sp>
      <p:sp>
        <p:nvSpPr>
          <p:cNvPr id="419" name="Rectangle 418"/>
          <p:cNvSpPr/>
          <p:nvPr/>
        </p:nvSpPr>
        <p:spPr>
          <a:xfrm>
            <a:off x="5996059" y="5125000"/>
            <a:ext cx="311051" cy="190000"/>
          </a:xfrm>
          <a:prstGeom prst="rect">
            <a:avLst/>
          </a:prstGeom>
          <a:solidFill>
            <a:srgbClr val="EB002C"/>
          </a:solidFill>
          <a:ln w="6350">
            <a:solidFill>
              <a:srgbClr val="FFFFFF"/>
            </a:solidFill>
          </a:ln>
        </p:spPr>
        <p:txBody>
          <a:bodyPr rtlCol="0" anchor="ctr" lIns="30000" rIns="30000" tIns="0" bIns="0" wrap="square"/>
          <a:lstStyle/>
          <a:p>
            <a:pPr algn="ctr"/>
            <a:r>
              <a:rPr sz="6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14</a:t>
            </a:r>
          </a:p>
        </p:txBody>
      </p:sp>
      <p:sp>
        <p:nvSpPr>
          <p:cNvPr id="420" name="Rectangle 419"/>
          <p:cNvSpPr/>
          <p:nvPr/>
        </p:nvSpPr>
        <p:spPr>
          <a:xfrm>
            <a:off x="6307110" y="5155000"/>
            <a:ext cx="60414" cy="130000"/>
          </a:xfrm>
          <a:prstGeom prst="rect">
            <a:avLst/>
          </a:prstGeom>
          <a:solidFill>
            <a:srgbClr val="FFF2CC"/>
          </a:solidFill>
          <a:ln w="5080">
            <a:solidFill>
              <a:srgbClr val="BF9000"/>
            </a:solidFill>
            <a:prstDash val="dash"/>
          </a:ln>
        </p:spPr>
        <p:txBody>
          <a:bodyPr rtlCol="0" anchor="ctr" lIns="30000" rIns="30000" tIns="0" bIns="0" wrap="square"/>
          <a:lstStyle/>
          <a:p>
            <a:pPr algn="ctr"/>
          </a:p>
        </p:txBody>
      </p:sp>
      <p:sp>
        <p:nvSpPr>
          <p:cNvPr id="421" name="Rectangle 420"/>
          <p:cNvSpPr/>
          <p:nvPr/>
        </p:nvSpPr>
        <p:spPr>
          <a:xfrm>
            <a:off x="6307110" y="5380000"/>
            <a:ext cx="213611" cy="120000"/>
          </a:xfrm>
          <a:prstGeom prst="rect">
            <a:avLst/>
          </a:prstGeom>
          <a:solidFill>
            <a:srgbClr val="548235"/>
          </a:solidFill>
          <a:ln>
            <a:noFill/>
          </a:ln>
        </p:spPr>
        <p:txBody>
          <a:bodyPr rtlCol="0" anchor="ctr" lIns="30000" rIns="30000" tIns="0" bIns="0" wrap="square"/>
          <a:lstStyle/>
          <a:p>
            <a:pPr algn="ctr"/>
          </a:p>
        </p:txBody>
      </p:sp>
      <p:sp>
        <p:nvSpPr>
          <p:cNvPr id="422" name="TextBox 421"/>
          <p:cNvSpPr txBox="1"/>
          <p:nvPr/>
        </p:nvSpPr>
        <p:spPr>
          <a:xfrm>
            <a:off x="6087110" y="5535000"/>
            <a:ext cx="440000" cy="15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540" b="1" i="0">
                <a:solidFill>
                  <a:srgbClr val="2E75B6"/>
                </a:solidFill>
                <a:latin typeface="Noto Sans KR"/>
                <a:ea typeface="Noto Sans KR"/>
                <a:cs typeface="Noto Sans KR"/>
              </a:rPr>
              <a:t>2,660</a:t>
            </a:r>
          </a:p>
        </p:txBody>
      </p:sp>
      <p:sp>
        <p:nvSpPr>
          <p:cNvPr id="423" name="Rectangle 422"/>
          <p:cNvSpPr/>
          <p:nvPr/>
        </p:nvSpPr>
        <p:spPr>
          <a:xfrm>
            <a:off x="6367525" y="5125000"/>
            <a:ext cx="311051" cy="190000"/>
          </a:xfrm>
          <a:prstGeom prst="rect">
            <a:avLst/>
          </a:prstGeom>
          <a:solidFill>
            <a:srgbClr val="EB002C"/>
          </a:solidFill>
          <a:ln w="6350">
            <a:solidFill>
              <a:srgbClr val="FFFFFF"/>
            </a:solidFill>
          </a:ln>
        </p:spPr>
        <p:txBody>
          <a:bodyPr rtlCol="0" anchor="ctr" lIns="30000" rIns="30000" tIns="0" bIns="0" wrap="square"/>
          <a:lstStyle/>
          <a:p>
            <a:pPr algn="ctr"/>
            <a:r>
              <a:rPr sz="6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15</a:t>
            </a:r>
          </a:p>
        </p:txBody>
      </p:sp>
      <p:sp>
        <p:nvSpPr>
          <p:cNvPr id="424" name="Rectangle 423"/>
          <p:cNvSpPr/>
          <p:nvPr/>
        </p:nvSpPr>
        <p:spPr>
          <a:xfrm>
            <a:off x="6678577" y="5155000"/>
            <a:ext cx="60414" cy="130000"/>
          </a:xfrm>
          <a:prstGeom prst="rect">
            <a:avLst/>
          </a:prstGeom>
          <a:solidFill>
            <a:srgbClr val="FFF2CC"/>
          </a:solidFill>
          <a:ln w="5080">
            <a:solidFill>
              <a:srgbClr val="BF9000"/>
            </a:solidFill>
            <a:prstDash val="dash"/>
          </a:ln>
        </p:spPr>
        <p:txBody>
          <a:bodyPr rtlCol="0" anchor="ctr" lIns="30000" rIns="30000" tIns="0" bIns="0" wrap="square"/>
          <a:lstStyle/>
          <a:p>
            <a:pPr algn="ctr"/>
          </a:p>
        </p:txBody>
      </p:sp>
      <p:sp>
        <p:nvSpPr>
          <p:cNvPr id="425" name="Rectangle 424"/>
          <p:cNvSpPr/>
          <p:nvPr/>
        </p:nvSpPr>
        <p:spPr>
          <a:xfrm>
            <a:off x="6678577" y="5380000"/>
            <a:ext cx="213611" cy="120000"/>
          </a:xfrm>
          <a:prstGeom prst="rect">
            <a:avLst/>
          </a:prstGeom>
          <a:solidFill>
            <a:srgbClr val="548235"/>
          </a:solidFill>
          <a:ln>
            <a:noFill/>
          </a:ln>
        </p:spPr>
        <p:txBody>
          <a:bodyPr rtlCol="0" anchor="ctr" lIns="30000" rIns="30000" tIns="0" bIns="0" wrap="square"/>
          <a:lstStyle/>
          <a:p>
            <a:pPr algn="ctr"/>
          </a:p>
        </p:txBody>
      </p:sp>
      <p:sp>
        <p:nvSpPr>
          <p:cNvPr id="426" name="TextBox 425"/>
          <p:cNvSpPr txBox="1"/>
          <p:nvPr/>
        </p:nvSpPr>
        <p:spPr>
          <a:xfrm>
            <a:off x="6458577" y="5535000"/>
            <a:ext cx="440000" cy="15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540" b="1" i="0">
                <a:solidFill>
                  <a:srgbClr val="2E75B6"/>
                </a:solidFill>
                <a:latin typeface="Noto Sans KR"/>
                <a:ea typeface="Noto Sans KR"/>
                <a:cs typeface="Noto Sans KR"/>
              </a:rPr>
              <a:t>2,850</a:t>
            </a:r>
          </a:p>
        </p:txBody>
      </p:sp>
      <p:sp>
        <p:nvSpPr>
          <p:cNvPr id="427" name="Rectangle 426"/>
          <p:cNvSpPr/>
          <p:nvPr/>
        </p:nvSpPr>
        <p:spPr>
          <a:xfrm>
            <a:off x="6738991" y="5125000"/>
            <a:ext cx="311051" cy="190000"/>
          </a:xfrm>
          <a:prstGeom prst="rect">
            <a:avLst/>
          </a:prstGeom>
          <a:solidFill>
            <a:srgbClr val="EB002C"/>
          </a:solidFill>
          <a:ln w="6350">
            <a:solidFill>
              <a:srgbClr val="FFFFFF"/>
            </a:solidFill>
          </a:ln>
        </p:spPr>
        <p:txBody>
          <a:bodyPr rtlCol="0" anchor="ctr" lIns="30000" rIns="30000" tIns="0" bIns="0" wrap="square"/>
          <a:lstStyle/>
          <a:p>
            <a:pPr algn="ctr"/>
            <a:r>
              <a:rPr sz="6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16</a:t>
            </a:r>
          </a:p>
        </p:txBody>
      </p:sp>
      <p:sp>
        <p:nvSpPr>
          <p:cNvPr id="428" name="Rectangle 427"/>
          <p:cNvSpPr/>
          <p:nvPr/>
        </p:nvSpPr>
        <p:spPr>
          <a:xfrm>
            <a:off x="7050043" y="5155000"/>
            <a:ext cx="60414" cy="130000"/>
          </a:xfrm>
          <a:prstGeom prst="rect">
            <a:avLst/>
          </a:prstGeom>
          <a:solidFill>
            <a:srgbClr val="FFF2CC"/>
          </a:solidFill>
          <a:ln w="5080">
            <a:solidFill>
              <a:srgbClr val="BF9000"/>
            </a:solidFill>
            <a:prstDash val="dash"/>
          </a:ln>
        </p:spPr>
        <p:txBody>
          <a:bodyPr rtlCol="0" anchor="ctr" lIns="30000" rIns="30000" tIns="0" bIns="0" wrap="square"/>
          <a:lstStyle/>
          <a:p>
            <a:pPr algn="ctr"/>
          </a:p>
        </p:txBody>
      </p:sp>
      <p:sp>
        <p:nvSpPr>
          <p:cNvPr id="429" name="Rectangle 428"/>
          <p:cNvSpPr/>
          <p:nvPr/>
        </p:nvSpPr>
        <p:spPr>
          <a:xfrm>
            <a:off x="7050043" y="5380000"/>
            <a:ext cx="213611" cy="120000"/>
          </a:xfrm>
          <a:prstGeom prst="rect">
            <a:avLst/>
          </a:prstGeom>
          <a:solidFill>
            <a:srgbClr val="548235"/>
          </a:solidFill>
          <a:ln>
            <a:noFill/>
          </a:ln>
        </p:spPr>
        <p:txBody>
          <a:bodyPr rtlCol="0" anchor="ctr" lIns="30000" rIns="30000" tIns="0" bIns="0" wrap="square"/>
          <a:lstStyle/>
          <a:p>
            <a:pPr algn="ctr"/>
          </a:p>
        </p:txBody>
      </p:sp>
      <p:sp>
        <p:nvSpPr>
          <p:cNvPr id="430" name="TextBox 429"/>
          <p:cNvSpPr txBox="1"/>
          <p:nvPr/>
        </p:nvSpPr>
        <p:spPr>
          <a:xfrm>
            <a:off x="6830043" y="5535000"/>
            <a:ext cx="440000" cy="15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540" b="1" i="0">
                <a:solidFill>
                  <a:srgbClr val="2E75B6"/>
                </a:solidFill>
                <a:latin typeface="Noto Sans KR"/>
                <a:ea typeface="Noto Sans KR"/>
                <a:cs typeface="Noto Sans KR"/>
              </a:rPr>
              <a:t>3,040</a:t>
            </a:r>
          </a:p>
        </p:txBody>
      </p:sp>
      <p:sp>
        <p:nvSpPr>
          <p:cNvPr id="431" name="Rectangle 430"/>
          <p:cNvSpPr/>
          <p:nvPr/>
        </p:nvSpPr>
        <p:spPr>
          <a:xfrm>
            <a:off x="7110457" y="5125000"/>
            <a:ext cx="311051" cy="190000"/>
          </a:xfrm>
          <a:prstGeom prst="rect">
            <a:avLst/>
          </a:prstGeom>
          <a:solidFill>
            <a:srgbClr val="EB002C"/>
          </a:solidFill>
          <a:ln w="6350">
            <a:solidFill>
              <a:srgbClr val="FFFFFF"/>
            </a:solidFill>
          </a:ln>
        </p:spPr>
        <p:txBody>
          <a:bodyPr rtlCol="0" anchor="ctr" lIns="30000" rIns="30000" tIns="0" bIns="0" wrap="square"/>
          <a:lstStyle/>
          <a:p>
            <a:pPr algn="ctr"/>
            <a:r>
              <a:rPr sz="6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17</a:t>
            </a:r>
          </a:p>
        </p:txBody>
      </p:sp>
      <p:sp>
        <p:nvSpPr>
          <p:cNvPr id="432" name="Rectangle 431"/>
          <p:cNvSpPr/>
          <p:nvPr/>
        </p:nvSpPr>
        <p:spPr>
          <a:xfrm>
            <a:off x="7421509" y="5155000"/>
            <a:ext cx="60414" cy="130000"/>
          </a:xfrm>
          <a:prstGeom prst="rect">
            <a:avLst/>
          </a:prstGeom>
          <a:solidFill>
            <a:srgbClr val="FFF2CC"/>
          </a:solidFill>
          <a:ln w="5080">
            <a:solidFill>
              <a:srgbClr val="BF9000"/>
            </a:solidFill>
            <a:prstDash val="dash"/>
          </a:ln>
        </p:spPr>
        <p:txBody>
          <a:bodyPr rtlCol="0" anchor="ctr" lIns="30000" rIns="30000" tIns="0" bIns="0" wrap="square"/>
          <a:lstStyle/>
          <a:p>
            <a:pPr algn="ctr"/>
          </a:p>
        </p:txBody>
      </p:sp>
      <p:sp>
        <p:nvSpPr>
          <p:cNvPr id="433" name="Rectangle 432"/>
          <p:cNvSpPr/>
          <p:nvPr/>
        </p:nvSpPr>
        <p:spPr>
          <a:xfrm>
            <a:off x="7421509" y="5380000"/>
            <a:ext cx="213611" cy="120000"/>
          </a:xfrm>
          <a:prstGeom prst="rect">
            <a:avLst/>
          </a:prstGeom>
          <a:solidFill>
            <a:srgbClr val="548235"/>
          </a:solidFill>
          <a:ln>
            <a:noFill/>
          </a:ln>
        </p:spPr>
        <p:txBody>
          <a:bodyPr rtlCol="0" anchor="ctr" lIns="30000" rIns="30000" tIns="0" bIns="0" wrap="square"/>
          <a:lstStyle/>
          <a:p>
            <a:pPr algn="ctr"/>
          </a:p>
        </p:txBody>
      </p:sp>
      <p:sp>
        <p:nvSpPr>
          <p:cNvPr id="434" name="TextBox 433"/>
          <p:cNvSpPr txBox="1"/>
          <p:nvPr/>
        </p:nvSpPr>
        <p:spPr>
          <a:xfrm>
            <a:off x="7201509" y="5535000"/>
            <a:ext cx="440000" cy="15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540" b="1" i="0">
                <a:solidFill>
                  <a:srgbClr val="2E75B6"/>
                </a:solidFill>
                <a:latin typeface="Noto Sans KR"/>
                <a:ea typeface="Noto Sans KR"/>
                <a:cs typeface="Noto Sans KR"/>
              </a:rPr>
              <a:t>3,230</a:t>
            </a:r>
          </a:p>
        </p:txBody>
      </p:sp>
      <p:sp>
        <p:nvSpPr>
          <p:cNvPr id="435" name="Rectangle 434"/>
          <p:cNvSpPr/>
          <p:nvPr/>
        </p:nvSpPr>
        <p:spPr>
          <a:xfrm>
            <a:off x="7481923" y="5125000"/>
            <a:ext cx="311051" cy="190000"/>
          </a:xfrm>
          <a:prstGeom prst="rect">
            <a:avLst/>
          </a:prstGeom>
          <a:solidFill>
            <a:srgbClr val="EB002C"/>
          </a:solidFill>
          <a:ln w="6350">
            <a:solidFill>
              <a:srgbClr val="FFFFFF"/>
            </a:solidFill>
          </a:ln>
        </p:spPr>
        <p:txBody>
          <a:bodyPr rtlCol="0" anchor="ctr" lIns="30000" rIns="30000" tIns="0" bIns="0" wrap="square"/>
          <a:lstStyle/>
          <a:p>
            <a:pPr algn="ctr"/>
            <a:r>
              <a:rPr sz="6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18</a:t>
            </a:r>
          </a:p>
        </p:txBody>
      </p:sp>
      <p:sp>
        <p:nvSpPr>
          <p:cNvPr id="436" name="Rectangle 435"/>
          <p:cNvSpPr/>
          <p:nvPr/>
        </p:nvSpPr>
        <p:spPr>
          <a:xfrm>
            <a:off x="7792975" y="5155000"/>
            <a:ext cx="60414" cy="130000"/>
          </a:xfrm>
          <a:prstGeom prst="rect">
            <a:avLst/>
          </a:prstGeom>
          <a:solidFill>
            <a:srgbClr val="FFF2CC"/>
          </a:solidFill>
          <a:ln w="5080">
            <a:solidFill>
              <a:srgbClr val="BF9000"/>
            </a:solidFill>
            <a:prstDash val="dash"/>
          </a:ln>
        </p:spPr>
        <p:txBody>
          <a:bodyPr rtlCol="0" anchor="ctr" lIns="30000" rIns="30000" tIns="0" bIns="0" wrap="square"/>
          <a:lstStyle/>
          <a:p>
            <a:pPr algn="ctr"/>
          </a:p>
        </p:txBody>
      </p:sp>
      <p:sp>
        <p:nvSpPr>
          <p:cNvPr id="437" name="Rectangle 436"/>
          <p:cNvSpPr/>
          <p:nvPr/>
        </p:nvSpPr>
        <p:spPr>
          <a:xfrm>
            <a:off x="7792975" y="5380000"/>
            <a:ext cx="213611" cy="120000"/>
          </a:xfrm>
          <a:prstGeom prst="rect">
            <a:avLst/>
          </a:prstGeom>
          <a:solidFill>
            <a:srgbClr val="548235"/>
          </a:solidFill>
          <a:ln>
            <a:noFill/>
          </a:ln>
        </p:spPr>
        <p:txBody>
          <a:bodyPr rtlCol="0" anchor="ctr" lIns="30000" rIns="30000" tIns="0" bIns="0" wrap="square"/>
          <a:lstStyle/>
          <a:p>
            <a:pPr algn="ctr"/>
          </a:p>
        </p:txBody>
      </p:sp>
      <p:sp>
        <p:nvSpPr>
          <p:cNvPr id="438" name="TextBox 437"/>
          <p:cNvSpPr txBox="1"/>
          <p:nvPr/>
        </p:nvSpPr>
        <p:spPr>
          <a:xfrm>
            <a:off x="7572975" y="5535000"/>
            <a:ext cx="440000" cy="15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540" b="1" i="0">
                <a:solidFill>
                  <a:srgbClr val="2E75B6"/>
                </a:solidFill>
                <a:latin typeface="Noto Sans KR"/>
                <a:ea typeface="Noto Sans KR"/>
                <a:cs typeface="Noto Sans KR"/>
              </a:rPr>
              <a:t>3,420</a:t>
            </a:r>
          </a:p>
        </p:txBody>
      </p:sp>
      <p:sp>
        <p:nvSpPr>
          <p:cNvPr id="439" name="Rectangle 438"/>
          <p:cNvSpPr/>
          <p:nvPr/>
        </p:nvSpPr>
        <p:spPr>
          <a:xfrm>
            <a:off x="7853389" y="5125000"/>
            <a:ext cx="311051" cy="190000"/>
          </a:xfrm>
          <a:prstGeom prst="rect">
            <a:avLst/>
          </a:prstGeom>
          <a:solidFill>
            <a:srgbClr val="EB002C"/>
          </a:solidFill>
          <a:ln w="6350">
            <a:solidFill>
              <a:srgbClr val="FFFFFF"/>
            </a:solidFill>
          </a:ln>
        </p:spPr>
        <p:txBody>
          <a:bodyPr rtlCol="0" anchor="ctr" lIns="30000" rIns="30000" tIns="0" bIns="0" wrap="square"/>
          <a:lstStyle/>
          <a:p>
            <a:pPr algn="ctr"/>
            <a:r>
              <a:rPr sz="6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19</a:t>
            </a:r>
          </a:p>
        </p:txBody>
      </p:sp>
      <p:sp>
        <p:nvSpPr>
          <p:cNvPr id="440" name="Rectangle 439"/>
          <p:cNvSpPr/>
          <p:nvPr/>
        </p:nvSpPr>
        <p:spPr>
          <a:xfrm>
            <a:off x="8164441" y="5155000"/>
            <a:ext cx="60414" cy="130000"/>
          </a:xfrm>
          <a:prstGeom prst="rect">
            <a:avLst/>
          </a:prstGeom>
          <a:solidFill>
            <a:srgbClr val="FFF2CC"/>
          </a:solidFill>
          <a:ln w="5080">
            <a:solidFill>
              <a:srgbClr val="BF9000"/>
            </a:solidFill>
            <a:prstDash val="dash"/>
          </a:ln>
        </p:spPr>
        <p:txBody>
          <a:bodyPr rtlCol="0" anchor="ctr" lIns="30000" rIns="30000" tIns="0" bIns="0" wrap="square"/>
          <a:lstStyle/>
          <a:p>
            <a:pPr algn="ctr"/>
          </a:p>
        </p:txBody>
      </p:sp>
      <p:sp>
        <p:nvSpPr>
          <p:cNvPr id="441" name="Rectangle 440"/>
          <p:cNvSpPr/>
          <p:nvPr/>
        </p:nvSpPr>
        <p:spPr>
          <a:xfrm>
            <a:off x="8164441" y="5380000"/>
            <a:ext cx="213611" cy="120000"/>
          </a:xfrm>
          <a:prstGeom prst="rect">
            <a:avLst/>
          </a:prstGeom>
          <a:solidFill>
            <a:srgbClr val="548235"/>
          </a:solidFill>
          <a:ln>
            <a:noFill/>
          </a:ln>
        </p:spPr>
        <p:txBody>
          <a:bodyPr rtlCol="0" anchor="ctr" lIns="30000" rIns="30000" tIns="0" bIns="0" wrap="square"/>
          <a:lstStyle/>
          <a:p>
            <a:pPr algn="ctr"/>
          </a:p>
        </p:txBody>
      </p:sp>
      <p:sp>
        <p:nvSpPr>
          <p:cNvPr id="442" name="TextBox 441"/>
          <p:cNvSpPr txBox="1"/>
          <p:nvPr/>
        </p:nvSpPr>
        <p:spPr>
          <a:xfrm>
            <a:off x="7944441" y="5535000"/>
            <a:ext cx="440000" cy="15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540" b="1" i="0">
                <a:solidFill>
                  <a:srgbClr val="2E75B6"/>
                </a:solidFill>
                <a:latin typeface="Noto Sans KR"/>
                <a:ea typeface="Noto Sans KR"/>
                <a:cs typeface="Noto Sans KR"/>
              </a:rPr>
              <a:t>3,610</a:t>
            </a:r>
          </a:p>
        </p:txBody>
      </p:sp>
      <p:sp>
        <p:nvSpPr>
          <p:cNvPr id="443" name="Rectangle 442"/>
          <p:cNvSpPr/>
          <p:nvPr/>
        </p:nvSpPr>
        <p:spPr>
          <a:xfrm>
            <a:off x="8224855" y="5125000"/>
            <a:ext cx="311051" cy="190000"/>
          </a:xfrm>
          <a:prstGeom prst="rect">
            <a:avLst/>
          </a:prstGeom>
          <a:solidFill>
            <a:srgbClr val="EB002C"/>
          </a:solidFill>
          <a:ln w="6350">
            <a:solidFill>
              <a:srgbClr val="FFFFFF"/>
            </a:solidFill>
          </a:ln>
        </p:spPr>
        <p:txBody>
          <a:bodyPr rtlCol="0" anchor="ctr" lIns="30000" rIns="30000" tIns="0" bIns="0" wrap="square"/>
          <a:lstStyle/>
          <a:p>
            <a:pPr algn="ctr"/>
            <a:r>
              <a:rPr sz="6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20</a:t>
            </a:r>
          </a:p>
        </p:txBody>
      </p:sp>
      <p:sp>
        <p:nvSpPr>
          <p:cNvPr id="444" name="Rectangle 443"/>
          <p:cNvSpPr/>
          <p:nvPr/>
        </p:nvSpPr>
        <p:spPr>
          <a:xfrm>
            <a:off x="8535907" y="5155000"/>
            <a:ext cx="60414" cy="130000"/>
          </a:xfrm>
          <a:prstGeom prst="rect">
            <a:avLst/>
          </a:prstGeom>
          <a:solidFill>
            <a:srgbClr val="FFF2CC"/>
          </a:solidFill>
          <a:ln w="5080">
            <a:solidFill>
              <a:srgbClr val="BF9000"/>
            </a:solidFill>
            <a:prstDash val="dash"/>
          </a:ln>
        </p:spPr>
        <p:txBody>
          <a:bodyPr rtlCol="0" anchor="ctr" lIns="30000" rIns="30000" tIns="0" bIns="0" wrap="square"/>
          <a:lstStyle/>
          <a:p>
            <a:pPr algn="ctr"/>
          </a:p>
        </p:txBody>
      </p:sp>
      <p:sp>
        <p:nvSpPr>
          <p:cNvPr id="445" name="Rectangle 444"/>
          <p:cNvSpPr/>
          <p:nvPr/>
        </p:nvSpPr>
        <p:spPr>
          <a:xfrm>
            <a:off x="8535907" y="5380000"/>
            <a:ext cx="213611" cy="120000"/>
          </a:xfrm>
          <a:prstGeom prst="rect">
            <a:avLst/>
          </a:prstGeom>
          <a:solidFill>
            <a:srgbClr val="548235"/>
          </a:solidFill>
          <a:ln>
            <a:noFill/>
          </a:ln>
        </p:spPr>
        <p:txBody>
          <a:bodyPr rtlCol="0" anchor="ctr" lIns="30000" rIns="30000" tIns="0" bIns="0" wrap="square"/>
          <a:lstStyle/>
          <a:p>
            <a:pPr algn="ctr"/>
          </a:p>
        </p:txBody>
      </p:sp>
      <p:sp>
        <p:nvSpPr>
          <p:cNvPr id="446" name="TextBox 445"/>
          <p:cNvSpPr txBox="1"/>
          <p:nvPr/>
        </p:nvSpPr>
        <p:spPr>
          <a:xfrm>
            <a:off x="8315907" y="5535000"/>
            <a:ext cx="440000" cy="15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540" b="1" i="0">
                <a:solidFill>
                  <a:srgbClr val="2E75B6"/>
                </a:solidFill>
                <a:latin typeface="Noto Sans KR"/>
                <a:ea typeface="Noto Sans KR"/>
                <a:cs typeface="Noto Sans KR"/>
              </a:rPr>
              <a:t>3,800</a:t>
            </a:r>
          </a:p>
        </p:txBody>
      </p:sp>
      <p:sp>
        <p:nvSpPr>
          <p:cNvPr id="447" name="Rectangle 446"/>
          <p:cNvSpPr/>
          <p:nvPr/>
        </p:nvSpPr>
        <p:spPr>
          <a:xfrm>
            <a:off x="8596322" y="5125000"/>
            <a:ext cx="260677" cy="190000"/>
          </a:xfrm>
          <a:prstGeom prst="rect">
            <a:avLst/>
          </a:prstGeom>
          <a:solidFill>
            <a:srgbClr val="FDEDF0"/>
          </a:solidFill>
          <a:ln w="6350">
            <a:solidFill>
              <a:srgbClr val="EB002C"/>
            </a:solidFill>
            <a:prstDash val="dash"/>
          </a:ln>
        </p:spPr>
        <p:txBody>
          <a:bodyPr rtlCol="0" anchor="ctr" lIns="30000" rIns="30000" tIns="0" bIns="0" wrap="square"/>
          <a:lstStyle/>
          <a:p>
            <a:pPr algn="ctr"/>
            <a:r>
              <a:rPr sz="600" b="1" i="0">
                <a:solidFill>
                  <a:srgbClr val="EB002C"/>
                </a:solidFill>
                <a:latin typeface="Noto Sans KR"/>
                <a:ea typeface="Noto Sans KR"/>
                <a:cs typeface="Noto Sans KR"/>
              </a:rPr>
              <a:t>21→</a:t>
            </a:r>
          </a:p>
        </p:txBody>
      </p:sp>
      <p:sp>
        <p:nvSpPr>
          <p:cNvPr id="448" name="Rectangle 447"/>
          <p:cNvSpPr/>
          <p:nvPr/>
        </p:nvSpPr>
        <p:spPr>
          <a:xfrm>
            <a:off x="6437000" y="4640000"/>
            <a:ext cx="150000" cy="100000"/>
          </a:xfrm>
          <a:prstGeom prst="rect">
            <a:avLst/>
          </a:prstGeom>
          <a:solidFill>
            <a:srgbClr val="EB002C"/>
          </a:solidFill>
          <a:ln>
            <a:noFill/>
          </a:ln>
        </p:spPr>
        <p:txBody>
          <a:bodyPr rtlCol="0" anchor="ctr" lIns="30000" rIns="30000" tIns="0" bIns="0" wrap="square"/>
          <a:lstStyle/>
          <a:p>
            <a:pPr algn="ctr"/>
          </a:p>
        </p:txBody>
      </p:sp>
      <p:sp>
        <p:nvSpPr>
          <p:cNvPr id="449" name="TextBox 448"/>
          <p:cNvSpPr txBox="1"/>
          <p:nvPr/>
        </p:nvSpPr>
        <p:spPr>
          <a:xfrm>
            <a:off x="6617000" y="4615000"/>
            <a:ext cx="9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600" b="0" i="0">
                <a:solidFill>
                  <a:srgbClr val="3F3F3F"/>
                </a:solidFill>
                <a:latin typeface="Noto Sans KR"/>
                <a:ea typeface="Noto Sans KR"/>
                <a:cs typeface="Noto Sans KR"/>
              </a:rPr>
              <a:t>정제 29.1 h (필요)</a:t>
            </a:r>
          </a:p>
        </p:txBody>
      </p:sp>
      <p:sp>
        <p:nvSpPr>
          <p:cNvPr id="450" name="Rectangle 449"/>
          <p:cNvSpPr/>
          <p:nvPr/>
        </p:nvSpPr>
        <p:spPr>
          <a:xfrm>
            <a:off x="7317000" y="4640000"/>
            <a:ext cx="150000" cy="100000"/>
          </a:xfrm>
          <a:prstGeom prst="rect">
            <a:avLst/>
          </a:prstGeom>
          <a:solidFill>
            <a:srgbClr val="FFF2CC"/>
          </a:solidFill>
          <a:ln w="6350">
            <a:solidFill>
              <a:srgbClr val="BF9000"/>
            </a:solidFill>
            <a:prstDash val="dash"/>
          </a:ln>
        </p:spPr>
        <p:txBody>
          <a:bodyPr rtlCol="0" anchor="ctr" lIns="30000" rIns="30000" tIns="0" bIns="0" wrap="square"/>
          <a:lstStyle/>
          <a:p>
            <a:pPr algn="ctr"/>
          </a:p>
        </p:txBody>
      </p:sp>
      <p:sp>
        <p:nvSpPr>
          <p:cNvPr id="451" name="TextBox 450"/>
          <p:cNvSpPr txBox="1"/>
          <p:nvPr/>
        </p:nvSpPr>
        <p:spPr>
          <a:xfrm>
            <a:off x="7497000" y="4615000"/>
            <a:ext cx="9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600" b="0" i="0">
                <a:solidFill>
                  <a:srgbClr val="3F3F3F"/>
                </a:solidFill>
                <a:latin typeface="Noto Sans KR"/>
                <a:ea typeface="Noto Sans KR"/>
                <a:cs typeface="Noto Sans KR"/>
              </a:rPr>
              <a:t>정제 외</a:t>
            </a:r>
          </a:p>
        </p:txBody>
      </p:sp>
      <p:sp>
        <p:nvSpPr>
          <p:cNvPr id="452" name="Rectangle 451"/>
          <p:cNvSpPr/>
          <p:nvPr/>
        </p:nvSpPr>
        <p:spPr>
          <a:xfrm>
            <a:off x="7937000" y="4640000"/>
            <a:ext cx="150000" cy="100000"/>
          </a:xfrm>
          <a:prstGeom prst="rect">
            <a:avLst/>
          </a:prstGeom>
          <a:solidFill>
            <a:srgbClr val="548235"/>
          </a:solidFill>
          <a:ln>
            <a:noFill/>
          </a:ln>
        </p:spPr>
        <p:txBody>
          <a:bodyPr rtlCol="0" anchor="ctr" lIns="30000" rIns="30000" tIns="0" bIns="0" wrap="square"/>
          <a:lstStyle/>
          <a:p>
            <a:pPr algn="ctr"/>
          </a:p>
        </p:txBody>
      </p:sp>
      <p:sp>
        <p:nvSpPr>
          <p:cNvPr id="453" name="TextBox 452"/>
          <p:cNvSpPr txBox="1"/>
          <p:nvPr/>
        </p:nvSpPr>
        <p:spPr>
          <a:xfrm>
            <a:off x="8117000" y="4615000"/>
            <a:ext cx="9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600" b="0" i="0">
                <a:solidFill>
                  <a:srgbClr val="3F3F3F"/>
                </a:solidFill>
                <a:latin typeface="Noto Sans KR"/>
                <a:ea typeface="Noto Sans KR"/>
                <a:cs typeface="Noto Sans KR"/>
              </a:rPr>
              <a:t>충진 20 h</a:t>
            </a:r>
          </a:p>
        </p:txBody>
      </p:sp>
      <p:sp>
        <p:nvSpPr>
          <p:cNvPr id="454" name="Rectangle 453"/>
          <p:cNvSpPr/>
          <p:nvPr/>
        </p:nvSpPr>
        <p:spPr>
          <a:xfrm>
            <a:off x="287000" y="5735000"/>
            <a:ext cx="2090000" cy="420000"/>
          </a:xfrm>
          <a:prstGeom prst="rect">
            <a:avLst/>
          </a:prstGeom>
          <a:solidFill>
            <a:srgbClr val="FDEDF0"/>
          </a:solidFill>
          <a:ln w="12700">
            <a:solidFill>
              <a:srgbClr val="EB002C"/>
            </a:solidFill>
          </a:ln>
        </p:spPr>
        <p:txBody>
          <a:bodyPr rtlCol="0" anchor="ctr" lIns="30000" rIns="30000" tIns="0" bIns="0" wrap="square"/>
          <a:lstStyle/>
          <a:p>
            <a:pPr algn="ctr"/>
          </a:p>
        </p:txBody>
      </p:sp>
      <p:sp>
        <p:nvSpPr>
          <p:cNvPr id="455" name="TextBox 454"/>
          <p:cNvSpPr txBox="1"/>
          <p:nvPr/>
        </p:nvSpPr>
        <p:spPr>
          <a:xfrm>
            <a:off x="327000" y="5755000"/>
            <a:ext cx="2010000" cy="4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전제</a:t>
            </a:r>
          </a:p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EB002C"/>
                </a:solidFill>
                <a:latin typeface="Noto Sans KR"/>
                <a:ea typeface="Noto Sans KR"/>
                <a:cs typeface="Noto Sans KR"/>
              </a:rPr>
              <a:t>~'27.6 26.2톤 → '27.7~ 47.2톤</a:t>
            </a:r>
          </a:p>
          <a:p>
            <a:pPr algn="ctr">
              <a:spcAft>
                <a:spcPts val="0"/>
              </a:spcAft>
            </a:pPr>
            <a:r>
              <a:rPr sz="580" b="0" i="0">
                <a:solidFill>
                  <a:srgbClr val="7F7F7F"/>
                </a:solidFill>
                <a:latin typeface="Noto Sans KR"/>
                <a:ea typeface="Noto Sans KR"/>
                <a:cs typeface="Noto Sans KR"/>
              </a:rPr>
              <a:t>연 기준 생산 가능 · 190 kg/Batch 유지</a:t>
            </a:r>
          </a:p>
        </p:txBody>
      </p:sp>
      <p:sp>
        <p:nvSpPr>
          <p:cNvPr id="456" name="Rectangle 455"/>
          <p:cNvSpPr/>
          <p:nvPr/>
        </p:nvSpPr>
        <p:spPr>
          <a:xfrm>
            <a:off x="2447000" y="5735000"/>
            <a:ext cx="209000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7F7F7F"/>
            </a:solidFill>
            <a:prstDash val="dash"/>
          </a:ln>
        </p:spPr>
        <p:txBody>
          <a:bodyPr rtlCol="0" anchor="ctr" lIns="30000" rIns="30000" tIns="0" bIns="0" wrap="square"/>
          <a:lstStyle/>
          <a:p>
            <a:pPr algn="ctr"/>
          </a:p>
        </p:txBody>
      </p:sp>
      <p:sp>
        <p:nvSpPr>
          <p:cNvPr id="457" name="TextBox 456"/>
          <p:cNvSpPr txBox="1"/>
          <p:nvPr/>
        </p:nvSpPr>
        <p:spPr>
          <a:xfrm>
            <a:off x="2487000" y="5755000"/>
            <a:ext cx="2010000" cy="4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필요 사이클</a:t>
            </a:r>
          </a:p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3F3F3F"/>
                </a:solidFill>
                <a:latin typeface="Noto Sans KR"/>
                <a:ea typeface="Noto Sans KR"/>
                <a:cs typeface="Noto Sans KR"/>
              </a:rPr>
              <a:t>34.8 h</a:t>
            </a:r>
          </a:p>
          <a:p>
            <a:pPr algn="ctr">
              <a:spcAft>
                <a:spcPts val="0"/>
              </a:spcAft>
            </a:pPr>
            <a:r>
              <a:rPr sz="580" b="0" i="0">
                <a:solidFill>
                  <a:srgbClr val="7F7F7F"/>
                </a:solidFill>
                <a:latin typeface="Noto Sans KR"/>
                <a:ea typeface="Noto Sans KR"/>
                <a:cs typeface="Noto Sans KR"/>
              </a:rPr>
              <a:t>720 h ÷ 월 20.7 Batch · 30일 20 Batch</a:t>
            </a:r>
          </a:p>
        </p:txBody>
      </p:sp>
      <p:sp>
        <p:nvSpPr>
          <p:cNvPr id="458" name="Rectangle 457"/>
          <p:cNvSpPr/>
          <p:nvPr/>
        </p:nvSpPr>
        <p:spPr>
          <a:xfrm>
            <a:off x="4607000" y="5735000"/>
            <a:ext cx="2090000" cy="420000"/>
          </a:xfrm>
          <a:prstGeom prst="rect">
            <a:avLst/>
          </a:prstGeom>
          <a:solidFill>
            <a:srgbClr val="FDEDF0"/>
          </a:solidFill>
          <a:ln w="12700">
            <a:solidFill>
              <a:srgbClr val="EB002C"/>
            </a:solidFill>
          </a:ln>
        </p:spPr>
        <p:txBody>
          <a:bodyPr rtlCol="0" anchor="ctr" lIns="30000" rIns="30000" tIns="0" bIns="0" wrap="square"/>
          <a:lstStyle/>
          <a:p>
            <a:pPr algn="ctr"/>
          </a:p>
        </p:txBody>
      </p:sp>
      <p:sp>
        <p:nvSpPr>
          <p:cNvPr id="459" name="TextBox 458"/>
          <p:cNvSpPr txBox="1"/>
          <p:nvPr/>
        </p:nvSpPr>
        <p:spPr>
          <a:xfrm>
            <a:off x="4647000" y="5755000"/>
            <a:ext cx="2010000" cy="4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필요 정제시간</a:t>
            </a:r>
          </a:p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EB002C"/>
                </a:solidFill>
                <a:latin typeface="Noto Sans KR"/>
                <a:ea typeface="Noto Sans KR"/>
                <a:cs typeface="Noto Sans KR"/>
              </a:rPr>
              <a:t>약 29 h (28.7~31.6)</a:t>
            </a:r>
          </a:p>
          <a:p>
            <a:pPr algn="ctr">
              <a:spcAft>
                <a:spcPts val="0"/>
              </a:spcAft>
            </a:pPr>
            <a:r>
              <a:rPr sz="580" b="0" i="0">
                <a:solidFill>
                  <a:srgbClr val="7F7F7F"/>
                </a:solidFill>
                <a:latin typeface="Noto Sans KR"/>
                <a:ea typeface="Noto Sans KR"/>
                <a:cs typeface="Noto Sans KR"/>
              </a:rPr>
              <a:t>57 h 대비 약 −49% · 생산성 1.80배</a:t>
            </a:r>
          </a:p>
        </p:txBody>
      </p:sp>
      <p:sp>
        <p:nvSpPr>
          <p:cNvPr id="460" name="Rectangle 459"/>
          <p:cNvSpPr/>
          <p:nvPr/>
        </p:nvSpPr>
        <p:spPr>
          <a:xfrm>
            <a:off x="6767000" y="5735000"/>
            <a:ext cx="2090000" cy="420000"/>
          </a:xfrm>
          <a:prstGeom prst="rect">
            <a:avLst/>
          </a:prstGeom>
          <a:solidFill>
            <a:srgbClr val="FBE5D6"/>
          </a:solidFill>
          <a:ln w="12700">
            <a:solidFill>
              <a:srgbClr val="ED7D31"/>
            </a:solidFill>
            <a:prstDash val="dash"/>
          </a:ln>
        </p:spPr>
        <p:txBody>
          <a:bodyPr rtlCol="0" anchor="ctr" lIns="30000" rIns="30000" tIns="0" bIns="0" wrap="square"/>
          <a:lstStyle/>
          <a:p>
            <a:pPr algn="ctr"/>
          </a:p>
        </p:txBody>
      </p:sp>
      <p:sp>
        <p:nvSpPr>
          <p:cNvPr id="461" name="TextBox 460"/>
          <p:cNvSpPr txBox="1"/>
          <p:nvPr/>
        </p:nvSpPr>
        <p:spPr>
          <a:xfrm>
            <a:off x="6807000" y="5755000"/>
            <a:ext cx="2010000" cy="4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105℃ 검토안</a:t>
            </a:r>
          </a:p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ED7D31"/>
                </a:solidFill>
                <a:latin typeface="Noto Sans KR"/>
                <a:ea typeface="Noto Sans KR"/>
                <a:cs typeface="Noto Sans KR"/>
              </a:rPr>
              <a:t>50.2톤 (미확정)</a:t>
            </a:r>
          </a:p>
          <a:p>
            <a:pPr algn="ctr">
              <a:spcAft>
                <a:spcPts val="0"/>
              </a:spcAft>
            </a:pPr>
            <a:r>
              <a:rPr sz="580" b="0" i="0">
                <a:solidFill>
                  <a:srgbClr val="7F7F7F"/>
                </a:solidFill>
                <a:latin typeface="Noto Sans KR"/>
                <a:ea typeface="Noto Sans KR"/>
                <a:cs typeface="Noto Sans KR"/>
              </a:rPr>
              <a:t>47.2톤과 별도 · 검증·승인 필요</a:t>
            </a:r>
          </a:p>
        </p:txBody>
      </p:sp>
    </p:spTree>
    <p:extLst>
      <p:ext uri="{BB962C8B-B14F-4D97-AF65-F5344CB8AC3E}">
        <p14:creationId xmlns:p14="http://schemas.microsoft.com/office/powerpoint/2010/main" val="129899069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2BE96E-E472-E164-23F2-95F3E9DCB4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5E2DD2F-BCF5-ECAE-E5D5-3CF0B6E970A6}"/>
              </a:ext>
            </a:extLst>
          </p:cNvPr>
          <p:cNvSpPr txBox="1"/>
          <p:nvPr/>
        </p:nvSpPr>
        <p:spPr>
          <a:xfrm>
            <a:off x="419241" y="188640"/>
            <a:ext cx="740000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algn="ctr">
              <a:defRPr kumimoji="1" sz="2800" b="1">
                <a:solidFill>
                  <a:schemeClr val="tx1">
                    <a:lumMod val="95000"/>
                    <a:lumOff val="5000"/>
                  </a:schemeClr>
                </a:solidFill>
                <a:latin typeface="Noto Sans KR" pitchFamily="2" charset="-127"/>
                <a:ea typeface="Noto Sans KR" pitchFamily="2" charset="-127"/>
              </a:defRPr>
            </a:lvl1pPr>
          </a:lstStyle>
          <a:p>
            <a:pPr algn="l"/>
            <a:r>
              <a:rPr lang="en-US" altLang="ko-KR" sz="1800" dirty="0" b="1">
                <a:gradFill>
                  <a:gsLst>
                    <a:gs pos="0">
                      <a:srgbClr val="FF7900"/>
                    </a:gs>
                    <a:gs pos="67000">
                      <a:srgbClr val="EB002C"/>
                    </a:gs>
                  </a:gsLst>
                  <a:lin ang="5400000" scaled="1"/>
                </a:gradFill>
              </a:rPr>
              <a:t>과거 Batch 일정과 병렬 운영 생산능력 추정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5E334A9-F66D-C6A4-7BE9-6D50F9536A48}"/>
              </a:ext>
            </a:extLst>
          </p:cNvPr>
          <p:cNvSpPr/>
          <p:nvPr/>
        </p:nvSpPr>
        <p:spPr>
          <a:xfrm>
            <a:off x="243076" y="0"/>
            <a:ext cx="45719" cy="900000"/>
          </a:xfrm>
          <a:prstGeom prst="rect">
            <a:avLst/>
          </a:prstGeom>
          <a:solidFill>
            <a:srgbClr val="EB002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2E35880-4093-876B-A5F4-41C1E861B78E}"/>
              </a:ext>
            </a:extLst>
          </p:cNvPr>
          <p:cNvSpPr txBox="1"/>
          <p:nvPr/>
        </p:nvSpPr>
        <p:spPr>
          <a:xfrm>
            <a:off x="683568" y="649029"/>
            <a:ext cx="8217356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algn="ctr">
              <a:defRPr kumimoji="1" sz="2800" b="1">
                <a:solidFill>
                  <a:schemeClr val="tx1">
                    <a:lumMod val="95000"/>
                    <a:lumOff val="5000"/>
                  </a:schemeClr>
                </a:solidFill>
                <a:latin typeface="Noto Sans KR" pitchFamily="2" charset="-127"/>
                <a:ea typeface="Noto Sans KR" pitchFamily="2" charset="-127"/>
              </a:defRPr>
            </a:lvl1pPr>
          </a:lstStyle>
          <a:p>
            <a:pPr algn="l"/>
            <a:r>
              <a:rPr lang="en-US" altLang="ko-KR" sz="1600" dirty="0"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6/2 #39 ~ 10/29 #92 표시일자 분석 · 추정 실효 간격 약 67.5 h · 월 약 10.7 Batch</a:t>
            </a:r>
            <a:endParaRPr lang="en-US" altLang="ko-KR" sz="1600" dirty="0">
              <a:solidFill>
                <a:srgbClr val="FB6306"/>
              </a:solidFill>
              <a:latin typeface="Noto Sans KR" panose="02000503000000020004" pitchFamily="2" charset="-127"/>
              <a:ea typeface="Noto Sans KR" panose="02000503000000020004" pitchFamily="2" charset="-127"/>
              <a:cs typeface="Noto Sans KR" panose="02000503000000020004" pitchFamily="2" charset="-127"/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8FCEA6BD-DE04-59B4-A8D4-190141D5218B}"/>
              </a:ext>
            </a:extLst>
          </p:cNvPr>
          <p:cNvSpPr>
            <a:spLocks noChangeAspect="1"/>
          </p:cNvSpPr>
          <p:nvPr/>
        </p:nvSpPr>
        <p:spPr>
          <a:xfrm>
            <a:off x="419241" y="682139"/>
            <a:ext cx="180000" cy="180000"/>
          </a:xfrm>
          <a:prstGeom prst="ellipse">
            <a:avLst/>
          </a:prstGeom>
          <a:solidFill>
            <a:srgbClr val="EB002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 b="1" dirty="0">
                <a:latin typeface="Noto Sans KR" pitchFamily="2" charset="-127"/>
                <a:ea typeface="Noto Sans KR" pitchFamily="2" charset="-127"/>
              </a:rPr>
              <a:t>3</a:t>
            </a:r>
            <a:endParaRPr kumimoji="1" lang="ko-KR" altLang="en-US" sz="1000" b="1" dirty="0">
              <a:latin typeface="Noto Sans KR" pitchFamily="2" charset="-127"/>
              <a:ea typeface="Noto Sans KR" pitchFamily="2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B8A963E8-7BFA-8421-BB5D-9C25023F1E9B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8384" y="165102"/>
            <a:ext cx="872541" cy="372545"/>
          </a:xfrm>
          <a:prstGeom prst="rect">
            <a:avLst/>
          </a:prstGeom>
        </p:spPr>
      </p:pic>
      <p:sp>
        <p:nvSpPr>
          <p:cNvPr id="161" name="직사각형 160">
            <a:extLst>
              <a:ext uri="{FF2B5EF4-FFF2-40B4-BE49-F238E27FC236}">
                <a16:creationId xmlns:a16="http://schemas.microsoft.com/office/drawing/2014/main" id="{93943A90-8311-883B-A173-01407C63CEE4}"/>
              </a:ext>
            </a:extLst>
          </p:cNvPr>
          <p:cNvSpPr/>
          <p:nvPr/>
        </p:nvSpPr>
        <p:spPr>
          <a:xfrm>
            <a:off x="234424" y="6411907"/>
            <a:ext cx="1027462" cy="252555"/>
          </a:xfrm>
          <a:prstGeom prst="rect">
            <a:avLst/>
          </a:prstGeom>
          <a:noFill/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ko-KR" sz="1100" dirty="0">
                <a:solidFill>
                  <a:schemeClr val="bg1">
                    <a:lumMod val="50000"/>
                  </a:schemeClr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Confidential</a:t>
            </a:r>
            <a:endParaRPr kumimoji="1" lang="ko-KR" altLang="en-US" sz="1100" dirty="0">
              <a:solidFill>
                <a:schemeClr val="bg1">
                  <a:lumMod val="50000"/>
                </a:schemeClr>
              </a:solidFill>
              <a:latin typeface="Noto Sans KR" panose="02000503000000020004" pitchFamily="2" charset="-127"/>
              <a:ea typeface="Noto Sans KR" panose="02000503000000020004" pitchFamily="2" charset="-127"/>
              <a:cs typeface="Noto Sans KR" panose="02000503000000020004" pitchFamily="2" charset="-127"/>
            </a:endParaRPr>
          </a:p>
        </p:txBody>
      </p:sp>
      <p:cxnSp>
        <p:nvCxnSpPr>
          <p:cNvPr id="163" name="직선 연결선[R] 162">
            <a:extLst>
              <a:ext uri="{FF2B5EF4-FFF2-40B4-BE49-F238E27FC236}">
                <a16:creationId xmlns:a16="http://schemas.microsoft.com/office/drawing/2014/main" id="{8DEBABA2-333E-086B-36F6-137958AA3974}"/>
              </a:ext>
            </a:extLst>
          </p:cNvPr>
          <p:cNvCxnSpPr>
            <a:cxnSpLocks/>
          </p:cNvCxnSpPr>
          <p:nvPr/>
        </p:nvCxnSpPr>
        <p:spPr>
          <a:xfrm>
            <a:off x="1442533" y="6538184"/>
            <a:ext cx="7200800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8D53F489-CBFB-4C6F-878D-02975AD51256}"/>
              </a:ext>
            </a:extLst>
          </p:cNvPr>
          <p:cNvSpPr txBox="1"/>
          <p:nvPr/>
        </p:nvSpPr>
        <p:spPr>
          <a:xfrm>
            <a:off x="3972000" y="6461240"/>
            <a:ext cx="1200000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kumimoji="1" lang="en-US" altLang="ko-KR" sz="1000" dirty="0" b="0" i="0">
                <a:solidFill>
                  <a:srgbClr val="7F7F7F"/>
                </a:solidFill>
                <a:latin typeface="Noto Sans KR" panose="02000403000000020004" pitchFamily="2" charset="-127"/>
                <a:ea typeface="Noto Sans KR" panose="02000403000000020004" pitchFamily="2" charset="-127"/>
                <a:cs typeface="Noto Sans KR" panose="02000403000000020004" pitchFamily="2" charset="-127"/>
              </a:rPr>
              <a:t>- 3 -</a:t>
            </a:r>
            <a:endParaRPr kumimoji="1" lang="ko-KR" altLang="en-US" sz="1000" dirty="0">
              <a:solidFill>
                <a:schemeClr val="bg1">
                  <a:lumMod val="50000"/>
                </a:schemeClr>
              </a:solidFill>
              <a:latin typeface="Noto Sans KR" panose="02000403000000020004" pitchFamily="2" charset="-127"/>
              <a:ea typeface="Noto Sans KR" panose="02000403000000020004" pitchFamily="2" charset="-127"/>
              <a:cs typeface="Noto Sans KR" panose="02000403000000020004" pitchFamily="2" charset="-127"/>
            </a:endParaRPr>
          </a:p>
        </p:txBody>
      </p:sp>
      <p:sp>
        <p:nvSpPr>
          <p:cNvPr id="164" name="TextBox 163"/>
          <p:cNvSpPr txBox="1"/>
          <p:nvPr/>
        </p:nvSpPr>
        <p:spPr>
          <a:xfrm>
            <a:off x="5657000" y="6300000"/>
            <a:ext cx="32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7F7F7F"/>
                </a:solidFill>
                <a:latin typeface="Noto Sans KR"/>
                <a:ea typeface="Noto Sans KR"/>
                <a:cs typeface="Noto Sans KR"/>
              </a:rPr>
              <a:t>공란 : 담당부서 확인 후 입력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287000" y="980000"/>
            <a:ext cx="50000" cy="165000"/>
          </a:xfrm>
          <a:prstGeom prst="rect">
            <a:avLst/>
          </a:prstGeom>
          <a:solidFill>
            <a:srgbClr val="EB002C"/>
          </a:solidFill>
          <a:ln>
            <a:noFill/>
          </a:ln>
        </p:spPr>
        <p:txBody>
          <a:bodyPr rtlCol="0" anchor="ctr" lIns="30000" rIns="30000" tIns="0" bIns="0" wrap="square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397000" y="950000"/>
            <a:ext cx="8000000" cy="2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① Batch 표시일자 분포</a:t>
            </a:r>
            <a:r>
              <a:rPr sz="700" b="0" i="0">
                <a:solidFill>
                  <a:srgbClr val="7F7F7F"/>
                </a:solidFill>
                <a:latin typeface="Noto Sans KR"/>
                <a:ea typeface="Noto Sans KR"/>
                <a:cs typeface="Noto Sans KR"/>
              </a:rPr>
              <a:t>   원자료 생산계획 · 표시일자 의미(투입/완료) 미확정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755548" y="1180000"/>
            <a:ext cx="240000" cy="1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600" b="0" i="0">
                <a:solidFill>
                  <a:srgbClr val="7F7F7F"/>
                </a:solidFill>
                <a:latin typeface="Noto Sans KR"/>
                <a:ea typeface="Noto Sans KR"/>
                <a:cs typeface="Noto Sans KR"/>
              </a:rPr>
              <a:t>1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1989419" y="1180000"/>
            <a:ext cx="240000" cy="1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600" b="0" i="0">
                <a:solidFill>
                  <a:srgbClr val="7F7F7F"/>
                </a:solidFill>
                <a:latin typeface="Noto Sans KR"/>
                <a:ea typeface="Noto Sans KR"/>
                <a:cs typeface="Noto Sans KR"/>
              </a:rPr>
              <a:t>10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3360387" y="1180000"/>
            <a:ext cx="240000" cy="1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600" b="0" i="0">
                <a:solidFill>
                  <a:srgbClr val="7F7F7F"/>
                </a:solidFill>
                <a:latin typeface="Noto Sans KR"/>
                <a:ea typeface="Noto Sans KR"/>
                <a:cs typeface="Noto Sans KR"/>
              </a:rPr>
              <a:t>20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4868451" y="1180000"/>
            <a:ext cx="240000" cy="1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600" b="0" i="0">
                <a:solidFill>
                  <a:srgbClr val="7F7F7F"/>
                </a:solidFill>
                <a:latin typeface="Noto Sans KR"/>
                <a:ea typeface="Noto Sans KR"/>
                <a:cs typeface="Noto Sans KR"/>
              </a:rPr>
              <a:t>31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807000" y="1332000"/>
            <a:ext cx="4250000" cy="1360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txBody>
          <a:bodyPr rtlCol="0" anchor="ctr" lIns="30000" rIns="30000" tIns="0" bIns="0" wrap="square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287000" y="1320000"/>
            <a:ext cx="490000" cy="1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68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5월*</a:t>
            </a:r>
          </a:p>
        </p:txBody>
      </p:sp>
      <p:sp>
        <p:nvSpPr>
          <p:cNvPr id="173" name="Rounded Rectangle 172"/>
          <p:cNvSpPr/>
          <p:nvPr/>
        </p:nvSpPr>
        <p:spPr>
          <a:xfrm>
            <a:off x="3829129" y="1340000"/>
            <a:ext cx="125096" cy="120000"/>
          </a:xfrm>
          <a:prstGeom prst="roundRect">
            <a:avLst>
              <a:gd name="adj" fmla="val 20000"/>
            </a:avLst>
          </a:prstGeom>
          <a:solidFill>
            <a:srgbClr val="7F7F7F"/>
          </a:solidFill>
          <a:ln>
            <a:noFill/>
          </a:ln>
        </p:spPr>
        <p:txBody>
          <a:bodyPr rtlCol="0" anchor="ctr" lIns="0" rIns="0" tIns="0" bIns="0" wrap="none"/>
          <a:lstStyle/>
          <a:p>
            <a:pPr algn="ctr"/>
            <a:r>
              <a:rPr sz="5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37</a:t>
            </a:r>
          </a:p>
        </p:txBody>
      </p:sp>
      <p:sp>
        <p:nvSpPr>
          <p:cNvPr id="174" name="Rounded Rectangle 173"/>
          <p:cNvSpPr/>
          <p:nvPr/>
        </p:nvSpPr>
        <p:spPr>
          <a:xfrm>
            <a:off x="4240419" y="1340000"/>
            <a:ext cx="125096" cy="120000"/>
          </a:xfrm>
          <a:prstGeom prst="roundRect">
            <a:avLst>
              <a:gd name="adj" fmla="val 20000"/>
            </a:avLst>
          </a:prstGeom>
          <a:solidFill>
            <a:srgbClr val="7F7F7F"/>
          </a:solidFill>
          <a:ln>
            <a:noFill/>
          </a:ln>
        </p:spPr>
        <p:txBody>
          <a:bodyPr rtlCol="0" anchor="ctr" lIns="0" rIns="0" tIns="0" bIns="0" wrap="none"/>
          <a:lstStyle/>
          <a:p>
            <a:pPr algn="ctr"/>
            <a:r>
              <a:rPr sz="5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38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807000" y="1492000"/>
            <a:ext cx="4250000" cy="136000"/>
          </a:xfrm>
          <a:prstGeom prst="rect">
            <a:avLst/>
          </a:prstGeom>
          <a:solidFill>
            <a:srgbClr val="F9F9F9"/>
          </a:solidFill>
          <a:ln w="6350">
            <a:solidFill>
              <a:srgbClr val="D9D9D9"/>
            </a:solidFill>
          </a:ln>
        </p:spPr>
        <p:txBody>
          <a:bodyPr rtlCol="0" anchor="ctr" lIns="30000" rIns="30000" tIns="0" bIns="0" wrap="square"/>
          <a:lstStyle/>
          <a:p>
            <a:pPr algn="ctr"/>
          </a:p>
        </p:txBody>
      </p:sp>
      <p:sp>
        <p:nvSpPr>
          <p:cNvPr id="176" name="TextBox 175"/>
          <p:cNvSpPr txBox="1"/>
          <p:nvPr/>
        </p:nvSpPr>
        <p:spPr>
          <a:xfrm>
            <a:off x="287000" y="1480000"/>
            <a:ext cx="490000" cy="1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68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6월</a:t>
            </a:r>
          </a:p>
        </p:txBody>
      </p:sp>
      <p:sp>
        <p:nvSpPr>
          <p:cNvPr id="177" name="Rounded Rectangle 176"/>
          <p:cNvSpPr/>
          <p:nvPr/>
        </p:nvSpPr>
        <p:spPr>
          <a:xfrm>
            <a:off x="950096" y="1500000"/>
            <a:ext cx="125096" cy="120000"/>
          </a:xfrm>
          <a:prstGeom prst="roundRect">
            <a:avLst>
              <a:gd name="adj" fmla="val 20000"/>
            </a:avLst>
          </a:prstGeom>
          <a:solidFill>
            <a:srgbClr val="FF7900"/>
          </a:solidFill>
          <a:ln>
            <a:noFill/>
          </a:ln>
        </p:spPr>
        <p:txBody>
          <a:bodyPr rtlCol="0" anchor="ctr" lIns="0" rIns="0" tIns="0" bIns="0" wrap="none"/>
          <a:lstStyle/>
          <a:p>
            <a:pPr algn="ctr"/>
            <a:r>
              <a:rPr sz="5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39</a:t>
            </a:r>
          </a:p>
        </p:txBody>
      </p:sp>
      <p:sp>
        <p:nvSpPr>
          <p:cNvPr id="178" name="Rounded Rectangle 177"/>
          <p:cNvSpPr/>
          <p:nvPr/>
        </p:nvSpPr>
        <p:spPr>
          <a:xfrm>
            <a:off x="1361387" y="1500000"/>
            <a:ext cx="125096" cy="120000"/>
          </a:xfrm>
          <a:prstGeom prst="roundRect">
            <a:avLst>
              <a:gd name="adj" fmla="val 20000"/>
            </a:avLst>
          </a:prstGeom>
          <a:solidFill>
            <a:srgbClr val="FF7900"/>
          </a:solidFill>
          <a:ln>
            <a:noFill/>
          </a:ln>
        </p:spPr>
        <p:txBody>
          <a:bodyPr rtlCol="0" anchor="ctr" lIns="0" rIns="0" tIns="0" bIns="0" wrap="none"/>
          <a:lstStyle/>
          <a:p>
            <a:pPr algn="ctr"/>
            <a:r>
              <a:rPr sz="5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40</a:t>
            </a:r>
          </a:p>
        </p:txBody>
      </p:sp>
      <p:sp>
        <p:nvSpPr>
          <p:cNvPr id="179" name="Rounded Rectangle 178"/>
          <p:cNvSpPr/>
          <p:nvPr/>
        </p:nvSpPr>
        <p:spPr>
          <a:xfrm>
            <a:off x="1772677" y="1500000"/>
            <a:ext cx="125096" cy="120000"/>
          </a:xfrm>
          <a:prstGeom prst="roundRect">
            <a:avLst>
              <a:gd name="adj" fmla="val 20000"/>
            </a:avLst>
          </a:prstGeom>
          <a:solidFill>
            <a:srgbClr val="FF7900"/>
          </a:solidFill>
          <a:ln>
            <a:noFill/>
          </a:ln>
        </p:spPr>
        <p:txBody>
          <a:bodyPr rtlCol="0" anchor="ctr" lIns="0" rIns="0" tIns="0" bIns="0" wrap="none"/>
          <a:lstStyle/>
          <a:p>
            <a:pPr algn="ctr"/>
            <a:r>
              <a:rPr sz="5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41</a:t>
            </a:r>
          </a:p>
        </p:txBody>
      </p:sp>
      <p:sp>
        <p:nvSpPr>
          <p:cNvPr id="180" name="Rounded Rectangle 179"/>
          <p:cNvSpPr/>
          <p:nvPr/>
        </p:nvSpPr>
        <p:spPr>
          <a:xfrm>
            <a:off x="2183967" y="1500000"/>
            <a:ext cx="125096" cy="120000"/>
          </a:xfrm>
          <a:prstGeom prst="roundRect">
            <a:avLst>
              <a:gd name="adj" fmla="val 20000"/>
            </a:avLst>
          </a:prstGeom>
          <a:solidFill>
            <a:srgbClr val="FF7900"/>
          </a:solidFill>
          <a:ln>
            <a:noFill/>
          </a:ln>
        </p:spPr>
        <p:txBody>
          <a:bodyPr rtlCol="0" anchor="ctr" lIns="0" rIns="0" tIns="0" bIns="0" wrap="none"/>
          <a:lstStyle/>
          <a:p>
            <a:pPr algn="ctr"/>
            <a:r>
              <a:rPr sz="5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42</a:t>
            </a:r>
          </a:p>
        </p:txBody>
      </p:sp>
      <p:sp>
        <p:nvSpPr>
          <p:cNvPr id="181" name="Rounded Rectangle 180"/>
          <p:cNvSpPr/>
          <p:nvPr/>
        </p:nvSpPr>
        <p:spPr>
          <a:xfrm>
            <a:off x="2595258" y="1500000"/>
            <a:ext cx="125096" cy="120000"/>
          </a:xfrm>
          <a:prstGeom prst="roundRect">
            <a:avLst>
              <a:gd name="adj" fmla="val 20000"/>
            </a:avLst>
          </a:prstGeom>
          <a:solidFill>
            <a:srgbClr val="FF7900"/>
          </a:solidFill>
          <a:ln>
            <a:noFill/>
          </a:ln>
        </p:spPr>
        <p:txBody>
          <a:bodyPr rtlCol="0" anchor="ctr" lIns="0" rIns="0" tIns="0" bIns="0" wrap="none"/>
          <a:lstStyle/>
          <a:p>
            <a:pPr algn="ctr"/>
            <a:r>
              <a:rPr sz="5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43</a:t>
            </a:r>
          </a:p>
        </p:txBody>
      </p:sp>
      <p:sp>
        <p:nvSpPr>
          <p:cNvPr id="182" name="Rounded Rectangle 181"/>
          <p:cNvSpPr/>
          <p:nvPr/>
        </p:nvSpPr>
        <p:spPr>
          <a:xfrm>
            <a:off x="3006548" y="1500000"/>
            <a:ext cx="125096" cy="120000"/>
          </a:xfrm>
          <a:prstGeom prst="roundRect">
            <a:avLst>
              <a:gd name="adj" fmla="val 20000"/>
            </a:avLst>
          </a:prstGeom>
          <a:solidFill>
            <a:srgbClr val="FF7900"/>
          </a:solidFill>
          <a:ln>
            <a:noFill/>
          </a:ln>
        </p:spPr>
        <p:txBody>
          <a:bodyPr rtlCol="0" anchor="ctr" lIns="0" rIns="0" tIns="0" bIns="0" wrap="none"/>
          <a:lstStyle/>
          <a:p>
            <a:pPr algn="ctr"/>
            <a:r>
              <a:rPr sz="5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44</a:t>
            </a:r>
          </a:p>
        </p:txBody>
      </p:sp>
      <p:sp>
        <p:nvSpPr>
          <p:cNvPr id="183" name="Rounded Rectangle 182"/>
          <p:cNvSpPr/>
          <p:nvPr/>
        </p:nvSpPr>
        <p:spPr>
          <a:xfrm>
            <a:off x="3417838" y="1500000"/>
            <a:ext cx="125096" cy="120000"/>
          </a:xfrm>
          <a:prstGeom prst="roundRect">
            <a:avLst>
              <a:gd name="adj" fmla="val 20000"/>
            </a:avLst>
          </a:prstGeom>
          <a:solidFill>
            <a:srgbClr val="FF7900"/>
          </a:solidFill>
          <a:ln>
            <a:noFill/>
          </a:ln>
        </p:spPr>
        <p:txBody>
          <a:bodyPr rtlCol="0" anchor="ctr" lIns="0" rIns="0" tIns="0" bIns="0" wrap="none"/>
          <a:lstStyle/>
          <a:p>
            <a:pPr algn="ctr"/>
            <a:r>
              <a:rPr sz="5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45</a:t>
            </a:r>
          </a:p>
        </p:txBody>
      </p:sp>
      <p:sp>
        <p:nvSpPr>
          <p:cNvPr id="184" name="Rounded Rectangle 183"/>
          <p:cNvSpPr/>
          <p:nvPr/>
        </p:nvSpPr>
        <p:spPr>
          <a:xfrm>
            <a:off x="3829129" y="1500000"/>
            <a:ext cx="125096" cy="120000"/>
          </a:xfrm>
          <a:prstGeom prst="roundRect">
            <a:avLst>
              <a:gd name="adj" fmla="val 20000"/>
            </a:avLst>
          </a:prstGeom>
          <a:solidFill>
            <a:srgbClr val="FF7900"/>
          </a:solidFill>
          <a:ln>
            <a:noFill/>
          </a:ln>
        </p:spPr>
        <p:txBody>
          <a:bodyPr rtlCol="0" anchor="ctr" lIns="0" rIns="0" tIns="0" bIns="0" wrap="none"/>
          <a:lstStyle/>
          <a:p>
            <a:pPr algn="ctr"/>
            <a:r>
              <a:rPr sz="5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46</a:t>
            </a:r>
          </a:p>
        </p:txBody>
      </p:sp>
      <p:sp>
        <p:nvSpPr>
          <p:cNvPr id="185" name="Rounded Rectangle 184"/>
          <p:cNvSpPr/>
          <p:nvPr/>
        </p:nvSpPr>
        <p:spPr>
          <a:xfrm>
            <a:off x="4103322" y="1500000"/>
            <a:ext cx="125096" cy="120000"/>
          </a:xfrm>
          <a:prstGeom prst="roundRect">
            <a:avLst>
              <a:gd name="adj" fmla="val 20000"/>
            </a:avLst>
          </a:prstGeom>
          <a:solidFill>
            <a:srgbClr val="FF7900"/>
          </a:solidFill>
          <a:ln>
            <a:noFill/>
          </a:ln>
        </p:spPr>
        <p:txBody>
          <a:bodyPr rtlCol="0" anchor="ctr" lIns="0" rIns="0" tIns="0" bIns="0" wrap="none"/>
          <a:lstStyle/>
          <a:p>
            <a:pPr algn="ctr"/>
            <a:r>
              <a:rPr sz="5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47</a:t>
            </a:r>
          </a:p>
        </p:txBody>
      </p:sp>
      <p:sp>
        <p:nvSpPr>
          <p:cNvPr id="186" name="Rounded Rectangle 185"/>
          <p:cNvSpPr/>
          <p:nvPr/>
        </p:nvSpPr>
        <p:spPr>
          <a:xfrm>
            <a:off x="4377516" y="1500000"/>
            <a:ext cx="125096" cy="120000"/>
          </a:xfrm>
          <a:prstGeom prst="roundRect">
            <a:avLst>
              <a:gd name="adj" fmla="val 20000"/>
            </a:avLst>
          </a:prstGeom>
          <a:solidFill>
            <a:srgbClr val="FF7900"/>
          </a:solidFill>
          <a:ln>
            <a:noFill/>
          </a:ln>
        </p:spPr>
        <p:txBody>
          <a:bodyPr rtlCol="0" anchor="ctr" lIns="0" rIns="0" tIns="0" bIns="0" wrap="none"/>
          <a:lstStyle/>
          <a:p>
            <a:pPr algn="ctr"/>
            <a:r>
              <a:rPr sz="5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48</a:t>
            </a:r>
          </a:p>
        </p:txBody>
      </p:sp>
      <p:sp>
        <p:nvSpPr>
          <p:cNvPr id="187" name="Rounded Rectangle 186"/>
          <p:cNvSpPr/>
          <p:nvPr/>
        </p:nvSpPr>
        <p:spPr>
          <a:xfrm>
            <a:off x="4514612" y="1500000"/>
            <a:ext cx="125096" cy="120000"/>
          </a:xfrm>
          <a:prstGeom prst="roundRect">
            <a:avLst>
              <a:gd name="adj" fmla="val 20000"/>
            </a:avLst>
          </a:prstGeom>
          <a:solidFill>
            <a:srgbClr val="FF7900"/>
          </a:solidFill>
          <a:ln>
            <a:noFill/>
          </a:ln>
        </p:spPr>
        <p:txBody>
          <a:bodyPr rtlCol="0" anchor="ctr" lIns="0" rIns="0" tIns="0" bIns="0" wrap="none"/>
          <a:lstStyle/>
          <a:p>
            <a:pPr algn="ctr"/>
            <a:r>
              <a:rPr sz="5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49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5097000" y="1480000"/>
            <a:ext cx="650000" cy="1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68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11개</a:t>
            </a:r>
            <a:r>
              <a:rPr sz="650" b="1" i="0">
                <a:solidFill>
                  <a:srgbClr val="EB002C"/>
                </a:solidFill>
                <a:latin typeface="Noto Sans KR"/>
                <a:ea typeface="Noto Sans KR"/>
                <a:cs typeface="Noto Sans KR"/>
              </a:rPr>
              <a:t> / T 8</a:t>
            </a:r>
          </a:p>
        </p:txBody>
      </p:sp>
      <p:sp>
        <p:nvSpPr>
          <p:cNvPr id="189" name="Rectangle 188"/>
          <p:cNvSpPr/>
          <p:nvPr/>
        </p:nvSpPr>
        <p:spPr>
          <a:xfrm>
            <a:off x="807000" y="1652000"/>
            <a:ext cx="4250000" cy="1360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txBody>
          <a:bodyPr rtlCol="0" anchor="ctr" lIns="30000" rIns="30000" tIns="0" bIns="0" wrap="square"/>
          <a:lstStyle/>
          <a:p>
            <a:pPr algn="ctr"/>
          </a:p>
        </p:txBody>
      </p:sp>
      <p:sp>
        <p:nvSpPr>
          <p:cNvPr id="190" name="TextBox 189"/>
          <p:cNvSpPr txBox="1"/>
          <p:nvPr/>
        </p:nvSpPr>
        <p:spPr>
          <a:xfrm>
            <a:off x="287000" y="1640000"/>
            <a:ext cx="490000" cy="1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68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7월</a:t>
            </a:r>
          </a:p>
        </p:txBody>
      </p:sp>
      <p:sp>
        <p:nvSpPr>
          <p:cNvPr id="191" name="Rounded Rectangle 190"/>
          <p:cNvSpPr/>
          <p:nvPr/>
        </p:nvSpPr>
        <p:spPr>
          <a:xfrm>
            <a:off x="813000" y="1660000"/>
            <a:ext cx="125096" cy="120000"/>
          </a:xfrm>
          <a:prstGeom prst="roundRect">
            <a:avLst>
              <a:gd name="adj" fmla="val 20000"/>
            </a:avLst>
          </a:prstGeom>
          <a:solidFill>
            <a:srgbClr val="FF7900"/>
          </a:solidFill>
          <a:ln>
            <a:noFill/>
          </a:ln>
        </p:spPr>
        <p:txBody>
          <a:bodyPr rtlCol="0" anchor="ctr" lIns="0" rIns="0" tIns="0" bIns="0" wrap="none"/>
          <a:lstStyle/>
          <a:p>
            <a:pPr algn="ctr"/>
            <a:r>
              <a:rPr sz="5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50</a:t>
            </a:r>
          </a:p>
        </p:txBody>
      </p:sp>
      <p:sp>
        <p:nvSpPr>
          <p:cNvPr id="192" name="Rounded Rectangle 191"/>
          <p:cNvSpPr/>
          <p:nvPr/>
        </p:nvSpPr>
        <p:spPr>
          <a:xfrm>
            <a:off x="1087193" y="1660000"/>
            <a:ext cx="125096" cy="120000"/>
          </a:xfrm>
          <a:prstGeom prst="roundRect">
            <a:avLst>
              <a:gd name="adj" fmla="val 20000"/>
            </a:avLst>
          </a:prstGeom>
          <a:solidFill>
            <a:srgbClr val="FF7900"/>
          </a:solidFill>
          <a:ln>
            <a:noFill/>
          </a:ln>
        </p:spPr>
        <p:txBody>
          <a:bodyPr rtlCol="0" anchor="ctr" lIns="0" rIns="0" tIns="0" bIns="0" wrap="none"/>
          <a:lstStyle/>
          <a:p>
            <a:pPr algn="ctr"/>
            <a:r>
              <a:rPr sz="5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51</a:t>
            </a:r>
          </a:p>
        </p:txBody>
      </p:sp>
      <p:sp>
        <p:nvSpPr>
          <p:cNvPr id="193" name="Rounded Rectangle 192"/>
          <p:cNvSpPr/>
          <p:nvPr/>
        </p:nvSpPr>
        <p:spPr>
          <a:xfrm>
            <a:off x="1498483" y="1660000"/>
            <a:ext cx="125096" cy="120000"/>
          </a:xfrm>
          <a:prstGeom prst="roundRect">
            <a:avLst>
              <a:gd name="adj" fmla="val 20000"/>
            </a:avLst>
          </a:prstGeom>
          <a:solidFill>
            <a:srgbClr val="FF7900"/>
          </a:solidFill>
          <a:ln>
            <a:noFill/>
          </a:ln>
        </p:spPr>
        <p:txBody>
          <a:bodyPr rtlCol="0" anchor="ctr" lIns="0" rIns="0" tIns="0" bIns="0" wrap="none"/>
          <a:lstStyle/>
          <a:p>
            <a:pPr algn="ctr"/>
            <a:r>
              <a:rPr sz="5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52</a:t>
            </a:r>
          </a:p>
        </p:txBody>
      </p:sp>
      <p:sp>
        <p:nvSpPr>
          <p:cNvPr id="194" name="Rounded Rectangle 193"/>
          <p:cNvSpPr/>
          <p:nvPr/>
        </p:nvSpPr>
        <p:spPr>
          <a:xfrm>
            <a:off x="1772677" y="1660000"/>
            <a:ext cx="125096" cy="120000"/>
          </a:xfrm>
          <a:prstGeom prst="roundRect">
            <a:avLst>
              <a:gd name="adj" fmla="val 20000"/>
            </a:avLst>
          </a:prstGeom>
          <a:solidFill>
            <a:srgbClr val="FF7900"/>
          </a:solidFill>
          <a:ln>
            <a:noFill/>
          </a:ln>
        </p:spPr>
        <p:txBody>
          <a:bodyPr rtlCol="0" anchor="ctr" lIns="0" rIns="0" tIns="0" bIns="0" wrap="none"/>
          <a:lstStyle/>
          <a:p>
            <a:pPr algn="ctr"/>
            <a:r>
              <a:rPr sz="5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53</a:t>
            </a:r>
          </a:p>
        </p:txBody>
      </p:sp>
      <p:sp>
        <p:nvSpPr>
          <p:cNvPr id="195" name="Rounded Rectangle 194"/>
          <p:cNvSpPr/>
          <p:nvPr/>
        </p:nvSpPr>
        <p:spPr>
          <a:xfrm>
            <a:off x="2183967" y="1660000"/>
            <a:ext cx="125096" cy="120000"/>
          </a:xfrm>
          <a:prstGeom prst="roundRect">
            <a:avLst>
              <a:gd name="adj" fmla="val 20000"/>
            </a:avLst>
          </a:prstGeom>
          <a:solidFill>
            <a:srgbClr val="FF7900"/>
          </a:solidFill>
          <a:ln>
            <a:noFill/>
          </a:ln>
        </p:spPr>
        <p:txBody>
          <a:bodyPr rtlCol="0" anchor="ctr" lIns="0" rIns="0" tIns="0" bIns="0" wrap="none"/>
          <a:lstStyle/>
          <a:p>
            <a:pPr algn="ctr"/>
            <a:r>
              <a:rPr sz="5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54</a:t>
            </a:r>
          </a:p>
        </p:txBody>
      </p:sp>
      <p:sp>
        <p:nvSpPr>
          <p:cNvPr id="196" name="Rounded Rectangle 195"/>
          <p:cNvSpPr/>
          <p:nvPr/>
        </p:nvSpPr>
        <p:spPr>
          <a:xfrm>
            <a:off x="2595258" y="1660000"/>
            <a:ext cx="125096" cy="120000"/>
          </a:xfrm>
          <a:prstGeom prst="roundRect">
            <a:avLst>
              <a:gd name="adj" fmla="val 20000"/>
            </a:avLst>
          </a:prstGeom>
          <a:solidFill>
            <a:srgbClr val="FF7900"/>
          </a:solidFill>
          <a:ln>
            <a:noFill/>
          </a:ln>
        </p:spPr>
        <p:txBody>
          <a:bodyPr rtlCol="0" anchor="ctr" lIns="0" rIns="0" tIns="0" bIns="0" wrap="none"/>
          <a:lstStyle/>
          <a:p>
            <a:pPr algn="ctr"/>
            <a:r>
              <a:rPr sz="5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55</a:t>
            </a:r>
          </a:p>
        </p:txBody>
      </p:sp>
      <p:sp>
        <p:nvSpPr>
          <p:cNvPr id="197" name="Rounded Rectangle 196"/>
          <p:cNvSpPr/>
          <p:nvPr/>
        </p:nvSpPr>
        <p:spPr>
          <a:xfrm>
            <a:off x="3006548" y="1660000"/>
            <a:ext cx="125096" cy="120000"/>
          </a:xfrm>
          <a:prstGeom prst="roundRect">
            <a:avLst>
              <a:gd name="adj" fmla="val 20000"/>
            </a:avLst>
          </a:prstGeom>
          <a:solidFill>
            <a:srgbClr val="FF7900"/>
          </a:solidFill>
          <a:ln>
            <a:noFill/>
          </a:ln>
        </p:spPr>
        <p:txBody>
          <a:bodyPr rtlCol="0" anchor="ctr" lIns="0" rIns="0" tIns="0" bIns="0" wrap="none"/>
          <a:lstStyle/>
          <a:p>
            <a:pPr algn="ctr"/>
            <a:r>
              <a:rPr sz="5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56</a:t>
            </a:r>
          </a:p>
        </p:txBody>
      </p:sp>
      <p:sp>
        <p:nvSpPr>
          <p:cNvPr id="198" name="Rounded Rectangle 197"/>
          <p:cNvSpPr/>
          <p:nvPr/>
        </p:nvSpPr>
        <p:spPr>
          <a:xfrm>
            <a:off x="3417838" y="1660000"/>
            <a:ext cx="125096" cy="120000"/>
          </a:xfrm>
          <a:prstGeom prst="roundRect">
            <a:avLst>
              <a:gd name="adj" fmla="val 20000"/>
            </a:avLst>
          </a:prstGeom>
          <a:solidFill>
            <a:srgbClr val="FF7900"/>
          </a:solidFill>
          <a:ln>
            <a:noFill/>
          </a:ln>
        </p:spPr>
        <p:txBody>
          <a:bodyPr rtlCol="0" anchor="ctr" lIns="0" rIns="0" tIns="0" bIns="0" wrap="none"/>
          <a:lstStyle/>
          <a:p>
            <a:pPr algn="ctr"/>
            <a:r>
              <a:rPr sz="5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57</a:t>
            </a:r>
          </a:p>
        </p:txBody>
      </p:sp>
      <p:sp>
        <p:nvSpPr>
          <p:cNvPr id="199" name="Rounded Rectangle 198"/>
          <p:cNvSpPr/>
          <p:nvPr/>
        </p:nvSpPr>
        <p:spPr>
          <a:xfrm>
            <a:off x="3829129" y="1660000"/>
            <a:ext cx="125096" cy="120000"/>
          </a:xfrm>
          <a:prstGeom prst="roundRect">
            <a:avLst>
              <a:gd name="adj" fmla="val 20000"/>
            </a:avLst>
          </a:prstGeom>
          <a:solidFill>
            <a:srgbClr val="FF7900"/>
          </a:solidFill>
          <a:ln>
            <a:noFill/>
          </a:ln>
        </p:spPr>
        <p:txBody>
          <a:bodyPr rtlCol="0" anchor="ctr" lIns="0" rIns="0" tIns="0" bIns="0" wrap="none"/>
          <a:lstStyle/>
          <a:p>
            <a:pPr algn="ctr"/>
            <a:r>
              <a:rPr sz="5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58</a:t>
            </a:r>
          </a:p>
        </p:txBody>
      </p:sp>
      <p:sp>
        <p:nvSpPr>
          <p:cNvPr id="200" name="Rounded Rectangle 199"/>
          <p:cNvSpPr/>
          <p:nvPr/>
        </p:nvSpPr>
        <p:spPr>
          <a:xfrm>
            <a:off x="4240419" y="1660000"/>
            <a:ext cx="125096" cy="120000"/>
          </a:xfrm>
          <a:prstGeom prst="roundRect">
            <a:avLst>
              <a:gd name="adj" fmla="val 20000"/>
            </a:avLst>
          </a:prstGeom>
          <a:solidFill>
            <a:srgbClr val="FF7900"/>
          </a:solidFill>
          <a:ln>
            <a:noFill/>
          </a:ln>
        </p:spPr>
        <p:txBody>
          <a:bodyPr rtlCol="0" anchor="ctr" lIns="0" rIns="0" tIns="0" bIns="0" wrap="none"/>
          <a:lstStyle/>
          <a:p>
            <a:pPr algn="ctr"/>
            <a:r>
              <a:rPr sz="5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59</a:t>
            </a:r>
          </a:p>
        </p:txBody>
      </p:sp>
      <p:sp>
        <p:nvSpPr>
          <p:cNvPr id="201" name="Rounded Rectangle 200"/>
          <p:cNvSpPr/>
          <p:nvPr/>
        </p:nvSpPr>
        <p:spPr>
          <a:xfrm>
            <a:off x="4651709" y="1660000"/>
            <a:ext cx="125096" cy="120000"/>
          </a:xfrm>
          <a:prstGeom prst="roundRect">
            <a:avLst>
              <a:gd name="adj" fmla="val 20000"/>
            </a:avLst>
          </a:prstGeom>
          <a:solidFill>
            <a:srgbClr val="FF7900"/>
          </a:solidFill>
          <a:ln>
            <a:noFill/>
          </a:ln>
        </p:spPr>
        <p:txBody>
          <a:bodyPr rtlCol="0" anchor="ctr" lIns="0" rIns="0" tIns="0" bIns="0" wrap="none"/>
          <a:lstStyle/>
          <a:p>
            <a:pPr algn="ctr"/>
            <a:r>
              <a:rPr sz="5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60</a:t>
            </a:r>
          </a:p>
        </p:txBody>
      </p:sp>
      <p:sp>
        <p:nvSpPr>
          <p:cNvPr id="202" name="TextBox 201"/>
          <p:cNvSpPr txBox="1"/>
          <p:nvPr/>
        </p:nvSpPr>
        <p:spPr>
          <a:xfrm>
            <a:off x="5097000" y="1640000"/>
            <a:ext cx="650000" cy="1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68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11개</a:t>
            </a:r>
            <a:r>
              <a:rPr sz="650" b="1" i="0">
                <a:solidFill>
                  <a:srgbClr val="7F7F7F"/>
                </a:solidFill>
                <a:latin typeface="Noto Sans KR"/>
                <a:ea typeface="Noto Sans KR"/>
                <a:cs typeface="Noto Sans KR"/>
              </a:rPr>
              <a:t> / T 11</a:t>
            </a:r>
          </a:p>
        </p:txBody>
      </p:sp>
      <p:sp>
        <p:nvSpPr>
          <p:cNvPr id="203" name="Rectangle 202"/>
          <p:cNvSpPr/>
          <p:nvPr/>
        </p:nvSpPr>
        <p:spPr>
          <a:xfrm>
            <a:off x="807000" y="1812000"/>
            <a:ext cx="4250000" cy="136000"/>
          </a:xfrm>
          <a:prstGeom prst="rect">
            <a:avLst/>
          </a:prstGeom>
          <a:solidFill>
            <a:srgbClr val="F9F9F9"/>
          </a:solidFill>
          <a:ln w="6350">
            <a:solidFill>
              <a:srgbClr val="D9D9D9"/>
            </a:solidFill>
          </a:ln>
        </p:spPr>
        <p:txBody>
          <a:bodyPr rtlCol="0" anchor="ctr" lIns="30000" rIns="30000" tIns="0" bIns="0" wrap="square"/>
          <a:lstStyle/>
          <a:p>
            <a:pPr algn="ctr"/>
          </a:p>
        </p:txBody>
      </p:sp>
      <p:sp>
        <p:nvSpPr>
          <p:cNvPr id="204" name="TextBox 203"/>
          <p:cNvSpPr txBox="1"/>
          <p:nvPr/>
        </p:nvSpPr>
        <p:spPr>
          <a:xfrm>
            <a:off x="287000" y="1800000"/>
            <a:ext cx="490000" cy="1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68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8월</a:t>
            </a:r>
          </a:p>
        </p:txBody>
      </p:sp>
      <p:sp>
        <p:nvSpPr>
          <p:cNvPr id="205" name="Rounded Rectangle 204"/>
          <p:cNvSpPr/>
          <p:nvPr/>
        </p:nvSpPr>
        <p:spPr>
          <a:xfrm>
            <a:off x="813000" y="1820000"/>
            <a:ext cx="125096" cy="120000"/>
          </a:xfrm>
          <a:prstGeom prst="roundRect">
            <a:avLst>
              <a:gd name="adj" fmla="val 20000"/>
            </a:avLst>
          </a:prstGeom>
          <a:solidFill>
            <a:srgbClr val="FF7900"/>
          </a:solidFill>
          <a:ln>
            <a:noFill/>
          </a:ln>
        </p:spPr>
        <p:txBody>
          <a:bodyPr rtlCol="0" anchor="ctr" lIns="0" rIns="0" tIns="0" bIns="0" wrap="none"/>
          <a:lstStyle/>
          <a:p>
            <a:pPr algn="ctr"/>
            <a:r>
              <a:rPr sz="5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61</a:t>
            </a:r>
          </a:p>
        </p:txBody>
      </p:sp>
      <p:sp>
        <p:nvSpPr>
          <p:cNvPr id="206" name="Rounded Rectangle 205"/>
          <p:cNvSpPr/>
          <p:nvPr/>
        </p:nvSpPr>
        <p:spPr>
          <a:xfrm>
            <a:off x="1224290" y="1820000"/>
            <a:ext cx="125096" cy="120000"/>
          </a:xfrm>
          <a:prstGeom prst="roundRect">
            <a:avLst>
              <a:gd name="adj" fmla="val 20000"/>
            </a:avLst>
          </a:prstGeom>
          <a:solidFill>
            <a:srgbClr val="FF7900"/>
          </a:solidFill>
          <a:ln>
            <a:noFill/>
          </a:ln>
        </p:spPr>
        <p:txBody>
          <a:bodyPr rtlCol="0" anchor="ctr" lIns="0" rIns="0" tIns="0" bIns="0" wrap="none"/>
          <a:lstStyle/>
          <a:p>
            <a:pPr algn="ctr"/>
            <a:r>
              <a:rPr sz="5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62</a:t>
            </a:r>
          </a:p>
        </p:txBody>
      </p:sp>
      <p:sp>
        <p:nvSpPr>
          <p:cNvPr id="207" name="Rounded Rectangle 206"/>
          <p:cNvSpPr/>
          <p:nvPr/>
        </p:nvSpPr>
        <p:spPr>
          <a:xfrm>
            <a:off x="1635580" y="1820000"/>
            <a:ext cx="125096" cy="120000"/>
          </a:xfrm>
          <a:prstGeom prst="roundRect">
            <a:avLst>
              <a:gd name="adj" fmla="val 20000"/>
            </a:avLst>
          </a:prstGeom>
          <a:solidFill>
            <a:srgbClr val="FF7900"/>
          </a:solidFill>
          <a:ln>
            <a:noFill/>
          </a:ln>
        </p:spPr>
        <p:txBody>
          <a:bodyPr rtlCol="0" anchor="ctr" lIns="0" rIns="0" tIns="0" bIns="0" wrap="none"/>
          <a:lstStyle/>
          <a:p>
            <a:pPr algn="ctr"/>
            <a:r>
              <a:rPr sz="5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63</a:t>
            </a:r>
          </a:p>
        </p:txBody>
      </p:sp>
      <p:sp>
        <p:nvSpPr>
          <p:cNvPr id="208" name="Rounded Rectangle 207"/>
          <p:cNvSpPr/>
          <p:nvPr/>
        </p:nvSpPr>
        <p:spPr>
          <a:xfrm>
            <a:off x="2046870" y="1820000"/>
            <a:ext cx="125096" cy="120000"/>
          </a:xfrm>
          <a:prstGeom prst="roundRect">
            <a:avLst>
              <a:gd name="adj" fmla="val 20000"/>
            </a:avLst>
          </a:prstGeom>
          <a:solidFill>
            <a:srgbClr val="FF7900"/>
          </a:solidFill>
          <a:ln>
            <a:noFill/>
          </a:ln>
        </p:spPr>
        <p:txBody>
          <a:bodyPr rtlCol="0" anchor="ctr" lIns="0" rIns="0" tIns="0" bIns="0" wrap="none"/>
          <a:lstStyle/>
          <a:p>
            <a:pPr algn="ctr"/>
            <a:r>
              <a:rPr sz="5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64</a:t>
            </a:r>
          </a:p>
        </p:txBody>
      </p:sp>
      <p:sp>
        <p:nvSpPr>
          <p:cNvPr id="209" name="Rounded Rectangle 208"/>
          <p:cNvSpPr/>
          <p:nvPr/>
        </p:nvSpPr>
        <p:spPr>
          <a:xfrm>
            <a:off x="2458161" y="1820000"/>
            <a:ext cx="125096" cy="120000"/>
          </a:xfrm>
          <a:prstGeom prst="roundRect">
            <a:avLst>
              <a:gd name="adj" fmla="val 20000"/>
            </a:avLst>
          </a:prstGeom>
          <a:solidFill>
            <a:srgbClr val="FF7900"/>
          </a:solidFill>
          <a:ln>
            <a:noFill/>
          </a:ln>
        </p:spPr>
        <p:txBody>
          <a:bodyPr rtlCol="0" anchor="ctr" lIns="0" rIns="0" tIns="0" bIns="0" wrap="none"/>
          <a:lstStyle/>
          <a:p>
            <a:pPr algn="ctr"/>
            <a:r>
              <a:rPr sz="5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65</a:t>
            </a:r>
          </a:p>
        </p:txBody>
      </p:sp>
      <p:sp>
        <p:nvSpPr>
          <p:cNvPr id="210" name="Rounded Rectangle 209"/>
          <p:cNvSpPr/>
          <p:nvPr/>
        </p:nvSpPr>
        <p:spPr>
          <a:xfrm>
            <a:off x="2869451" y="1820000"/>
            <a:ext cx="125096" cy="120000"/>
          </a:xfrm>
          <a:prstGeom prst="roundRect">
            <a:avLst>
              <a:gd name="adj" fmla="val 20000"/>
            </a:avLst>
          </a:prstGeom>
          <a:solidFill>
            <a:srgbClr val="FF7900"/>
          </a:solidFill>
          <a:ln>
            <a:noFill/>
          </a:ln>
        </p:spPr>
        <p:txBody>
          <a:bodyPr rtlCol="0" anchor="ctr" lIns="0" rIns="0" tIns="0" bIns="0" wrap="none"/>
          <a:lstStyle/>
          <a:p>
            <a:pPr algn="ctr"/>
            <a:r>
              <a:rPr sz="5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66</a:t>
            </a:r>
          </a:p>
        </p:txBody>
      </p:sp>
      <p:sp>
        <p:nvSpPr>
          <p:cNvPr id="211" name="Rounded Rectangle 210"/>
          <p:cNvSpPr/>
          <p:nvPr/>
        </p:nvSpPr>
        <p:spPr>
          <a:xfrm>
            <a:off x="3280741" y="1820000"/>
            <a:ext cx="125096" cy="120000"/>
          </a:xfrm>
          <a:prstGeom prst="roundRect">
            <a:avLst>
              <a:gd name="adj" fmla="val 20000"/>
            </a:avLst>
          </a:prstGeom>
          <a:solidFill>
            <a:srgbClr val="FF7900"/>
          </a:solidFill>
          <a:ln>
            <a:noFill/>
          </a:ln>
        </p:spPr>
        <p:txBody>
          <a:bodyPr rtlCol="0" anchor="ctr" lIns="0" rIns="0" tIns="0" bIns="0" wrap="none"/>
          <a:lstStyle/>
          <a:p>
            <a:pPr algn="ctr"/>
            <a:r>
              <a:rPr sz="5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67</a:t>
            </a:r>
          </a:p>
        </p:txBody>
      </p:sp>
      <p:sp>
        <p:nvSpPr>
          <p:cNvPr id="212" name="Rounded Rectangle 211"/>
          <p:cNvSpPr/>
          <p:nvPr/>
        </p:nvSpPr>
        <p:spPr>
          <a:xfrm>
            <a:off x="3692032" y="1820000"/>
            <a:ext cx="125096" cy="120000"/>
          </a:xfrm>
          <a:prstGeom prst="roundRect">
            <a:avLst>
              <a:gd name="adj" fmla="val 20000"/>
            </a:avLst>
          </a:prstGeom>
          <a:solidFill>
            <a:srgbClr val="FF7900"/>
          </a:solidFill>
          <a:ln>
            <a:noFill/>
          </a:ln>
        </p:spPr>
        <p:txBody>
          <a:bodyPr rtlCol="0" anchor="ctr" lIns="0" rIns="0" tIns="0" bIns="0" wrap="none"/>
          <a:lstStyle/>
          <a:p>
            <a:pPr algn="ctr"/>
            <a:r>
              <a:rPr sz="5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68</a:t>
            </a:r>
          </a:p>
        </p:txBody>
      </p:sp>
      <p:sp>
        <p:nvSpPr>
          <p:cNvPr id="213" name="Rounded Rectangle 212"/>
          <p:cNvSpPr/>
          <p:nvPr/>
        </p:nvSpPr>
        <p:spPr>
          <a:xfrm>
            <a:off x="4103322" y="1820000"/>
            <a:ext cx="125096" cy="120000"/>
          </a:xfrm>
          <a:prstGeom prst="roundRect">
            <a:avLst>
              <a:gd name="adj" fmla="val 20000"/>
            </a:avLst>
          </a:prstGeom>
          <a:solidFill>
            <a:srgbClr val="FF7900"/>
          </a:solidFill>
          <a:ln>
            <a:noFill/>
          </a:ln>
        </p:spPr>
        <p:txBody>
          <a:bodyPr rtlCol="0" anchor="ctr" lIns="0" rIns="0" tIns="0" bIns="0" wrap="none"/>
          <a:lstStyle/>
          <a:p>
            <a:pPr algn="ctr"/>
            <a:r>
              <a:rPr sz="5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69</a:t>
            </a:r>
          </a:p>
        </p:txBody>
      </p:sp>
      <p:sp>
        <p:nvSpPr>
          <p:cNvPr id="214" name="Rounded Rectangle 213"/>
          <p:cNvSpPr/>
          <p:nvPr/>
        </p:nvSpPr>
        <p:spPr>
          <a:xfrm>
            <a:off x="4514612" y="1820000"/>
            <a:ext cx="125096" cy="120000"/>
          </a:xfrm>
          <a:prstGeom prst="roundRect">
            <a:avLst>
              <a:gd name="adj" fmla="val 20000"/>
            </a:avLst>
          </a:prstGeom>
          <a:solidFill>
            <a:srgbClr val="FF7900"/>
          </a:solidFill>
          <a:ln>
            <a:noFill/>
          </a:ln>
        </p:spPr>
        <p:txBody>
          <a:bodyPr rtlCol="0" anchor="ctr" lIns="0" rIns="0" tIns="0" bIns="0" wrap="none"/>
          <a:lstStyle/>
          <a:p>
            <a:pPr algn="ctr"/>
            <a:r>
              <a:rPr sz="5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70</a:t>
            </a:r>
          </a:p>
        </p:txBody>
      </p:sp>
      <p:sp>
        <p:nvSpPr>
          <p:cNvPr id="215" name="Rounded Rectangle 214"/>
          <p:cNvSpPr/>
          <p:nvPr/>
        </p:nvSpPr>
        <p:spPr>
          <a:xfrm>
            <a:off x="4925903" y="1820000"/>
            <a:ext cx="125096" cy="120000"/>
          </a:xfrm>
          <a:prstGeom prst="roundRect">
            <a:avLst>
              <a:gd name="adj" fmla="val 20000"/>
            </a:avLst>
          </a:prstGeom>
          <a:solidFill>
            <a:srgbClr val="FF7900"/>
          </a:solidFill>
          <a:ln>
            <a:noFill/>
          </a:ln>
        </p:spPr>
        <p:txBody>
          <a:bodyPr rtlCol="0" anchor="ctr" lIns="0" rIns="0" tIns="0" bIns="0" wrap="none"/>
          <a:lstStyle/>
          <a:p>
            <a:pPr algn="ctr"/>
            <a:r>
              <a:rPr sz="5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71</a:t>
            </a:r>
          </a:p>
        </p:txBody>
      </p:sp>
      <p:sp>
        <p:nvSpPr>
          <p:cNvPr id="216" name="TextBox 215"/>
          <p:cNvSpPr txBox="1"/>
          <p:nvPr/>
        </p:nvSpPr>
        <p:spPr>
          <a:xfrm>
            <a:off x="5097000" y="1800000"/>
            <a:ext cx="650000" cy="1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68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11개</a:t>
            </a:r>
            <a:r>
              <a:rPr sz="650" b="1" i="0">
                <a:solidFill>
                  <a:srgbClr val="EB002C"/>
                </a:solidFill>
                <a:latin typeface="Noto Sans KR"/>
                <a:ea typeface="Noto Sans KR"/>
                <a:cs typeface="Noto Sans KR"/>
              </a:rPr>
              <a:t> / T 8</a:t>
            </a:r>
          </a:p>
        </p:txBody>
      </p:sp>
      <p:sp>
        <p:nvSpPr>
          <p:cNvPr id="217" name="Rectangle 216"/>
          <p:cNvSpPr/>
          <p:nvPr/>
        </p:nvSpPr>
        <p:spPr>
          <a:xfrm>
            <a:off x="807000" y="1972000"/>
            <a:ext cx="4250000" cy="1360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txBody>
          <a:bodyPr rtlCol="0" anchor="ctr" lIns="30000" rIns="30000" tIns="0" bIns="0" wrap="square"/>
          <a:lstStyle/>
          <a:p>
            <a:pPr algn="ctr"/>
          </a:p>
        </p:txBody>
      </p:sp>
      <p:sp>
        <p:nvSpPr>
          <p:cNvPr id="218" name="TextBox 217"/>
          <p:cNvSpPr txBox="1"/>
          <p:nvPr/>
        </p:nvSpPr>
        <p:spPr>
          <a:xfrm>
            <a:off x="287000" y="1960000"/>
            <a:ext cx="490000" cy="1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68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9월</a:t>
            </a:r>
          </a:p>
        </p:txBody>
      </p:sp>
      <p:sp>
        <p:nvSpPr>
          <p:cNvPr id="219" name="Rounded Rectangle 218"/>
          <p:cNvSpPr/>
          <p:nvPr/>
        </p:nvSpPr>
        <p:spPr>
          <a:xfrm>
            <a:off x="1087193" y="1980000"/>
            <a:ext cx="125096" cy="120000"/>
          </a:xfrm>
          <a:prstGeom prst="roundRect">
            <a:avLst>
              <a:gd name="adj" fmla="val 20000"/>
            </a:avLst>
          </a:prstGeom>
          <a:solidFill>
            <a:srgbClr val="FF7900"/>
          </a:solidFill>
          <a:ln>
            <a:noFill/>
          </a:ln>
        </p:spPr>
        <p:txBody>
          <a:bodyPr rtlCol="0" anchor="ctr" lIns="0" rIns="0" tIns="0" bIns="0" wrap="none"/>
          <a:lstStyle/>
          <a:p>
            <a:pPr algn="ctr"/>
            <a:r>
              <a:rPr sz="5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72</a:t>
            </a:r>
          </a:p>
        </p:txBody>
      </p:sp>
      <p:sp>
        <p:nvSpPr>
          <p:cNvPr id="220" name="Rounded Rectangle 219"/>
          <p:cNvSpPr/>
          <p:nvPr/>
        </p:nvSpPr>
        <p:spPr>
          <a:xfrm>
            <a:off x="1361387" y="1980000"/>
            <a:ext cx="125096" cy="120000"/>
          </a:xfrm>
          <a:prstGeom prst="roundRect">
            <a:avLst>
              <a:gd name="adj" fmla="val 20000"/>
            </a:avLst>
          </a:prstGeom>
          <a:solidFill>
            <a:srgbClr val="FF7900"/>
          </a:solidFill>
          <a:ln>
            <a:noFill/>
          </a:ln>
        </p:spPr>
        <p:txBody>
          <a:bodyPr rtlCol="0" anchor="ctr" lIns="0" rIns="0" tIns="0" bIns="0" wrap="none"/>
          <a:lstStyle/>
          <a:p>
            <a:pPr algn="ctr"/>
            <a:r>
              <a:rPr sz="5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73</a:t>
            </a:r>
          </a:p>
        </p:txBody>
      </p:sp>
      <p:sp>
        <p:nvSpPr>
          <p:cNvPr id="221" name="Rounded Rectangle 220"/>
          <p:cNvSpPr/>
          <p:nvPr/>
        </p:nvSpPr>
        <p:spPr>
          <a:xfrm>
            <a:off x="1635580" y="1980000"/>
            <a:ext cx="125096" cy="120000"/>
          </a:xfrm>
          <a:prstGeom prst="roundRect">
            <a:avLst>
              <a:gd name="adj" fmla="val 20000"/>
            </a:avLst>
          </a:prstGeom>
          <a:solidFill>
            <a:srgbClr val="FF7900"/>
          </a:solidFill>
          <a:ln>
            <a:noFill/>
          </a:ln>
        </p:spPr>
        <p:txBody>
          <a:bodyPr rtlCol="0" anchor="ctr" lIns="0" rIns="0" tIns="0" bIns="0" wrap="none"/>
          <a:lstStyle/>
          <a:p>
            <a:pPr algn="ctr"/>
            <a:r>
              <a:rPr sz="5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74</a:t>
            </a:r>
          </a:p>
        </p:txBody>
      </p:sp>
      <p:sp>
        <p:nvSpPr>
          <p:cNvPr id="222" name="Rounded Rectangle 221"/>
          <p:cNvSpPr/>
          <p:nvPr/>
        </p:nvSpPr>
        <p:spPr>
          <a:xfrm>
            <a:off x="1909774" y="1980000"/>
            <a:ext cx="125096" cy="120000"/>
          </a:xfrm>
          <a:prstGeom prst="roundRect">
            <a:avLst>
              <a:gd name="adj" fmla="val 20000"/>
            </a:avLst>
          </a:prstGeom>
          <a:solidFill>
            <a:srgbClr val="FF7900"/>
          </a:solidFill>
          <a:ln>
            <a:noFill/>
          </a:ln>
        </p:spPr>
        <p:txBody>
          <a:bodyPr rtlCol="0" anchor="ctr" lIns="0" rIns="0" tIns="0" bIns="0" wrap="none"/>
          <a:lstStyle/>
          <a:p>
            <a:pPr algn="ctr"/>
            <a:r>
              <a:rPr sz="5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75</a:t>
            </a:r>
          </a:p>
        </p:txBody>
      </p:sp>
      <p:sp>
        <p:nvSpPr>
          <p:cNvPr id="223" name="Rounded Rectangle 222"/>
          <p:cNvSpPr/>
          <p:nvPr/>
        </p:nvSpPr>
        <p:spPr>
          <a:xfrm>
            <a:off x="2183967" y="1980000"/>
            <a:ext cx="125096" cy="120000"/>
          </a:xfrm>
          <a:prstGeom prst="roundRect">
            <a:avLst>
              <a:gd name="adj" fmla="val 20000"/>
            </a:avLst>
          </a:prstGeom>
          <a:solidFill>
            <a:srgbClr val="FF7900"/>
          </a:solidFill>
          <a:ln>
            <a:noFill/>
          </a:ln>
        </p:spPr>
        <p:txBody>
          <a:bodyPr rtlCol="0" anchor="ctr" lIns="0" rIns="0" tIns="0" bIns="0" wrap="none"/>
          <a:lstStyle/>
          <a:p>
            <a:pPr algn="ctr"/>
            <a:r>
              <a:rPr sz="5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76</a:t>
            </a:r>
          </a:p>
        </p:txBody>
      </p:sp>
      <p:sp>
        <p:nvSpPr>
          <p:cNvPr id="224" name="Rounded Rectangle 223"/>
          <p:cNvSpPr/>
          <p:nvPr/>
        </p:nvSpPr>
        <p:spPr>
          <a:xfrm>
            <a:off x="2595258" y="1980000"/>
            <a:ext cx="125096" cy="120000"/>
          </a:xfrm>
          <a:prstGeom prst="roundRect">
            <a:avLst>
              <a:gd name="adj" fmla="val 20000"/>
            </a:avLst>
          </a:prstGeom>
          <a:solidFill>
            <a:srgbClr val="FF7900"/>
          </a:solidFill>
          <a:ln>
            <a:noFill/>
          </a:ln>
        </p:spPr>
        <p:txBody>
          <a:bodyPr rtlCol="0" anchor="ctr" lIns="0" rIns="0" tIns="0" bIns="0" wrap="none"/>
          <a:lstStyle/>
          <a:p>
            <a:pPr algn="ctr"/>
            <a:r>
              <a:rPr sz="5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77</a:t>
            </a:r>
          </a:p>
        </p:txBody>
      </p:sp>
      <p:sp>
        <p:nvSpPr>
          <p:cNvPr id="225" name="Rounded Rectangle 224"/>
          <p:cNvSpPr/>
          <p:nvPr/>
        </p:nvSpPr>
        <p:spPr>
          <a:xfrm>
            <a:off x="3280741" y="1980000"/>
            <a:ext cx="125096" cy="120000"/>
          </a:xfrm>
          <a:prstGeom prst="roundRect">
            <a:avLst>
              <a:gd name="adj" fmla="val 20000"/>
            </a:avLst>
          </a:prstGeom>
          <a:solidFill>
            <a:srgbClr val="FF7900"/>
          </a:solidFill>
          <a:ln>
            <a:noFill/>
          </a:ln>
        </p:spPr>
        <p:txBody>
          <a:bodyPr rtlCol="0" anchor="ctr" lIns="0" rIns="0" tIns="0" bIns="0" wrap="none"/>
          <a:lstStyle/>
          <a:p>
            <a:pPr algn="ctr"/>
            <a:r>
              <a:rPr sz="5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78</a:t>
            </a:r>
          </a:p>
        </p:txBody>
      </p:sp>
      <p:sp>
        <p:nvSpPr>
          <p:cNvPr id="226" name="Rounded Rectangle 225"/>
          <p:cNvSpPr/>
          <p:nvPr/>
        </p:nvSpPr>
        <p:spPr>
          <a:xfrm>
            <a:off x="3829129" y="1980000"/>
            <a:ext cx="125096" cy="120000"/>
          </a:xfrm>
          <a:prstGeom prst="roundRect">
            <a:avLst>
              <a:gd name="adj" fmla="val 20000"/>
            </a:avLst>
          </a:prstGeom>
          <a:solidFill>
            <a:srgbClr val="FF7900"/>
          </a:solidFill>
          <a:ln>
            <a:noFill/>
          </a:ln>
        </p:spPr>
        <p:txBody>
          <a:bodyPr rtlCol="0" anchor="ctr" lIns="0" rIns="0" tIns="0" bIns="0" wrap="none"/>
          <a:lstStyle/>
          <a:p>
            <a:pPr algn="ctr"/>
            <a:r>
              <a:rPr sz="5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79</a:t>
            </a:r>
          </a:p>
        </p:txBody>
      </p:sp>
      <p:sp>
        <p:nvSpPr>
          <p:cNvPr id="227" name="Rounded Rectangle 226"/>
          <p:cNvSpPr/>
          <p:nvPr/>
        </p:nvSpPr>
        <p:spPr>
          <a:xfrm>
            <a:off x="4240419" y="1980000"/>
            <a:ext cx="125096" cy="120000"/>
          </a:xfrm>
          <a:prstGeom prst="roundRect">
            <a:avLst>
              <a:gd name="adj" fmla="val 20000"/>
            </a:avLst>
          </a:prstGeom>
          <a:solidFill>
            <a:srgbClr val="FF7900"/>
          </a:solidFill>
          <a:ln>
            <a:noFill/>
          </a:ln>
        </p:spPr>
        <p:txBody>
          <a:bodyPr rtlCol="0" anchor="ctr" lIns="0" rIns="0" tIns="0" bIns="0" wrap="none"/>
          <a:lstStyle/>
          <a:p>
            <a:pPr algn="ctr"/>
            <a:r>
              <a:rPr sz="5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80</a:t>
            </a:r>
          </a:p>
        </p:txBody>
      </p:sp>
      <p:sp>
        <p:nvSpPr>
          <p:cNvPr id="228" name="Rounded Rectangle 227"/>
          <p:cNvSpPr/>
          <p:nvPr/>
        </p:nvSpPr>
        <p:spPr>
          <a:xfrm>
            <a:off x="4514612" y="1980000"/>
            <a:ext cx="125096" cy="120000"/>
          </a:xfrm>
          <a:prstGeom prst="roundRect">
            <a:avLst>
              <a:gd name="adj" fmla="val 20000"/>
            </a:avLst>
          </a:prstGeom>
          <a:solidFill>
            <a:srgbClr val="FF7900"/>
          </a:solidFill>
          <a:ln>
            <a:noFill/>
          </a:ln>
        </p:spPr>
        <p:txBody>
          <a:bodyPr rtlCol="0" anchor="ctr" lIns="0" rIns="0" tIns="0" bIns="0" wrap="none"/>
          <a:lstStyle/>
          <a:p>
            <a:pPr algn="ctr"/>
            <a:r>
              <a:rPr sz="5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81</a:t>
            </a:r>
          </a:p>
        </p:txBody>
      </p:sp>
      <p:sp>
        <p:nvSpPr>
          <p:cNvPr id="229" name="TextBox 228"/>
          <p:cNvSpPr txBox="1"/>
          <p:nvPr/>
        </p:nvSpPr>
        <p:spPr>
          <a:xfrm>
            <a:off x="5097000" y="1960000"/>
            <a:ext cx="650000" cy="1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68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10개</a:t>
            </a:r>
            <a:r>
              <a:rPr sz="650" b="1" i="0">
                <a:solidFill>
                  <a:srgbClr val="EB002C"/>
                </a:solidFill>
                <a:latin typeface="Noto Sans KR"/>
                <a:ea typeface="Noto Sans KR"/>
                <a:cs typeface="Noto Sans KR"/>
              </a:rPr>
              <a:t> / T 8</a:t>
            </a:r>
          </a:p>
        </p:txBody>
      </p:sp>
      <p:sp>
        <p:nvSpPr>
          <p:cNvPr id="230" name="Rectangle 229"/>
          <p:cNvSpPr/>
          <p:nvPr/>
        </p:nvSpPr>
        <p:spPr>
          <a:xfrm>
            <a:off x="807000" y="2132000"/>
            <a:ext cx="4250000" cy="136000"/>
          </a:xfrm>
          <a:prstGeom prst="rect">
            <a:avLst/>
          </a:prstGeom>
          <a:solidFill>
            <a:srgbClr val="F9F9F9"/>
          </a:solidFill>
          <a:ln w="6350">
            <a:solidFill>
              <a:srgbClr val="D9D9D9"/>
            </a:solidFill>
          </a:ln>
        </p:spPr>
        <p:txBody>
          <a:bodyPr rtlCol="0" anchor="ctr" lIns="30000" rIns="30000" tIns="0" bIns="0" wrap="square"/>
          <a:lstStyle/>
          <a:p>
            <a:pPr algn="ctr"/>
          </a:p>
        </p:txBody>
      </p:sp>
      <p:sp>
        <p:nvSpPr>
          <p:cNvPr id="231" name="TextBox 230"/>
          <p:cNvSpPr txBox="1"/>
          <p:nvPr/>
        </p:nvSpPr>
        <p:spPr>
          <a:xfrm>
            <a:off x="287000" y="2120000"/>
            <a:ext cx="490000" cy="1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68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10월</a:t>
            </a:r>
          </a:p>
        </p:txBody>
      </p:sp>
      <p:sp>
        <p:nvSpPr>
          <p:cNvPr id="232" name="Rounded Rectangle 231"/>
          <p:cNvSpPr/>
          <p:nvPr/>
        </p:nvSpPr>
        <p:spPr>
          <a:xfrm>
            <a:off x="813000" y="2140000"/>
            <a:ext cx="125096" cy="120000"/>
          </a:xfrm>
          <a:prstGeom prst="roundRect">
            <a:avLst>
              <a:gd name="adj" fmla="val 20000"/>
            </a:avLst>
          </a:prstGeom>
          <a:solidFill>
            <a:srgbClr val="FF7900"/>
          </a:solidFill>
          <a:ln>
            <a:noFill/>
          </a:ln>
        </p:spPr>
        <p:txBody>
          <a:bodyPr rtlCol="0" anchor="ctr" lIns="0" rIns="0" tIns="0" bIns="0" wrap="none"/>
          <a:lstStyle/>
          <a:p>
            <a:pPr algn="ctr"/>
            <a:r>
              <a:rPr sz="5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82</a:t>
            </a:r>
          </a:p>
        </p:txBody>
      </p:sp>
      <p:sp>
        <p:nvSpPr>
          <p:cNvPr id="233" name="Rounded Rectangle 232"/>
          <p:cNvSpPr/>
          <p:nvPr/>
        </p:nvSpPr>
        <p:spPr>
          <a:xfrm>
            <a:off x="1224290" y="2140000"/>
            <a:ext cx="125096" cy="120000"/>
          </a:xfrm>
          <a:prstGeom prst="roundRect">
            <a:avLst>
              <a:gd name="adj" fmla="val 20000"/>
            </a:avLst>
          </a:prstGeom>
          <a:solidFill>
            <a:srgbClr val="FF7900"/>
          </a:solidFill>
          <a:ln>
            <a:noFill/>
          </a:ln>
        </p:spPr>
        <p:txBody>
          <a:bodyPr rtlCol="0" anchor="ctr" lIns="0" rIns="0" tIns="0" bIns="0" wrap="none"/>
          <a:lstStyle/>
          <a:p>
            <a:pPr algn="ctr"/>
            <a:r>
              <a:rPr sz="5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83</a:t>
            </a:r>
          </a:p>
        </p:txBody>
      </p:sp>
      <p:sp>
        <p:nvSpPr>
          <p:cNvPr id="234" name="Rounded Rectangle 233"/>
          <p:cNvSpPr/>
          <p:nvPr/>
        </p:nvSpPr>
        <p:spPr>
          <a:xfrm>
            <a:off x="1635580" y="2140000"/>
            <a:ext cx="125096" cy="120000"/>
          </a:xfrm>
          <a:prstGeom prst="roundRect">
            <a:avLst>
              <a:gd name="adj" fmla="val 20000"/>
            </a:avLst>
          </a:prstGeom>
          <a:solidFill>
            <a:srgbClr val="FF7900"/>
          </a:solidFill>
          <a:ln>
            <a:noFill/>
          </a:ln>
        </p:spPr>
        <p:txBody>
          <a:bodyPr rtlCol="0" anchor="ctr" lIns="0" rIns="0" tIns="0" bIns="0" wrap="none"/>
          <a:lstStyle/>
          <a:p>
            <a:pPr algn="ctr"/>
            <a:r>
              <a:rPr sz="5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84</a:t>
            </a:r>
          </a:p>
        </p:txBody>
      </p:sp>
      <p:sp>
        <p:nvSpPr>
          <p:cNvPr id="235" name="Rounded Rectangle 234"/>
          <p:cNvSpPr/>
          <p:nvPr/>
        </p:nvSpPr>
        <p:spPr>
          <a:xfrm>
            <a:off x="2046870" y="2140000"/>
            <a:ext cx="125096" cy="120000"/>
          </a:xfrm>
          <a:prstGeom prst="roundRect">
            <a:avLst>
              <a:gd name="adj" fmla="val 20000"/>
            </a:avLst>
          </a:prstGeom>
          <a:solidFill>
            <a:srgbClr val="FF7900"/>
          </a:solidFill>
          <a:ln>
            <a:noFill/>
          </a:ln>
        </p:spPr>
        <p:txBody>
          <a:bodyPr rtlCol="0" anchor="ctr" lIns="0" rIns="0" tIns="0" bIns="0" wrap="none"/>
          <a:lstStyle/>
          <a:p>
            <a:pPr algn="ctr"/>
            <a:r>
              <a:rPr sz="5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85</a:t>
            </a:r>
          </a:p>
        </p:txBody>
      </p:sp>
      <p:sp>
        <p:nvSpPr>
          <p:cNvPr id="236" name="Rounded Rectangle 235"/>
          <p:cNvSpPr/>
          <p:nvPr/>
        </p:nvSpPr>
        <p:spPr>
          <a:xfrm>
            <a:off x="2321064" y="2140000"/>
            <a:ext cx="125096" cy="120000"/>
          </a:xfrm>
          <a:prstGeom prst="roundRect">
            <a:avLst>
              <a:gd name="adj" fmla="val 20000"/>
            </a:avLst>
          </a:prstGeom>
          <a:solidFill>
            <a:srgbClr val="FF7900"/>
          </a:solidFill>
          <a:ln>
            <a:noFill/>
          </a:ln>
        </p:spPr>
        <p:txBody>
          <a:bodyPr rtlCol="0" anchor="ctr" lIns="0" rIns="0" tIns="0" bIns="0" wrap="none"/>
          <a:lstStyle/>
          <a:p>
            <a:pPr algn="ctr"/>
            <a:r>
              <a:rPr sz="5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86</a:t>
            </a:r>
          </a:p>
        </p:txBody>
      </p:sp>
      <p:sp>
        <p:nvSpPr>
          <p:cNvPr id="237" name="Rounded Rectangle 236"/>
          <p:cNvSpPr/>
          <p:nvPr/>
        </p:nvSpPr>
        <p:spPr>
          <a:xfrm>
            <a:off x="2732354" y="2140000"/>
            <a:ext cx="125096" cy="120000"/>
          </a:xfrm>
          <a:prstGeom prst="roundRect">
            <a:avLst>
              <a:gd name="adj" fmla="val 20000"/>
            </a:avLst>
          </a:prstGeom>
          <a:solidFill>
            <a:srgbClr val="FF7900"/>
          </a:solidFill>
          <a:ln>
            <a:noFill/>
          </a:ln>
        </p:spPr>
        <p:txBody>
          <a:bodyPr rtlCol="0" anchor="ctr" lIns="0" rIns="0" tIns="0" bIns="0" wrap="none"/>
          <a:lstStyle/>
          <a:p>
            <a:pPr algn="ctr"/>
            <a:r>
              <a:rPr sz="5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87</a:t>
            </a:r>
          </a:p>
        </p:txBody>
      </p:sp>
      <p:sp>
        <p:nvSpPr>
          <p:cNvPr id="238" name="Rounded Rectangle 237"/>
          <p:cNvSpPr/>
          <p:nvPr/>
        </p:nvSpPr>
        <p:spPr>
          <a:xfrm>
            <a:off x="3143645" y="2140000"/>
            <a:ext cx="125096" cy="120000"/>
          </a:xfrm>
          <a:prstGeom prst="roundRect">
            <a:avLst>
              <a:gd name="adj" fmla="val 20000"/>
            </a:avLst>
          </a:prstGeom>
          <a:solidFill>
            <a:srgbClr val="FF7900"/>
          </a:solidFill>
          <a:ln>
            <a:noFill/>
          </a:ln>
        </p:spPr>
        <p:txBody>
          <a:bodyPr rtlCol="0" anchor="ctr" lIns="0" rIns="0" tIns="0" bIns="0" wrap="none"/>
          <a:lstStyle/>
          <a:p>
            <a:pPr algn="ctr"/>
            <a:r>
              <a:rPr sz="5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88</a:t>
            </a:r>
          </a:p>
        </p:txBody>
      </p:sp>
      <p:sp>
        <p:nvSpPr>
          <p:cNvPr id="239" name="Rounded Rectangle 238"/>
          <p:cNvSpPr/>
          <p:nvPr/>
        </p:nvSpPr>
        <p:spPr>
          <a:xfrm>
            <a:off x="3417838" y="2140000"/>
            <a:ext cx="125096" cy="120000"/>
          </a:xfrm>
          <a:prstGeom prst="roundRect">
            <a:avLst>
              <a:gd name="adj" fmla="val 20000"/>
            </a:avLst>
          </a:prstGeom>
          <a:solidFill>
            <a:srgbClr val="FF7900"/>
          </a:solidFill>
          <a:ln>
            <a:noFill/>
          </a:ln>
        </p:spPr>
        <p:txBody>
          <a:bodyPr rtlCol="0" anchor="ctr" lIns="0" rIns="0" tIns="0" bIns="0" wrap="none"/>
          <a:lstStyle/>
          <a:p>
            <a:pPr algn="ctr"/>
            <a:r>
              <a:rPr sz="5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89</a:t>
            </a:r>
          </a:p>
        </p:txBody>
      </p:sp>
      <p:sp>
        <p:nvSpPr>
          <p:cNvPr id="240" name="Rounded Rectangle 239"/>
          <p:cNvSpPr/>
          <p:nvPr/>
        </p:nvSpPr>
        <p:spPr>
          <a:xfrm>
            <a:off x="3829129" y="2140000"/>
            <a:ext cx="125096" cy="120000"/>
          </a:xfrm>
          <a:prstGeom prst="roundRect">
            <a:avLst>
              <a:gd name="adj" fmla="val 20000"/>
            </a:avLst>
          </a:prstGeom>
          <a:solidFill>
            <a:srgbClr val="FF7900"/>
          </a:solidFill>
          <a:ln>
            <a:noFill/>
          </a:ln>
        </p:spPr>
        <p:txBody>
          <a:bodyPr rtlCol="0" anchor="ctr" lIns="0" rIns="0" tIns="0" bIns="0" wrap="none"/>
          <a:lstStyle/>
          <a:p>
            <a:pPr algn="ctr"/>
            <a:r>
              <a:rPr sz="5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90</a:t>
            </a:r>
          </a:p>
        </p:txBody>
      </p:sp>
      <p:sp>
        <p:nvSpPr>
          <p:cNvPr id="241" name="Rounded Rectangle 240"/>
          <p:cNvSpPr/>
          <p:nvPr/>
        </p:nvSpPr>
        <p:spPr>
          <a:xfrm>
            <a:off x="4240419" y="2140000"/>
            <a:ext cx="125096" cy="120000"/>
          </a:xfrm>
          <a:prstGeom prst="roundRect">
            <a:avLst>
              <a:gd name="adj" fmla="val 20000"/>
            </a:avLst>
          </a:prstGeom>
          <a:solidFill>
            <a:srgbClr val="FF7900"/>
          </a:solidFill>
          <a:ln>
            <a:noFill/>
          </a:ln>
        </p:spPr>
        <p:txBody>
          <a:bodyPr rtlCol="0" anchor="ctr" lIns="0" rIns="0" tIns="0" bIns="0" wrap="none"/>
          <a:lstStyle/>
          <a:p>
            <a:pPr algn="ctr"/>
            <a:r>
              <a:rPr sz="5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91</a:t>
            </a:r>
          </a:p>
        </p:txBody>
      </p:sp>
      <p:sp>
        <p:nvSpPr>
          <p:cNvPr id="242" name="Rounded Rectangle 241"/>
          <p:cNvSpPr/>
          <p:nvPr/>
        </p:nvSpPr>
        <p:spPr>
          <a:xfrm>
            <a:off x="4651709" y="2140000"/>
            <a:ext cx="125096" cy="120000"/>
          </a:xfrm>
          <a:prstGeom prst="roundRect">
            <a:avLst>
              <a:gd name="adj" fmla="val 20000"/>
            </a:avLst>
          </a:prstGeom>
          <a:solidFill>
            <a:srgbClr val="FF7900"/>
          </a:solidFill>
          <a:ln>
            <a:noFill/>
          </a:ln>
        </p:spPr>
        <p:txBody>
          <a:bodyPr rtlCol="0" anchor="ctr" lIns="0" rIns="0" tIns="0" bIns="0" wrap="none"/>
          <a:lstStyle/>
          <a:p>
            <a:pPr algn="ctr"/>
            <a:r>
              <a:rPr sz="5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92</a:t>
            </a:r>
          </a:p>
        </p:txBody>
      </p:sp>
      <p:sp>
        <p:nvSpPr>
          <p:cNvPr id="243" name="TextBox 242"/>
          <p:cNvSpPr txBox="1"/>
          <p:nvPr/>
        </p:nvSpPr>
        <p:spPr>
          <a:xfrm>
            <a:off x="5097000" y="2120000"/>
            <a:ext cx="650000" cy="1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68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11개</a:t>
            </a:r>
            <a:r>
              <a:rPr sz="650" b="1" i="0">
                <a:solidFill>
                  <a:srgbClr val="7F7F7F"/>
                </a:solidFill>
                <a:latin typeface="Noto Sans KR"/>
                <a:ea typeface="Noto Sans KR"/>
                <a:cs typeface="Noto Sans KR"/>
              </a:rPr>
              <a:t> / T 11</a:t>
            </a:r>
          </a:p>
        </p:txBody>
      </p:sp>
      <p:sp>
        <p:nvSpPr>
          <p:cNvPr id="244" name="TextBox 243"/>
          <p:cNvSpPr txBox="1"/>
          <p:nvPr/>
        </p:nvSpPr>
        <p:spPr>
          <a:xfrm>
            <a:off x="287000" y="2290000"/>
            <a:ext cx="547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600" b="0" i="0">
                <a:solidFill>
                  <a:srgbClr val="7F7F7F"/>
                </a:solidFill>
                <a:latin typeface="Noto Sans KR"/>
                <a:ea typeface="Noto Sans KR"/>
                <a:cs typeface="Noto Sans KR"/>
              </a:rPr>
              <a:t>* 5월 일부(#37 · #38) · 번호 개수 / T = 원자료 Total (붉은 T = 불일치 → 집계 기준 확인) · 6~10월 번호 54 vs Total 46</a:t>
            </a:r>
          </a:p>
        </p:txBody>
      </p:sp>
      <p:sp>
        <p:nvSpPr>
          <p:cNvPr id="245" name="TextBox 244"/>
          <p:cNvSpPr txBox="1"/>
          <p:nvPr/>
        </p:nvSpPr>
        <p:spPr>
          <a:xfrm>
            <a:off x="5857000" y="950000"/>
            <a:ext cx="30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② 표시일자 간격 분포 (#40~#92, 53개)</a:t>
            </a:r>
          </a:p>
        </p:txBody>
      </p:sp>
      <p:sp>
        <p:nvSpPr>
          <p:cNvPr id="246" name="Rectangle 245"/>
          <p:cNvSpPr/>
          <p:nvPr/>
        </p:nvSpPr>
        <p:spPr>
          <a:xfrm>
            <a:off x="6097000" y="2128974"/>
            <a:ext cx="440000" cy="21025"/>
          </a:xfrm>
          <a:prstGeom prst="rect">
            <a:avLst/>
          </a:prstGeom>
          <a:solidFill>
            <a:srgbClr val="F4B183"/>
          </a:solidFill>
          <a:ln>
            <a:noFill/>
          </a:ln>
        </p:spPr>
        <p:txBody>
          <a:bodyPr rtlCol="0" anchor="ctr" lIns="30000" rIns="30000" tIns="0" bIns="0" wrap="square"/>
          <a:lstStyle/>
          <a:p>
            <a:pPr algn="ctr"/>
          </a:p>
        </p:txBody>
      </p:sp>
      <p:sp>
        <p:nvSpPr>
          <p:cNvPr id="247" name="TextBox 246"/>
          <p:cNvSpPr txBox="1"/>
          <p:nvPr/>
        </p:nvSpPr>
        <p:spPr>
          <a:xfrm>
            <a:off x="6057000" y="1958974"/>
            <a:ext cx="520000" cy="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70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1</a:t>
            </a:r>
          </a:p>
        </p:txBody>
      </p:sp>
      <p:sp>
        <p:nvSpPr>
          <p:cNvPr id="248" name="TextBox 247"/>
          <p:cNvSpPr txBox="1"/>
          <p:nvPr/>
        </p:nvSpPr>
        <p:spPr>
          <a:xfrm>
            <a:off x="6057000" y="2170000"/>
            <a:ext cx="52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680" b="0" i="0">
                <a:solidFill>
                  <a:srgbClr val="3F3F3F"/>
                </a:solidFill>
                <a:latin typeface="Noto Sans KR"/>
                <a:ea typeface="Noto Sans KR"/>
                <a:cs typeface="Noto Sans KR"/>
              </a:rPr>
              <a:t>1일</a:t>
            </a:r>
          </a:p>
        </p:txBody>
      </p:sp>
      <p:sp>
        <p:nvSpPr>
          <p:cNvPr id="249" name="Rectangle 248"/>
          <p:cNvSpPr/>
          <p:nvPr/>
        </p:nvSpPr>
        <p:spPr>
          <a:xfrm>
            <a:off x="6617000" y="1918717"/>
            <a:ext cx="440000" cy="231282"/>
          </a:xfrm>
          <a:prstGeom prst="rect">
            <a:avLst/>
          </a:prstGeom>
          <a:solidFill>
            <a:srgbClr val="F4B183"/>
          </a:solidFill>
          <a:ln>
            <a:noFill/>
          </a:ln>
        </p:spPr>
        <p:txBody>
          <a:bodyPr rtlCol="0" anchor="ctr" lIns="30000" rIns="30000" tIns="0" bIns="0" wrap="square"/>
          <a:lstStyle/>
          <a:p>
            <a:pPr algn="ctr"/>
          </a:p>
        </p:txBody>
      </p:sp>
      <p:sp>
        <p:nvSpPr>
          <p:cNvPr id="250" name="TextBox 249"/>
          <p:cNvSpPr txBox="1"/>
          <p:nvPr/>
        </p:nvSpPr>
        <p:spPr>
          <a:xfrm>
            <a:off x="6577000" y="1748717"/>
            <a:ext cx="520000" cy="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70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11</a:t>
            </a:r>
          </a:p>
        </p:txBody>
      </p:sp>
      <p:sp>
        <p:nvSpPr>
          <p:cNvPr id="251" name="TextBox 250"/>
          <p:cNvSpPr txBox="1"/>
          <p:nvPr/>
        </p:nvSpPr>
        <p:spPr>
          <a:xfrm>
            <a:off x="6577000" y="2170000"/>
            <a:ext cx="52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680" b="0" i="0">
                <a:solidFill>
                  <a:srgbClr val="3F3F3F"/>
                </a:solidFill>
                <a:latin typeface="Noto Sans KR"/>
                <a:ea typeface="Noto Sans KR"/>
                <a:cs typeface="Noto Sans KR"/>
              </a:rPr>
              <a:t>2일</a:t>
            </a:r>
          </a:p>
        </p:txBody>
      </p:sp>
      <p:sp>
        <p:nvSpPr>
          <p:cNvPr id="252" name="Rectangle 251"/>
          <p:cNvSpPr/>
          <p:nvPr/>
        </p:nvSpPr>
        <p:spPr>
          <a:xfrm>
            <a:off x="7137000" y="1330000"/>
            <a:ext cx="440000" cy="820000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txBody>
          <a:bodyPr rtlCol="0" anchor="ctr" lIns="30000" rIns="30000" tIns="0" bIns="0" wrap="square"/>
          <a:lstStyle/>
          <a:p>
            <a:pPr algn="ctr"/>
          </a:p>
        </p:txBody>
      </p:sp>
      <p:sp>
        <p:nvSpPr>
          <p:cNvPr id="253" name="TextBox 252"/>
          <p:cNvSpPr txBox="1"/>
          <p:nvPr/>
        </p:nvSpPr>
        <p:spPr>
          <a:xfrm>
            <a:off x="7097000" y="1160000"/>
            <a:ext cx="520000" cy="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70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39</a:t>
            </a:r>
          </a:p>
        </p:txBody>
      </p:sp>
      <p:sp>
        <p:nvSpPr>
          <p:cNvPr id="254" name="TextBox 253"/>
          <p:cNvSpPr txBox="1"/>
          <p:nvPr/>
        </p:nvSpPr>
        <p:spPr>
          <a:xfrm>
            <a:off x="7097000" y="2170000"/>
            <a:ext cx="52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680" b="0" i="0">
                <a:solidFill>
                  <a:srgbClr val="3F3F3F"/>
                </a:solidFill>
                <a:latin typeface="Noto Sans KR"/>
                <a:ea typeface="Noto Sans KR"/>
                <a:cs typeface="Noto Sans KR"/>
              </a:rPr>
              <a:t>3일</a:t>
            </a:r>
          </a:p>
        </p:txBody>
      </p:sp>
      <p:sp>
        <p:nvSpPr>
          <p:cNvPr id="255" name="Rectangle 254"/>
          <p:cNvSpPr/>
          <p:nvPr/>
        </p:nvSpPr>
        <p:spPr>
          <a:xfrm>
            <a:off x="7657000" y="2128974"/>
            <a:ext cx="440000" cy="21025"/>
          </a:xfrm>
          <a:prstGeom prst="rect">
            <a:avLst/>
          </a:prstGeom>
          <a:solidFill>
            <a:srgbClr val="F4B183"/>
          </a:solidFill>
          <a:ln>
            <a:noFill/>
          </a:ln>
        </p:spPr>
        <p:txBody>
          <a:bodyPr rtlCol="0" anchor="ctr" lIns="30000" rIns="30000" tIns="0" bIns="0" wrap="square"/>
          <a:lstStyle/>
          <a:p>
            <a:pPr algn="ctr"/>
          </a:p>
        </p:txBody>
      </p:sp>
      <p:sp>
        <p:nvSpPr>
          <p:cNvPr id="256" name="TextBox 255"/>
          <p:cNvSpPr txBox="1"/>
          <p:nvPr/>
        </p:nvSpPr>
        <p:spPr>
          <a:xfrm>
            <a:off x="7617000" y="1958974"/>
            <a:ext cx="520000" cy="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70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1</a:t>
            </a:r>
          </a:p>
        </p:txBody>
      </p:sp>
      <p:sp>
        <p:nvSpPr>
          <p:cNvPr id="257" name="TextBox 256"/>
          <p:cNvSpPr txBox="1"/>
          <p:nvPr/>
        </p:nvSpPr>
        <p:spPr>
          <a:xfrm>
            <a:off x="7617000" y="2170000"/>
            <a:ext cx="52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680" b="0" i="0">
                <a:solidFill>
                  <a:srgbClr val="3F3F3F"/>
                </a:solidFill>
                <a:latin typeface="Noto Sans KR"/>
                <a:ea typeface="Noto Sans KR"/>
                <a:cs typeface="Noto Sans KR"/>
              </a:rPr>
              <a:t>4일</a:t>
            </a:r>
          </a:p>
        </p:txBody>
      </p:sp>
      <p:sp>
        <p:nvSpPr>
          <p:cNvPr id="258" name="Rectangle 257"/>
          <p:cNvSpPr/>
          <p:nvPr/>
        </p:nvSpPr>
        <p:spPr>
          <a:xfrm>
            <a:off x="8177000" y="2128974"/>
            <a:ext cx="440000" cy="21025"/>
          </a:xfrm>
          <a:prstGeom prst="rect">
            <a:avLst/>
          </a:prstGeom>
          <a:solidFill>
            <a:srgbClr val="F4B183"/>
          </a:solidFill>
          <a:ln>
            <a:noFill/>
          </a:ln>
        </p:spPr>
        <p:txBody>
          <a:bodyPr rtlCol="0" anchor="ctr" lIns="30000" rIns="30000" tIns="0" bIns="0" wrap="square"/>
          <a:lstStyle/>
          <a:p>
            <a:pPr algn="ctr"/>
          </a:p>
        </p:txBody>
      </p:sp>
      <p:sp>
        <p:nvSpPr>
          <p:cNvPr id="259" name="TextBox 258"/>
          <p:cNvSpPr txBox="1"/>
          <p:nvPr/>
        </p:nvSpPr>
        <p:spPr>
          <a:xfrm>
            <a:off x="8137000" y="1958974"/>
            <a:ext cx="520000" cy="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70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1</a:t>
            </a:r>
          </a:p>
        </p:txBody>
      </p:sp>
      <p:sp>
        <p:nvSpPr>
          <p:cNvPr id="260" name="TextBox 259"/>
          <p:cNvSpPr txBox="1"/>
          <p:nvPr/>
        </p:nvSpPr>
        <p:spPr>
          <a:xfrm>
            <a:off x="8137000" y="2170000"/>
            <a:ext cx="52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680" b="0" i="0">
                <a:solidFill>
                  <a:srgbClr val="3F3F3F"/>
                </a:solidFill>
                <a:latin typeface="Noto Sans KR"/>
                <a:ea typeface="Noto Sans KR"/>
                <a:cs typeface="Noto Sans KR"/>
              </a:rPr>
              <a:t>5일</a:t>
            </a:r>
          </a:p>
        </p:txBody>
      </p:sp>
      <p:cxnSp>
        <p:nvCxnSpPr>
          <p:cNvPr id="261" name="Connector 260"/>
          <p:cNvCxnSpPr/>
          <p:nvPr/>
        </p:nvCxnSpPr>
        <p:spPr>
          <a:xfrm>
            <a:off x="6057000" y="2150000"/>
            <a:ext cx="2600000" cy="0"/>
          </a:xfrm>
          <a:prstGeom prst="line">
            <a:avLst/>
          </a:prstGeom>
          <a:ln w="9525">
            <a:solidFill>
              <a:srgbClr val="7F7F7F"/>
            </a:solidFill>
          </a:ln>
        </p:spPr>
      </p:cxnSp>
      <p:sp>
        <p:nvSpPr>
          <p:cNvPr id="262" name="TextBox 261"/>
          <p:cNvSpPr txBox="1"/>
          <p:nvPr/>
        </p:nvSpPr>
        <p:spPr>
          <a:xfrm>
            <a:off x="5857000" y="2340000"/>
            <a:ext cx="3000000" cy="3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0" i="0">
                <a:solidFill>
                  <a:srgbClr val="3F3F3F"/>
                </a:solidFill>
                <a:latin typeface="Noto Sans KR"/>
                <a:ea typeface="Noto Sans KR"/>
                <a:cs typeface="Noto Sans KR"/>
              </a:rPr>
              <a:t>평균 </a:t>
            </a:r>
            <a:r>
              <a:rPr sz="800" b="1" i="0">
                <a:solidFill>
                  <a:srgbClr val="7F6000"/>
                </a:solidFill>
                <a:latin typeface="Noto Sans KR"/>
                <a:ea typeface="Noto Sans KR"/>
                <a:cs typeface="Noto Sans KR"/>
              </a:rPr>
              <a:t>2.81일 = 약 67.5 h</a:t>
            </a:r>
            <a:r>
              <a:rPr sz="650" b="0" i="0">
                <a:solidFill>
                  <a:srgbClr val="7F7F7F"/>
                </a:solidFill>
                <a:latin typeface="Noto Sans KR"/>
                <a:ea typeface="Noto Sans KR"/>
                <a:cs typeface="Noto Sans KR"/>
              </a:rPr>
              <a:t>  (67.0~67.9 h)</a:t>
            </a:r>
          </a:p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7F7F7F"/>
                </a:solidFill>
                <a:latin typeface="Noto Sans KR"/>
                <a:ea typeface="Noto Sans KR"/>
                <a:cs typeface="Noto Sans KR"/>
              </a:rPr>
              <a:t>중앙값 · 최빈값 3일 · 월 경계 간격 3일 (5월→6월 7일)</a:t>
            </a:r>
          </a:p>
        </p:txBody>
      </p:sp>
      <p:sp>
        <p:nvSpPr>
          <p:cNvPr id="263" name="Rectangle 262"/>
          <p:cNvSpPr/>
          <p:nvPr/>
        </p:nvSpPr>
        <p:spPr>
          <a:xfrm>
            <a:off x="287000" y="2650000"/>
            <a:ext cx="50000" cy="165000"/>
          </a:xfrm>
          <a:prstGeom prst="rect">
            <a:avLst/>
          </a:prstGeom>
          <a:solidFill>
            <a:srgbClr val="EB002C"/>
          </a:solidFill>
          <a:ln>
            <a:noFill/>
          </a:ln>
        </p:spPr>
        <p:txBody>
          <a:bodyPr rtlCol="0" anchor="ctr" lIns="30000" rIns="30000" tIns="0" bIns="0" wrap="square"/>
          <a:lstStyle/>
          <a:p>
            <a:pPr algn="ctr"/>
          </a:p>
        </p:txBody>
      </p:sp>
      <p:sp>
        <p:nvSpPr>
          <p:cNvPr id="264" name="TextBox 263"/>
          <p:cNvSpPr txBox="1"/>
          <p:nvPr/>
        </p:nvSpPr>
        <p:spPr>
          <a:xfrm>
            <a:off x="397000" y="2620000"/>
            <a:ext cx="8000000" cy="2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③ 월 생산능력 비교</a:t>
            </a:r>
            <a:r>
              <a:rPr sz="700" b="0" i="0">
                <a:solidFill>
                  <a:srgbClr val="7F7F7F"/>
                </a:solidFill>
                <a:latin typeface="Noto Sans KR"/>
                <a:ea typeface="Noto Sans KR"/>
                <a:cs typeface="Noto Sans KR"/>
              </a:rPr>
              <a:t>   월 720 h 기준 · 연 환산은 참고값</a:t>
            </a:r>
          </a:p>
        </p:txBody>
      </p:sp>
      <p:graphicFrame>
        <p:nvGraphicFramePr>
          <p:cNvPr id="265" name="Table 264"/>
          <p:cNvGraphicFramePr>
            <a:graphicFrameLocks noGrp="1"/>
          </p:cNvGraphicFramePr>
          <p:nvPr/>
        </p:nvGraphicFramePr>
        <p:xfrm>
          <a:off x="287000" y="2860000"/>
          <a:ext cx="8570000" cy="99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50000"/>
                <a:gridCol w="1000000"/>
                <a:gridCol w="1000000"/>
                <a:gridCol w="1050000"/>
                <a:gridCol w="1150000"/>
                <a:gridCol w="2120000"/>
              </a:tblGrid>
              <a:tr h="210000">
                <a:tc>
                  <a:txBody>
                    <a:bodyPr/>
                    <a:lstStyle/>
                    <a:p>
                      <a:pPr algn="l"/>
                      <a:r>
                        <a:rPr sz="700" b="1" i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기준</a:t>
                      </a:r>
                      <a:endParaRPr sz="700"/>
                    </a:p>
                  </a:txBody>
                  <a:tcPr anchor="ctr" marL="45000" marR="45000" marT="15000" marB="15000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A1A1A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 i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간격 h/Batch</a:t>
                      </a:r>
                      <a:endParaRPr sz="700"/>
                    </a:p>
                  </a:txBody>
                  <a:tcPr anchor="ctr" marL="45000" marR="45000" marT="15000" marB="15000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A1A1A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 i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월 Batch</a:t>
                      </a:r>
                      <a:endParaRPr sz="700"/>
                    </a:p>
                  </a:txBody>
                  <a:tcPr anchor="ctr" marL="45000" marR="45000" marT="15000" marB="15000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A1A1A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 i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월 생산 kg</a:t>
                      </a:r>
                      <a:endParaRPr sz="700"/>
                    </a:p>
                  </a:txBody>
                  <a:tcPr anchor="ctr" marL="45000" marR="45000" marT="15000" marB="15000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A1A1A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 i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연 환산 톤 (참고)</a:t>
                      </a:r>
                      <a:endParaRPr sz="700"/>
                    </a:p>
                  </a:txBody>
                  <a:tcPr anchor="ctr" marL="45000" marR="45000" marT="15000" marB="15000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A1A1A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1" i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산출 조건</a:t>
                      </a:r>
                      <a:endParaRPr sz="700"/>
                    </a:p>
                  </a:txBody>
                  <a:tcPr anchor="ctr" marL="45000" marR="45000" marT="15000" marB="15000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A1A1A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5F6F8"/>
                    </a:solidFill>
                  </a:tcPr>
                </a:tc>
              </a:tr>
              <a:tr h="195000">
                <a:tc>
                  <a:txBody>
                    <a:bodyPr/>
                    <a:lstStyle/>
                    <a:p>
                      <a:pPr algn="l"/>
                      <a:r>
                        <a:rPr sz="730" b="1" i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이론 (정제 57 h만)</a:t>
                      </a:r>
                      <a:endParaRPr sz="730"/>
                    </a:p>
                  </a:txBody>
                  <a:tcPr anchor="ctr" marL="45000" marR="45000" marT="15000" marB="150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1" i="0">
                          <a:solidFill>
                            <a:srgbClr val="3F3F3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57.0</a:t>
                      </a:r>
                      <a:endParaRPr sz="780"/>
                    </a:p>
                  </a:txBody>
                  <a:tcPr anchor="ctr" marL="45000" marR="45000" marT="15000" marB="150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1" i="0">
                          <a:solidFill>
                            <a:srgbClr val="3F3F3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12 (+0.63 이월)</a:t>
                      </a:r>
                      <a:endParaRPr sz="780"/>
                    </a:p>
                  </a:txBody>
                  <a:tcPr anchor="ctr" marL="45000" marR="45000" marT="15000" marB="150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1" i="0">
                          <a:solidFill>
                            <a:srgbClr val="3F3F3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2,280</a:t>
                      </a:r>
                      <a:endParaRPr sz="780"/>
                    </a:p>
                  </a:txBody>
                  <a:tcPr anchor="ctr" marL="45000" marR="45000" marT="15000" marB="150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1" i="0">
                          <a:solidFill>
                            <a:srgbClr val="3F3F3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29.2</a:t>
                      </a:r>
                      <a:endParaRPr sz="780"/>
                    </a:p>
                  </a:txBody>
                  <a:tcPr anchor="ctr" marL="45000" marR="45000" marT="15000" marB="150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30" b="0" i="0">
                          <a:solidFill>
                            <a:srgbClr val="7F7F7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720÷57 · 연속 가동 상한</a:t>
                      </a:r>
                      <a:endParaRPr sz="630"/>
                    </a:p>
                  </a:txBody>
                  <a:tcPr anchor="ctr" marL="45000" marR="45000" marT="15000" marB="150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95000">
                <a:tc>
                  <a:txBody>
                    <a:bodyPr/>
                    <a:lstStyle/>
                    <a:p>
                      <a:pPr algn="l"/>
                      <a:r>
                        <a:rPr sz="730" b="1" i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과거 월 최대 11 Batch</a:t>
                      </a:r>
                      <a:endParaRPr sz="730"/>
                    </a:p>
                  </a:txBody>
                  <a:tcPr anchor="ctr" marL="45000" marR="45000" marT="15000" marB="150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1" i="0">
                          <a:solidFill>
                            <a:srgbClr val="2E75B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65.5</a:t>
                      </a:r>
                      <a:endParaRPr sz="780"/>
                    </a:p>
                  </a:txBody>
                  <a:tcPr anchor="ctr" marL="45000" marR="45000" marT="15000" marB="150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1" i="0">
                          <a:solidFill>
                            <a:srgbClr val="2E75B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11</a:t>
                      </a:r>
                      <a:endParaRPr sz="780"/>
                    </a:p>
                  </a:txBody>
                  <a:tcPr anchor="ctr" marL="45000" marR="45000" marT="15000" marB="150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1" i="0">
                          <a:solidFill>
                            <a:srgbClr val="2E75B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2,090</a:t>
                      </a:r>
                      <a:endParaRPr sz="780"/>
                    </a:p>
                  </a:txBody>
                  <a:tcPr anchor="ctr" marL="45000" marR="45000" marT="15000" marB="150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1" i="0">
                          <a:solidFill>
                            <a:srgbClr val="2E75B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25.1 ~ 25.4</a:t>
                      </a:r>
                      <a:endParaRPr sz="780"/>
                    </a:p>
                  </a:txBody>
                  <a:tcPr anchor="ctr" marL="45000" marR="45000" marT="15000" marB="150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30" b="0" i="0">
                          <a:solidFill>
                            <a:srgbClr val="7F7F7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720÷11 · 정제 627 h + 93 h</a:t>
                      </a:r>
                      <a:endParaRPr sz="630"/>
                    </a:p>
                  </a:txBody>
                  <a:tcPr anchor="ctr" marL="45000" marR="45000" marT="15000" marB="150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95000">
                <a:tc>
                  <a:txBody>
                    <a:bodyPr/>
                    <a:lstStyle/>
                    <a:p>
                      <a:pPr algn="l"/>
                      <a:r>
                        <a:rPr sz="730" b="1" i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과거 일정 추정 (6~10월)</a:t>
                      </a:r>
                      <a:endParaRPr sz="730"/>
                    </a:p>
                  </a:txBody>
                  <a:tcPr anchor="ctr" marL="45000" marR="45000" marT="15000" marB="150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8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1" i="0">
                          <a:solidFill>
                            <a:srgbClr val="7F6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약 67.5</a:t>
                      </a:r>
                      <a:endParaRPr sz="780"/>
                    </a:p>
                  </a:txBody>
                  <a:tcPr anchor="ctr" marL="45000" marR="45000" marT="15000" marB="150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8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1" i="0">
                          <a:solidFill>
                            <a:srgbClr val="7F6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약 10.7</a:t>
                      </a:r>
                      <a:endParaRPr sz="780"/>
                    </a:p>
                  </a:txBody>
                  <a:tcPr anchor="ctr" marL="45000" marR="45000" marT="15000" marB="150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8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1" i="0">
                          <a:solidFill>
                            <a:srgbClr val="7F6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약 2,028</a:t>
                      </a:r>
                      <a:endParaRPr sz="780"/>
                    </a:p>
                  </a:txBody>
                  <a:tcPr anchor="ctr" marL="45000" marR="45000" marT="15000" marB="150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8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1" i="0">
                          <a:solidFill>
                            <a:srgbClr val="7F6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약 24.7</a:t>
                      </a:r>
                      <a:endParaRPr sz="780"/>
                    </a:p>
                  </a:txBody>
                  <a:tcPr anchor="ctr" marL="45000" marR="45000" marT="15000" marB="150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8E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30" b="0" i="0">
                          <a:solidFill>
                            <a:srgbClr val="7F7F7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149일÷53간격 · 표시일 기준</a:t>
                      </a:r>
                      <a:endParaRPr sz="630"/>
                    </a:p>
                  </a:txBody>
                  <a:tcPr anchor="ctr" marL="45000" marR="45000" marT="15000" marB="150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8E7"/>
                    </a:solidFill>
                  </a:tcPr>
                </a:tc>
              </a:tr>
              <a:tr h="195000">
                <a:tc>
                  <a:txBody>
                    <a:bodyPr/>
                    <a:lstStyle/>
                    <a:p>
                      <a:pPr algn="l"/>
                      <a:r>
                        <a:rPr sz="730" b="1" i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현재 Capa. 26.2톤 환산</a:t>
                      </a:r>
                      <a:endParaRPr sz="730"/>
                    </a:p>
                  </a:txBody>
                  <a:tcPr anchor="ctr" marL="45000" marR="45000" marT="15000" marB="150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DED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1" i="0">
                          <a:solidFill>
                            <a:srgbClr val="EB00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63.5</a:t>
                      </a:r>
                      <a:endParaRPr sz="780"/>
                    </a:p>
                  </a:txBody>
                  <a:tcPr anchor="ctr" marL="45000" marR="45000" marT="15000" marB="150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DED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1" i="0">
                          <a:solidFill>
                            <a:srgbClr val="EB00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11.49</a:t>
                      </a:r>
                      <a:endParaRPr sz="780"/>
                    </a:p>
                  </a:txBody>
                  <a:tcPr anchor="ctr" marL="45000" marR="45000" marT="15000" marB="150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DED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1" i="0">
                          <a:solidFill>
                            <a:srgbClr val="EB00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2,183</a:t>
                      </a:r>
                      <a:endParaRPr sz="780"/>
                    </a:p>
                  </a:txBody>
                  <a:tcPr anchor="ctr" marL="45000" marR="45000" marT="15000" marB="150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DED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1" i="0">
                          <a:solidFill>
                            <a:srgbClr val="EB00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26.2</a:t>
                      </a:r>
                      <a:endParaRPr sz="780"/>
                    </a:p>
                  </a:txBody>
                  <a:tcPr anchor="ctr" marL="45000" marR="45000" marT="15000" marB="150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DED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30" b="0" i="0">
                          <a:solidFill>
                            <a:srgbClr val="7F7F7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26,200÷190 · 기준값</a:t>
                      </a:r>
                      <a:endParaRPr sz="630"/>
                    </a:p>
                  </a:txBody>
                  <a:tcPr anchor="ctr" marL="45000" marR="45000" marT="15000" marB="150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DEDF0"/>
                    </a:solidFill>
                  </a:tcPr>
                </a:tc>
              </a:tr>
            </a:tbl>
          </a:graphicData>
        </a:graphic>
      </p:graphicFrame>
      <p:sp>
        <p:nvSpPr>
          <p:cNvPr id="266" name="Rectangle 265"/>
          <p:cNvSpPr/>
          <p:nvPr/>
        </p:nvSpPr>
        <p:spPr>
          <a:xfrm>
            <a:off x="287000" y="3950000"/>
            <a:ext cx="50000" cy="165000"/>
          </a:xfrm>
          <a:prstGeom prst="rect">
            <a:avLst/>
          </a:prstGeom>
          <a:solidFill>
            <a:srgbClr val="EB002C"/>
          </a:solidFill>
          <a:ln>
            <a:noFill/>
          </a:ln>
        </p:spPr>
        <p:txBody>
          <a:bodyPr rtlCol="0" anchor="ctr" lIns="30000" rIns="30000" tIns="0" bIns="0" wrap="square"/>
          <a:lstStyle/>
          <a:p>
            <a:pPr algn="ctr"/>
          </a:p>
        </p:txBody>
      </p:sp>
      <p:sp>
        <p:nvSpPr>
          <p:cNvPr id="267" name="TextBox 266"/>
          <p:cNvSpPr txBox="1"/>
          <p:nvPr/>
        </p:nvSpPr>
        <p:spPr>
          <a:xfrm>
            <a:off x="397000" y="3920000"/>
            <a:ext cx="8000000" cy="2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④ 정제 · 검사 · 충진 병렬 운영 (추정 간격 67.5 h 기준)</a:t>
            </a:r>
          </a:p>
        </p:txBody>
      </p:sp>
      <p:sp>
        <p:nvSpPr>
          <p:cNvPr id="268" name="TextBox 267"/>
          <p:cNvSpPr txBox="1"/>
          <p:nvPr/>
        </p:nvSpPr>
        <p:spPr>
          <a:xfrm>
            <a:off x="1187000" y="4180000"/>
            <a:ext cx="300000" cy="1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580" b="0" i="0">
                <a:solidFill>
                  <a:srgbClr val="7F7F7F"/>
                </a:solidFill>
                <a:latin typeface="Noto Sans KR"/>
                <a:ea typeface="Noto Sans KR"/>
                <a:cs typeface="Noto Sans KR"/>
              </a:rPr>
              <a:t>0h</a:t>
            </a:r>
          </a:p>
        </p:txBody>
      </p:sp>
      <p:cxnSp>
        <p:nvCxnSpPr>
          <p:cNvPr id="269" name="Connector 268"/>
          <p:cNvCxnSpPr/>
          <p:nvPr/>
        </p:nvCxnSpPr>
        <p:spPr>
          <a:xfrm>
            <a:off x="1337000" y="4330000"/>
            <a:ext cx="0" cy="1160000"/>
          </a:xfrm>
          <a:prstGeom prst="line">
            <a:avLst/>
          </a:prstGeom>
          <a:ln w="6350">
            <a:solidFill>
              <a:srgbClr val="D9D9D9"/>
            </a:solidFill>
          </a:ln>
        </p:spPr>
      </p:cxnSp>
      <p:sp>
        <p:nvSpPr>
          <p:cNvPr id="270" name="TextBox 269"/>
          <p:cNvSpPr txBox="1"/>
          <p:nvPr/>
        </p:nvSpPr>
        <p:spPr>
          <a:xfrm>
            <a:off x="1822714" y="4180000"/>
            <a:ext cx="300000" cy="1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580" b="0" i="0">
                <a:solidFill>
                  <a:srgbClr val="7F7F7F"/>
                </a:solidFill>
                <a:latin typeface="Noto Sans KR"/>
                <a:ea typeface="Noto Sans KR"/>
                <a:cs typeface="Noto Sans KR"/>
              </a:rPr>
              <a:t>30h</a:t>
            </a:r>
          </a:p>
        </p:txBody>
      </p:sp>
      <p:cxnSp>
        <p:nvCxnSpPr>
          <p:cNvPr id="271" name="Connector 270"/>
          <p:cNvCxnSpPr/>
          <p:nvPr/>
        </p:nvCxnSpPr>
        <p:spPr>
          <a:xfrm>
            <a:off x="1972714" y="4330000"/>
            <a:ext cx="0" cy="1160000"/>
          </a:xfrm>
          <a:prstGeom prst="line">
            <a:avLst/>
          </a:prstGeom>
          <a:ln w="6350">
            <a:solidFill>
              <a:srgbClr val="D9D9D9"/>
            </a:solidFill>
          </a:ln>
        </p:spPr>
      </p:cxnSp>
      <p:sp>
        <p:nvSpPr>
          <p:cNvPr id="272" name="TextBox 271"/>
          <p:cNvSpPr txBox="1"/>
          <p:nvPr/>
        </p:nvSpPr>
        <p:spPr>
          <a:xfrm>
            <a:off x="2458428" y="4180000"/>
            <a:ext cx="300000" cy="1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580" b="0" i="0">
                <a:solidFill>
                  <a:srgbClr val="7F7F7F"/>
                </a:solidFill>
                <a:latin typeface="Noto Sans KR"/>
                <a:ea typeface="Noto Sans KR"/>
                <a:cs typeface="Noto Sans KR"/>
              </a:rPr>
              <a:t>60h</a:t>
            </a:r>
          </a:p>
        </p:txBody>
      </p:sp>
      <p:cxnSp>
        <p:nvCxnSpPr>
          <p:cNvPr id="273" name="Connector 272"/>
          <p:cNvCxnSpPr/>
          <p:nvPr/>
        </p:nvCxnSpPr>
        <p:spPr>
          <a:xfrm>
            <a:off x="2608428" y="4330000"/>
            <a:ext cx="0" cy="1160000"/>
          </a:xfrm>
          <a:prstGeom prst="line">
            <a:avLst/>
          </a:prstGeom>
          <a:ln w="6350">
            <a:solidFill>
              <a:srgbClr val="D9D9D9"/>
            </a:solidFill>
          </a:ln>
        </p:spPr>
      </p:cxnSp>
      <p:sp>
        <p:nvSpPr>
          <p:cNvPr id="274" name="TextBox 273"/>
          <p:cNvSpPr txBox="1"/>
          <p:nvPr/>
        </p:nvSpPr>
        <p:spPr>
          <a:xfrm>
            <a:off x="3094142" y="4180000"/>
            <a:ext cx="300000" cy="1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580" b="0" i="0">
                <a:solidFill>
                  <a:srgbClr val="7F7F7F"/>
                </a:solidFill>
                <a:latin typeface="Noto Sans KR"/>
                <a:ea typeface="Noto Sans KR"/>
                <a:cs typeface="Noto Sans KR"/>
              </a:rPr>
              <a:t>90h</a:t>
            </a:r>
          </a:p>
        </p:txBody>
      </p:sp>
      <p:cxnSp>
        <p:nvCxnSpPr>
          <p:cNvPr id="275" name="Connector 274"/>
          <p:cNvCxnSpPr/>
          <p:nvPr/>
        </p:nvCxnSpPr>
        <p:spPr>
          <a:xfrm>
            <a:off x="3244142" y="4330000"/>
            <a:ext cx="0" cy="1160000"/>
          </a:xfrm>
          <a:prstGeom prst="line">
            <a:avLst/>
          </a:prstGeom>
          <a:ln w="6350">
            <a:solidFill>
              <a:srgbClr val="D9D9D9"/>
            </a:solidFill>
          </a:ln>
        </p:spPr>
      </p:cxnSp>
      <p:sp>
        <p:nvSpPr>
          <p:cNvPr id="276" name="TextBox 275"/>
          <p:cNvSpPr txBox="1"/>
          <p:nvPr/>
        </p:nvSpPr>
        <p:spPr>
          <a:xfrm>
            <a:off x="3729857" y="4180000"/>
            <a:ext cx="300000" cy="1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580" b="0" i="0">
                <a:solidFill>
                  <a:srgbClr val="7F7F7F"/>
                </a:solidFill>
                <a:latin typeface="Noto Sans KR"/>
                <a:ea typeface="Noto Sans KR"/>
                <a:cs typeface="Noto Sans KR"/>
              </a:rPr>
              <a:t>120h</a:t>
            </a:r>
          </a:p>
        </p:txBody>
      </p:sp>
      <p:cxnSp>
        <p:nvCxnSpPr>
          <p:cNvPr id="277" name="Connector 276"/>
          <p:cNvCxnSpPr/>
          <p:nvPr/>
        </p:nvCxnSpPr>
        <p:spPr>
          <a:xfrm>
            <a:off x="3879857" y="4330000"/>
            <a:ext cx="0" cy="1160000"/>
          </a:xfrm>
          <a:prstGeom prst="line">
            <a:avLst/>
          </a:prstGeom>
          <a:ln w="6350">
            <a:solidFill>
              <a:srgbClr val="D9D9D9"/>
            </a:solidFill>
          </a:ln>
        </p:spPr>
      </p:cxnSp>
      <p:sp>
        <p:nvSpPr>
          <p:cNvPr id="278" name="TextBox 277"/>
          <p:cNvSpPr txBox="1"/>
          <p:nvPr/>
        </p:nvSpPr>
        <p:spPr>
          <a:xfrm>
            <a:off x="4365571" y="4180000"/>
            <a:ext cx="300000" cy="1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580" b="0" i="0">
                <a:solidFill>
                  <a:srgbClr val="7F7F7F"/>
                </a:solidFill>
                <a:latin typeface="Noto Sans KR"/>
                <a:ea typeface="Noto Sans KR"/>
                <a:cs typeface="Noto Sans KR"/>
              </a:rPr>
              <a:t>150h</a:t>
            </a:r>
          </a:p>
        </p:txBody>
      </p:sp>
      <p:cxnSp>
        <p:nvCxnSpPr>
          <p:cNvPr id="279" name="Connector 278"/>
          <p:cNvCxnSpPr/>
          <p:nvPr/>
        </p:nvCxnSpPr>
        <p:spPr>
          <a:xfrm>
            <a:off x="4515571" y="4330000"/>
            <a:ext cx="0" cy="1160000"/>
          </a:xfrm>
          <a:prstGeom prst="line">
            <a:avLst/>
          </a:prstGeom>
          <a:ln w="6350">
            <a:solidFill>
              <a:srgbClr val="D9D9D9"/>
            </a:solidFill>
          </a:ln>
        </p:spPr>
      </p:cxnSp>
      <p:sp>
        <p:nvSpPr>
          <p:cNvPr id="280" name="TextBox 279"/>
          <p:cNvSpPr txBox="1"/>
          <p:nvPr/>
        </p:nvSpPr>
        <p:spPr>
          <a:xfrm>
            <a:off x="5001285" y="4180000"/>
            <a:ext cx="300000" cy="1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580" b="0" i="0">
                <a:solidFill>
                  <a:srgbClr val="7F7F7F"/>
                </a:solidFill>
                <a:latin typeface="Noto Sans KR"/>
                <a:ea typeface="Noto Sans KR"/>
                <a:cs typeface="Noto Sans KR"/>
              </a:rPr>
              <a:t>180h</a:t>
            </a:r>
          </a:p>
        </p:txBody>
      </p:sp>
      <p:cxnSp>
        <p:nvCxnSpPr>
          <p:cNvPr id="281" name="Connector 280"/>
          <p:cNvCxnSpPr/>
          <p:nvPr/>
        </p:nvCxnSpPr>
        <p:spPr>
          <a:xfrm>
            <a:off x="5151285" y="4330000"/>
            <a:ext cx="0" cy="1160000"/>
          </a:xfrm>
          <a:prstGeom prst="line">
            <a:avLst/>
          </a:prstGeom>
          <a:ln w="6350">
            <a:solidFill>
              <a:srgbClr val="D9D9D9"/>
            </a:solidFill>
          </a:ln>
        </p:spPr>
      </p:cxnSp>
      <p:sp>
        <p:nvSpPr>
          <p:cNvPr id="282" name="TextBox 281"/>
          <p:cNvSpPr txBox="1"/>
          <p:nvPr/>
        </p:nvSpPr>
        <p:spPr>
          <a:xfrm>
            <a:off x="5637000" y="4180000"/>
            <a:ext cx="300000" cy="1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580" b="0" i="0">
                <a:solidFill>
                  <a:srgbClr val="7F7F7F"/>
                </a:solidFill>
                <a:latin typeface="Noto Sans KR"/>
                <a:ea typeface="Noto Sans KR"/>
                <a:cs typeface="Noto Sans KR"/>
              </a:rPr>
              <a:t>210h</a:t>
            </a:r>
          </a:p>
        </p:txBody>
      </p:sp>
      <p:cxnSp>
        <p:nvCxnSpPr>
          <p:cNvPr id="283" name="Connector 282"/>
          <p:cNvCxnSpPr/>
          <p:nvPr/>
        </p:nvCxnSpPr>
        <p:spPr>
          <a:xfrm>
            <a:off x="5787000" y="4330000"/>
            <a:ext cx="0" cy="1160000"/>
          </a:xfrm>
          <a:prstGeom prst="line">
            <a:avLst/>
          </a:prstGeom>
          <a:ln w="6350">
            <a:solidFill>
              <a:srgbClr val="D9D9D9"/>
            </a:solidFill>
          </a:ln>
        </p:spPr>
      </p:cxnSp>
      <p:sp>
        <p:nvSpPr>
          <p:cNvPr id="284" name="TextBox 283"/>
          <p:cNvSpPr txBox="1"/>
          <p:nvPr/>
        </p:nvSpPr>
        <p:spPr>
          <a:xfrm>
            <a:off x="287000" y="4350000"/>
            <a:ext cx="1030000" cy="2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68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정제기 (1대)</a:t>
            </a:r>
          </a:p>
        </p:txBody>
      </p:sp>
      <p:sp>
        <p:nvSpPr>
          <p:cNvPr id="285" name="TextBox 284"/>
          <p:cNvSpPr txBox="1"/>
          <p:nvPr/>
        </p:nvSpPr>
        <p:spPr>
          <a:xfrm>
            <a:off x="287000" y="4640000"/>
            <a:ext cx="1030000" cy="2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68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FQC</a:t>
            </a:r>
          </a:p>
        </p:txBody>
      </p:sp>
      <p:sp>
        <p:nvSpPr>
          <p:cNvPr id="286" name="TextBox 285"/>
          <p:cNvSpPr txBox="1"/>
          <p:nvPr/>
        </p:nvSpPr>
        <p:spPr>
          <a:xfrm>
            <a:off x="287000" y="4930000"/>
            <a:ext cx="1030000" cy="2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68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5 Gal 충진</a:t>
            </a:r>
          </a:p>
        </p:txBody>
      </p:sp>
      <p:sp>
        <p:nvSpPr>
          <p:cNvPr id="287" name="TextBox 286"/>
          <p:cNvSpPr txBox="1"/>
          <p:nvPr/>
        </p:nvSpPr>
        <p:spPr>
          <a:xfrm>
            <a:off x="287000" y="5220000"/>
            <a:ext cx="1030000" cy="2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68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OQC · 출하</a:t>
            </a:r>
          </a:p>
        </p:txBody>
      </p:sp>
      <p:sp>
        <p:nvSpPr>
          <p:cNvPr id="288" name="Rectangle 287"/>
          <p:cNvSpPr/>
          <p:nvPr/>
        </p:nvSpPr>
        <p:spPr>
          <a:xfrm>
            <a:off x="1337000" y="4370000"/>
            <a:ext cx="1207857" cy="190000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txBody>
          <a:bodyPr rtlCol="0" anchor="ctr" lIns="30000" rIns="30000" tIns="0" bIns="0" wrap="square"/>
          <a:lstStyle/>
          <a:p>
            <a:pPr algn="ctr"/>
            <a:r>
              <a:rPr sz="6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Batch n 정제 57 h</a:t>
            </a:r>
          </a:p>
        </p:txBody>
      </p:sp>
      <p:sp>
        <p:nvSpPr>
          <p:cNvPr id="289" name="Rectangle 288"/>
          <p:cNvSpPr/>
          <p:nvPr/>
        </p:nvSpPr>
        <p:spPr>
          <a:xfrm>
            <a:off x="2544857" y="4370000"/>
            <a:ext cx="221900" cy="190000"/>
          </a:xfrm>
          <a:prstGeom prst="rect">
            <a:avLst/>
          </a:prstGeom>
          <a:solidFill>
            <a:srgbClr val="FFF2CC"/>
          </a:solidFill>
          <a:ln w="6350">
            <a:solidFill>
              <a:srgbClr val="BF9000"/>
            </a:solidFill>
            <a:prstDash val="dash"/>
          </a:ln>
        </p:spPr>
        <p:txBody>
          <a:bodyPr rtlCol="0" anchor="ctr" lIns="30000" rIns="30000" tIns="0" bIns="0" wrap="square"/>
          <a:lstStyle/>
          <a:p>
            <a:pPr algn="ctr"/>
          </a:p>
        </p:txBody>
      </p:sp>
      <p:sp>
        <p:nvSpPr>
          <p:cNvPr id="290" name="Rectangle 289"/>
          <p:cNvSpPr/>
          <p:nvPr/>
        </p:nvSpPr>
        <p:spPr>
          <a:xfrm>
            <a:off x="2544857" y="4660000"/>
            <a:ext cx="42380" cy="190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rtlCol="0" anchor="ctr" lIns="30000" rIns="30000" tIns="0" bIns="0" wrap="square"/>
          <a:lstStyle/>
          <a:p>
            <a:pPr algn="ctr"/>
          </a:p>
        </p:txBody>
      </p:sp>
      <p:sp>
        <p:nvSpPr>
          <p:cNvPr id="291" name="Rectangle 290"/>
          <p:cNvSpPr/>
          <p:nvPr/>
        </p:nvSpPr>
        <p:spPr>
          <a:xfrm>
            <a:off x="2587238" y="4950000"/>
            <a:ext cx="339047" cy="190000"/>
          </a:xfrm>
          <a:prstGeom prst="rect">
            <a:avLst/>
          </a:prstGeom>
          <a:solidFill>
            <a:srgbClr val="548235"/>
          </a:solidFill>
          <a:ln>
            <a:noFill/>
          </a:ln>
        </p:spPr>
        <p:txBody>
          <a:bodyPr rtlCol="0" anchor="ctr" lIns="30000" rIns="30000" tIns="0" bIns="0" wrap="square"/>
          <a:lstStyle/>
          <a:p>
            <a:pPr algn="ctr"/>
          </a:p>
        </p:txBody>
      </p:sp>
      <p:sp>
        <p:nvSpPr>
          <p:cNvPr id="292" name="Rectangle 291"/>
          <p:cNvSpPr/>
          <p:nvPr/>
        </p:nvSpPr>
        <p:spPr>
          <a:xfrm>
            <a:off x="2926285" y="5240000"/>
            <a:ext cx="42380" cy="19000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txBody>
          <a:bodyPr rtlCol="0" anchor="ctr" lIns="30000" rIns="30000" tIns="0" bIns="0" wrap="square"/>
          <a:lstStyle/>
          <a:p>
            <a:pPr algn="ctr"/>
          </a:p>
        </p:txBody>
      </p:sp>
      <p:sp>
        <p:nvSpPr>
          <p:cNvPr id="293" name="Rectangle 292"/>
          <p:cNvSpPr/>
          <p:nvPr/>
        </p:nvSpPr>
        <p:spPr>
          <a:xfrm>
            <a:off x="2766757" y="4370000"/>
            <a:ext cx="1207857" cy="190000"/>
          </a:xfrm>
          <a:prstGeom prst="rect">
            <a:avLst/>
          </a:prstGeom>
          <a:solidFill>
            <a:srgbClr val="F4B183"/>
          </a:solidFill>
          <a:ln>
            <a:noFill/>
          </a:ln>
        </p:spPr>
        <p:txBody>
          <a:bodyPr rtlCol="0" anchor="ctr" lIns="30000" rIns="30000" tIns="0" bIns="0" wrap="square"/>
          <a:lstStyle/>
          <a:p>
            <a:pPr algn="ctr"/>
            <a:r>
              <a:rPr sz="60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Batch n+1 정제 57 h</a:t>
            </a:r>
          </a:p>
        </p:txBody>
      </p:sp>
      <p:sp>
        <p:nvSpPr>
          <p:cNvPr id="294" name="Rectangle 293"/>
          <p:cNvSpPr/>
          <p:nvPr/>
        </p:nvSpPr>
        <p:spPr>
          <a:xfrm>
            <a:off x="3974614" y="4370000"/>
            <a:ext cx="221900" cy="190000"/>
          </a:xfrm>
          <a:prstGeom prst="rect">
            <a:avLst/>
          </a:prstGeom>
          <a:solidFill>
            <a:srgbClr val="FFF2CC"/>
          </a:solidFill>
          <a:ln w="6350">
            <a:solidFill>
              <a:srgbClr val="BF9000"/>
            </a:solidFill>
            <a:prstDash val="dash"/>
          </a:ln>
        </p:spPr>
        <p:txBody>
          <a:bodyPr rtlCol="0" anchor="ctr" lIns="30000" rIns="30000" tIns="0" bIns="0" wrap="square"/>
          <a:lstStyle/>
          <a:p>
            <a:pPr algn="ctr"/>
          </a:p>
        </p:txBody>
      </p:sp>
      <p:sp>
        <p:nvSpPr>
          <p:cNvPr id="295" name="Rectangle 294"/>
          <p:cNvSpPr/>
          <p:nvPr/>
        </p:nvSpPr>
        <p:spPr>
          <a:xfrm>
            <a:off x="3974614" y="4660000"/>
            <a:ext cx="42380" cy="190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rtlCol="0" anchor="ctr" lIns="30000" rIns="30000" tIns="0" bIns="0" wrap="square"/>
          <a:lstStyle/>
          <a:p>
            <a:pPr algn="ctr"/>
          </a:p>
        </p:txBody>
      </p:sp>
      <p:sp>
        <p:nvSpPr>
          <p:cNvPr id="296" name="Rectangle 295"/>
          <p:cNvSpPr/>
          <p:nvPr/>
        </p:nvSpPr>
        <p:spPr>
          <a:xfrm>
            <a:off x="4016995" y="4950000"/>
            <a:ext cx="339047" cy="190000"/>
          </a:xfrm>
          <a:prstGeom prst="rect">
            <a:avLst/>
          </a:prstGeom>
          <a:solidFill>
            <a:srgbClr val="548235"/>
          </a:solidFill>
          <a:ln>
            <a:noFill/>
          </a:ln>
        </p:spPr>
        <p:txBody>
          <a:bodyPr rtlCol="0" anchor="ctr" lIns="30000" rIns="30000" tIns="0" bIns="0" wrap="square"/>
          <a:lstStyle/>
          <a:p>
            <a:pPr algn="ctr"/>
          </a:p>
        </p:txBody>
      </p:sp>
      <p:sp>
        <p:nvSpPr>
          <p:cNvPr id="297" name="Rectangle 296"/>
          <p:cNvSpPr/>
          <p:nvPr/>
        </p:nvSpPr>
        <p:spPr>
          <a:xfrm>
            <a:off x="4356043" y="5240000"/>
            <a:ext cx="42380" cy="19000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txBody>
          <a:bodyPr rtlCol="0" anchor="ctr" lIns="30000" rIns="30000" tIns="0" bIns="0" wrap="square"/>
          <a:lstStyle/>
          <a:p>
            <a:pPr algn="ctr"/>
          </a:p>
        </p:txBody>
      </p:sp>
      <p:sp>
        <p:nvSpPr>
          <p:cNvPr id="298" name="Rectangle 297"/>
          <p:cNvSpPr/>
          <p:nvPr/>
        </p:nvSpPr>
        <p:spPr>
          <a:xfrm>
            <a:off x="4196514" y="4370000"/>
            <a:ext cx="1207857" cy="190000"/>
          </a:xfrm>
          <a:prstGeom prst="rect">
            <a:avLst/>
          </a:prstGeom>
          <a:solidFill>
            <a:srgbClr val="F8CBAD"/>
          </a:solidFill>
          <a:ln>
            <a:noFill/>
          </a:ln>
        </p:spPr>
        <p:txBody>
          <a:bodyPr rtlCol="0" anchor="ctr" lIns="30000" rIns="30000" tIns="0" bIns="0" wrap="square"/>
          <a:lstStyle/>
          <a:p>
            <a:pPr algn="ctr"/>
            <a:r>
              <a:rPr sz="60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Batch n+2 정제 57 h</a:t>
            </a:r>
          </a:p>
        </p:txBody>
      </p:sp>
      <p:sp>
        <p:nvSpPr>
          <p:cNvPr id="299" name="Rectangle 298"/>
          <p:cNvSpPr/>
          <p:nvPr/>
        </p:nvSpPr>
        <p:spPr>
          <a:xfrm>
            <a:off x="5404371" y="4660000"/>
            <a:ext cx="42380" cy="190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rtlCol="0" anchor="ctr" lIns="30000" rIns="30000" tIns="0" bIns="0" wrap="square"/>
          <a:lstStyle/>
          <a:p>
            <a:pPr algn="ctr"/>
          </a:p>
        </p:txBody>
      </p:sp>
      <p:sp>
        <p:nvSpPr>
          <p:cNvPr id="300" name="Rectangle 299"/>
          <p:cNvSpPr/>
          <p:nvPr/>
        </p:nvSpPr>
        <p:spPr>
          <a:xfrm>
            <a:off x="5446752" y="4950000"/>
            <a:ext cx="339047" cy="190000"/>
          </a:xfrm>
          <a:prstGeom prst="rect">
            <a:avLst/>
          </a:prstGeom>
          <a:solidFill>
            <a:srgbClr val="548235"/>
          </a:solidFill>
          <a:ln>
            <a:noFill/>
          </a:ln>
        </p:spPr>
        <p:txBody>
          <a:bodyPr rtlCol="0" anchor="ctr" lIns="30000" rIns="30000" tIns="0" bIns="0" wrap="square"/>
          <a:lstStyle/>
          <a:p>
            <a:pPr algn="ctr"/>
          </a:p>
        </p:txBody>
      </p:sp>
      <p:sp>
        <p:nvSpPr>
          <p:cNvPr id="301" name="TextBox 300"/>
          <p:cNvSpPr txBox="1"/>
          <p:nvPr/>
        </p:nvSpPr>
        <p:spPr>
          <a:xfrm>
            <a:off x="2629619" y="4680000"/>
            <a:ext cx="12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580" b="1" i="0">
                <a:solidFill>
                  <a:srgbClr val="7F6000"/>
                </a:solidFill>
                <a:latin typeface="Noto Sans KR"/>
                <a:ea typeface="Noto Sans KR"/>
                <a:cs typeface="Noto Sans KR"/>
              </a:rPr>
              <a:t>← 전환·대기 약 10.5 h (원인 확인)</a:t>
            </a:r>
          </a:p>
        </p:txBody>
      </p:sp>
      <p:sp>
        <p:nvSpPr>
          <p:cNvPr id="302" name="TextBox 301"/>
          <p:cNvSpPr txBox="1"/>
          <p:nvPr/>
        </p:nvSpPr>
        <p:spPr>
          <a:xfrm>
            <a:off x="3032238" y="5260000"/>
            <a:ext cx="1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600" b="1" i="0">
                <a:solidFill>
                  <a:srgbClr val="548235"/>
                </a:solidFill>
                <a:latin typeface="Noto Sans KR"/>
                <a:ea typeface="Noto Sans KR"/>
                <a:cs typeface="Noto Sans KR"/>
              </a:rPr>
              <a:t>↑ 충진은 다음 Batch 정제와 병렬</a:t>
            </a:r>
          </a:p>
        </p:txBody>
      </p:sp>
      <p:sp>
        <p:nvSpPr>
          <p:cNvPr id="303" name="TextBox 302"/>
          <p:cNvSpPr txBox="1"/>
          <p:nvPr/>
        </p:nvSpPr>
        <p:spPr>
          <a:xfrm>
            <a:off x="287000" y="5550000"/>
            <a:ext cx="5500000" cy="1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620" b="0" i="0">
                <a:solidFill>
                  <a:srgbClr val="7F7F7F"/>
                </a:solidFill>
                <a:latin typeface="Noto Sans KR"/>
                <a:ea typeface="Noto Sans KR"/>
                <a:cs typeface="Noto Sans KR"/>
              </a:rPr>
              <a:t>※ 원료 투입 시점 · IQC 적용 주기(Lot 공통 여부) 확인 · 충진 인력 · 글로브 박스 근무시간이 다음 Batch를 제한하는지 확인</a:t>
            </a:r>
          </a:p>
        </p:txBody>
      </p:sp>
      <p:sp>
        <p:nvSpPr>
          <p:cNvPr id="304" name="Rectangle 303"/>
          <p:cNvSpPr/>
          <p:nvPr/>
        </p:nvSpPr>
        <p:spPr>
          <a:xfrm>
            <a:off x="5937000" y="3920000"/>
            <a:ext cx="2920000" cy="1900000"/>
          </a:xfrm>
          <a:prstGeom prst="rect">
            <a:avLst/>
          </a:prstGeom>
          <a:solidFill>
            <a:srgbClr val="FFF8E7"/>
          </a:solidFill>
          <a:ln w="12700">
            <a:solidFill>
              <a:srgbClr val="BF9000"/>
            </a:solidFill>
          </a:ln>
        </p:spPr>
        <p:txBody>
          <a:bodyPr rtlCol="0" anchor="ctr" lIns="30000" rIns="30000" tIns="0" bIns="0" wrap="square"/>
          <a:lstStyle/>
          <a:p>
            <a:pPr algn="ctr"/>
          </a:p>
        </p:txBody>
      </p:sp>
      <p:sp>
        <p:nvSpPr>
          <p:cNvPr id="305" name="TextBox 304"/>
          <p:cNvSpPr txBox="1"/>
          <p:nvPr/>
        </p:nvSpPr>
        <p:spPr>
          <a:xfrm>
            <a:off x="6027000" y="3990000"/>
            <a:ext cx="2740000" cy="18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800" b="1" i="0">
                <a:solidFill>
                  <a:srgbClr val="7F6000"/>
                </a:solidFill>
                <a:latin typeface="Noto Sans KR"/>
                <a:ea typeface="Noto Sans KR"/>
                <a:cs typeface="Noto Sans KR"/>
              </a:rPr>
              <a:t>추정 근거 · 가정</a:t>
            </a:r>
          </a:p>
          <a:p>
            <a:pPr algn="l">
              <a:spcAft>
                <a:spcPts val="600"/>
              </a:spcAft>
            </a:pPr>
            <a:r>
              <a:rPr sz="650" b="0" i="0">
                <a:solidFill>
                  <a:srgbClr val="3F3F3F"/>
                </a:solidFill>
                <a:latin typeface="Noto Sans KR"/>
                <a:ea typeface="Noto Sans KR"/>
                <a:cs typeface="Noto Sans KR"/>
              </a:rPr>
              <a:t>데이터 : 6/2 #39 ~ 10/29 #92 (54 Batch, 53간격)</a:t>
            </a:r>
          </a:p>
          <a:p>
            <a:pPr algn="l">
              <a:spcAft>
                <a:spcPts val="600"/>
              </a:spcAft>
            </a:pPr>
            <a:r>
              <a:rPr sz="650" b="0" i="0">
                <a:solidFill>
                  <a:srgbClr val="3F3F3F"/>
                </a:solidFill>
                <a:latin typeface="Noto Sans KR"/>
                <a:ea typeface="Noto Sans KR"/>
                <a:cs typeface="Noto Sans KR"/>
              </a:rPr>
              <a:t>방법 : 전체 경과 149일 ÷ 53 = 2.81일</a:t>
            </a:r>
          </a:p>
          <a:p>
            <a:pPr algn="l">
              <a:spcAft>
                <a:spcPts val="600"/>
              </a:spcAft>
            </a:pPr>
            <a:r>
              <a:rPr sz="650" b="0" i="0">
                <a:solidFill>
                  <a:srgbClr val="3F3F3F"/>
                </a:solidFill>
                <a:latin typeface="Noto Sans KR"/>
                <a:ea typeface="Noto Sans KR"/>
                <a:cs typeface="Noto Sans KR"/>
              </a:rPr>
              <a:t>범위 : 시각 미확인 → 양 끝 ±1일 67.0~67.9 h</a:t>
            </a:r>
          </a:p>
          <a:p>
            <a:pPr algn="l">
              <a:spcAft>
                <a:spcPts val="600"/>
              </a:spcAft>
            </a:pPr>
            <a:r>
              <a:rPr sz="650" b="0" i="0">
                <a:solidFill>
                  <a:srgbClr val="3F3F3F"/>
                </a:solidFill>
                <a:latin typeface="Noto Sans KR"/>
                <a:ea typeface="Noto Sans KR"/>
                <a:cs typeface="Noto Sans KR"/>
              </a:rPr>
              <a:t>가정 : 표시일 간격 = 정제기 Batch 시작 간격</a:t>
            </a:r>
          </a:p>
          <a:p>
            <a:pPr algn="l">
              <a:spcAft>
                <a:spcPts val="600"/>
              </a:spcAft>
            </a:pPr>
            <a:r>
              <a:rPr sz="650" b="0" i="0">
                <a:solidFill>
                  <a:srgbClr val="3F3F3F"/>
                </a:solidFill>
                <a:latin typeface="Noto Sans KR"/>
                <a:ea typeface="Noto Sans KR"/>
                <a:cs typeface="Noto Sans KR"/>
              </a:rPr>
              <a:t>적용 : 현재 103℃ · 동일 운영 패턴</a:t>
            </a:r>
          </a:p>
          <a:p>
            <a:pPr algn="l">
              <a:spcAft>
                <a:spcPts val="600"/>
              </a:spcAft>
            </a:pPr>
            <a:r>
              <a:rPr sz="650" b="1" i="0">
                <a:solidFill>
                  <a:srgbClr val="3F3F3F"/>
                </a:solidFill>
                <a:latin typeface="Noto Sans KR"/>
                <a:ea typeface="Noto Sans KR"/>
                <a:cs typeface="Noto Sans KR"/>
              </a:rPr>
              <a:t>차이 : 57 h 대비 +10.5 h (전환·세척·대기·일정 여유 등 — 원인 확인)</a:t>
            </a:r>
          </a:p>
          <a:p>
            <a:pPr algn="l">
              <a:spcAft>
                <a:spcPts val="600"/>
              </a:spcAft>
            </a:pPr>
            <a:r>
              <a:rPr sz="650" b="0" i="0">
                <a:solidFill>
                  <a:srgbClr val="EB002C"/>
                </a:solidFill>
                <a:latin typeface="Noto Sans KR"/>
                <a:ea typeface="Noto Sans KR"/>
                <a:cs typeface="Noto Sans KR"/>
              </a:rPr>
              <a:t>주의 : 2일 간격을 48 h로 단정하지 않음 (개별 ±24 h)</a:t>
            </a:r>
          </a:p>
          <a:p>
            <a:pPr algn="l">
              <a:spcAft>
                <a:spcPts val="600"/>
              </a:spcAft>
            </a:pPr>
            <a:r>
              <a:rPr sz="650" b="0" i="0">
                <a:solidFill>
                  <a:srgbClr val="3F3F3F"/>
                </a:solidFill>
                <a:latin typeface="Noto Sans KR"/>
                <a:ea typeface="Noto Sans KR"/>
                <a:cs typeface="Noto Sans KR"/>
              </a:rPr>
              <a:t>확인 : 표시일 의미 · 실제 시각 · Total 46 vs 번호 54</a:t>
            </a:r>
          </a:p>
        </p:txBody>
      </p:sp>
    </p:spTree>
    <p:extLst>
      <p:ext uri="{BB962C8B-B14F-4D97-AF65-F5344CB8AC3E}">
        <p14:creationId xmlns:p14="http://schemas.microsoft.com/office/powerpoint/2010/main" val="129899069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2BE96E-E472-E164-23F2-95F3E9DCB4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5E2DD2F-BCF5-ECAE-E5D5-3CF0B6E970A6}"/>
              </a:ext>
            </a:extLst>
          </p:cNvPr>
          <p:cNvSpPr txBox="1"/>
          <p:nvPr/>
        </p:nvSpPr>
        <p:spPr>
          <a:xfrm>
            <a:off x="419241" y="188640"/>
            <a:ext cx="740000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algn="ctr">
              <a:defRPr kumimoji="1" sz="2800" b="1">
                <a:solidFill>
                  <a:schemeClr val="tx1">
                    <a:lumMod val="95000"/>
                    <a:lumOff val="5000"/>
                  </a:schemeClr>
                </a:solidFill>
                <a:latin typeface="Noto Sans KR" pitchFamily="2" charset="-127"/>
                <a:ea typeface="Noto Sans KR" pitchFamily="2" charset="-127"/>
              </a:defRPr>
            </a:lvl1pPr>
          </a:lstStyle>
          <a:p>
            <a:pPr algn="l"/>
            <a:r>
              <a:rPr lang="en-US" altLang="ko-KR" sz="1800" dirty="0" b="1">
                <a:gradFill>
                  <a:gsLst>
                    <a:gs pos="0">
                      <a:srgbClr val="FF7900"/>
                    </a:gs>
                    <a:gs pos="67000">
                      <a:srgbClr val="EB002C"/>
                    </a:gs>
                  </a:gsLst>
                  <a:lin ang="5400000" scaled="1"/>
                </a:gradFill>
              </a:rPr>
              <a:t>2027년 월별 출하계획과 공급 대응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5E334A9-F66D-C6A4-7BE9-6D50F9536A48}"/>
              </a:ext>
            </a:extLst>
          </p:cNvPr>
          <p:cNvSpPr/>
          <p:nvPr/>
        </p:nvSpPr>
        <p:spPr>
          <a:xfrm>
            <a:off x="243076" y="0"/>
            <a:ext cx="45719" cy="900000"/>
          </a:xfrm>
          <a:prstGeom prst="rect">
            <a:avLst/>
          </a:prstGeom>
          <a:solidFill>
            <a:srgbClr val="EB002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2E35880-4093-876B-A5F4-41C1E861B78E}"/>
              </a:ext>
            </a:extLst>
          </p:cNvPr>
          <p:cNvSpPr txBox="1"/>
          <p:nvPr/>
        </p:nvSpPr>
        <p:spPr>
          <a:xfrm>
            <a:off x="683568" y="649029"/>
            <a:ext cx="8217356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algn="ctr">
              <a:defRPr kumimoji="1" sz="2800" b="1">
                <a:solidFill>
                  <a:schemeClr val="tx1">
                    <a:lumMod val="95000"/>
                    <a:lumOff val="5000"/>
                  </a:schemeClr>
                </a:solidFill>
                <a:latin typeface="Noto Sans KR" pitchFamily="2" charset="-127"/>
                <a:ea typeface="Noto Sans KR" pitchFamily="2" charset="-127"/>
              </a:defRPr>
            </a:lvl1pPr>
          </a:lstStyle>
          <a:p>
            <a:pPr algn="l"/>
            <a:r>
              <a:rPr lang="en-US" altLang="ko-KR" sz="1600" dirty="0"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전제 : '27.6까지 26.2톤/년 · '27.7부터 47.2톤/년 → 생산 36.7톤 vs 출하 39.66톤</a:t>
            </a:r>
            <a:endParaRPr lang="en-US" altLang="ko-KR" sz="1600" dirty="0">
              <a:solidFill>
                <a:srgbClr val="FB6306"/>
              </a:solidFill>
              <a:latin typeface="Noto Sans KR" panose="02000503000000020004" pitchFamily="2" charset="-127"/>
              <a:ea typeface="Noto Sans KR" panose="02000503000000020004" pitchFamily="2" charset="-127"/>
              <a:cs typeface="Noto Sans KR" panose="02000503000000020004" pitchFamily="2" charset="-127"/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8FCEA6BD-DE04-59B4-A8D4-190141D5218B}"/>
              </a:ext>
            </a:extLst>
          </p:cNvPr>
          <p:cNvSpPr>
            <a:spLocks noChangeAspect="1"/>
          </p:cNvSpPr>
          <p:nvPr/>
        </p:nvSpPr>
        <p:spPr>
          <a:xfrm>
            <a:off x="419241" y="682139"/>
            <a:ext cx="180000" cy="180000"/>
          </a:xfrm>
          <a:prstGeom prst="ellipse">
            <a:avLst/>
          </a:prstGeom>
          <a:solidFill>
            <a:srgbClr val="EB002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 b="1" dirty="0">
                <a:latin typeface="Noto Sans KR" pitchFamily="2" charset="-127"/>
                <a:ea typeface="Noto Sans KR" pitchFamily="2" charset="-127"/>
              </a:rPr>
              <a:t>5</a:t>
            </a:r>
            <a:endParaRPr kumimoji="1" lang="ko-KR" altLang="en-US" sz="1000" b="1" dirty="0">
              <a:latin typeface="Noto Sans KR" pitchFamily="2" charset="-127"/>
              <a:ea typeface="Noto Sans KR" pitchFamily="2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B8A963E8-7BFA-8421-BB5D-9C25023F1E9B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8384" y="165102"/>
            <a:ext cx="872541" cy="372545"/>
          </a:xfrm>
          <a:prstGeom prst="rect">
            <a:avLst/>
          </a:prstGeom>
        </p:spPr>
      </p:pic>
      <p:sp>
        <p:nvSpPr>
          <p:cNvPr id="161" name="직사각형 160">
            <a:extLst>
              <a:ext uri="{FF2B5EF4-FFF2-40B4-BE49-F238E27FC236}">
                <a16:creationId xmlns:a16="http://schemas.microsoft.com/office/drawing/2014/main" id="{93943A90-8311-883B-A173-01407C63CEE4}"/>
              </a:ext>
            </a:extLst>
          </p:cNvPr>
          <p:cNvSpPr/>
          <p:nvPr/>
        </p:nvSpPr>
        <p:spPr>
          <a:xfrm>
            <a:off x="234424" y="6411907"/>
            <a:ext cx="1027462" cy="252555"/>
          </a:xfrm>
          <a:prstGeom prst="rect">
            <a:avLst/>
          </a:prstGeom>
          <a:noFill/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ko-KR" sz="1100" dirty="0">
                <a:solidFill>
                  <a:schemeClr val="bg1">
                    <a:lumMod val="50000"/>
                  </a:schemeClr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Confidential</a:t>
            </a:r>
            <a:endParaRPr kumimoji="1" lang="ko-KR" altLang="en-US" sz="1100" dirty="0">
              <a:solidFill>
                <a:schemeClr val="bg1">
                  <a:lumMod val="50000"/>
                </a:schemeClr>
              </a:solidFill>
              <a:latin typeface="Noto Sans KR" panose="02000503000000020004" pitchFamily="2" charset="-127"/>
              <a:ea typeface="Noto Sans KR" panose="02000503000000020004" pitchFamily="2" charset="-127"/>
              <a:cs typeface="Noto Sans KR" panose="02000503000000020004" pitchFamily="2" charset="-127"/>
            </a:endParaRPr>
          </a:p>
        </p:txBody>
      </p:sp>
      <p:cxnSp>
        <p:nvCxnSpPr>
          <p:cNvPr id="163" name="직선 연결선[R] 162">
            <a:extLst>
              <a:ext uri="{FF2B5EF4-FFF2-40B4-BE49-F238E27FC236}">
                <a16:creationId xmlns:a16="http://schemas.microsoft.com/office/drawing/2014/main" id="{8DEBABA2-333E-086B-36F6-137958AA3974}"/>
              </a:ext>
            </a:extLst>
          </p:cNvPr>
          <p:cNvCxnSpPr>
            <a:cxnSpLocks/>
          </p:cNvCxnSpPr>
          <p:nvPr/>
        </p:nvCxnSpPr>
        <p:spPr>
          <a:xfrm>
            <a:off x="1442533" y="6538184"/>
            <a:ext cx="7200800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8D53F489-CBFB-4C6F-878D-02975AD51256}"/>
              </a:ext>
            </a:extLst>
          </p:cNvPr>
          <p:cNvSpPr txBox="1"/>
          <p:nvPr/>
        </p:nvSpPr>
        <p:spPr>
          <a:xfrm>
            <a:off x="3972000" y="6461240"/>
            <a:ext cx="1200000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kumimoji="1" lang="en-US" altLang="ko-KR" sz="1000" dirty="0" b="0" i="0">
                <a:solidFill>
                  <a:srgbClr val="7F7F7F"/>
                </a:solidFill>
                <a:latin typeface="Noto Sans KR" panose="02000403000000020004" pitchFamily="2" charset="-127"/>
                <a:ea typeface="Noto Sans KR" panose="02000403000000020004" pitchFamily="2" charset="-127"/>
                <a:cs typeface="Noto Sans KR" panose="02000403000000020004" pitchFamily="2" charset="-127"/>
              </a:rPr>
              <a:t>- 5 -</a:t>
            </a:r>
            <a:endParaRPr kumimoji="1" lang="ko-KR" altLang="en-US" sz="1000" dirty="0">
              <a:solidFill>
                <a:schemeClr val="bg1">
                  <a:lumMod val="50000"/>
                </a:schemeClr>
              </a:solidFill>
              <a:latin typeface="Noto Sans KR" panose="02000403000000020004" pitchFamily="2" charset="-127"/>
              <a:ea typeface="Noto Sans KR" panose="02000403000000020004" pitchFamily="2" charset="-127"/>
              <a:cs typeface="Noto Sans KR" panose="02000403000000020004" pitchFamily="2" charset="-127"/>
            </a:endParaRPr>
          </a:p>
        </p:txBody>
      </p:sp>
      <p:sp>
        <p:nvSpPr>
          <p:cNvPr id="164" name="TextBox 163"/>
          <p:cNvSpPr txBox="1"/>
          <p:nvPr/>
        </p:nvSpPr>
        <p:spPr>
          <a:xfrm>
            <a:off x="5657000" y="6300000"/>
            <a:ext cx="32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7F7F7F"/>
                </a:solidFill>
                <a:latin typeface="Noto Sans KR"/>
                <a:ea typeface="Noto Sans KR"/>
                <a:cs typeface="Noto Sans KR"/>
              </a:rPr>
              <a:t>공란 : 담당부서 확인 후 입력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287000" y="980000"/>
            <a:ext cx="50000" cy="165000"/>
          </a:xfrm>
          <a:prstGeom prst="rect">
            <a:avLst/>
          </a:prstGeom>
          <a:solidFill>
            <a:srgbClr val="EB002C"/>
          </a:solidFill>
          <a:ln>
            <a:noFill/>
          </a:ln>
        </p:spPr>
        <p:txBody>
          <a:bodyPr rtlCol="0" anchor="ctr" lIns="30000" rIns="30000" tIns="0" bIns="0" wrap="square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397000" y="950000"/>
            <a:ext cx="8000000" cy="2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① 2027 월별 필요 Batch · 생산 · 출하 · 재고 (kg)</a:t>
            </a:r>
            <a:r>
              <a:rPr sz="700" b="0" i="0">
                <a:solidFill>
                  <a:srgbClr val="7F7F7F"/>
                </a:solidFill>
                <a:latin typeface="Noto Sans KR"/>
                <a:ea typeface="Noto Sans KR"/>
                <a:cs typeface="Noto Sans KR"/>
              </a:rPr>
              <a:t>   생산 가능량은 전제 조건 기준 (연 Capa. ÷ 12, 균등 가동)</a:t>
            </a:r>
          </a:p>
        </p:txBody>
      </p:sp>
      <p:graphicFrame>
        <p:nvGraphicFramePr>
          <p:cNvPr id="167" name="Table 166"/>
          <p:cNvGraphicFramePr>
            <a:graphicFrameLocks noGrp="1"/>
          </p:cNvGraphicFramePr>
          <p:nvPr/>
        </p:nvGraphicFramePr>
        <p:xfrm>
          <a:off x="287000" y="1190000"/>
          <a:ext cx="8570000" cy="260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50000"/>
                <a:gridCol w="485000"/>
                <a:gridCol w="485000"/>
                <a:gridCol w="485000"/>
                <a:gridCol w="485000"/>
                <a:gridCol w="485000"/>
                <a:gridCol w="485000"/>
                <a:gridCol w="485000"/>
                <a:gridCol w="485000"/>
                <a:gridCol w="485000"/>
                <a:gridCol w="485000"/>
                <a:gridCol w="485000"/>
                <a:gridCol w="485000"/>
                <a:gridCol w="800000"/>
              </a:tblGrid>
              <a:tr h="165000">
                <a:tc>
                  <a:txBody>
                    <a:bodyPr/>
                    <a:lstStyle/>
                    <a:p>
                      <a:pPr algn="l"/>
                      <a:r>
                        <a:rPr sz="660" b="1" i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구분</a:t>
                      </a:r>
                      <a:endParaRPr sz="660"/>
                    </a:p>
                  </a:txBody>
                  <a:tcPr anchor="ctr" marL="45000" marR="45000" marT="15000" marB="15000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A1A1A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60" b="1" i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1월</a:t>
                      </a:r>
                      <a:endParaRPr sz="660"/>
                    </a:p>
                  </a:txBody>
                  <a:tcPr anchor="ctr" marL="45000" marR="45000" marT="15000" marB="15000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A1A1A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60" b="1" i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2월</a:t>
                      </a:r>
                      <a:endParaRPr sz="660"/>
                    </a:p>
                  </a:txBody>
                  <a:tcPr anchor="ctr" marL="45000" marR="45000" marT="15000" marB="15000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A1A1A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60" b="1" i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3월</a:t>
                      </a:r>
                      <a:endParaRPr sz="660"/>
                    </a:p>
                  </a:txBody>
                  <a:tcPr anchor="ctr" marL="45000" marR="45000" marT="15000" marB="15000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A1A1A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60" b="1" i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4월</a:t>
                      </a:r>
                      <a:endParaRPr sz="660"/>
                    </a:p>
                  </a:txBody>
                  <a:tcPr anchor="ctr" marL="45000" marR="45000" marT="15000" marB="15000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A1A1A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60" b="1" i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5월</a:t>
                      </a:r>
                      <a:endParaRPr sz="660"/>
                    </a:p>
                  </a:txBody>
                  <a:tcPr anchor="ctr" marL="45000" marR="45000" marT="15000" marB="15000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A1A1A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60" b="1" i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6월</a:t>
                      </a:r>
                      <a:endParaRPr sz="660"/>
                    </a:p>
                  </a:txBody>
                  <a:tcPr anchor="ctr" marL="45000" marR="45000" marT="15000" marB="15000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A1A1A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60" b="1" i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7월</a:t>
                      </a:r>
                      <a:endParaRPr sz="660"/>
                    </a:p>
                  </a:txBody>
                  <a:tcPr anchor="ctr" marL="45000" marR="45000" marT="15000" marB="15000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A1A1A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60" b="1" i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8월</a:t>
                      </a:r>
                      <a:endParaRPr sz="660"/>
                    </a:p>
                  </a:txBody>
                  <a:tcPr anchor="ctr" marL="45000" marR="45000" marT="15000" marB="15000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A1A1A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60" b="1" i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9월</a:t>
                      </a:r>
                      <a:endParaRPr sz="660"/>
                    </a:p>
                  </a:txBody>
                  <a:tcPr anchor="ctr" marL="45000" marR="45000" marT="15000" marB="15000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A1A1A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60" b="1" i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10월</a:t>
                      </a:r>
                      <a:endParaRPr sz="660"/>
                    </a:p>
                  </a:txBody>
                  <a:tcPr anchor="ctr" marL="45000" marR="45000" marT="15000" marB="15000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A1A1A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60" b="1" i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11월</a:t>
                      </a:r>
                      <a:endParaRPr sz="660"/>
                    </a:p>
                  </a:txBody>
                  <a:tcPr anchor="ctr" marL="45000" marR="45000" marT="15000" marB="15000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A1A1A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60" b="1" i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12월</a:t>
                      </a:r>
                      <a:endParaRPr sz="660"/>
                    </a:p>
                  </a:txBody>
                  <a:tcPr anchor="ctr" marL="45000" marR="45000" marT="15000" marB="15000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A1A1A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60" b="1" i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연간</a:t>
                      </a:r>
                      <a:endParaRPr sz="660"/>
                    </a:p>
                  </a:txBody>
                  <a:tcPr anchor="ctr" marL="45000" marR="45000" marT="15000" marB="15000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A1A1A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DEDED"/>
                    </a:solidFill>
                  </a:tcPr>
                </a:tc>
              </a:tr>
              <a:tr h="185000">
                <a:tc>
                  <a:txBody>
                    <a:bodyPr/>
                    <a:lstStyle/>
                    <a:p>
                      <a:pPr algn="l"/>
                      <a:r>
                        <a:rPr sz="660" b="1" i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적용 조건 (전제)</a:t>
                      </a:r>
                      <a:endParaRPr sz="660"/>
                    </a:p>
                  </a:txBody>
                  <a:tcPr anchor="ctr" marL="45000" marR="45000" marT="15000" marB="150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9F9F9"/>
                    </a:solidFill>
                  </a:tcPr>
                </a:tc>
                <a:tc gridSpan="6">
                  <a:txBody>
                    <a:bodyPr/>
                    <a:lstStyle/>
                    <a:p>
                      <a:pPr algn="ctr"/>
                      <a:r>
                        <a:rPr sz="600" b="1" i="0">
                          <a:solidFill>
                            <a:srgbClr val="40404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현재 57 h · 26.2톤/년 · 사이클 62.7 h (공사 · 시운전 생산 영향 없음 전제)</a:t>
                      </a:r>
                      <a:endParaRPr sz="600"/>
                    </a:p>
                  </a:txBody>
                  <a:tcPr anchor="ctr" marL="45000" marR="45000" marT="15000" marB="150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7E6E6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6">
                  <a:txBody>
                    <a:bodyPr/>
                    <a:lstStyle/>
                    <a:p>
                      <a:pPr algn="ctr"/>
                      <a:r>
                        <a:rPr sz="600" b="1" i="0">
                          <a:solidFill>
                            <a:srgbClr val="EB00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리플럭스 · 47.2톤/년 · 사이클 34.8 h (정제 약 29 h)</a:t>
                      </a:r>
                      <a:endParaRPr sz="60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DEDF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 i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 </a:t>
                      </a:r>
                      <a:endParaRPr sz="600"/>
                    </a:p>
                  </a:txBody>
                  <a:tcPr anchor="ctr" marL="45000" marR="45000" marT="15000" marB="15000">
                    <a:lnL w="6350">
                      <a:solidFill>
                        <a:srgbClr val="BFBFBF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150000">
                <a:tc>
                  <a:txBody>
                    <a:bodyPr/>
                    <a:lstStyle/>
                    <a:p>
                      <a:pPr algn="l"/>
                      <a:r>
                        <a:rPr sz="580" b="1" i="0">
                          <a:solidFill>
                            <a:srgbClr val="7F7F7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정제기 | </a:t>
                      </a:r>
                      <a:r>
                        <a:rPr sz="660" b="1" i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가용시간 h</a:t>
                      </a:r>
                      <a:endParaRPr sz="580"/>
                    </a:p>
                  </a:txBody>
                  <a:tcPr anchor="ctr" marL="45000" marR="45000" marT="15000" marB="150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0" i="0">
                          <a:solidFill>
                            <a:srgbClr val="3F3F3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720</a:t>
                      </a:r>
                      <a:endParaRPr sz="610"/>
                    </a:p>
                  </a:txBody>
                  <a:tcPr anchor="ctr" marL="45000" marR="45000" marT="15000" marB="150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0" i="0">
                          <a:solidFill>
                            <a:srgbClr val="3F3F3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720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0" i="0">
                          <a:solidFill>
                            <a:srgbClr val="3F3F3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720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0" i="0">
                          <a:solidFill>
                            <a:srgbClr val="3F3F3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720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0" i="0">
                          <a:solidFill>
                            <a:srgbClr val="3F3F3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720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0" i="0">
                          <a:solidFill>
                            <a:srgbClr val="3F3F3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720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0" i="0">
                          <a:solidFill>
                            <a:srgbClr val="3F3F3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720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0" i="0">
                          <a:solidFill>
                            <a:srgbClr val="3F3F3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720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0" i="0">
                          <a:solidFill>
                            <a:srgbClr val="3F3F3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720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0" i="0">
                          <a:solidFill>
                            <a:srgbClr val="3F3F3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720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0" i="0">
                          <a:solidFill>
                            <a:srgbClr val="3F3F3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720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0" i="0">
                          <a:solidFill>
                            <a:srgbClr val="3F3F3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720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1" i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8,640</a:t>
                      </a:r>
                      <a:endParaRPr sz="640"/>
                    </a:p>
                  </a:txBody>
                  <a:tcPr anchor="ctr" marL="45000" marR="45000" marT="15000" marB="15000">
                    <a:lnL w="6350">
                      <a:solidFill>
                        <a:srgbClr val="BFBFBF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150000">
                <a:tc>
                  <a:txBody>
                    <a:bodyPr/>
                    <a:lstStyle/>
                    <a:p>
                      <a:pPr algn="l"/>
                      <a:r>
                        <a:rPr sz="580" b="1" i="0">
                          <a:solidFill>
                            <a:srgbClr val="7F7F7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        </a:t>
                      </a:r>
                      <a:r>
                        <a:rPr sz="660" b="1" i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생산 가능 Batch (전제)</a:t>
                      </a:r>
                      <a:endParaRPr sz="580"/>
                    </a:p>
                  </a:txBody>
                  <a:tcPr anchor="ctr" marL="45000" marR="45000" marT="15000" marB="150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1" i="0">
                          <a:solidFill>
                            <a:srgbClr val="EB00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11.5</a:t>
                      </a:r>
                      <a:endParaRPr sz="610"/>
                    </a:p>
                  </a:txBody>
                  <a:tcPr anchor="ctr" marL="45000" marR="45000" marT="15000" marB="150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1" i="0">
                          <a:solidFill>
                            <a:srgbClr val="EB00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11.5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1" i="0">
                          <a:solidFill>
                            <a:srgbClr val="EB00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11.5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1" i="0">
                          <a:solidFill>
                            <a:srgbClr val="EB00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11.5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1" i="0">
                          <a:solidFill>
                            <a:srgbClr val="EB00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11.5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1" i="0">
                          <a:solidFill>
                            <a:srgbClr val="EB00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11.5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1" i="0">
                          <a:solidFill>
                            <a:srgbClr val="EB00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20.7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1" i="0">
                          <a:solidFill>
                            <a:srgbClr val="EB00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20.7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1" i="0">
                          <a:solidFill>
                            <a:srgbClr val="EB00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20.7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1" i="0">
                          <a:solidFill>
                            <a:srgbClr val="EB00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20.7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1" i="0">
                          <a:solidFill>
                            <a:srgbClr val="EB00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20.7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1" i="0">
                          <a:solidFill>
                            <a:srgbClr val="EB00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20.7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1" i="0">
                          <a:solidFill>
                            <a:srgbClr val="EB00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193.2</a:t>
                      </a:r>
                      <a:endParaRPr sz="640"/>
                    </a:p>
                  </a:txBody>
                  <a:tcPr anchor="ctr" marL="45000" marR="45000" marT="15000" marB="15000">
                    <a:lnL w="6350">
                      <a:solidFill>
                        <a:srgbClr val="BFBFBF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150000">
                <a:tc>
                  <a:txBody>
                    <a:bodyPr/>
                    <a:lstStyle/>
                    <a:p>
                      <a:pPr algn="l"/>
                      <a:r>
                        <a:rPr sz="580" b="1" i="0">
                          <a:solidFill>
                            <a:srgbClr val="7F7F7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        </a:t>
                      </a:r>
                      <a:r>
                        <a:rPr sz="660" b="1" i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생산 가능량 kg (전제)</a:t>
                      </a:r>
                      <a:endParaRPr sz="580"/>
                    </a:p>
                  </a:txBody>
                  <a:tcPr anchor="ctr" marL="45000" marR="45000" marT="15000" marB="150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1" i="0">
                          <a:solidFill>
                            <a:srgbClr val="EB00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2,183.3</a:t>
                      </a:r>
                      <a:endParaRPr sz="610"/>
                    </a:p>
                  </a:txBody>
                  <a:tcPr anchor="ctr" marL="45000" marR="45000" marT="15000" marB="150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1" i="0">
                          <a:solidFill>
                            <a:srgbClr val="EB00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2,183.3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1" i="0">
                          <a:solidFill>
                            <a:srgbClr val="EB00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2,183.3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1" i="0">
                          <a:solidFill>
                            <a:srgbClr val="EB00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2,183.3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1" i="0">
                          <a:solidFill>
                            <a:srgbClr val="EB00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2,183.3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1" i="0">
                          <a:solidFill>
                            <a:srgbClr val="EB00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2,183.3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1" i="0">
                          <a:solidFill>
                            <a:srgbClr val="EB00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3,933.3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1" i="0">
                          <a:solidFill>
                            <a:srgbClr val="EB00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3,933.3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1" i="0">
                          <a:solidFill>
                            <a:srgbClr val="EB00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3,933.3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1" i="0">
                          <a:solidFill>
                            <a:srgbClr val="EB00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3,933.3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1" i="0">
                          <a:solidFill>
                            <a:srgbClr val="EB00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3,933.3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1" i="0">
                          <a:solidFill>
                            <a:srgbClr val="EB00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3,933.3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1" i="0">
                          <a:solidFill>
                            <a:srgbClr val="EB00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36,700</a:t>
                      </a:r>
                      <a:endParaRPr sz="640"/>
                    </a:p>
                  </a:txBody>
                  <a:tcPr anchor="ctr" marL="45000" marR="45000" marT="15000" marB="15000">
                    <a:lnL w="6350">
                      <a:solidFill>
                        <a:srgbClr val="BFBFBF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150000">
                <a:tc>
                  <a:txBody>
                    <a:bodyPr/>
                    <a:lstStyle/>
                    <a:p>
                      <a:pPr algn="l"/>
                      <a:r>
                        <a:rPr sz="580" b="1" i="0">
                          <a:solidFill>
                            <a:srgbClr val="7F7F7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출하 | </a:t>
                      </a:r>
                      <a:r>
                        <a:rPr sz="600" b="0" i="0">
                          <a:solidFill>
                            <a:srgbClr val="EB00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■ </a:t>
                      </a:r>
                      <a:r>
                        <a:rPr sz="660" b="1" i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SK하이닉스</a:t>
                      </a:r>
                      <a:endParaRPr sz="580"/>
                    </a:p>
                  </a:txBody>
                  <a:tcPr anchor="ctr" marL="45000" marR="45000" marT="15000" marB="150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0" i="0">
                          <a:solidFill>
                            <a:srgbClr val="2E75B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1,893.3</a:t>
                      </a:r>
                      <a:endParaRPr sz="610"/>
                    </a:p>
                  </a:txBody>
                  <a:tcPr anchor="ctr" marL="45000" marR="45000" marT="15000" marB="150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0" i="0">
                          <a:solidFill>
                            <a:srgbClr val="2E75B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1,893.3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0" i="0">
                          <a:solidFill>
                            <a:srgbClr val="2E75B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1,893.3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0" i="0">
                          <a:solidFill>
                            <a:srgbClr val="2E75B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1,893.3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0" i="0">
                          <a:solidFill>
                            <a:srgbClr val="2E75B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1,893.3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0" i="0">
                          <a:solidFill>
                            <a:srgbClr val="2E75B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1,893.3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0" i="0">
                          <a:solidFill>
                            <a:srgbClr val="2E75B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1,893.3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0" i="0">
                          <a:solidFill>
                            <a:srgbClr val="2E75B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1,893.3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0" i="0">
                          <a:solidFill>
                            <a:srgbClr val="2E75B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1,893.3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0" i="0">
                          <a:solidFill>
                            <a:srgbClr val="2E75B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1,893.3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0" i="0">
                          <a:solidFill>
                            <a:srgbClr val="2E75B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1,893.3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0" i="0">
                          <a:solidFill>
                            <a:srgbClr val="2E75B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1,893.3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1" i="0">
                          <a:solidFill>
                            <a:srgbClr val="2E75B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22,720</a:t>
                      </a:r>
                      <a:endParaRPr sz="640"/>
                    </a:p>
                  </a:txBody>
                  <a:tcPr anchor="ctr" marL="45000" marR="45000" marT="15000" marB="15000">
                    <a:lnL w="6350">
                      <a:solidFill>
                        <a:srgbClr val="BFBFBF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150000">
                <a:tc>
                  <a:txBody>
                    <a:bodyPr/>
                    <a:lstStyle/>
                    <a:p>
                      <a:pPr algn="l"/>
                      <a:r>
                        <a:rPr sz="580" b="1" i="0">
                          <a:solidFill>
                            <a:srgbClr val="7F7F7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        </a:t>
                      </a:r>
                      <a:r>
                        <a:rPr sz="600" b="0" i="0">
                          <a:solidFill>
                            <a:srgbClr val="1B8A9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■ </a:t>
                      </a:r>
                      <a:r>
                        <a:rPr sz="660" b="1" i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CXMT</a:t>
                      </a:r>
                      <a:endParaRPr sz="580"/>
                    </a:p>
                  </a:txBody>
                  <a:tcPr anchor="ctr" marL="45000" marR="45000" marT="15000" marB="150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0" i="0">
                          <a:solidFill>
                            <a:srgbClr val="2E75B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</a:t>
                      </a:r>
                      <a:endParaRPr sz="610"/>
                    </a:p>
                  </a:txBody>
                  <a:tcPr anchor="ctr" marL="45000" marR="45000" marT="15000" marB="150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0" i="0">
                          <a:solidFill>
                            <a:srgbClr val="2E75B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0" i="0">
                          <a:solidFill>
                            <a:srgbClr val="2E75B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580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0" i="0">
                          <a:solidFill>
                            <a:srgbClr val="2E75B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580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0" i="0">
                          <a:solidFill>
                            <a:srgbClr val="2E75B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580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0" i="0">
                          <a:solidFill>
                            <a:srgbClr val="2E75B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580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0" i="0">
                          <a:solidFill>
                            <a:srgbClr val="2E75B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780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0" i="0">
                          <a:solidFill>
                            <a:srgbClr val="2E75B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780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0" i="0">
                          <a:solidFill>
                            <a:srgbClr val="2E75B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780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0" i="0">
                          <a:solidFill>
                            <a:srgbClr val="2E75B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780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0" i="0">
                          <a:solidFill>
                            <a:srgbClr val="2E75B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780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0" i="0">
                          <a:solidFill>
                            <a:srgbClr val="2E75B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780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1" i="0">
                          <a:solidFill>
                            <a:srgbClr val="2E75B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7,000</a:t>
                      </a:r>
                      <a:endParaRPr sz="640"/>
                    </a:p>
                  </a:txBody>
                  <a:tcPr anchor="ctr" marL="45000" marR="45000" marT="15000" marB="15000">
                    <a:lnL w="6350">
                      <a:solidFill>
                        <a:srgbClr val="BFBFBF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150000">
                <a:tc>
                  <a:txBody>
                    <a:bodyPr/>
                    <a:lstStyle/>
                    <a:p>
                      <a:pPr algn="l"/>
                      <a:r>
                        <a:rPr sz="580" b="1" i="0">
                          <a:solidFill>
                            <a:srgbClr val="7F7F7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        </a:t>
                      </a:r>
                      <a:r>
                        <a:rPr sz="620" b="0" i="0">
                          <a:solidFill>
                            <a:srgbClr val="7F7F7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병 (20 kg)</a:t>
                      </a:r>
                      <a:endParaRPr sz="580"/>
                    </a:p>
                  </a:txBody>
                  <a:tcPr anchor="ctr" marL="45000" marR="45000" marT="15000" marB="150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0" i="0">
                          <a:solidFill>
                            <a:srgbClr val="7F7F7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</a:t>
                      </a:r>
                      <a:endParaRPr sz="610"/>
                    </a:p>
                  </a:txBody>
                  <a:tcPr anchor="ctr" marL="45000" marR="45000" marT="15000" marB="150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0" i="0">
                          <a:solidFill>
                            <a:srgbClr val="7F7F7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0" i="0">
                          <a:solidFill>
                            <a:srgbClr val="7F7F7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29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0" i="0">
                          <a:solidFill>
                            <a:srgbClr val="7F7F7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29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0" i="0">
                          <a:solidFill>
                            <a:srgbClr val="7F7F7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29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0" i="0">
                          <a:solidFill>
                            <a:srgbClr val="7F7F7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29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0" i="0">
                          <a:solidFill>
                            <a:srgbClr val="7F7F7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39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0" i="0">
                          <a:solidFill>
                            <a:srgbClr val="7F7F7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39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0" i="0">
                          <a:solidFill>
                            <a:srgbClr val="7F7F7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39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0" i="0">
                          <a:solidFill>
                            <a:srgbClr val="7F7F7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39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0" i="0">
                          <a:solidFill>
                            <a:srgbClr val="7F7F7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39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0" i="0">
                          <a:solidFill>
                            <a:srgbClr val="7F7F7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39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1" i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350병</a:t>
                      </a:r>
                      <a:endParaRPr sz="640"/>
                    </a:p>
                  </a:txBody>
                  <a:tcPr anchor="ctr" marL="45000" marR="45000" marT="15000" marB="15000">
                    <a:lnL w="6350">
                      <a:solidFill>
                        <a:srgbClr val="BFBFBF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150000">
                <a:tc>
                  <a:txBody>
                    <a:bodyPr/>
                    <a:lstStyle/>
                    <a:p>
                      <a:pPr algn="l"/>
                      <a:r>
                        <a:rPr sz="580" b="1" i="0">
                          <a:solidFill>
                            <a:srgbClr val="7F7F7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        </a:t>
                      </a:r>
                      <a:r>
                        <a:rPr sz="600" b="0" i="0">
                          <a:solidFill>
                            <a:srgbClr val="FF79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■ </a:t>
                      </a:r>
                      <a:r>
                        <a:rPr sz="660" b="1" i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이지켐</a:t>
                      </a:r>
                      <a:endParaRPr sz="580"/>
                    </a:p>
                  </a:txBody>
                  <a:tcPr anchor="ctr" marL="45000" marR="45000" marT="15000" marB="150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0" i="0">
                          <a:solidFill>
                            <a:srgbClr val="2E75B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560</a:t>
                      </a:r>
                      <a:endParaRPr sz="610"/>
                    </a:p>
                  </a:txBody>
                  <a:tcPr anchor="ctr" marL="45000" marR="45000" marT="15000" marB="150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0" i="0">
                          <a:solidFill>
                            <a:srgbClr val="2E75B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560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0" i="0">
                          <a:solidFill>
                            <a:srgbClr val="2E75B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560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0" i="0">
                          <a:solidFill>
                            <a:srgbClr val="2E75B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560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0" i="0">
                          <a:solidFill>
                            <a:srgbClr val="2E75B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560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0" i="0">
                          <a:solidFill>
                            <a:srgbClr val="2E75B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560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0" i="0">
                          <a:solidFill>
                            <a:srgbClr val="2E75B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1,120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0" i="0">
                          <a:solidFill>
                            <a:srgbClr val="2E75B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1,120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0" i="0">
                          <a:solidFill>
                            <a:srgbClr val="2E75B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1,120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0" i="0">
                          <a:solidFill>
                            <a:srgbClr val="2E75B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1,120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0" i="0">
                          <a:solidFill>
                            <a:srgbClr val="2E75B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1,120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0" i="0">
                          <a:solidFill>
                            <a:srgbClr val="2E75B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980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1" i="0">
                          <a:solidFill>
                            <a:srgbClr val="2E75B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9,940</a:t>
                      </a:r>
                      <a:endParaRPr sz="640"/>
                    </a:p>
                  </a:txBody>
                  <a:tcPr anchor="ctr" marL="45000" marR="45000" marT="15000" marB="15000">
                    <a:lnL w="6350">
                      <a:solidFill>
                        <a:srgbClr val="BFBFBF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150000">
                <a:tc>
                  <a:txBody>
                    <a:bodyPr/>
                    <a:lstStyle/>
                    <a:p>
                      <a:pPr algn="l"/>
                      <a:r>
                        <a:rPr sz="580" b="1" i="0">
                          <a:solidFill>
                            <a:srgbClr val="7F7F7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        </a:t>
                      </a:r>
                      <a:r>
                        <a:rPr sz="620" b="0" i="0">
                          <a:solidFill>
                            <a:srgbClr val="7F7F7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용기 (140 kg)</a:t>
                      </a:r>
                      <a:endParaRPr sz="580"/>
                    </a:p>
                  </a:txBody>
                  <a:tcPr anchor="ctr" marL="45000" marR="45000" marT="15000" marB="150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0" i="0">
                          <a:solidFill>
                            <a:srgbClr val="7F7F7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</a:t>
                      </a:r>
                      <a:endParaRPr sz="610"/>
                    </a:p>
                  </a:txBody>
                  <a:tcPr anchor="ctr" marL="45000" marR="45000" marT="15000" marB="150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0" i="0">
                          <a:solidFill>
                            <a:srgbClr val="7F7F7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0" i="0">
                          <a:solidFill>
                            <a:srgbClr val="7F7F7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0" i="0">
                          <a:solidFill>
                            <a:srgbClr val="7F7F7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0" i="0">
                          <a:solidFill>
                            <a:srgbClr val="7F7F7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0" i="0">
                          <a:solidFill>
                            <a:srgbClr val="7F7F7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0" i="0">
                          <a:solidFill>
                            <a:srgbClr val="7F7F7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8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0" i="0">
                          <a:solidFill>
                            <a:srgbClr val="7F7F7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8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0" i="0">
                          <a:solidFill>
                            <a:srgbClr val="7F7F7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8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0" i="0">
                          <a:solidFill>
                            <a:srgbClr val="7F7F7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8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0" i="0">
                          <a:solidFill>
                            <a:srgbClr val="7F7F7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8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0" i="0">
                          <a:solidFill>
                            <a:srgbClr val="7F7F7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1" i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71용기</a:t>
                      </a:r>
                      <a:endParaRPr sz="640"/>
                    </a:p>
                  </a:txBody>
                  <a:tcPr anchor="ctr" marL="45000" marR="45000" marT="15000" marB="15000">
                    <a:lnL w="6350">
                      <a:solidFill>
                        <a:srgbClr val="BFBFBF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150000">
                <a:tc>
                  <a:txBody>
                    <a:bodyPr/>
                    <a:lstStyle/>
                    <a:p>
                      <a:pPr algn="l"/>
                      <a:r>
                        <a:rPr sz="580" b="1" i="0">
                          <a:solidFill>
                            <a:srgbClr val="7F7F7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        </a:t>
                      </a:r>
                      <a:r>
                        <a:rPr sz="660" b="1" i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출하 합계</a:t>
                      </a:r>
                      <a:endParaRPr sz="580"/>
                    </a:p>
                  </a:txBody>
                  <a:tcPr anchor="ctr" marL="45000" marR="45000" marT="15000" marB="150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1" i="0">
                          <a:solidFill>
                            <a:srgbClr val="2E75B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2,453.3</a:t>
                      </a:r>
                      <a:endParaRPr sz="610"/>
                    </a:p>
                  </a:txBody>
                  <a:tcPr anchor="ctr" marL="45000" marR="45000" marT="15000" marB="150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1" i="0">
                          <a:solidFill>
                            <a:srgbClr val="2E75B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2,453.3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1" i="0">
                          <a:solidFill>
                            <a:srgbClr val="2E75B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3,033.3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1" i="0">
                          <a:solidFill>
                            <a:srgbClr val="2E75B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3,033.3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1" i="0">
                          <a:solidFill>
                            <a:srgbClr val="2E75B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3,033.3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1" i="0">
                          <a:solidFill>
                            <a:srgbClr val="2E75B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3,033.3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1" i="0">
                          <a:solidFill>
                            <a:srgbClr val="2E75B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3,793.3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1" i="0">
                          <a:solidFill>
                            <a:srgbClr val="2E75B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3,793.3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1" i="0">
                          <a:solidFill>
                            <a:srgbClr val="2E75B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3,793.3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1" i="0">
                          <a:solidFill>
                            <a:srgbClr val="2E75B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3,793.3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1" i="0">
                          <a:solidFill>
                            <a:srgbClr val="2E75B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3,793.3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1" i="0">
                          <a:solidFill>
                            <a:srgbClr val="2E75B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3,653.3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1" i="0">
                          <a:solidFill>
                            <a:srgbClr val="2E75B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39,660</a:t>
                      </a:r>
                      <a:endParaRPr sz="640"/>
                    </a:p>
                  </a:txBody>
                  <a:tcPr anchor="ctr" marL="45000" marR="45000" marT="15000" marB="15000">
                    <a:lnL w="6350">
                      <a:solidFill>
                        <a:srgbClr val="BFBFBF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150000">
                <a:tc>
                  <a:txBody>
                    <a:bodyPr/>
                    <a:lstStyle/>
                    <a:p>
                      <a:pPr algn="l"/>
                      <a:r>
                        <a:rPr sz="580" b="1" i="0">
                          <a:solidFill>
                            <a:srgbClr val="7F7F7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필요 | </a:t>
                      </a:r>
                      <a:r>
                        <a:rPr sz="660" b="1" i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필요 Batch (출하÷190, 올림)</a:t>
                      </a:r>
                      <a:endParaRPr sz="580"/>
                    </a:p>
                  </a:txBody>
                  <a:tcPr anchor="ctr" marL="45000" marR="45000" marT="15000" marB="150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1" i="0">
                          <a:solidFill>
                            <a:srgbClr val="2E75B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13</a:t>
                      </a:r>
                      <a:endParaRPr sz="610"/>
                    </a:p>
                  </a:txBody>
                  <a:tcPr anchor="ctr" marL="45000" marR="45000" marT="15000" marB="150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1" i="0">
                          <a:solidFill>
                            <a:srgbClr val="2E75B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13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1" i="0">
                          <a:solidFill>
                            <a:srgbClr val="2E75B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16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1" i="0">
                          <a:solidFill>
                            <a:srgbClr val="2E75B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16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1" i="0">
                          <a:solidFill>
                            <a:srgbClr val="2E75B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16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1" i="0">
                          <a:solidFill>
                            <a:srgbClr val="2E75B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16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1" i="0">
                          <a:solidFill>
                            <a:srgbClr val="2E75B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1" i="0">
                          <a:solidFill>
                            <a:srgbClr val="2E75B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1" i="0">
                          <a:solidFill>
                            <a:srgbClr val="2E75B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1" i="0">
                          <a:solidFill>
                            <a:srgbClr val="2E75B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1" i="0">
                          <a:solidFill>
                            <a:srgbClr val="2E75B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1" i="0">
                          <a:solidFill>
                            <a:srgbClr val="2E75B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1" i="0">
                          <a:solidFill>
                            <a:srgbClr val="2E75B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210</a:t>
                      </a:r>
                      <a:endParaRPr sz="640"/>
                    </a:p>
                  </a:txBody>
                  <a:tcPr anchor="ctr" marL="45000" marR="45000" marT="15000" marB="15000">
                    <a:lnL w="6350">
                      <a:solidFill>
                        <a:srgbClr val="BFBFBF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150000">
                <a:tc>
                  <a:txBody>
                    <a:bodyPr/>
                    <a:lstStyle/>
                    <a:p>
                      <a:pPr algn="l"/>
                      <a:r>
                        <a:rPr sz="580" b="1" i="0">
                          <a:solidFill>
                            <a:srgbClr val="7F7F7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        </a:t>
                      </a:r>
                      <a:r>
                        <a:rPr sz="660" b="1" i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Batch 과부족 (가능 − 필요)</a:t>
                      </a:r>
                      <a:endParaRPr sz="580"/>
                    </a:p>
                  </a:txBody>
                  <a:tcPr anchor="ctr" marL="45000" marR="45000" marT="15000" marB="150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1" i="0">
                          <a:solidFill>
                            <a:srgbClr val="EB00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-1.4</a:t>
                      </a:r>
                      <a:endParaRPr sz="610"/>
                    </a:p>
                  </a:txBody>
                  <a:tcPr anchor="ctr" marL="45000" marR="45000" marT="15000" marB="150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1" i="0">
                          <a:solidFill>
                            <a:srgbClr val="EB00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-1.4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1" i="0">
                          <a:solidFill>
                            <a:srgbClr val="EB00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-4.5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1" i="0">
                          <a:solidFill>
                            <a:srgbClr val="EB00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-4.5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1" i="0">
                          <a:solidFill>
                            <a:srgbClr val="EB00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-4.5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1" i="0">
                          <a:solidFill>
                            <a:srgbClr val="EB00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-4.5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1" i="0">
                          <a:solidFill>
                            <a:srgbClr val="2E75B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+0.7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1" i="0">
                          <a:solidFill>
                            <a:srgbClr val="2E75B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+0.7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1" i="0">
                          <a:solidFill>
                            <a:srgbClr val="2E75B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+0.7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1" i="0">
                          <a:solidFill>
                            <a:srgbClr val="2E75B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+0.7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1" i="0">
                          <a:solidFill>
                            <a:srgbClr val="2E75B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+0.7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1" i="0">
                          <a:solidFill>
                            <a:srgbClr val="2E75B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+1.5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1" i="0">
                          <a:solidFill>
                            <a:srgbClr val="EB00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−15.6</a:t>
                      </a:r>
                      <a:endParaRPr sz="640"/>
                    </a:p>
                  </a:txBody>
                  <a:tcPr anchor="ctr" marL="45000" marR="45000" marT="15000" marB="15000">
                    <a:lnL w="6350">
                      <a:solidFill>
                        <a:srgbClr val="BFBFBF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150000">
                <a:tc>
                  <a:txBody>
                    <a:bodyPr/>
                    <a:lstStyle/>
                    <a:p>
                      <a:pPr algn="l"/>
                      <a:r>
                        <a:rPr sz="580" b="1" i="0">
                          <a:solidFill>
                            <a:srgbClr val="7F7F7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        </a:t>
                      </a:r>
                      <a:r>
                        <a:rPr sz="660" b="1" i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필요 정제기 시간 h</a:t>
                      </a:r>
                      <a:endParaRPr sz="580"/>
                    </a:p>
                  </a:txBody>
                  <a:tcPr anchor="ctr" marL="45000" marR="45000" marT="15000" marB="150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1" i="0">
                          <a:solidFill>
                            <a:srgbClr val="EB00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815</a:t>
                      </a:r>
                      <a:endParaRPr sz="610"/>
                    </a:p>
                  </a:txBody>
                  <a:tcPr anchor="ctr" marL="45000" marR="45000" marT="15000" marB="150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1" i="0">
                          <a:solidFill>
                            <a:srgbClr val="EB00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815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1" i="0">
                          <a:solidFill>
                            <a:srgbClr val="EB00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1,003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1" i="0">
                          <a:solidFill>
                            <a:srgbClr val="EB00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1,003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1" i="0">
                          <a:solidFill>
                            <a:srgbClr val="EB00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1,003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1" i="0">
                          <a:solidFill>
                            <a:srgbClr val="EB00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1,003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1" i="0">
                          <a:solidFill>
                            <a:srgbClr val="2E75B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696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1" i="0">
                          <a:solidFill>
                            <a:srgbClr val="2E75B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696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1" i="0">
                          <a:solidFill>
                            <a:srgbClr val="2E75B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696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1" i="0">
                          <a:solidFill>
                            <a:srgbClr val="2E75B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696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1" i="0">
                          <a:solidFill>
                            <a:srgbClr val="2E75B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696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1" i="0">
                          <a:solidFill>
                            <a:srgbClr val="2E75B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696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1" i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 </a:t>
                      </a:r>
                      <a:endParaRPr sz="640"/>
                    </a:p>
                  </a:txBody>
                  <a:tcPr anchor="ctr" marL="45000" marR="45000" marT="15000" marB="15000">
                    <a:lnL w="6350">
                      <a:solidFill>
                        <a:srgbClr val="BFBFBF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150000">
                <a:tc>
                  <a:txBody>
                    <a:bodyPr/>
                    <a:lstStyle/>
                    <a:p>
                      <a:pPr algn="l"/>
                      <a:r>
                        <a:rPr sz="580" b="1" i="0">
                          <a:solidFill>
                            <a:srgbClr val="7F7F7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과부족 | </a:t>
                      </a:r>
                      <a:r>
                        <a:rPr sz="660" b="1" i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월 생산 − 출하 kg</a:t>
                      </a:r>
                      <a:endParaRPr sz="580"/>
                    </a:p>
                  </a:txBody>
                  <a:tcPr anchor="ctr" marL="45000" marR="45000" marT="15000" marB="150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1" i="0">
                          <a:solidFill>
                            <a:srgbClr val="EB00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-270</a:t>
                      </a:r>
                      <a:endParaRPr sz="610"/>
                    </a:p>
                  </a:txBody>
                  <a:tcPr anchor="ctr" marL="45000" marR="45000" marT="15000" marB="150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1" i="0">
                          <a:solidFill>
                            <a:srgbClr val="EB00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-270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1" i="0">
                          <a:solidFill>
                            <a:srgbClr val="EB00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-850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1" i="0">
                          <a:solidFill>
                            <a:srgbClr val="EB00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-850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1" i="0">
                          <a:solidFill>
                            <a:srgbClr val="EB00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-850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1" i="0">
                          <a:solidFill>
                            <a:srgbClr val="EB00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-850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1" i="0">
                          <a:solidFill>
                            <a:srgbClr val="2E75B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+140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1" i="0">
                          <a:solidFill>
                            <a:srgbClr val="2E75B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+140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1" i="0">
                          <a:solidFill>
                            <a:srgbClr val="2E75B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+140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1" i="0">
                          <a:solidFill>
                            <a:srgbClr val="2E75B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+140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1" i="0">
                          <a:solidFill>
                            <a:srgbClr val="2E75B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+140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1" i="0">
                          <a:solidFill>
                            <a:srgbClr val="2E75B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+280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1" i="0">
                          <a:solidFill>
                            <a:srgbClr val="EB00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−2,960</a:t>
                      </a:r>
                      <a:endParaRPr sz="640"/>
                    </a:p>
                  </a:txBody>
                  <a:tcPr anchor="ctr" marL="45000" marR="45000" marT="15000" marB="15000">
                    <a:lnL w="6350">
                      <a:solidFill>
                        <a:srgbClr val="BFBFBF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150000">
                <a:tc>
                  <a:txBody>
                    <a:bodyPr/>
                    <a:lstStyle/>
                    <a:p>
                      <a:pPr algn="l"/>
                      <a:r>
                        <a:rPr sz="580" b="1" i="0">
                          <a:solidFill>
                            <a:srgbClr val="7F7F7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        </a:t>
                      </a:r>
                      <a:r>
                        <a:rPr sz="660" b="1" i="0">
                          <a:solidFill>
                            <a:srgbClr val="EB00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누적 과부족 kg</a:t>
                      </a:r>
                      <a:endParaRPr sz="580"/>
                    </a:p>
                  </a:txBody>
                  <a:tcPr anchor="ctr" marL="45000" marR="45000" marT="15000" marB="150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DED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1" i="0">
                          <a:solidFill>
                            <a:srgbClr val="EB00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-270</a:t>
                      </a:r>
                      <a:endParaRPr sz="610"/>
                    </a:p>
                  </a:txBody>
                  <a:tcPr anchor="ctr" marL="45000" marR="45000" marT="15000" marB="150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DED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1" i="0">
                          <a:solidFill>
                            <a:srgbClr val="EB00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-540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DED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1" i="0">
                          <a:solidFill>
                            <a:srgbClr val="EB00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-1,390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DED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1" i="0">
                          <a:solidFill>
                            <a:srgbClr val="EB00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-2,240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DED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1" i="0">
                          <a:solidFill>
                            <a:srgbClr val="EB00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-3,090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DED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1" i="0">
                          <a:solidFill>
                            <a:srgbClr val="EB00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-3,940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DED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1" i="0">
                          <a:solidFill>
                            <a:srgbClr val="EB00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-3,800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DED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1" i="0">
                          <a:solidFill>
                            <a:srgbClr val="EB00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-3,660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DED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1" i="0">
                          <a:solidFill>
                            <a:srgbClr val="EB00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-3,520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DED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1" i="0">
                          <a:solidFill>
                            <a:srgbClr val="EB00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-3,380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DED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1" i="0">
                          <a:solidFill>
                            <a:srgbClr val="EB00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-3,240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DED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1" i="0">
                          <a:solidFill>
                            <a:srgbClr val="EB00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-2,960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DED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1" i="0">
                          <a:solidFill>
                            <a:srgbClr val="EB00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최저 −3,940</a:t>
                      </a:r>
                      <a:endParaRPr sz="640"/>
                    </a:p>
                  </a:txBody>
                  <a:tcPr anchor="ctr" marL="45000" marR="45000" marT="15000" marB="15000">
                    <a:lnL w="6350">
                      <a:solidFill>
                        <a:srgbClr val="BFBFBF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150000">
                <a:tc>
                  <a:txBody>
                    <a:bodyPr/>
                    <a:lstStyle/>
                    <a:p>
                      <a:pPr algn="l"/>
                      <a:r>
                        <a:rPr sz="580" b="1" i="0">
                          <a:solidFill>
                            <a:srgbClr val="7F7F7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재고 | </a:t>
                      </a:r>
                      <a:r>
                        <a:rPr sz="660" b="1" i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기초 / 기말재고</a:t>
                      </a:r>
                      <a:endParaRPr sz="580"/>
                    </a:p>
                  </a:txBody>
                  <a:tcPr anchor="ctr" marL="45000" marR="45000" marT="15000" marB="150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20" b="0" i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 </a:t>
                      </a:r>
                      <a:endParaRPr sz="620"/>
                    </a:p>
                  </a:txBody>
                  <a:tcPr anchor="ctr" marL="45000" marR="45000" marT="15000" marB="150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20" b="0" i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 </a:t>
                      </a:r>
                      <a:endParaRPr sz="62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20" b="0" i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 </a:t>
                      </a:r>
                      <a:endParaRPr sz="62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20" b="0" i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 </a:t>
                      </a:r>
                      <a:endParaRPr sz="62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20" b="0" i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 </a:t>
                      </a:r>
                      <a:endParaRPr sz="62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20" b="0" i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 </a:t>
                      </a:r>
                      <a:endParaRPr sz="62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20" b="0" i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 </a:t>
                      </a:r>
                      <a:endParaRPr sz="62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20" b="0" i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 </a:t>
                      </a:r>
                      <a:endParaRPr sz="62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20" b="0" i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 </a:t>
                      </a:r>
                      <a:endParaRPr sz="62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20" b="0" i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 </a:t>
                      </a:r>
                      <a:endParaRPr sz="62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20" b="0" i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 </a:t>
                      </a:r>
                      <a:endParaRPr sz="62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20" b="0" i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 </a:t>
                      </a:r>
                      <a:endParaRPr sz="62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1" i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 </a:t>
                      </a:r>
                      <a:endParaRPr sz="640"/>
                    </a:p>
                  </a:txBody>
                  <a:tcPr anchor="ctr" marL="45000" marR="45000" marT="15000" marB="15000">
                    <a:lnL w="6350">
                      <a:solidFill>
                        <a:srgbClr val="BFBFBF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68" name="TextBox 167"/>
          <p:cNvSpPr txBox="1"/>
          <p:nvPr/>
        </p:nvSpPr>
        <p:spPr>
          <a:xfrm>
            <a:off x="287000" y="3805000"/>
            <a:ext cx="857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580" b="0" i="0">
                <a:solidFill>
                  <a:srgbClr val="7F7F7F"/>
                </a:solidFill>
                <a:latin typeface="Noto Sans KR"/>
                <a:ea typeface="Noto Sans KR"/>
                <a:cs typeface="Noto Sans KR"/>
              </a:rPr>
              <a:t>* CXMT 20 kg 단위 : 3~6월 580 kg(29병) · 7~12월 780 kg(39병) → 7,000 kg(350병) / 이지켐 140 kg 단위 : 1~6월 560 kg(4용기) · 7~11월 1,120 kg(8용기) · 12월 980 kg(7용기) → 9,940 kg(71용기, 10톤 대비 −60 kg · 72용기 시 10,080 kg)</a:t>
            </a:r>
          </a:p>
          <a:p>
            <a:pPr algn="l">
              <a:spcAft>
                <a:spcPts val="0"/>
              </a:spcAft>
            </a:pPr>
            <a:r>
              <a:rPr sz="580" b="0" i="0">
                <a:solidFill>
                  <a:srgbClr val="7F7F7F"/>
                </a:solidFill>
                <a:latin typeface="Noto Sans KR"/>
                <a:ea typeface="Noto Sans KR"/>
                <a:cs typeface="Noto Sans KR"/>
              </a:rPr>
              <a:t>* 필요 정제기 시간 = 필요 Batch × 사이클 (붉은 숫자 = 720 h 초과) · 하이닉스 22,720 ÷ 12 = 1,893.3 kg (20 kg 단위 배분 별도)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287000" y="4150000"/>
            <a:ext cx="50000" cy="165000"/>
          </a:xfrm>
          <a:prstGeom prst="rect">
            <a:avLst/>
          </a:prstGeom>
          <a:solidFill>
            <a:srgbClr val="EB002C"/>
          </a:solidFill>
          <a:ln>
            <a:noFill/>
          </a:ln>
        </p:spPr>
        <p:txBody>
          <a:bodyPr rtlCol="0" anchor="ctr" lIns="30000" rIns="30000" tIns="0" bIns="0" wrap="square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397000" y="4120000"/>
            <a:ext cx="8000000" cy="2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② 전제 조건 기준 2027 공급 판단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287000" y="4350000"/>
            <a:ext cx="2082500" cy="640000"/>
          </a:xfrm>
          <a:prstGeom prst="rect">
            <a:avLst/>
          </a:prstGeom>
          <a:solidFill>
            <a:srgbClr val="FDEDF0"/>
          </a:solidFill>
          <a:ln w="15240">
            <a:solidFill>
              <a:srgbClr val="EB002C"/>
            </a:solidFill>
          </a:ln>
        </p:spPr>
        <p:txBody>
          <a:bodyPr rtlCol="0" anchor="ctr" lIns="30000" rIns="30000" tIns="0" bIns="0" wrap="square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317000" y="4390000"/>
            <a:ext cx="20225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72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생산 36.7톤 vs 출하 39.66톤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307000" y="4540000"/>
            <a:ext cx="2042500" cy="2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EB002C"/>
                </a:solidFill>
                <a:latin typeface="Noto Sans KR"/>
                <a:ea typeface="Noto Sans KR"/>
                <a:cs typeface="Noto Sans KR"/>
              </a:rPr>
              <a:t>−2.96</a:t>
            </a:r>
            <a:r>
              <a:rPr sz="700" b="1" i="0">
                <a:solidFill>
                  <a:srgbClr val="EB002C"/>
                </a:solidFill>
                <a:latin typeface="Noto Sans KR"/>
                <a:ea typeface="Noto Sans KR"/>
                <a:cs typeface="Noto Sans KR"/>
              </a:rPr>
              <a:t> 톤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307000" y="4825000"/>
            <a:ext cx="20425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600" b="0" i="0">
                <a:solidFill>
                  <a:srgbClr val="7F7F7F"/>
                </a:solidFill>
                <a:latin typeface="Noto Sans KR"/>
                <a:ea typeface="Noto Sans KR"/>
                <a:cs typeface="Noto Sans KR"/>
              </a:rPr>
              <a:t>1~6월 13.1 + 7~12월 23.6 (전제)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2449500" y="4350000"/>
            <a:ext cx="2082500" cy="640000"/>
          </a:xfrm>
          <a:prstGeom prst="rect">
            <a:avLst/>
          </a:prstGeom>
          <a:solidFill>
            <a:srgbClr val="EAF1FA"/>
          </a:solidFill>
          <a:ln w="15240">
            <a:solidFill>
              <a:srgbClr val="2E75B6"/>
            </a:solidFill>
          </a:ln>
        </p:spPr>
        <p:txBody>
          <a:bodyPr rtlCol="0" anchor="ctr" lIns="30000" rIns="30000" tIns="0" bIns="0" wrap="square"/>
          <a:lstStyle/>
          <a:p>
            <a:pPr algn="ctr"/>
          </a:p>
        </p:txBody>
      </p:sp>
      <p:sp>
        <p:nvSpPr>
          <p:cNvPr id="176" name="TextBox 175"/>
          <p:cNvSpPr txBox="1"/>
          <p:nvPr/>
        </p:nvSpPr>
        <p:spPr>
          <a:xfrm>
            <a:off x="2479500" y="4390000"/>
            <a:ext cx="20225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72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연간 Batch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2469500" y="4540000"/>
            <a:ext cx="2042500" cy="2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2E75B6"/>
                </a:solidFill>
                <a:latin typeface="Noto Sans KR"/>
                <a:ea typeface="Noto Sans KR"/>
                <a:cs typeface="Noto Sans KR"/>
              </a:rPr>
              <a:t>필요 208.7 vs 가능 193.2</a:t>
            </a:r>
            <a:r>
              <a:rPr sz="700" b="1" i="0">
                <a:solidFill>
                  <a:srgbClr val="2E75B6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2469500" y="4825000"/>
            <a:ext cx="20425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600" b="0" i="0">
                <a:solidFill>
                  <a:srgbClr val="7F7F7F"/>
                </a:solidFill>
                <a:latin typeface="Noto Sans KR"/>
                <a:ea typeface="Noto Sans KR"/>
                <a:cs typeface="Noto Sans KR"/>
              </a:rPr>
              <a:t>약 15.6 Batch 부족 = 재고로 보완</a:t>
            </a:r>
          </a:p>
        </p:txBody>
      </p:sp>
      <p:sp>
        <p:nvSpPr>
          <p:cNvPr id="179" name="Rectangle 178"/>
          <p:cNvSpPr/>
          <p:nvPr/>
        </p:nvSpPr>
        <p:spPr>
          <a:xfrm>
            <a:off x="4612000" y="4350000"/>
            <a:ext cx="2082500" cy="640000"/>
          </a:xfrm>
          <a:prstGeom prst="rect">
            <a:avLst/>
          </a:prstGeom>
          <a:solidFill>
            <a:srgbClr val="FDEDF0"/>
          </a:solidFill>
          <a:ln w="15240">
            <a:solidFill>
              <a:srgbClr val="EB002C"/>
            </a:solidFill>
          </a:ln>
        </p:spPr>
        <p:txBody>
          <a:bodyPr rtlCol="0" anchor="ctr" lIns="30000" rIns="30000" tIns="0" bIns="0" wrap="square"/>
          <a:lstStyle/>
          <a:p>
            <a:pPr algn="ctr"/>
          </a:p>
        </p:txBody>
      </p:sp>
      <p:sp>
        <p:nvSpPr>
          <p:cNvPr id="180" name="TextBox 179"/>
          <p:cNvSpPr txBox="1"/>
          <p:nvPr/>
        </p:nvSpPr>
        <p:spPr>
          <a:xfrm>
            <a:off x="4642000" y="4390000"/>
            <a:ext cx="20225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72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최대 누적 부족 (6월말)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4632000" y="4540000"/>
            <a:ext cx="2042500" cy="2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EB002C"/>
                </a:solidFill>
                <a:latin typeface="Noto Sans KR"/>
                <a:ea typeface="Noto Sans KR"/>
                <a:cs typeface="Noto Sans KR"/>
              </a:rPr>
              <a:t>−3,940</a:t>
            </a:r>
            <a:r>
              <a:rPr sz="700" b="1" i="0">
                <a:solidFill>
                  <a:srgbClr val="EB002C"/>
                </a:solidFill>
                <a:latin typeface="Noto Sans KR"/>
                <a:ea typeface="Noto Sans KR"/>
                <a:cs typeface="Noto Sans KR"/>
              </a:rPr>
              <a:t> kg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4632000" y="4825000"/>
            <a:ext cx="20425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600" b="0" i="0">
                <a:solidFill>
                  <a:srgbClr val="7F7F7F"/>
                </a:solidFill>
                <a:latin typeface="Noto Sans KR"/>
                <a:ea typeface="Noto Sans KR"/>
                <a:cs typeface="Noto Sans KR"/>
              </a:rPr>
              <a:t>'27.1 기초재고 최소 3.94톤 + 목표재고</a:t>
            </a:r>
          </a:p>
        </p:txBody>
      </p:sp>
      <p:sp>
        <p:nvSpPr>
          <p:cNvPr id="183" name="Rectangle 182"/>
          <p:cNvSpPr/>
          <p:nvPr/>
        </p:nvSpPr>
        <p:spPr>
          <a:xfrm>
            <a:off x="6774500" y="4350000"/>
            <a:ext cx="2082500" cy="640000"/>
          </a:xfrm>
          <a:prstGeom prst="rect">
            <a:avLst/>
          </a:prstGeom>
          <a:solidFill>
            <a:srgbClr val="FFFFFF"/>
          </a:solidFill>
          <a:ln w="15240">
            <a:solidFill>
              <a:srgbClr val="7F7F7F"/>
            </a:solidFill>
            <a:prstDash val="dash"/>
          </a:ln>
        </p:spPr>
        <p:txBody>
          <a:bodyPr rtlCol="0" anchor="ctr" lIns="30000" rIns="30000" tIns="0" bIns="0" wrap="square"/>
          <a:lstStyle/>
          <a:p>
            <a:pPr algn="ctr"/>
          </a:p>
        </p:txBody>
      </p:sp>
      <p:sp>
        <p:nvSpPr>
          <p:cNvPr id="184" name="TextBox 183"/>
          <p:cNvSpPr txBox="1"/>
          <p:nvPr/>
        </p:nvSpPr>
        <p:spPr>
          <a:xfrm>
            <a:off x="6804500" y="4390000"/>
            <a:ext cx="20225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72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2026 재고 확보 가능 범위</a:t>
            </a:r>
          </a:p>
        </p:txBody>
      </p:sp>
      <p:sp>
        <p:nvSpPr>
          <p:cNvPr id="185" name="TextBox 184"/>
          <p:cNvSpPr txBox="1"/>
          <p:nvPr/>
        </p:nvSpPr>
        <p:spPr>
          <a:xfrm>
            <a:off x="6794500" y="4540000"/>
            <a:ext cx="2042500" cy="2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3F3F3F"/>
                </a:solidFill>
                <a:latin typeface="Noto Sans KR"/>
                <a:ea typeface="Noto Sans KR"/>
                <a:cs typeface="Noto Sans KR"/>
              </a:rPr>
              <a:t>최대 6.98</a:t>
            </a:r>
            <a:r>
              <a:rPr sz="700" b="1" i="0">
                <a:solidFill>
                  <a:srgbClr val="3F3F3F"/>
                </a:solidFill>
                <a:latin typeface="Noto Sans KR"/>
                <a:ea typeface="Noto Sans KR"/>
                <a:cs typeface="Noto Sans KR"/>
              </a:rPr>
              <a:t> 톤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6794500" y="4825000"/>
            <a:ext cx="20425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600" b="0" i="0">
                <a:solidFill>
                  <a:srgbClr val="7F7F7F"/>
                </a:solidFill>
                <a:latin typeface="Noto Sans KR"/>
                <a:ea typeface="Noto Sans KR"/>
                <a:cs typeface="Noto Sans KR"/>
              </a:rPr>
              <a:t>26.2 − 19.22 · CXMT 2026 출하 시 감소</a:t>
            </a:r>
          </a:p>
        </p:txBody>
      </p:sp>
      <p:sp>
        <p:nvSpPr>
          <p:cNvPr id="187" name="Rectangle 186"/>
          <p:cNvSpPr/>
          <p:nvPr/>
        </p:nvSpPr>
        <p:spPr>
          <a:xfrm>
            <a:off x="287000" y="5090000"/>
            <a:ext cx="50000" cy="165000"/>
          </a:xfrm>
          <a:prstGeom prst="rect">
            <a:avLst/>
          </a:prstGeom>
          <a:solidFill>
            <a:srgbClr val="EB002C"/>
          </a:solidFill>
          <a:ln>
            <a:noFill/>
          </a:ln>
        </p:spPr>
        <p:txBody>
          <a:bodyPr rtlCol="0" anchor="ctr" lIns="30000" rIns="30000" tIns="0" bIns="0" wrap="square"/>
          <a:lstStyle/>
          <a:p>
            <a:pPr algn="ctr"/>
          </a:p>
        </p:txBody>
      </p:sp>
      <p:sp>
        <p:nvSpPr>
          <p:cNvPr id="188" name="TextBox 187"/>
          <p:cNvSpPr txBox="1"/>
          <p:nvPr/>
        </p:nvSpPr>
        <p:spPr>
          <a:xfrm>
            <a:off x="397000" y="5060000"/>
            <a:ext cx="8000000" cy="2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③ 정제 · 충진 자원 제약 (월 기준)</a:t>
            </a:r>
          </a:p>
        </p:txBody>
      </p:sp>
      <p:sp>
        <p:nvSpPr>
          <p:cNvPr id="189" name="Rectangle 188"/>
          <p:cNvSpPr/>
          <p:nvPr/>
        </p:nvSpPr>
        <p:spPr>
          <a:xfrm>
            <a:off x="287000" y="5290000"/>
            <a:ext cx="2082500" cy="640000"/>
          </a:xfrm>
          <a:prstGeom prst="rect">
            <a:avLst/>
          </a:prstGeom>
          <a:solidFill>
            <a:srgbClr val="FFF8E7"/>
          </a:solidFill>
          <a:ln w="15240">
            <a:solidFill>
              <a:srgbClr val="BF9000"/>
            </a:solidFill>
          </a:ln>
        </p:spPr>
        <p:txBody>
          <a:bodyPr rtlCol="0" anchor="ctr" lIns="30000" rIns="30000" tIns="0" bIns="0" wrap="square"/>
          <a:lstStyle/>
          <a:p>
            <a:pPr algn="ctr"/>
          </a:p>
        </p:txBody>
      </p:sp>
      <p:sp>
        <p:nvSpPr>
          <p:cNvPr id="190" name="TextBox 189"/>
          <p:cNvSpPr txBox="1"/>
          <p:nvPr/>
        </p:nvSpPr>
        <p:spPr>
          <a:xfrm>
            <a:off x="317000" y="5330000"/>
            <a:ext cx="20225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72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정제기 1~6월 (57 h)</a:t>
            </a:r>
          </a:p>
        </p:txBody>
      </p:sp>
      <p:sp>
        <p:nvSpPr>
          <p:cNvPr id="191" name="TextBox 190"/>
          <p:cNvSpPr txBox="1"/>
          <p:nvPr/>
        </p:nvSpPr>
        <p:spPr>
          <a:xfrm>
            <a:off x="307000" y="5480000"/>
            <a:ext cx="2042500" cy="2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7F6000"/>
                </a:solidFill>
                <a:latin typeface="Noto Sans KR"/>
                <a:ea typeface="Noto Sans KR"/>
                <a:cs typeface="Noto Sans KR"/>
              </a:rPr>
              <a:t>필요 13~16 vs 11.5</a:t>
            </a:r>
            <a:r>
              <a:rPr sz="700" b="1" i="0">
                <a:solidFill>
                  <a:srgbClr val="7F6000"/>
                </a:solidFill>
                <a:latin typeface="Noto Sans KR"/>
                <a:ea typeface="Noto Sans KR"/>
                <a:cs typeface="Noto Sans KR"/>
              </a:rPr>
              <a:t> Batch/월</a:t>
            </a:r>
          </a:p>
        </p:txBody>
      </p:sp>
      <p:sp>
        <p:nvSpPr>
          <p:cNvPr id="192" name="TextBox 191"/>
          <p:cNvSpPr txBox="1"/>
          <p:nvPr/>
        </p:nvSpPr>
        <p:spPr>
          <a:xfrm>
            <a:off x="307000" y="5765000"/>
            <a:ext cx="20425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600" b="0" i="0">
                <a:solidFill>
                  <a:srgbClr val="7F7F7F"/>
                </a:solidFill>
                <a:latin typeface="Noto Sans KR"/>
                <a:ea typeface="Noto Sans KR"/>
                <a:cs typeface="Noto Sans KR"/>
              </a:rPr>
              <a:t>필요 815~1,003 h &gt; 가용 720 h</a:t>
            </a:r>
          </a:p>
        </p:txBody>
      </p:sp>
      <p:sp>
        <p:nvSpPr>
          <p:cNvPr id="193" name="Rectangle 192"/>
          <p:cNvSpPr/>
          <p:nvPr/>
        </p:nvSpPr>
        <p:spPr>
          <a:xfrm>
            <a:off x="2449500" y="5290000"/>
            <a:ext cx="2082500" cy="640000"/>
          </a:xfrm>
          <a:prstGeom prst="rect">
            <a:avLst/>
          </a:prstGeom>
          <a:solidFill>
            <a:srgbClr val="FFFFFF"/>
          </a:solidFill>
          <a:ln w="15240">
            <a:solidFill>
              <a:srgbClr val="7F7F7F"/>
            </a:solidFill>
            <a:prstDash val="dash"/>
          </a:ln>
        </p:spPr>
        <p:txBody>
          <a:bodyPr rtlCol="0" anchor="ctr" lIns="30000" rIns="30000" tIns="0" bIns="0" wrap="square"/>
          <a:lstStyle/>
          <a:p>
            <a:pPr algn="ctr"/>
          </a:p>
        </p:txBody>
      </p:sp>
      <p:sp>
        <p:nvSpPr>
          <p:cNvPr id="194" name="TextBox 193"/>
          <p:cNvSpPr txBox="1"/>
          <p:nvPr/>
        </p:nvSpPr>
        <p:spPr>
          <a:xfrm>
            <a:off x="2479500" y="5330000"/>
            <a:ext cx="20225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72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정제기 7~12월 (약 29 h)</a:t>
            </a:r>
          </a:p>
        </p:txBody>
      </p:sp>
      <p:sp>
        <p:nvSpPr>
          <p:cNvPr id="195" name="TextBox 194"/>
          <p:cNvSpPr txBox="1"/>
          <p:nvPr/>
        </p:nvSpPr>
        <p:spPr>
          <a:xfrm>
            <a:off x="2469500" y="5480000"/>
            <a:ext cx="2042500" cy="2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3F3F3F"/>
                </a:solidFill>
                <a:latin typeface="Noto Sans KR"/>
                <a:ea typeface="Noto Sans KR"/>
                <a:cs typeface="Noto Sans KR"/>
              </a:rPr>
              <a:t>필요 20 vs 20.7</a:t>
            </a:r>
            <a:r>
              <a:rPr sz="700" b="1" i="0">
                <a:solidFill>
                  <a:srgbClr val="3F3F3F"/>
                </a:solidFill>
                <a:latin typeface="Noto Sans KR"/>
                <a:ea typeface="Noto Sans KR"/>
                <a:cs typeface="Noto Sans KR"/>
              </a:rPr>
              <a:t> Batch/월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2469500" y="5765000"/>
            <a:ext cx="20425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600" b="0" i="0">
                <a:solidFill>
                  <a:srgbClr val="7F7F7F"/>
                </a:solidFill>
                <a:latin typeface="Noto Sans KR"/>
                <a:ea typeface="Noto Sans KR"/>
                <a:cs typeface="Noto Sans KR"/>
              </a:rPr>
              <a:t>696 h ≤ 720 h · 여유 0.7 Batch</a:t>
            </a:r>
          </a:p>
        </p:txBody>
      </p:sp>
      <p:sp>
        <p:nvSpPr>
          <p:cNvPr id="197" name="Rectangle 196"/>
          <p:cNvSpPr/>
          <p:nvPr/>
        </p:nvSpPr>
        <p:spPr>
          <a:xfrm>
            <a:off x="4612000" y="5290000"/>
            <a:ext cx="2082500" cy="640000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txBody>
          <a:bodyPr rtlCol="0" anchor="ctr" lIns="30000" rIns="30000" tIns="0" bIns="0" wrap="square"/>
          <a:lstStyle/>
          <a:p>
            <a:pPr algn="ctr"/>
          </a:p>
        </p:txBody>
      </p:sp>
      <p:sp>
        <p:nvSpPr>
          <p:cNvPr id="198" name="TextBox 197"/>
          <p:cNvSpPr txBox="1"/>
          <p:nvPr/>
        </p:nvSpPr>
        <p:spPr>
          <a:xfrm>
            <a:off x="4642000" y="5330000"/>
            <a:ext cx="20225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72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5 Gal 글로브 박스</a:t>
            </a:r>
          </a:p>
        </p:txBody>
      </p:sp>
      <p:sp>
        <p:nvSpPr>
          <p:cNvPr id="199" name="TextBox 198"/>
          <p:cNvSpPr txBox="1"/>
          <p:nvPr/>
        </p:nvSpPr>
        <p:spPr>
          <a:xfrm>
            <a:off x="4632000" y="5480000"/>
            <a:ext cx="2042500" cy="2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189 ~ 267</a:t>
            </a:r>
            <a:r>
              <a:rPr sz="70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 h/월</a:t>
            </a:r>
          </a:p>
        </p:txBody>
      </p:sp>
      <p:sp>
        <p:nvSpPr>
          <p:cNvPr id="200" name="TextBox 199"/>
          <p:cNvSpPr txBox="1"/>
          <p:nvPr/>
        </p:nvSpPr>
        <p:spPr>
          <a:xfrm>
            <a:off x="4632000" y="5765000"/>
            <a:ext cx="20425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600" b="0" i="0">
                <a:solidFill>
                  <a:srgbClr val="7F7F7F"/>
                </a:solidFill>
                <a:latin typeface="Noto Sans KR"/>
                <a:ea typeface="Noto Sans KR"/>
                <a:cs typeface="Noto Sans KR"/>
              </a:rPr>
              <a:t>근무시간 입력 필요 (720 h 자동 적용 금지)</a:t>
            </a:r>
          </a:p>
        </p:txBody>
      </p:sp>
      <p:sp>
        <p:nvSpPr>
          <p:cNvPr id="201" name="Rectangle 200"/>
          <p:cNvSpPr/>
          <p:nvPr/>
        </p:nvSpPr>
        <p:spPr>
          <a:xfrm>
            <a:off x="6774500" y="5290000"/>
            <a:ext cx="2082500" cy="640000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txBody>
          <a:bodyPr rtlCol="0" anchor="ctr" lIns="30000" rIns="30000" tIns="0" bIns="0" wrap="square"/>
          <a:lstStyle/>
          <a:p>
            <a:pPr algn="ctr"/>
          </a:p>
        </p:txBody>
      </p:sp>
      <p:sp>
        <p:nvSpPr>
          <p:cNvPr id="202" name="TextBox 201"/>
          <p:cNvSpPr txBox="1"/>
          <p:nvPr/>
        </p:nvSpPr>
        <p:spPr>
          <a:xfrm>
            <a:off x="6804500" y="5330000"/>
            <a:ext cx="20225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72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200 L (ARS) · FQC</a:t>
            </a:r>
          </a:p>
        </p:txBody>
      </p:sp>
      <p:sp>
        <p:nvSpPr>
          <p:cNvPr id="203" name="TextBox 202"/>
          <p:cNvSpPr txBox="1"/>
          <p:nvPr/>
        </p:nvSpPr>
        <p:spPr>
          <a:xfrm>
            <a:off x="6794500" y="5480000"/>
            <a:ext cx="2042500" cy="2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32~64 · 26~40</a:t>
            </a:r>
            <a:r>
              <a:rPr sz="70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 h/월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6794500" y="5765000"/>
            <a:ext cx="20425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600" b="0" i="0">
                <a:solidFill>
                  <a:srgbClr val="7F7F7F"/>
                </a:solidFill>
                <a:latin typeface="Noto Sans KR"/>
                <a:ea typeface="Noto Sans KR"/>
                <a:cs typeface="Noto Sans KR"/>
              </a:rPr>
              <a:t>ARS 처리능력 · QC 근무시간 확인</a:t>
            </a:r>
          </a:p>
        </p:txBody>
      </p:sp>
    </p:spTree>
    <p:extLst>
      <p:ext uri="{BB962C8B-B14F-4D97-AF65-F5344CB8AC3E}">
        <p14:creationId xmlns:p14="http://schemas.microsoft.com/office/powerpoint/2010/main" val="129899069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2BE96E-E472-E164-23F2-95F3E9DCB4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5E2DD2F-BCF5-ECAE-E5D5-3CF0B6E970A6}"/>
              </a:ext>
            </a:extLst>
          </p:cNvPr>
          <p:cNvSpPr txBox="1"/>
          <p:nvPr/>
        </p:nvSpPr>
        <p:spPr>
          <a:xfrm>
            <a:off x="419241" y="188640"/>
            <a:ext cx="740000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algn="ctr">
              <a:defRPr kumimoji="1" sz="2800" b="1">
                <a:solidFill>
                  <a:schemeClr val="tx1">
                    <a:lumMod val="95000"/>
                    <a:lumOff val="5000"/>
                  </a:schemeClr>
                </a:solidFill>
                <a:latin typeface="Noto Sans KR" pitchFamily="2" charset="-127"/>
                <a:ea typeface="Noto Sans KR" pitchFamily="2" charset="-127"/>
              </a:defRPr>
            </a:lvl1pPr>
          </a:lstStyle>
          <a:p>
            <a:pPr algn="l"/>
            <a:r>
              <a:rPr lang="en-US" altLang="ko-KR" sz="1800" dirty="0" b="1">
                <a:gradFill>
                  <a:gsLst>
                    <a:gs pos="0">
                      <a:srgbClr val="FF7900"/>
                    </a:gs>
                    <a:gs pos="67000">
                      <a:srgbClr val="EB002C"/>
                    </a:gs>
                  </a:gsLst>
                  <a:lin ang="5400000" scaled="1"/>
                </a:gradFill>
              </a:rPr>
              <a:t>2027년 월별 출하계획과 공급 대응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5E334A9-F66D-C6A4-7BE9-6D50F9536A48}"/>
              </a:ext>
            </a:extLst>
          </p:cNvPr>
          <p:cNvSpPr/>
          <p:nvPr/>
        </p:nvSpPr>
        <p:spPr>
          <a:xfrm>
            <a:off x="243076" y="0"/>
            <a:ext cx="45719" cy="900000"/>
          </a:xfrm>
          <a:prstGeom prst="rect">
            <a:avLst/>
          </a:prstGeom>
          <a:solidFill>
            <a:srgbClr val="EB002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2E35880-4093-876B-A5F4-41C1E861B78E}"/>
              </a:ext>
            </a:extLst>
          </p:cNvPr>
          <p:cNvSpPr txBox="1"/>
          <p:nvPr/>
        </p:nvSpPr>
        <p:spPr>
          <a:xfrm>
            <a:off x="683568" y="649029"/>
            <a:ext cx="8217356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algn="ctr">
              <a:defRPr kumimoji="1" sz="2800" b="1">
                <a:solidFill>
                  <a:schemeClr val="tx1">
                    <a:lumMod val="95000"/>
                    <a:lumOff val="5000"/>
                  </a:schemeClr>
                </a:solidFill>
                <a:latin typeface="Noto Sans KR" pitchFamily="2" charset="-127"/>
                <a:ea typeface="Noto Sans KR" pitchFamily="2" charset="-127"/>
              </a:defRPr>
            </a:lvl1pPr>
          </a:lstStyle>
          <a:p>
            <a:pPr algn="l"/>
            <a:r>
              <a:rPr lang="en-US" altLang="ko-KR" sz="1600" dirty="0"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전제 : '27.6까지 26.2톤/년 · '27.7부터 47.2톤/년 → 생산 36.7톤 vs 출하 39.66톤</a:t>
            </a:r>
            <a:endParaRPr lang="en-US" altLang="ko-KR" sz="1600" dirty="0">
              <a:solidFill>
                <a:srgbClr val="FB6306"/>
              </a:solidFill>
              <a:latin typeface="Noto Sans KR" panose="02000503000000020004" pitchFamily="2" charset="-127"/>
              <a:ea typeface="Noto Sans KR" panose="02000503000000020004" pitchFamily="2" charset="-127"/>
              <a:cs typeface="Noto Sans KR" panose="02000503000000020004" pitchFamily="2" charset="-127"/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8FCEA6BD-DE04-59B4-A8D4-190141D5218B}"/>
              </a:ext>
            </a:extLst>
          </p:cNvPr>
          <p:cNvSpPr>
            <a:spLocks noChangeAspect="1"/>
          </p:cNvSpPr>
          <p:nvPr/>
        </p:nvSpPr>
        <p:spPr>
          <a:xfrm>
            <a:off x="419241" y="682139"/>
            <a:ext cx="180000" cy="180000"/>
          </a:xfrm>
          <a:prstGeom prst="ellipse">
            <a:avLst/>
          </a:prstGeom>
          <a:solidFill>
            <a:srgbClr val="EB002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 b="1" dirty="0">
                <a:latin typeface="Noto Sans KR" pitchFamily="2" charset="-127"/>
                <a:ea typeface="Noto Sans KR" pitchFamily="2" charset="-127"/>
              </a:rPr>
              <a:t>5</a:t>
            </a:r>
            <a:endParaRPr kumimoji="1" lang="ko-KR" altLang="en-US" sz="1000" b="1" dirty="0">
              <a:latin typeface="Noto Sans KR" pitchFamily="2" charset="-127"/>
              <a:ea typeface="Noto Sans KR" pitchFamily="2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B8A963E8-7BFA-8421-BB5D-9C25023F1E9B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8384" y="165102"/>
            <a:ext cx="872541" cy="372545"/>
          </a:xfrm>
          <a:prstGeom prst="rect">
            <a:avLst/>
          </a:prstGeom>
        </p:spPr>
      </p:pic>
      <p:sp>
        <p:nvSpPr>
          <p:cNvPr id="161" name="직사각형 160">
            <a:extLst>
              <a:ext uri="{FF2B5EF4-FFF2-40B4-BE49-F238E27FC236}">
                <a16:creationId xmlns:a16="http://schemas.microsoft.com/office/drawing/2014/main" id="{93943A90-8311-883B-A173-01407C63CEE4}"/>
              </a:ext>
            </a:extLst>
          </p:cNvPr>
          <p:cNvSpPr/>
          <p:nvPr/>
        </p:nvSpPr>
        <p:spPr>
          <a:xfrm>
            <a:off x="234424" y="6411907"/>
            <a:ext cx="1027462" cy="252555"/>
          </a:xfrm>
          <a:prstGeom prst="rect">
            <a:avLst/>
          </a:prstGeom>
          <a:noFill/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ko-KR" sz="1100" dirty="0">
                <a:solidFill>
                  <a:schemeClr val="bg1">
                    <a:lumMod val="50000"/>
                  </a:schemeClr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Confidential</a:t>
            </a:r>
            <a:endParaRPr kumimoji="1" lang="ko-KR" altLang="en-US" sz="1100" dirty="0">
              <a:solidFill>
                <a:schemeClr val="bg1">
                  <a:lumMod val="50000"/>
                </a:schemeClr>
              </a:solidFill>
              <a:latin typeface="Noto Sans KR" panose="02000503000000020004" pitchFamily="2" charset="-127"/>
              <a:ea typeface="Noto Sans KR" panose="02000503000000020004" pitchFamily="2" charset="-127"/>
              <a:cs typeface="Noto Sans KR" panose="02000503000000020004" pitchFamily="2" charset="-127"/>
            </a:endParaRPr>
          </a:p>
        </p:txBody>
      </p:sp>
      <p:cxnSp>
        <p:nvCxnSpPr>
          <p:cNvPr id="163" name="직선 연결선[R] 162">
            <a:extLst>
              <a:ext uri="{FF2B5EF4-FFF2-40B4-BE49-F238E27FC236}">
                <a16:creationId xmlns:a16="http://schemas.microsoft.com/office/drawing/2014/main" id="{8DEBABA2-333E-086B-36F6-137958AA3974}"/>
              </a:ext>
            </a:extLst>
          </p:cNvPr>
          <p:cNvCxnSpPr>
            <a:cxnSpLocks/>
          </p:cNvCxnSpPr>
          <p:nvPr/>
        </p:nvCxnSpPr>
        <p:spPr>
          <a:xfrm>
            <a:off x="1442533" y="6538184"/>
            <a:ext cx="7200800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8D53F489-CBFB-4C6F-878D-02975AD51256}"/>
              </a:ext>
            </a:extLst>
          </p:cNvPr>
          <p:cNvSpPr txBox="1"/>
          <p:nvPr/>
        </p:nvSpPr>
        <p:spPr>
          <a:xfrm>
            <a:off x="3972000" y="6461240"/>
            <a:ext cx="1200000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kumimoji="1" lang="en-US" altLang="ko-KR" sz="1000" dirty="0" b="0" i="0">
                <a:solidFill>
                  <a:srgbClr val="7F7F7F"/>
                </a:solidFill>
                <a:latin typeface="Noto Sans KR" panose="02000403000000020004" pitchFamily="2" charset="-127"/>
                <a:ea typeface="Noto Sans KR" panose="02000403000000020004" pitchFamily="2" charset="-127"/>
                <a:cs typeface="Noto Sans KR" panose="02000403000000020004" pitchFamily="2" charset="-127"/>
              </a:rPr>
              <a:t>- 5 -</a:t>
            </a:r>
            <a:endParaRPr kumimoji="1" lang="ko-KR" altLang="en-US" sz="1000" dirty="0">
              <a:solidFill>
                <a:schemeClr val="bg1">
                  <a:lumMod val="50000"/>
                </a:schemeClr>
              </a:solidFill>
              <a:latin typeface="Noto Sans KR" panose="02000403000000020004" pitchFamily="2" charset="-127"/>
              <a:ea typeface="Noto Sans KR" panose="02000403000000020004" pitchFamily="2" charset="-127"/>
              <a:cs typeface="Noto Sans KR" panose="02000403000000020004" pitchFamily="2" charset="-127"/>
            </a:endParaRPr>
          </a:p>
        </p:txBody>
      </p:sp>
      <p:sp>
        <p:nvSpPr>
          <p:cNvPr id="164" name="TextBox 163"/>
          <p:cNvSpPr txBox="1"/>
          <p:nvPr/>
        </p:nvSpPr>
        <p:spPr>
          <a:xfrm>
            <a:off x="5657000" y="6300000"/>
            <a:ext cx="32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7F7F7F"/>
                </a:solidFill>
                <a:latin typeface="Noto Sans KR"/>
                <a:ea typeface="Noto Sans KR"/>
                <a:cs typeface="Noto Sans KR"/>
              </a:rPr>
              <a:t>공란 : 담당부서 확인 후 입력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287000" y="980000"/>
            <a:ext cx="50000" cy="165000"/>
          </a:xfrm>
          <a:prstGeom prst="rect">
            <a:avLst/>
          </a:prstGeom>
          <a:solidFill>
            <a:srgbClr val="EB002C"/>
          </a:solidFill>
          <a:ln>
            <a:noFill/>
          </a:ln>
        </p:spPr>
        <p:txBody>
          <a:bodyPr rtlCol="0" anchor="ctr" lIns="30000" rIns="30000" tIns="0" bIns="0" wrap="square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397000" y="950000"/>
            <a:ext cx="8000000" cy="2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① 2027 월별 필요 Batch · 생산 · 출하 · 재고 (kg)</a:t>
            </a:r>
            <a:r>
              <a:rPr sz="700" b="0" i="0">
                <a:solidFill>
                  <a:srgbClr val="7F7F7F"/>
                </a:solidFill>
                <a:latin typeface="Noto Sans KR"/>
                <a:ea typeface="Noto Sans KR"/>
                <a:cs typeface="Noto Sans KR"/>
              </a:rPr>
              <a:t>   생산 가능량은 전제 조건 기준 (연 Capa. ÷ 12, 균등 가동)</a:t>
            </a:r>
          </a:p>
        </p:txBody>
      </p:sp>
      <p:graphicFrame>
        <p:nvGraphicFramePr>
          <p:cNvPr id="167" name="Table 166"/>
          <p:cNvGraphicFramePr>
            <a:graphicFrameLocks noGrp="1"/>
          </p:cNvGraphicFramePr>
          <p:nvPr/>
        </p:nvGraphicFramePr>
        <p:xfrm>
          <a:off x="287000" y="1190000"/>
          <a:ext cx="8570000" cy="260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50000"/>
                <a:gridCol w="485000"/>
                <a:gridCol w="485000"/>
                <a:gridCol w="485000"/>
                <a:gridCol w="485000"/>
                <a:gridCol w="485000"/>
                <a:gridCol w="485000"/>
                <a:gridCol w="485000"/>
                <a:gridCol w="485000"/>
                <a:gridCol w="485000"/>
                <a:gridCol w="485000"/>
                <a:gridCol w="485000"/>
                <a:gridCol w="485000"/>
                <a:gridCol w="800000"/>
              </a:tblGrid>
              <a:tr h="165000">
                <a:tc>
                  <a:txBody>
                    <a:bodyPr/>
                    <a:lstStyle/>
                    <a:p>
                      <a:pPr algn="l"/>
                      <a:r>
                        <a:rPr sz="660" b="1" i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구분</a:t>
                      </a:r>
                      <a:endParaRPr sz="660"/>
                    </a:p>
                  </a:txBody>
                  <a:tcPr anchor="ctr" marL="45000" marR="45000" marT="15000" marB="15000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A1A1A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60" b="1" i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1월</a:t>
                      </a:r>
                      <a:endParaRPr sz="660"/>
                    </a:p>
                  </a:txBody>
                  <a:tcPr anchor="ctr" marL="45000" marR="45000" marT="15000" marB="15000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A1A1A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60" b="1" i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2월</a:t>
                      </a:r>
                      <a:endParaRPr sz="660"/>
                    </a:p>
                  </a:txBody>
                  <a:tcPr anchor="ctr" marL="45000" marR="45000" marT="15000" marB="15000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A1A1A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60" b="1" i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3월</a:t>
                      </a:r>
                      <a:endParaRPr sz="660"/>
                    </a:p>
                  </a:txBody>
                  <a:tcPr anchor="ctr" marL="45000" marR="45000" marT="15000" marB="15000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A1A1A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60" b="1" i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4월</a:t>
                      </a:r>
                      <a:endParaRPr sz="660"/>
                    </a:p>
                  </a:txBody>
                  <a:tcPr anchor="ctr" marL="45000" marR="45000" marT="15000" marB="15000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A1A1A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60" b="1" i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5월</a:t>
                      </a:r>
                      <a:endParaRPr sz="660"/>
                    </a:p>
                  </a:txBody>
                  <a:tcPr anchor="ctr" marL="45000" marR="45000" marT="15000" marB="15000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A1A1A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60" b="1" i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6월</a:t>
                      </a:r>
                      <a:endParaRPr sz="660"/>
                    </a:p>
                  </a:txBody>
                  <a:tcPr anchor="ctr" marL="45000" marR="45000" marT="15000" marB="15000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A1A1A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60" b="1" i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7월</a:t>
                      </a:r>
                      <a:endParaRPr sz="660"/>
                    </a:p>
                  </a:txBody>
                  <a:tcPr anchor="ctr" marL="45000" marR="45000" marT="15000" marB="15000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A1A1A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60" b="1" i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8월</a:t>
                      </a:r>
                      <a:endParaRPr sz="660"/>
                    </a:p>
                  </a:txBody>
                  <a:tcPr anchor="ctr" marL="45000" marR="45000" marT="15000" marB="15000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A1A1A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60" b="1" i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9월</a:t>
                      </a:r>
                      <a:endParaRPr sz="660"/>
                    </a:p>
                  </a:txBody>
                  <a:tcPr anchor="ctr" marL="45000" marR="45000" marT="15000" marB="15000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A1A1A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60" b="1" i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10월</a:t>
                      </a:r>
                      <a:endParaRPr sz="660"/>
                    </a:p>
                  </a:txBody>
                  <a:tcPr anchor="ctr" marL="45000" marR="45000" marT="15000" marB="15000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A1A1A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60" b="1" i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11월</a:t>
                      </a:r>
                      <a:endParaRPr sz="660"/>
                    </a:p>
                  </a:txBody>
                  <a:tcPr anchor="ctr" marL="45000" marR="45000" marT="15000" marB="15000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A1A1A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60" b="1" i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12월</a:t>
                      </a:r>
                      <a:endParaRPr sz="660"/>
                    </a:p>
                  </a:txBody>
                  <a:tcPr anchor="ctr" marL="45000" marR="45000" marT="15000" marB="15000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A1A1A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60" b="1" i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연간</a:t>
                      </a:r>
                      <a:endParaRPr sz="660"/>
                    </a:p>
                  </a:txBody>
                  <a:tcPr anchor="ctr" marL="45000" marR="45000" marT="15000" marB="15000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A1A1A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DEDED"/>
                    </a:solidFill>
                  </a:tcPr>
                </a:tc>
              </a:tr>
              <a:tr h="185000">
                <a:tc>
                  <a:txBody>
                    <a:bodyPr/>
                    <a:lstStyle/>
                    <a:p>
                      <a:pPr algn="l"/>
                      <a:r>
                        <a:rPr sz="660" b="1" i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적용 조건 (전제)</a:t>
                      </a:r>
                      <a:endParaRPr sz="660"/>
                    </a:p>
                  </a:txBody>
                  <a:tcPr anchor="ctr" marL="45000" marR="45000" marT="15000" marB="150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9F9F9"/>
                    </a:solidFill>
                  </a:tcPr>
                </a:tc>
                <a:tc gridSpan="6">
                  <a:txBody>
                    <a:bodyPr/>
                    <a:lstStyle/>
                    <a:p>
                      <a:pPr algn="ctr"/>
                      <a:r>
                        <a:rPr sz="600" b="1" i="0">
                          <a:solidFill>
                            <a:srgbClr val="40404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현재 57 h · 26.2톤/년 · 사이클 62.7 h (공사 · 시운전 생산 영향 없음 전제)</a:t>
                      </a:r>
                      <a:endParaRPr sz="600"/>
                    </a:p>
                  </a:txBody>
                  <a:tcPr anchor="ctr" marL="45000" marR="45000" marT="15000" marB="150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7E6E6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6">
                  <a:txBody>
                    <a:bodyPr/>
                    <a:lstStyle/>
                    <a:p>
                      <a:pPr algn="ctr"/>
                      <a:r>
                        <a:rPr sz="600" b="1" i="0">
                          <a:solidFill>
                            <a:srgbClr val="EB00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리플럭스 · 47.2톤/년 · 사이클 34.8 h (정제 약 29 h)</a:t>
                      </a:r>
                      <a:endParaRPr sz="60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DEDF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 i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 </a:t>
                      </a:r>
                      <a:endParaRPr sz="600"/>
                    </a:p>
                  </a:txBody>
                  <a:tcPr anchor="ctr" marL="45000" marR="45000" marT="15000" marB="15000">
                    <a:lnL w="6350">
                      <a:solidFill>
                        <a:srgbClr val="BFBFBF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150000">
                <a:tc>
                  <a:txBody>
                    <a:bodyPr/>
                    <a:lstStyle/>
                    <a:p>
                      <a:pPr algn="l"/>
                      <a:r>
                        <a:rPr sz="580" b="1" i="0">
                          <a:solidFill>
                            <a:srgbClr val="7F7F7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정제기 | </a:t>
                      </a:r>
                      <a:r>
                        <a:rPr sz="660" b="1" i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가용시간 h</a:t>
                      </a:r>
                      <a:endParaRPr sz="580"/>
                    </a:p>
                  </a:txBody>
                  <a:tcPr anchor="ctr" marL="45000" marR="45000" marT="15000" marB="150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0" i="0">
                          <a:solidFill>
                            <a:srgbClr val="3F3F3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720</a:t>
                      </a:r>
                      <a:endParaRPr sz="610"/>
                    </a:p>
                  </a:txBody>
                  <a:tcPr anchor="ctr" marL="45000" marR="45000" marT="15000" marB="150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0" i="0">
                          <a:solidFill>
                            <a:srgbClr val="3F3F3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720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0" i="0">
                          <a:solidFill>
                            <a:srgbClr val="3F3F3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720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0" i="0">
                          <a:solidFill>
                            <a:srgbClr val="3F3F3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720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0" i="0">
                          <a:solidFill>
                            <a:srgbClr val="3F3F3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720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0" i="0">
                          <a:solidFill>
                            <a:srgbClr val="3F3F3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720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0" i="0">
                          <a:solidFill>
                            <a:srgbClr val="3F3F3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720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0" i="0">
                          <a:solidFill>
                            <a:srgbClr val="3F3F3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720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0" i="0">
                          <a:solidFill>
                            <a:srgbClr val="3F3F3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720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0" i="0">
                          <a:solidFill>
                            <a:srgbClr val="3F3F3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720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0" i="0">
                          <a:solidFill>
                            <a:srgbClr val="3F3F3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720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0" i="0">
                          <a:solidFill>
                            <a:srgbClr val="3F3F3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720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1" i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8,640</a:t>
                      </a:r>
                      <a:endParaRPr sz="640"/>
                    </a:p>
                  </a:txBody>
                  <a:tcPr anchor="ctr" marL="45000" marR="45000" marT="15000" marB="15000">
                    <a:lnL w="6350">
                      <a:solidFill>
                        <a:srgbClr val="BFBFBF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150000">
                <a:tc>
                  <a:txBody>
                    <a:bodyPr/>
                    <a:lstStyle/>
                    <a:p>
                      <a:pPr algn="l"/>
                      <a:r>
                        <a:rPr sz="580" b="1" i="0">
                          <a:solidFill>
                            <a:srgbClr val="7F7F7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        </a:t>
                      </a:r>
                      <a:r>
                        <a:rPr sz="660" b="1" i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생산 가능 Batch (전제)</a:t>
                      </a:r>
                      <a:endParaRPr sz="580"/>
                    </a:p>
                  </a:txBody>
                  <a:tcPr anchor="ctr" marL="45000" marR="45000" marT="15000" marB="150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1" i="0">
                          <a:solidFill>
                            <a:srgbClr val="EB00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11.5</a:t>
                      </a:r>
                      <a:endParaRPr sz="610"/>
                    </a:p>
                  </a:txBody>
                  <a:tcPr anchor="ctr" marL="45000" marR="45000" marT="15000" marB="150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1" i="0">
                          <a:solidFill>
                            <a:srgbClr val="EB00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11.5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1" i="0">
                          <a:solidFill>
                            <a:srgbClr val="EB00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11.5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1" i="0">
                          <a:solidFill>
                            <a:srgbClr val="EB00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11.5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1" i="0">
                          <a:solidFill>
                            <a:srgbClr val="EB00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11.5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1" i="0">
                          <a:solidFill>
                            <a:srgbClr val="EB00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11.5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1" i="0">
                          <a:solidFill>
                            <a:srgbClr val="EB00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20.7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1" i="0">
                          <a:solidFill>
                            <a:srgbClr val="EB00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20.7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1" i="0">
                          <a:solidFill>
                            <a:srgbClr val="EB00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20.7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1" i="0">
                          <a:solidFill>
                            <a:srgbClr val="EB00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20.7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1" i="0">
                          <a:solidFill>
                            <a:srgbClr val="EB00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20.7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1" i="0">
                          <a:solidFill>
                            <a:srgbClr val="EB00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20.7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1" i="0">
                          <a:solidFill>
                            <a:srgbClr val="EB00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193.2</a:t>
                      </a:r>
                      <a:endParaRPr sz="640"/>
                    </a:p>
                  </a:txBody>
                  <a:tcPr anchor="ctr" marL="45000" marR="45000" marT="15000" marB="15000">
                    <a:lnL w="6350">
                      <a:solidFill>
                        <a:srgbClr val="BFBFBF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150000">
                <a:tc>
                  <a:txBody>
                    <a:bodyPr/>
                    <a:lstStyle/>
                    <a:p>
                      <a:pPr algn="l"/>
                      <a:r>
                        <a:rPr sz="580" b="1" i="0">
                          <a:solidFill>
                            <a:srgbClr val="7F7F7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        </a:t>
                      </a:r>
                      <a:r>
                        <a:rPr sz="660" b="1" i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생산 가능량 kg (전제)</a:t>
                      </a:r>
                      <a:endParaRPr sz="580"/>
                    </a:p>
                  </a:txBody>
                  <a:tcPr anchor="ctr" marL="45000" marR="45000" marT="15000" marB="150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1" i="0">
                          <a:solidFill>
                            <a:srgbClr val="EB00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2,183.3</a:t>
                      </a:r>
                      <a:endParaRPr sz="610"/>
                    </a:p>
                  </a:txBody>
                  <a:tcPr anchor="ctr" marL="45000" marR="45000" marT="15000" marB="150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1" i="0">
                          <a:solidFill>
                            <a:srgbClr val="EB00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2,183.3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1" i="0">
                          <a:solidFill>
                            <a:srgbClr val="EB00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2,183.3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1" i="0">
                          <a:solidFill>
                            <a:srgbClr val="EB00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2,183.3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1" i="0">
                          <a:solidFill>
                            <a:srgbClr val="EB00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2,183.3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1" i="0">
                          <a:solidFill>
                            <a:srgbClr val="EB00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2,183.3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1" i="0">
                          <a:solidFill>
                            <a:srgbClr val="EB00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3,933.3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1" i="0">
                          <a:solidFill>
                            <a:srgbClr val="EB00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3,933.3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1" i="0">
                          <a:solidFill>
                            <a:srgbClr val="EB00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3,933.3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1" i="0">
                          <a:solidFill>
                            <a:srgbClr val="EB00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3,933.3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1" i="0">
                          <a:solidFill>
                            <a:srgbClr val="EB00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3,933.3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1" i="0">
                          <a:solidFill>
                            <a:srgbClr val="EB00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3,933.3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1" i="0">
                          <a:solidFill>
                            <a:srgbClr val="EB00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36,700</a:t>
                      </a:r>
                      <a:endParaRPr sz="640"/>
                    </a:p>
                  </a:txBody>
                  <a:tcPr anchor="ctr" marL="45000" marR="45000" marT="15000" marB="15000">
                    <a:lnL w="6350">
                      <a:solidFill>
                        <a:srgbClr val="BFBFBF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150000">
                <a:tc>
                  <a:txBody>
                    <a:bodyPr/>
                    <a:lstStyle/>
                    <a:p>
                      <a:pPr algn="l"/>
                      <a:r>
                        <a:rPr sz="580" b="1" i="0">
                          <a:solidFill>
                            <a:srgbClr val="7F7F7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출하 | </a:t>
                      </a:r>
                      <a:r>
                        <a:rPr sz="600" b="0" i="0">
                          <a:solidFill>
                            <a:srgbClr val="EB00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■ </a:t>
                      </a:r>
                      <a:r>
                        <a:rPr sz="660" b="1" i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SK하이닉스</a:t>
                      </a:r>
                      <a:endParaRPr sz="580"/>
                    </a:p>
                  </a:txBody>
                  <a:tcPr anchor="ctr" marL="45000" marR="45000" marT="15000" marB="150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0" i="0">
                          <a:solidFill>
                            <a:srgbClr val="2E75B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1,893.3</a:t>
                      </a:r>
                      <a:endParaRPr sz="610"/>
                    </a:p>
                  </a:txBody>
                  <a:tcPr anchor="ctr" marL="45000" marR="45000" marT="15000" marB="150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0" i="0">
                          <a:solidFill>
                            <a:srgbClr val="2E75B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1,893.3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0" i="0">
                          <a:solidFill>
                            <a:srgbClr val="2E75B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1,893.3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0" i="0">
                          <a:solidFill>
                            <a:srgbClr val="2E75B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1,893.3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0" i="0">
                          <a:solidFill>
                            <a:srgbClr val="2E75B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1,893.3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0" i="0">
                          <a:solidFill>
                            <a:srgbClr val="2E75B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1,893.3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0" i="0">
                          <a:solidFill>
                            <a:srgbClr val="2E75B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1,893.3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0" i="0">
                          <a:solidFill>
                            <a:srgbClr val="2E75B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1,893.3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0" i="0">
                          <a:solidFill>
                            <a:srgbClr val="2E75B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1,893.3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0" i="0">
                          <a:solidFill>
                            <a:srgbClr val="2E75B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1,893.3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0" i="0">
                          <a:solidFill>
                            <a:srgbClr val="2E75B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1,893.3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0" i="0">
                          <a:solidFill>
                            <a:srgbClr val="2E75B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1,893.3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1" i="0">
                          <a:solidFill>
                            <a:srgbClr val="2E75B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22,720</a:t>
                      </a:r>
                      <a:endParaRPr sz="640"/>
                    </a:p>
                  </a:txBody>
                  <a:tcPr anchor="ctr" marL="45000" marR="45000" marT="15000" marB="15000">
                    <a:lnL w="6350">
                      <a:solidFill>
                        <a:srgbClr val="BFBFBF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150000">
                <a:tc>
                  <a:txBody>
                    <a:bodyPr/>
                    <a:lstStyle/>
                    <a:p>
                      <a:pPr algn="l"/>
                      <a:r>
                        <a:rPr sz="580" b="1" i="0">
                          <a:solidFill>
                            <a:srgbClr val="7F7F7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        </a:t>
                      </a:r>
                      <a:r>
                        <a:rPr sz="600" b="0" i="0">
                          <a:solidFill>
                            <a:srgbClr val="1B8A9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■ </a:t>
                      </a:r>
                      <a:r>
                        <a:rPr sz="660" b="1" i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CXMT</a:t>
                      </a:r>
                      <a:endParaRPr sz="580"/>
                    </a:p>
                  </a:txBody>
                  <a:tcPr anchor="ctr" marL="45000" marR="45000" marT="15000" marB="150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0" i="0">
                          <a:solidFill>
                            <a:srgbClr val="2E75B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</a:t>
                      </a:r>
                      <a:endParaRPr sz="610"/>
                    </a:p>
                  </a:txBody>
                  <a:tcPr anchor="ctr" marL="45000" marR="45000" marT="15000" marB="150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0" i="0">
                          <a:solidFill>
                            <a:srgbClr val="2E75B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0" i="0">
                          <a:solidFill>
                            <a:srgbClr val="2E75B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580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0" i="0">
                          <a:solidFill>
                            <a:srgbClr val="2E75B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580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0" i="0">
                          <a:solidFill>
                            <a:srgbClr val="2E75B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580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0" i="0">
                          <a:solidFill>
                            <a:srgbClr val="2E75B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580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0" i="0">
                          <a:solidFill>
                            <a:srgbClr val="2E75B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780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0" i="0">
                          <a:solidFill>
                            <a:srgbClr val="2E75B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780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0" i="0">
                          <a:solidFill>
                            <a:srgbClr val="2E75B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780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0" i="0">
                          <a:solidFill>
                            <a:srgbClr val="2E75B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780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0" i="0">
                          <a:solidFill>
                            <a:srgbClr val="2E75B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780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0" i="0">
                          <a:solidFill>
                            <a:srgbClr val="2E75B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780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1" i="0">
                          <a:solidFill>
                            <a:srgbClr val="2E75B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7,000</a:t>
                      </a:r>
                      <a:endParaRPr sz="640"/>
                    </a:p>
                  </a:txBody>
                  <a:tcPr anchor="ctr" marL="45000" marR="45000" marT="15000" marB="15000">
                    <a:lnL w="6350">
                      <a:solidFill>
                        <a:srgbClr val="BFBFBF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150000">
                <a:tc>
                  <a:txBody>
                    <a:bodyPr/>
                    <a:lstStyle/>
                    <a:p>
                      <a:pPr algn="l"/>
                      <a:r>
                        <a:rPr sz="580" b="1" i="0">
                          <a:solidFill>
                            <a:srgbClr val="7F7F7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        </a:t>
                      </a:r>
                      <a:r>
                        <a:rPr sz="620" b="0" i="0">
                          <a:solidFill>
                            <a:srgbClr val="7F7F7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병 (20 kg)</a:t>
                      </a:r>
                      <a:endParaRPr sz="580"/>
                    </a:p>
                  </a:txBody>
                  <a:tcPr anchor="ctr" marL="45000" marR="45000" marT="15000" marB="150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0" i="0">
                          <a:solidFill>
                            <a:srgbClr val="7F7F7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</a:t>
                      </a:r>
                      <a:endParaRPr sz="610"/>
                    </a:p>
                  </a:txBody>
                  <a:tcPr anchor="ctr" marL="45000" marR="45000" marT="15000" marB="150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0" i="0">
                          <a:solidFill>
                            <a:srgbClr val="7F7F7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0" i="0">
                          <a:solidFill>
                            <a:srgbClr val="7F7F7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29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0" i="0">
                          <a:solidFill>
                            <a:srgbClr val="7F7F7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29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0" i="0">
                          <a:solidFill>
                            <a:srgbClr val="7F7F7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29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0" i="0">
                          <a:solidFill>
                            <a:srgbClr val="7F7F7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29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0" i="0">
                          <a:solidFill>
                            <a:srgbClr val="7F7F7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39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0" i="0">
                          <a:solidFill>
                            <a:srgbClr val="7F7F7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39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0" i="0">
                          <a:solidFill>
                            <a:srgbClr val="7F7F7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39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0" i="0">
                          <a:solidFill>
                            <a:srgbClr val="7F7F7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39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0" i="0">
                          <a:solidFill>
                            <a:srgbClr val="7F7F7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39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0" i="0">
                          <a:solidFill>
                            <a:srgbClr val="7F7F7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39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1" i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350병</a:t>
                      </a:r>
                      <a:endParaRPr sz="640"/>
                    </a:p>
                  </a:txBody>
                  <a:tcPr anchor="ctr" marL="45000" marR="45000" marT="15000" marB="15000">
                    <a:lnL w="6350">
                      <a:solidFill>
                        <a:srgbClr val="BFBFBF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150000">
                <a:tc>
                  <a:txBody>
                    <a:bodyPr/>
                    <a:lstStyle/>
                    <a:p>
                      <a:pPr algn="l"/>
                      <a:r>
                        <a:rPr sz="580" b="1" i="0">
                          <a:solidFill>
                            <a:srgbClr val="7F7F7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        </a:t>
                      </a:r>
                      <a:r>
                        <a:rPr sz="600" b="0" i="0">
                          <a:solidFill>
                            <a:srgbClr val="FF79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■ </a:t>
                      </a:r>
                      <a:r>
                        <a:rPr sz="660" b="1" i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이지켐</a:t>
                      </a:r>
                      <a:endParaRPr sz="580"/>
                    </a:p>
                  </a:txBody>
                  <a:tcPr anchor="ctr" marL="45000" marR="45000" marT="15000" marB="150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0" i="0">
                          <a:solidFill>
                            <a:srgbClr val="2E75B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560</a:t>
                      </a:r>
                      <a:endParaRPr sz="610"/>
                    </a:p>
                  </a:txBody>
                  <a:tcPr anchor="ctr" marL="45000" marR="45000" marT="15000" marB="150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0" i="0">
                          <a:solidFill>
                            <a:srgbClr val="2E75B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560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0" i="0">
                          <a:solidFill>
                            <a:srgbClr val="2E75B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560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0" i="0">
                          <a:solidFill>
                            <a:srgbClr val="2E75B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560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0" i="0">
                          <a:solidFill>
                            <a:srgbClr val="2E75B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560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0" i="0">
                          <a:solidFill>
                            <a:srgbClr val="2E75B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560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0" i="0">
                          <a:solidFill>
                            <a:srgbClr val="2E75B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1,120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0" i="0">
                          <a:solidFill>
                            <a:srgbClr val="2E75B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1,120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0" i="0">
                          <a:solidFill>
                            <a:srgbClr val="2E75B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1,120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0" i="0">
                          <a:solidFill>
                            <a:srgbClr val="2E75B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1,120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0" i="0">
                          <a:solidFill>
                            <a:srgbClr val="2E75B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1,120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0" i="0">
                          <a:solidFill>
                            <a:srgbClr val="2E75B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980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1" i="0">
                          <a:solidFill>
                            <a:srgbClr val="2E75B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9,940</a:t>
                      </a:r>
                      <a:endParaRPr sz="640"/>
                    </a:p>
                  </a:txBody>
                  <a:tcPr anchor="ctr" marL="45000" marR="45000" marT="15000" marB="15000">
                    <a:lnL w="6350">
                      <a:solidFill>
                        <a:srgbClr val="BFBFBF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150000">
                <a:tc>
                  <a:txBody>
                    <a:bodyPr/>
                    <a:lstStyle/>
                    <a:p>
                      <a:pPr algn="l"/>
                      <a:r>
                        <a:rPr sz="580" b="1" i="0">
                          <a:solidFill>
                            <a:srgbClr val="7F7F7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        </a:t>
                      </a:r>
                      <a:r>
                        <a:rPr sz="620" b="0" i="0">
                          <a:solidFill>
                            <a:srgbClr val="7F7F7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용기 (140 kg)</a:t>
                      </a:r>
                      <a:endParaRPr sz="580"/>
                    </a:p>
                  </a:txBody>
                  <a:tcPr anchor="ctr" marL="45000" marR="45000" marT="15000" marB="150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0" i="0">
                          <a:solidFill>
                            <a:srgbClr val="7F7F7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</a:t>
                      </a:r>
                      <a:endParaRPr sz="610"/>
                    </a:p>
                  </a:txBody>
                  <a:tcPr anchor="ctr" marL="45000" marR="45000" marT="15000" marB="150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0" i="0">
                          <a:solidFill>
                            <a:srgbClr val="7F7F7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0" i="0">
                          <a:solidFill>
                            <a:srgbClr val="7F7F7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0" i="0">
                          <a:solidFill>
                            <a:srgbClr val="7F7F7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0" i="0">
                          <a:solidFill>
                            <a:srgbClr val="7F7F7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0" i="0">
                          <a:solidFill>
                            <a:srgbClr val="7F7F7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0" i="0">
                          <a:solidFill>
                            <a:srgbClr val="7F7F7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8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0" i="0">
                          <a:solidFill>
                            <a:srgbClr val="7F7F7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8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0" i="0">
                          <a:solidFill>
                            <a:srgbClr val="7F7F7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8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0" i="0">
                          <a:solidFill>
                            <a:srgbClr val="7F7F7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8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0" i="0">
                          <a:solidFill>
                            <a:srgbClr val="7F7F7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8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0" i="0">
                          <a:solidFill>
                            <a:srgbClr val="7F7F7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1" i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71용기</a:t>
                      </a:r>
                      <a:endParaRPr sz="640"/>
                    </a:p>
                  </a:txBody>
                  <a:tcPr anchor="ctr" marL="45000" marR="45000" marT="15000" marB="15000">
                    <a:lnL w="6350">
                      <a:solidFill>
                        <a:srgbClr val="BFBFBF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150000">
                <a:tc>
                  <a:txBody>
                    <a:bodyPr/>
                    <a:lstStyle/>
                    <a:p>
                      <a:pPr algn="l"/>
                      <a:r>
                        <a:rPr sz="580" b="1" i="0">
                          <a:solidFill>
                            <a:srgbClr val="7F7F7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        </a:t>
                      </a:r>
                      <a:r>
                        <a:rPr sz="660" b="1" i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출하 합계</a:t>
                      </a:r>
                      <a:endParaRPr sz="580"/>
                    </a:p>
                  </a:txBody>
                  <a:tcPr anchor="ctr" marL="45000" marR="45000" marT="15000" marB="150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1" i="0">
                          <a:solidFill>
                            <a:srgbClr val="2E75B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2,453.3</a:t>
                      </a:r>
                      <a:endParaRPr sz="610"/>
                    </a:p>
                  </a:txBody>
                  <a:tcPr anchor="ctr" marL="45000" marR="45000" marT="15000" marB="150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1" i="0">
                          <a:solidFill>
                            <a:srgbClr val="2E75B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2,453.3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1" i="0">
                          <a:solidFill>
                            <a:srgbClr val="2E75B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3,033.3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1" i="0">
                          <a:solidFill>
                            <a:srgbClr val="2E75B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3,033.3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1" i="0">
                          <a:solidFill>
                            <a:srgbClr val="2E75B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3,033.3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1" i="0">
                          <a:solidFill>
                            <a:srgbClr val="2E75B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3,033.3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1" i="0">
                          <a:solidFill>
                            <a:srgbClr val="2E75B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3,793.3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1" i="0">
                          <a:solidFill>
                            <a:srgbClr val="2E75B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3,793.3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1" i="0">
                          <a:solidFill>
                            <a:srgbClr val="2E75B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3,793.3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1" i="0">
                          <a:solidFill>
                            <a:srgbClr val="2E75B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3,793.3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1" i="0">
                          <a:solidFill>
                            <a:srgbClr val="2E75B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3,793.3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1" i="0">
                          <a:solidFill>
                            <a:srgbClr val="2E75B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3,653.3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1" i="0">
                          <a:solidFill>
                            <a:srgbClr val="2E75B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39,660</a:t>
                      </a:r>
                      <a:endParaRPr sz="640"/>
                    </a:p>
                  </a:txBody>
                  <a:tcPr anchor="ctr" marL="45000" marR="45000" marT="15000" marB="15000">
                    <a:lnL w="6350">
                      <a:solidFill>
                        <a:srgbClr val="BFBFBF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150000">
                <a:tc>
                  <a:txBody>
                    <a:bodyPr/>
                    <a:lstStyle/>
                    <a:p>
                      <a:pPr algn="l"/>
                      <a:r>
                        <a:rPr sz="580" b="1" i="0">
                          <a:solidFill>
                            <a:srgbClr val="7F7F7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필요 | </a:t>
                      </a:r>
                      <a:r>
                        <a:rPr sz="660" b="1" i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필요 Batch (출하÷190, 올림)</a:t>
                      </a:r>
                      <a:endParaRPr sz="580"/>
                    </a:p>
                  </a:txBody>
                  <a:tcPr anchor="ctr" marL="45000" marR="45000" marT="15000" marB="150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1" i="0">
                          <a:solidFill>
                            <a:srgbClr val="2E75B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13</a:t>
                      </a:r>
                      <a:endParaRPr sz="610"/>
                    </a:p>
                  </a:txBody>
                  <a:tcPr anchor="ctr" marL="45000" marR="45000" marT="15000" marB="150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1" i="0">
                          <a:solidFill>
                            <a:srgbClr val="2E75B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13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1" i="0">
                          <a:solidFill>
                            <a:srgbClr val="2E75B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16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1" i="0">
                          <a:solidFill>
                            <a:srgbClr val="2E75B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16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1" i="0">
                          <a:solidFill>
                            <a:srgbClr val="2E75B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16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1" i="0">
                          <a:solidFill>
                            <a:srgbClr val="2E75B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16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1" i="0">
                          <a:solidFill>
                            <a:srgbClr val="2E75B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1" i="0">
                          <a:solidFill>
                            <a:srgbClr val="2E75B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1" i="0">
                          <a:solidFill>
                            <a:srgbClr val="2E75B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1" i="0">
                          <a:solidFill>
                            <a:srgbClr val="2E75B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1" i="0">
                          <a:solidFill>
                            <a:srgbClr val="2E75B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1" i="0">
                          <a:solidFill>
                            <a:srgbClr val="2E75B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1" i="0">
                          <a:solidFill>
                            <a:srgbClr val="2E75B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210</a:t>
                      </a:r>
                      <a:endParaRPr sz="640"/>
                    </a:p>
                  </a:txBody>
                  <a:tcPr anchor="ctr" marL="45000" marR="45000" marT="15000" marB="15000">
                    <a:lnL w="6350">
                      <a:solidFill>
                        <a:srgbClr val="BFBFBF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150000">
                <a:tc>
                  <a:txBody>
                    <a:bodyPr/>
                    <a:lstStyle/>
                    <a:p>
                      <a:pPr algn="l"/>
                      <a:r>
                        <a:rPr sz="580" b="1" i="0">
                          <a:solidFill>
                            <a:srgbClr val="7F7F7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        </a:t>
                      </a:r>
                      <a:r>
                        <a:rPr sz="660" b="1" i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Batch 과부족 (가능 − 필요)</a:t>
                      </a:r>
                      <a:endParaRPr sz="580"/>
                    </a:p>
                  </a:txBody>
                  <a:tcPr anchor="ctr" marL="45000" marR="45000" marT="15000" marB="150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1" i="0">
                          <a:solidFill>
                            <a:srgbClr val="EB00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-1.4</a:t>
                      </a:r>
                      <a:endParaRPr sz="610"/>
                    </a:p>
                  </a:txBody>
                  <a:tcPr anchor="ctr" marL="45000" marR="45000" marT="15000" marB="150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1" i="0">
                          <a:solidFill>
                            <a:srgbClr val="EB00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-1.4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1" i="0">
                          <a:solidFill>
                            <a:srgbClr val="EB00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-4.5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1" i="0">
                          <a:solidFill>
                            <a:srgbClr val="EB00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-4.5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1" i="0">
                          <a:solidFill>
                            <a:srgbClr val="EB00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-4.5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1" i="0">
                          <a:solidFill>
                            <a:srgbClr val="EB00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-4.5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1" i="0">
                          <a:solidFill>
                            <a:srgbClr val="2E75B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+0.7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1" i="0">
                          <a:solidFill>
                            <a:srgbClr val="2E75B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+0.7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1" i="0">
                          <a:solidFill>
                            <a:srgbClr val="2E75B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+0.7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1" i="0">
                          <a:solidFill>
                            <a:srgbClr val="2E75B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+0.7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1" i="0">
                          <a:solidFill>
                            <a:srgbClr val="2E75B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+0.7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1" i="0">
                          <a:solidFill>
                            <a:srgbClr val="2E75B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+1.5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1" i="0">
                          <a:solidFill>
                            <a:srgbClr val="EB00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−15.6</a:t>
                      </a:r>
                      <a:endParaRPr sz="640"/>
                    </a:p>
                  </a:txBody>
                  <a:tcPr anchor="ctr" marL="45000" marR="45000" marT="15000" marB="15000">
                    <a:lnL w="6350">
                      <a:solidFill>
                        <a:srgbClr val="BFBFBF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150000">
                <a:tc>
                  <a:txBody>
                    <a:bodyPr/>
                    <a:lstStyle/>
                    <a:p>
                      <a:pPr algn="l"/>
                      <a:r>
                        <a:rPr sz="580" b="1" i="0">
                          <a:solidFill>
                            <a:srgbClr val="7F7F7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        </a:t>
                      </a:r>
                      <a:r>
                        <a:rPr sz="660" b="1" i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필요 정제기 시간 h</a:t>
                      </a:r>
                      <a:endParaRPr sz="580"/>
                    </a:p>
                  </a:txBody>
                  <a:tcPr anchor="ctr" marL="45000" marR="45000" marT="15000" marB="150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1" i="0">
                          <a:solidFill>
                            <a:srgbClr val="EB00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815</a:t>
                      </a:r>
                      <a:endParaRPr sz="610"/>
                    </a:p>
                  </a:txBody>
                  <a:tcPr anchor="ctr" marL="45000" marR="45000" marT="15000" marB="150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1" i="0">
                          <a:solidFill>
                            <a:srgbClr val="EB00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815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1" i="0">
                          <a:solidFill>
                            <a:srgbClr val="EB00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1,003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1" i="0">
                          <a:solidFill>
                            <a:srgbClr val="EB00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1,003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1" i="0">
                          <a:solidFill>
                            <a:srgbClr val="EB00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1,003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1" i="0">
                          <a:solidFill>
                            <a:srgbClr val="EB00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1,003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1" i="0">
                          <a:solidFill>
                            <a:srgbClr val="2E75B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696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1" i="0">
                          <a:solidFill>
                            <a:srgbClr val="2E75B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696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1" i="0">
                          <a:solidFill>
                            <a:srgbClr val="2E75B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696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1" i="0">
                          <a:solidFill>
                            <a:srgbClr val="2E75B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696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1" i="0">
                          <a:solidFill>
                            <a:srgbClr val="2E75B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696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1" i="0">
                          <a:solidFill>
                            <a:srgbClr val="2E75B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696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1" i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 </a:t>
                      </a:r>
                      <a:endParaRPr sz="640"/>
                    </a:p>
                  </a:txBody>
                  <a:tcPr anchor="ctr" marL="45000" marR="45000" marT="15000" marB="15000">
                    <a:lnL w="6350">
                      <a:solidFill>
                        <a:srgbClr val="BFBFBF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150000">
                <a:tc>
                  <a:txBody>
                    <a:bodyPr/>
                    <a:lstStyle/>
                    <a:p>
                      <a:pPr algn="l"/>
                      <a:r>
                        <a:rPr sz="580" b="1" i="0">
                          <a:solidFill>
                            <a:srgbClr val="7F7F7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과부족 | </a:t>
                      </a:r>
                      <a:r>
                        <a:rPr sz="660" b="1" i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월 생산 − 출하 kg</a:t>
                      </a:r>
                      <a:endParaRPr sz="580"/>
                    </a:p>
                  </a:txBody>
                  <a:tcPr anchor="ctr" marL="45000" marR="45000" marT="15000" marB="150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1" i="0">
                          <a:solidFill>
                            <a:srgbClr val="EB00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-270</a:t>
                      </a:r>
                      <a:endParaRPr sz="610"/>
                    </a:p>
                  </a:txBody>
                  <a:tcPr anchor="ctr" marL="45000" marR="45000" marT="15000" marB="150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1" i="0">
                          <a:solidFill>
                            <a:srgbClr val="EB00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-270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1" i="0">
                          <a:solidFill>
                            <a:srgbClr val="EB00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-850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1" i="0">
                          <a:solidFill>
                            <a:srgbClr val="EB00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-850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1" i="0">
                          <a:solidFill>
                            <a:srgbClr val="EB00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-850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1" i="0">
                          <a:solidFill>
                            <a:srgbClr val="EB00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-850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1" i="0">
                          <a:solidFill>
                            <a:srgbClr val="2E75B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+140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1" i="0">
                          <a:solidFill>
                            <a:srgbClr val="2E75B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+140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1" i="0">
                          <a:solidFill>
                            <a:srgbClr val="2E75B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+140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1" i="0">
                          <a:solidFill>
                            <a:srgbClr val="2E75B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+140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1" i="0">
                          <a:solidFill>
                            <a:srgbClr val="2E75B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+140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1" i="0">
                          <a:solidFill>
                            <a:srgbClr val="2E75B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+280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1" i="0">
                          <a:solidFill>
                            <a:srgbClr val="EB00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−2,960</a:t>
                      </a:r>
                      <a:endParaRPr sz="640"/>
                    </a:p>
                  </a:txBody>
                  <a:tcPr anchor="ctr" marL="45000" marR="45000" marT="15000" marB="15000">
                    <a:lnL w="6350">
                      <a:solidFill>
                        <a:srgbClr val="BFBFBF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150000">
                <a:tc>
                  <a:txBody>
                    <a:bodyPr/>
                    <a:lstStyle/>
                    <a:p>
                      <a:pPr algn="l"/>
                      <a:r>
                        <a:rPr sz="580" b="1" i="0">
                          <a:solidFill>
                            <a:srgbClr val="7F7F7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        </a:t>
                      </a:r>
                      <a:r>
                        <a:rPr sz="660" b="1" i="0">
                          <a:solidFill>
                            <a:srgbClr val="EB00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누적 과부족 kg</a:t>
                      </a:r>
                      <a:endParaRPr sz="580"/>
                    </a:p>
                  </a:txBody>
                  <a:tcPr anchor="ctr" marL="45000" marR="45000" marT="15000" marB="150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DED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1" i="0">
                          <a:solidFill>
                            <a:srgbClr val="EB00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-270</a:t>
                      </a:r>
                      <a:endParaRPr sz="610"/>
                    </a:p>
                  </a:txBody>
                  <a:tcPr anchor="ctr" marL="45000" marR="45000" marT="15000" marB="150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DED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1" i="0">
                          <a:solidFill>
                            <a:srgbClr val="EB00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-540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DED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1" i="0">
                          <a:solidFill>
                            <a:srgbClr val="EB00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-1,390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DED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1" i="0">
                          <a:solidFill>
                            <a:srgbClr val="EB00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-2,240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DED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1" i="0">
                          <a:solidFill>
                            <a:srgbClr val="EB00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-3,090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DED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1" i="0">
                          <a:solidFill>
                            <a:srgbClr val="EB00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-3,940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DED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1" i="0">
                          <a:solidFill>
                            <a:srgbClr val="EB00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-3,800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DED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1" i="0">
                          <a:solidFill>
                            <a:srgbClr val="EB00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-3,660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DED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1" i="0">
                          <a:solidFill>
                            <a:srgbClr val="EB00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-3,520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DED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1" i="0">
                          <a:solidFill>
                            <a:srgbClr val="EB00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-3,380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DED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1" i="0">
                          <a:solidFill>
                            <a:srgbClr val="EB00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-3,240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DED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10" b="1" i="0">
                          <a:solidFill>
                            <a:srgbClr val="EB00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-2,960</a:t>
                      </a:r>
                      <a:endParaRPr sz="61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DED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1" i="0">
                          <a:solidFill>
                            <a:srgbClr val="EB002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최저 −3,940</a:t>
                      </a:r>
                      <a:endParaRPr sz="640"/>
                    </a:p>
                  </a:txBody>
                  <a:tcPr anchor="ctr" marL="45000" marR="45000" marT="15000" marB="15000">
                    <a:lnL w="6350">
                      <a:solidFill>
                        <a:srgbClr val="BFBFBF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150000">
                <a:tc>
                  <a:txBody>
                    <a:bodyPr/>
                    <a:lstStyle/>
                    <a:p>
                      <a:pPr algn="l"/>
                      <a:r>
                        <a:rPr sz="580" b="1" i="0">
                          <a:solidFill>
                            <a:srgbClr val="7F7F7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재고 | </a:t>
                      </a:r>
                      <a:r>
                        <a:rPr sz="660" b="1" i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기초 / 기말재고</a:t>
                      </a:r>
                      <a:endParaRPr sz="580"/>
                    </a:p>
                  </a:txBody>
                  <a:tcPr anchor="ctr" marL="45000" marR="45000" marT="15000" marB="150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20" b="0" i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 </a:t>
                      </a:r>
                      <a:endParaRPr sz="620"/>
                    </a:p>
                  </a:txBody>
                  <a:tcPr anchor="ctr" marL="45000" marR="45000" marT="15000" marB="150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20" b="0" i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 </a:t>
                      </a:r>
                      <a:endParaRPr sz="62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20" b="0" i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 </a:t>
                      </a:r>
                      <a:endParaRPr sz="62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20" b="0" i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 </a:t>
                      </a:r>
                      <a:endParaRPr sz="62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20" b="0" i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 </a:t>
                      </a:r>
                      <a:endParaRPr sz="62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20" b="0" i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 </a:t>
                      </a:r>
                      <a:endParaRPr sz="62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20" b="0" i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 </a:t>
                      </a:r>
                      <a:endParaRPr sz="62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20" b="0" i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 </a:t>
                      </a:r>
                      <a:endParaRPr sz="62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20" b="0" i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 </a:t>
                      </a:r>
                      <a:endParaRPr sz="62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20" b="0" i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 </a:t>
                      </a:r>
                      <a:endParaRPr sz="62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20" b="0" i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 </a:t>
                      </a:r>
                      <a:endParaRPr sz="62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20" b="0" i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 </a:t>
                      </a:r>
                      <a:endParaRPr sz="620"/>
                    </a:p>
                  </a:txBody>
                  <a:tcPr anchor="ctr" marL="45000" marR="45000" marT="15000" marB="15000">
                    <a:lnL w="6350">
                      <a:solidFill>
                        <a:srgbClr val="D9D9D9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1" i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 </a:t>
                      </a:r>
                      <a:endParaRPr sz="640"/>
                    </a:p>
                  </a:txBody>
                  <a:tcPr anchor="ctr" marL="45000" marR="45000" marT="15000" marB="15000">
                    <a:lnL w="6350">
                      <a:solidFill>
                        <a:srgbClr val="BFBFBF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68" name="TextBox 167"/>
          <p:cNvSpPr txBox="1"/>
          <p:nvPr/>
        </p:nvSpPr>
        <p:spPr>
          <a:xfrm>
            <a:off x="287000" y="3805000"/>
            <a:ext cx="857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580" b="0" i="0">
                <a:solidFill>
                  <a:srgbClr val="7F7F7F"/>
                </a:solidFill>
                <a:latin typeface="Noto Sans KR"/>
                <a:ea typeface="Noto Sans KR"/>
                <a:cs typeface="Noto Sans KR"/>
              </a:rPr>
              <a:t>* CXMT 20 kg 단위 : 3~6월 580 kg(29병) · 7~12월 780 kg(39병) → 7,000 kg(350병) / 이지켐 140 kg 단위 : 1~6월 560 kg(4용기) · 7~11월 1,120 kg(8용기) · 12월 980 kg(7용기) → 9,940 kg(71용기, 10톤 대비 −60 kg · 72용기 시 10,080 kg)</a:t>
            </a:r>
          </a:p>
          <a:p>
            <a:pPr algn="l">
              <a:spcAft>
                <a:spcPts val="0"/>
              </a:spcAft>
            </a:pPr>
            <a:r>
              <a:rPr sz="580" b="0" i="0">
                <a:solidFill>
                  <a:srgbClr val="7F7F7F"/>
                </a:solidFill>
                <a:latin typeface="Noto Sans KR"/>
                <a:ea typeface="Noto Sans KR"/>
                <a:cs typeface="Noto Sans KR"/>
              </a:rPr>
              <a:t>* 필요 정제기 시간 = 필요 Batch × 사이클 (붉은 숫자 = 720 h 초과) · 하이닉스 22,720 ÷ 12 = 1,893.3 kg (20 kg 단위 배분 별도)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287000" y="4150000"/>
            <a:ext cx="50000" cy="165000"/>
          </a:xfrm>
          <a:prstGeom prst="rect">
            <a:avLst/>
          </a:prstGeom>
          <a:solidFill>
            <a:srgbClr val="EB002C"/>
          </a:solidFill>
          <a:ln>
            <a:noFill/>
          </a:ln>
        </p:spPr>
        <p:txBody>
          <a:bodyPr rtlCol="0" anchor="ctr" lIns="30000" rIns="30000" tIns="0" bIns="0" wrap="square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397000" y="4120000"/>
            <a:ext cx="8000000" cy="2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② 전제 조건 기준 2027 공급 판단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287000" y="4350000"/>
            <a:ext cx="2082500" cy="640000"/>
          </a:xfrm>
          <a:prstGeom prst="rect">
            <a:avLst/>
          </a:prstGeom>
          <a:solidFill>
            <a:srgbClr val="FDEDF0"/>
          </a:solidFill>
          <a:ln w="15240">
            <a:solidFill>
              <a:srgbClr val="EB002C"/>
            </a:solidFill>
          </a:ln>
        </p:spPr>
        <p:txBody>
          <a:bodyPr rtlCol="0" anchor="ctr" lIns="30000" rIns="30000" tIns="0" bIns="0" wrap="square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317000" y="4390000"/>
            <a:ext cx="20225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72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생산 36.7톤 vs 출하 39.66톤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307000" y="4540000"/>
            <a:ext cx="2042500" cy="2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EB002C"/>
                </a:solidFill>
                <a:latin typeface="Noto Sans KR"/>
                <a:ea typeface="Noto Sans KR"/>
                <a:cs typeface="Noto Sans KR"/>
              </a:rPr>
              <a:t>−2.96</a:t>
            </a:r>
            <a:r>
              <a:rPr sz="700" b="1" i="0">
                <a:solidFill>
                  <a:srgbClr val="EB002C"/>
                </a:solidFill>
                <a:latin typeface="Noto Sans KR"/>
                <a:ea typeface="Noto Sans KR"/>
                <a:cs typeface="Noto Sans KR"/>
              </a:rPr>
              <a:t> 톤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307000" y="4825000"/>
            <a:ext cx="20425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600" b="0" i="0">
                <a:solidFill>
                  <a:srgbClr val="7F7F7F"/>
                </a:solidFill>
                <a:latin typeface="Noto Sans KR"/>
                <a:ea typeface="Noto Sans KR"/>
                <a:cs typeface="Noto Sans KR"/>
              </a:rPr>
              <a:t>1~6월 13.1 + 7~12월 23.6 (전제)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2449500" y="4350000"/>
            <a:ext cx="2082500" cy="640000"/>
          </a:xfrm>
          <a:prstGeom prst="rect">
            <a:avLst/>
          </a:prstGeom>
          <a:solidFill>
            <a:srgbClr val="EAF1FA"/>
          </a:solidFill>
          <a:ln w="15240">
            <a:solidFill>
              <a:srgbClr val="2E75B6"/>
            </a:solidFill>
          </a:ln>
        </p:spPr>
        <p:txBody>
          <a:bodyPr rtlCol="0" anchor="ctr" lIns="30000" rIns="30000" tIns="0" bIns="0" wrap="square"/>
          <a:lstStyle/>
          <a:p>
            <a:pPr algn="ctr"/>
          </a:p>
        </p:txBody>
      </p:sp>
      <p:sp>
        <p:nvSpPr>
          <p:cNvPr id="176" name="TextBox 175"/>
          <p:cNvSpPr txBox="1"/>
          <p:nvPr/>
        </p:nvSpPr>
        <p:spPr>
          <a:xfrm>
            <a:off x="2479500" y="4390000"/>
            <a:ext cx="20225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72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연간 Batch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2469500" y="4540000"/>
            <a:ext cx="2042500" cy="2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2E75B6"/>
                </a:solidFill>
                <a:latin typeface="Noto Sans KR"/>
                <a:ea typeface="Noto Sans KR"/>
                <a:cs typeface="Noto Sans KR"/>
              </a:rPr>
              <a:t>필요 208.7 vs 가능 193.2</a:t>
            </a:r>
            <a:r>
              <a:rPr sz="700" b="1" i="0">
                <a:solidFill>
                  <a:srgbClr val="2E75B6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2469500" y="4825000"/>
            <a:ext cx="20425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600" b="0" i="0">
                <a:solidFill>
                  <a:srgbClr val="7F7F7F"/>
                </a:solidFill>
                <a:latin typeface="Noto Sans KR"/>
                <a:ea typeface="Noto Sans KR"/>
                <a:cs typeface="Noto Sans KR"/>
              </a:rPr>
              <a:t>약 15.6 Batch 부족 = 재고로 보완</a:t>
            </a:r>
          </a:p>
        </p:txBody>
      </p:sp>
      <p:sp>
        <p:nvSpPr>
          <p:cNvPr id="179" name="Rectangle 178"/>
          <p:cNvSpPr/>
          <p:nvPr/>
        </p:nvSpPr>
        <p:spPr>
          <a:xfrm>
            <a:off x="4612000" y="4350000"/>
            <a:ext cx="2082500" cy="640000"/>
          </a:xfrm>
          <a:prstGeom prst="rect">
            <a:avLst/>
          </a:prstGeom>
          <a:solidFill>
            <a:srgbClr val="FDEDF0"/>
          </a:solidFill>
          <a:ln w="15240">
            <a:solidFill>
              <a:srgbClr val="EB002C"/>
            </a:solidFill>
          </a:ln>
        </p:spPr>
        <p:txBody>
          <a:bodyPr rtlCol="0" anchor="ctr" lIns="30000" rIns="30000" tIns="0" bIns="0" wrap="square"/>
          <a:lstStyle/>
          <a:p>
            <a:pPr algn="ctr"/>
          </a:p>
        </p:txBody>
      </p:sp>
      <p:sp>
        <p:nvSpPr>
          <p:cNvPr id="180" name="TextBox 179"/>
          <p:cNvSpPr txBox="1"/>
          <p:nvPr/>
        </p:nvSpPr>
        <p:spPr>
          <a:xfrm>
            <a:off x="4642000" y="4390000"/>
            <a:ext cx="20225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72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최대 누적 부족 (6월말)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4632000" y="4540000"/>
            <a:ext cx="2042500" cy="2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EB002C"/>
                </a:solidFill>
                <a:latin typeface="Noto Sans KR"/>
                <a:ea typeface="Noto Sans KR"/>
                <a:cs typeface="Noto Sans KR"/>
              </a:rPr>
              <a:t>−3,940</a:t>
            </a:r>
            <a:r>
              <a:rPr sz="700" b="1" i="0">
                <a:solidFill>
                  <a:srgbClr val="EB002C"/>
                </a:solidFill>
                <a:latin typeface="Noto Sans KR"/>
                <a:ea typeface="Noto Sans KR"/>
                <a:cs typeface="Noto Sans KR"/>
              </a:rPr>
              <a:t> kg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4632000" y="4825000"/>
            <a:ext cx="20425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600" b="0" i="0">
                <a:solidFill>
                  <a:srgbClr val="7F7F7F"/>
                </a:solidFill>
                <a:latin typeface="Noto Sans KR"/>
                <a:ea typeface="Noto Sans KR"/>
                <a:cs typeface="Noto Sans KR"/>
              </a:rPr>
              <a:t>'27.1 기초재고 최소 3.94톤 + 목표재고</a:t>
            </a:r>
          </a:p>
        </p:txBody>
      </p:sp>
      <p:sp>
        <p:nvSpPr>
          <p:cNvPr id="183" name="Rectangle 182"/>
          <p:cNvSpPr/>
          <p:nvPr/>
        </p:nvSpPr>
        <p:spPr>
          <a:xfrm>
            <a:off x="6774500" y="4350000"/>
            <a:ext cx="2082500" cy="640000"/>
          </a:xfrm>
          <a:prstGeom prst="rect">
            <a:avLst/>
          </a:prstGeom>
          <a:solidFill>
            <a:srgbClr val="FFFFFF"/>
          </a:solidFill>
          <a:ln w="15240">
            <a:solidFill>
              <a:srgbClr val="7F7F7F"/>
            </a:solidFill>
            <a:prstDash val="dash"/>
          </a:ln>
        </p:spPr>
        <p:txBody>
          <a:bodyPr rtlCol="0" anchor="ctr" lIns="30000" rIns="30000" tIns="0" bIns="0" wrap="square"/>
          <a:lstStyle/>
          <a:p>
            <a:pPr algn="ctr"/>
          </a:p>
        </p:txBody>
      </p:sp>
      <p:sp>
        <p:nvSpPr>
          <p:cNvPr id="184" name="TextBox 183"/>
          <p:cNvSpPr txBox="1"/>
          <p:nvPr/>
        </p:nvSpPr>
        <p:spPr>
          <a:xfrm>
            <a:off x="6804500" y="4390000"/>
            <a:ext cx="20225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72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2026 재고 확보 가능 범위</a:t>
            </a:r>
          </a:p>
        </p:txBody>
      </p:sp>
      <p:sp>
        <p:nvSpPr>
          <p:cNvPr id="185" name="TextBox 184"/>
          <p:cNvSpPr txBox="1"/>
          <p:nvPr/>
        </p:nvSpPr>
        <p:spPr>
          <a:xfrm>
            <a:off x="6794500" y="4540000"/>
            <a:ext cx="2042500" cy="2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3F3F3F"/>
                </a:solidFill>
                <a:latin typeface="Noto Sans KR"/>
                <a:ea typeface="Noto Sans KR"/>
                <a:cs typeface="Noto Sans KR"/>
              </a:rPr>
              <a:t>최대 6.98</a:t>
            </a:r>
            <a:r>
              <a:rPr sz="700" b="1" i="0">
                <a:solidFill>
                  <a:srgbClr val="3F3F3F"/>
                </a:solidFill>
                <a:latin typeface="Noto Sans KR"/>
                <a:ea typeface="Noto Sans KR"/>
                <a:cs typeface="Noto Sans KR"/>
              </a:rPr>
              <a:t> 톤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6794500" y="4825000"/>
            <a:ext cx="20425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600" b="0" i="0">
                <a:solidFill>
                  <a:srgbClr val="7F7F7F"/>
                </a:solidFill>
                <a:latin typeface="Noto Sans KR"/>
                <a:ea typeface="Noto Sans KR"/>
                <a:cs typeface="Noto Sans KR"/>
              </a:rPr>
              <a:t>26.2 − 19.22 · CXMT 2026 출하 시 감소</a:t>
            </a:r>
          </a:p>
        </p:txBody>
      </p:sp>
      <p:sp>
        <p:nvSpPr>
          <p:cNvPr id="187" name="Rectangle 186"/>
          <p:cNvSpPr/>
          <p:nvPr/>
        </p:nvSpPr>
        <p:spPr>
          <a:xfrm>
            <a:off x="287000" y="5090000"/>
            <a:ext cx="50000" cy="165000"/>
          </a:xfrm>
          <a:prstGeom prst="rect">
            <a:avLst/>
          </a:prstGeom>
          <a:solidFill>
            <a:srgbClr val="EB002C"/>
          </a:solidFill>
          <a:ln>
            <a:noFill/>
          </a:ln>
        </p:spPr>
        <p:txBody>
          <a:bodyPr rtlCol="0" anchor="ctr" lIns="30000" rIns="30000" tIns="0" bIns="0" wrap="square"/>
          <a:lstStyle/>
          <a:p>
            <a:pPr algn="ctr"/>
          </a:p>
        </p:txBody>
      </p:sp>
      <p:sp>
        <p:nvSpPr>
          <p:cNvPr id="188" name="TextBox 187"/>
          <p:cNvSpPr txBox="1"/>
          <p:nvPr/>
        </p:nvSpPr>
        <p:spPr>
          <a:xfrm>
            <a:off x="397000" y="5060000"/>
            <a:ext cx="8000000" cy="2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③ 정제 · 충진 자원 제약 (월 기준)</a:t>
            </a:r>
          </a:p>
        </p:txBody>
      </p:sp>
      <p:sp>
        <p:nvSpPr>
          <p:cNvPr id="189" name="Rectangle 188"/>
          <p:cNvSpPr/>
          <p:nvPr/>
        </p:nvSpPr>
        <p:spPr>
          <a:xfrm>
            <a:off x="287000" y="5290000"/>
            <a:ext cx="2082500" cy="640000"/>
          </a:xfrm>
          <a:prstGeom prst="rect">
            <a:avLst/>
          </a:prstGeom>
          <a:solidFill>
            <a:srgbClr val="FFF8E7"/>
          </a:solidFill>
          <a:ln w="15240">
            <a:solidFill>
              <a:srgbClr val="BF9000"/>
            </a:solidFill>
          </a:ln>
        </p:spPr>
        <p:txBody>
          <a:bodyPr rtlCol="0" anchor="ctr" lIns="30000" rIns="30000" tIns="0" bIns="0" wrap="square"/>
          <a:lstStyle/>
          <a:p>
            <a:pPr algn="ctr"/>
          </a:p>
        </p:txBody>
      </p:sp>
      <p:sp>
        <p:nvSpPr>
          <p:cNvPr id="190" name="TextBox 189"/>
          <p:cNvSpPr txBox="1"/>
          <p:nvPr/>
        </p:nvSpPr>
        <p:spPr>
          <a:xfrm>
            <a:off x="317000" y="5330000"/>
            <a:ext cx="20225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72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정제기 1~6월 (57 h)</a:t>
            </a:r>
          </a:p>
        </p:txBody>
      </p:sp>
      <p:sp>
        <p:nvSpPr>
          <p:cNvPr id="191" name="TextBox 190"/>
          <p:cNvSpPr txBox="1"/>
          <p:nvPr/>
        </p:nvSpPr>
        <p:spPr>
          <a:xfrm>
            <a:off x="307000" y="5480000"/>
            <a:ext cx="2042500" cy="2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7F6000"/>
                </a:solidFill>
                <a:latin typeface="Noto Sans KR"/>
                <a:ea typeface="Noto Sans KR"/>
                <a:cs typeface="Noto Sans KR"/>
              </a:rPr>
              <a:t>필요 13~16 vs 11.5</a:t>
            </a:r>
            <a:r>
              <a:rPr sz="700" b="1" i="0">
                <a:solidFill>
                  <a:srgbClr val="7F6000"/>
                </a:solidFill>
                <a:latin typeface="Noto Sans KR"/>
                <a:ea typeface="Noto Sans KR"/>
                <a:cs typeface="Noto Sans KR"/>
              </a:rPr>
              <a:t> Batch/월</a:t>
            </a:r>
          </a:p>
        </p:txBody>
      </p:sp>
      <p:sp>
        <p:nvSpPr>
          <p:cNvPr id="192" name="TextBox 191"/>
          <p:cNvSpPr txBox="1"/>
          <p:nvPr/>
        </p:nvSpPr>
        <p:spPr>
          <a:xfrm>
            <a:off x="307000" y="5765000"/>
            <a:ext cx="20425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600" b="0" i="0">
                <a:solidFill>
                  <a:srgbClr val="7F7F7F"/>
                </a:solidFill>
                <a:latin typeface="Noto Sans KR"/>
                <a:ea typeface="Noto Sans KR"/>
                <a:cs typeface="Noto Sans KR"/>
              </a:rPr>
              <a:t>필요 815~1,003 h &gt; 가용 720 h</a:t>
            </a:r>
          </a:p>
        </p:txBody>
      </p:sp>
      <p:sp>
        <p:nvSpPr>
          <p:cNvPr id="193" name="Rectangle 192"/>
          <p:cNvSpPr/>
          <p:nvPr/>
        </p:nvSpPr>
        <p:spPr>
          <a:xfrm>
            <a:off x="2449500" y="5290000"/>
            <a:ext cx="2082500" cy="640000"/>
          </a:xfrm>
          <a:prstGeom prst="rect">
            <a:avLst/>
          </a:prstGeom>
          <a:solidFill>
            <a:srgbClr val="FFFFFF"/>
          </a:solidFill>
          <a:ln w="15240">
            <a:solidFill>
              <a:srgbClr val="7F7F7F"/>
            </a:solidFill>
            <a:prstDash val="dash"/>
          </a:ln>
        </p:spPr>
        <p:txBody>
          <a:bodyPr rtlCol="0" anchor="ctr" lIns="30000" rIns="30000" tIns="0" bIns="0" wrap="square"/>
          <a:lstStyle/>
          <a:p>
            <a:pPr algn="ctr"/>
          </a:p>
        </p:txBody>
      </p:sp>
      <p:sp>
        <p:nvSpPr>
          <p:cNvPr id="194" name="TextBox 193"/>
          <p:cNvSpPr txBox="1"/>
          <p:nvPr/>
        </p:nvSpPr>
        <p:spPr>
          <a:xfrm>
            <a:off x="2479500" y="5330000"/>
            <a:ext cx="20225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72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정제기 7~12월 (약 29 h)</a:t>
            </a:r>
          </a:p>
        </p:txBody>
      </p:sp>
      <p:sp>
        <p:nvSpPr>
          <p:cNvPr id="195" name="TextBox 194"/>
          <p:cNvSpPr txBox="1"/>
          <p:nvPr/>
        </p:nvSpPr>
        <p:spPr>
          <a:xfrm>
            <a:off x="2469500" y="5480000"/>
            <a:ext cx="2042500" cy="2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3F3F3F"/>
                </a:solidFill>
                <a:latin typeface="Noto Sans KR"/>
                <a:ea typeface="Noto Sans KR"/>
                <a:cs typeface="Noto Sans KR"/>
              </a:rPr>
              <a:t>필요 20 vs 20.7</a:t>
            </a:r>
            <a:r>
              <a:rPr sz="700" b="1" i="0">
                <a:solidFill>
                  <a:srgbClr val="3F3F3F"/>
                </a:solidFill>
                <a:latin typeface="Noto Sans KR"/>
                <a:ea typeface="Noto Sans KR"/>
                <a:cs typeface="Noto Sans KR"/>
              </a:rPr>
              <a:t> Batch/월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2469500" y="5765000"/>
            <a:ext cx="20425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600" b="0" i="0">
                <a:solidFill>
                  <a:srgbClr val="7F7F7F"/>
                </a:solidFill>
                <a:latin typeface="Noto Sans KR"/>
                <a:ea typeface="Noto Sans KR"/>
                <a:cs typeface="Noto Sans KR"/>
              </a:rPr>
              <a:t>696 h ≤ 720 h · 여유 0.7 Batch</a:t>
            </a:r>
          </a:p>
        </p:txBody>
      </p:sp>
      <p:sp>
        <p:nvSpPr>
          <p:cNvPr id="197" name="Rectangle 196"/>
          <p:cNvSpPr/>
          <p:nvPr/>
        </p:nvSpPr>
        <p:spPr>
          <a:xfrm>
            <a:off x="4612000" y="5290000"/>
            <a:ext cx="2082500" cy="640000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txBody>
          <a:bodyPr rtlCol="0" anchor="ctr" lIns="30000" rIns="30000" tIns="0" bIns="0" wrap="square"/>
          <a:lstStyle/>
          <a:p>
            <a:pPr algn="ctr"/>
          </a:p>
        </p:txBody>
      </p:sp>
      <p:sp>
        <p:nvSpPr>
          <p:cNvPr id="198" name="TextBox 197"/>
          <p:cNvSpPr txBox="1"/>
          <p:nvPr/>
        </p:nvSpPr>
        <p:spPr>
          <a:xfrm>
            <a:off x="4642000" y="5330000"/>
            <a:ext cx="20225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72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5 Gal 글로브 박스</a:t>
            </a:r>
          </a:p>
        </p:txBody>
      </p:sp>
      <p:sp>
        <p:nvSpPr>
          <p:cNvPr id="199" name="TextBox 198"/>
          <p:cNvSpPr txBox="1"/>
          <p:nvPr/>
        </p:nvSpPr>
        <p:spPr>
          <a:xfrm>
            <a:off x="4632000" y="5480000"/>
            <a:ext cx="2042500" cy="2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189 ~ 267</a:t>
            </a:r>
            <a:r>
              <a:rPr sz="70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 h/월</a:t>
            </a:r>
          </a:p>
        </p:txBody>
      </p:sp>
      <p:sp>
        <p:nvSpPr>
          <p:cNvPr id="200" name="TextBox 199"/>
          <p:cNvSpPr txBox="1"/>
          <p:nvPr/>
        </p:nvSpPr>
        <p:spPr>
          <a:xfrm>
            <a:off x="4632000" y="5765000"/>
            <a:ext cx="20425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600" b="0" i="0">
                <a:solidFill>
                  <a:srgbClr val="7F7F7F"/>
                </a:solidFill>
                <a:latin typeface="Noto Sans KR"/>
                <a:ea typeface="Noto Sans KR"/>
                <a:cs typeface="Noto Sans KR"/>
              </a:rPr>
              <a:t>근무시간 입력 필요 (720 h 자동 적용 금지)</a:t>
            </a:r>
          </a:p>
        </p:txBody>
      </p:sp>
      <p:sp>
        <p:nvSpPr>
          <p:cNvPr id="201" name="Rectangle 200"/>
          <p:cNvSpPr/>
          <p:nvPr/>
        </p:nvSpPr>
        <p:spPr>
          <a:xfrm>
            <a:off x="6774500" y="5290000"/>
            <a:ext cx="2082500" cy="640000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txBody>
          <a:bodyPr rtlCol="0" anchor="ctr" lIns="30000" rIns="30000" tIns="0" bIns="0" wrap="square"/>
          <a:lstStyle/>
          <a:p>
            <a:pPr algn="ctr"/>
          </a:p>
        </p:txBody>
      </p:sp>
      <p:sp>
        <p:nvSpPr>
          <p:cNvPr id="202" name="TextBox 201"/>
          <p:cNvSpPr txBox="1"/>
          <p:nvPr/>
        </p:nvSpPr>
        <p:spPr>
          <a:xfrm>
            <a:off x="6804500" y="5330000"/>
            <a:ext cx="20225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72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200 L (ARS) · FQC</a:t>
            </a:r>
          </a:p>
        </p:txBody>
      </p:sp>
      <p:sp>
        <p:nvSpPr>
          <p:cNvPr id="203" name="TextBox 202"/>
          <p:cNvSpPr txBox="1"/>
          <p:nvPr/>
        </p:nvSpPr>
        <p:spPr>
          <a:xfrm>
            <a:off x="6794500" y="5480000"/>
            <a:ext cx="2042500" cy="2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32~64 · 26~40</a:t>
            </a:r>
            <a:r>
              <a:rPr sz="70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 h/월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6794500" y="5765000"/>
            <a:ext cx="20425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600" b="0" i="0">
                <a:solidFill>
                  <a:srgbClr val="7F7F7F"/>
                </a:solidFill>
                <a:latin typeface="Noto Sans KR"/>
                <a:ea typeface="Noto Sans KR"/>
                <a:cs typeface="Noto Sans KR"/>
              </a:rPr>
              <a:t>ARS 처리능력 · QC 근무시간 확인</a:t>
            </a:r>
          </a:p>
        </p:txBody>
      </p:sp>
    </p:spTree>
    <p:extLst>
      <p:ext uri="{BB962C8B-B14F-4D97-AF65-F5344CB8AC3E}">
        <p14:creationId xmlns:p14="http://schemas.microsoft.com/office/powerpoint/2010/main" val="12989906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95502</TotalTime>
  <Words>9459</Words>
  <Application>Microsoft Office PowerPoint</Application>
  <PresentationFormat>화면 슬라이드 쇼(4:3)</PresentationFormat>
  <Paragraphs>2567</Paragraphs>
  <Slides>54</Slides>
  <Notes>54</Notes>
  <HiddenSlides>0</HiddenSlides>
  <MMClips>0</MMClips>
  <ScaleCrop>false</ScaleCrop>
  <HeadingPairs>
    <vt:vector size="6" baseType="variant">
      <vt:variant>
        <vt:lpstr>사용한 글꼴</vt:lpstr>
      </vt:variant>
      <vt:variant>
        <vt:i4>18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54</vt:i4>
      </vt:variant>
    </vt:vector>
  </HeadingPairs>
  <TitlesOfParts>
    <vt:vector size="73" baseType="lpstr">
      <vt:lpstr>Meiryo UI</vt:lpstr>
      <vt:lpstr>ＭＳ Ｐゴシック</vt:lpstr>
      <vt:lpstr>Paperlogy 4 Regular</vt:lpstr>
      <vt:lpstr>Paperlogy 5 Medium</vt:lpstr>
      <vt:lpstr>Paperlogy 6 SemiBold</vt:lpstr>
      <vt:lpstr>Paperlogy 7 Bold</vt:lpstr>
      <vt:lpstr>Paperlogy 8 ExtraBold</vt:lpstr>
      <vt:lpstr>Pretendard</vt:lpstr>
      <vt:lpstr>Pretendard Light</vt:lpstr>
      <vt:lpstr>Pretendard Medium</vt:lpstr>
      <vt:lpstr>Pretendard SemiBold</vt:lpstr>
      <vt:lpstr>맑은 고딕</vt:lpstr>
      <vt:lpstr>맑은 고딕</vt:lpstr>
      <vt:lpstr>Arial</vt:lpstr>
      <vt:lpstr>Arial Narrow</vt:lpstr>
      <vt:lpstr>Tahoma</vt:lpstr>
      <vt:lpstr>Times New Roman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XP R2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김지현(JIHYUN KIM)/SK트리켐 마케팅팀/SKMR</cp:lastModifiedBy>
  <cp:revision>2121</cp:revision>
  <cp:lastPrinted>2024-01-02T22:30:24Z</cp:lastPrinted>
  <dcterms:created xsi:type="dcterms:W3CDTF">2016-08-27T13:10:56Z</dcterms:created>
  <dcterms:modified xsi:type="dcterms:W3CDTF">2026-09-10T02:13:59Z</dcterms:modified>
</cp:coreProperties>
</file>