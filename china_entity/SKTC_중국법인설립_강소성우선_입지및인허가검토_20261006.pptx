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6"/>
  </p:notesMasterIdLst>
  <p:sldIdLst>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313" r:id="rId51"/>
    <p:sldId id="314" r:id="rId52"/>
  </p:sldIdLst>
  <p:sldSz cx="9144000" cy="6858000" type="screen4x3"/>
  <p:notesSz cx="6807200" cy="99393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251E"/>
    <a:srgbClr val="FB6306"/>
    <a:srgbClr val="FAFAFA"/>
    <a:srgbClr val="FFFFFF"/>
    <a:srgbClr val="0061DA"/>
    <a:srgbClr val="F74912"/>
    <a:srgbClr val="E9BB9F"/>
    <a:srgbClr val="EB002C"/>
    <a:srgbClr val="FFDD71"/>
    <a:srgbClr val="F9510E"/>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밝은 스타일 1 - 강조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밝은 스타일 1 - 강조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E25E649-3F16-4E02-A733-19D2CDBF48F0}" styleName="보통 스타일 3 - 강조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보통 스타일 1 - 강조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315" autoAdjust="0"/>
    <p:restoredTop sz="84988" autoAdjust="0"/>
  </p:normalViewPr>
  <p:slideViewPr>
    <p:cSldViewPr>
      <p:cViewPr>
        <p:scale>
          <a:sx n="98" d="100"/>
          <a:sy n="98" d="100"/>
        </p:scale>
        <p:origin x="2454" y="72"/>
      </p:cViewPr>
      <p:guideLst>
        <p:guide orient="horz" pos="2160"/>
        <p:guide pos="2880"/>
      </p:guideLst>
    </p:cSldViewPr>
  </p:slideViewPr>
  <p:notesTextViewPr>
    <p:cViewPr>
      <p:scale>
        <a:sx n="100" d="100"/>
        <a:sy n="100" d="100"/>
      </p:scale>
      <p:origin x="0" y="0"/>
    </p:cViewPr>
  </p:notesTextViewPr>
  <p:notesViewPr>
    <p:cSldViewPr>
      <p:cViewPr varScale="1">
        <p:scale>
          <a:sx n="91" d="100"/>
          <a:sy n="91" d="100"/>
        </p:scale>
        <p:origin x="-2034" y="-108"/>
      </p:cViewPr>
      <p:guideLst>
        <p:guide orient="horz" pos="3131"/>
        <p:guide pos="2145"/>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1"/>
            <a:ext cx="2949787" cy="496965"/>
          </a:xfrm>
          <a:prstGeom prst="rect">
            <a:avLst/>
          </a:prstGeom>
        </p:spPr>
        <p:txBody>
          <a:bodyPr vert="horz" lIns="94531" tIns="47265" rIns="94531" bIns="47265" rtlCol="0"/>
          <a:lstStyle>
            <a:lvl1pPr algn="l">
              <a:defRPr sz="1200"/>
            </a:lvl1pPr>
          </a:lstStyle>
          <a:p>
            <a:endParaRPr lang="ko-KR" altLang="en-US"/>
          </a:p>
        </p:txBody>
      </p:sp>
      <p:sp>
        <p:nvSpPr>
          <p:cNvPr id="3" name="날짜 개체 틀 2"/>
          <p:cNvSpPr>
            <a:spLocks noGrp="1"/>
          </p:cNvSpPr>
          <p:nvPr>
            <p:ph type="dt" idx="1"/>
          </p:nvPr>
        </p:nvSpPr>
        <p:spPr>
          <a:xfrm>
            <a:off x="3855839" y="1"/>
            <a:ext cx="2949787" cy="496965"/>
          </a:xfrm>
          <a:prstGeom prst="rect">
            <a:avLst/>
          </a:prstGeom>
        </p:spPr>
        <p:txBody>
          <a:bodyPr vert="horz" lIns="94531" tIns="47265" rIns="94531" bIns="47265" rtlCol="0"/>
          <a:lstStyle>
            <a:lvl1pPr algn="r">
              <a:defRPr sz="1200"/>
            </a:lvl1pPr>
          </a:lstStyle>
          <a:p>
            <a:fld id="{AA418431-0B53-4AF1-8AD8-9A9A7D49F4A5}" type="datetimeFigureOut">
              <a:rPr lang="ko-KR" altLang="en-US" smtClean="0"/>
              <a:pPr/>
              <a:t>2026-09-10</a:t>
            </a:fld>
            <a:endParaRPr lang="ko-KR" altLang="en-US"/>
          </a:p>
        </p:txBody>
      </p:sp>
      <p:sp>
        <p:nvSpPr>
          <p:cNvPr id="4" name="슬라이드 이미지 개체 틀 3"/>
          <p:cNvSpPr>
            <a:spLocks noGrp="1" noRot="1" noChangeAspect="1"/>
          </p:cNvSpPr>
          <p:nvPr>
            <p:ph type="sldImg" idx="2"/>
          </p:nvPr>
        </p:nvSpPr>
        <p:spPr>
          <a:xfrm>
            <a:off x="917575" y="744538"/>
            <a:ext cx="4972050" cy="372903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2700">
            <a:solidFill>
              <a:prstClr val="black"/>
            </a:solidFill>
          </a:ln>
        </p:spPr>
        <p:txBody>
          <a:bodyPr vert="horz" lIns="94531" tIns="47265" rIns="94531" bIns="47265" rtlCol="0" anchor="ctr"/>
          <a:lstStyle/>
          <a:p>
            <a:endParaRPr lang="ko-KR" altLang="en-US"/>
          </a:p>
        </p:txBody>
      </p:sp>
      <p:sp>
        <p:nvSpPr>
          <p:cNvPr id="5" name="슬라이드 노트 개체 틀 4"/>
          <p:cNvSpPr>
            <a:spLocks noGrp="1"/>
          </p:cNvSpPr>
          <p:nvPr>
            <p:ph type="body" sz="quarter" idx="3"/>
          </p:nvPr>
        </p:nvSpPr>
        <p:spPr>
          <a:xfrm>
            <a:off x="680722" y="4721186"/>
            <a:ext cx="5445759" cy="4472702"/>
          </a:xfrm>
          <a:prstGeom prst="rect">
            <a:avLst/>
          </a:prstGeom>
        </p:spPr>
        <p:txBody>
          <a:bodyPr vert="horz" lIns="94531" tIns="47265" rIns="94531" bIns="47265"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1" y="9440648"/>
            <a:ext cx="2949787" cy="496965"/>
          </a:xfrm>
          <a:prstGeom prst="rect">
            <a:avLst/>
          </a:prstGeom>
        </p:spPr>
        <p:txBody>
          <a:bodyPr vert="horz" lIns="94531" tIns="47265" rIns="94531" bIns="47265"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5839" y="9440648"/>
            <a:ext cx="2949787" cy="496965"/>
          </a:xfrm>
          <a:prstGeom prst="rect">
            <a:avLst/>
          </a:prstGeom>
        </p:spPr>
        <p:txBody>
          <a:bodyPr vert="horz" lIns="94531" tIns="47265" rIns="94531" bIns="47265" rtlCol="0" anchor="b"/>
          <a:lstStyle>
            <a:lvl1pPr algn="r">
              <a:defRPr sz="1200"/>
            </a:lvl1pPr>
          </a:lstStyle>
          <a:p>
            <a:fld id="{72D75F77-8026-4911-8E6D-EBCB86E5E0BC}" type="slidenum">
              <a:rPr lang="ko-KR" altLang="en-US" smtClean="0"/>
              <a:pPr/>
              <a:t>‹#›</a:t>
            </a:fld>
            <a:endParaRPr lang="ko-KR" altLang="en-US"/>
          </a:p>
        </p:txBody>
      </p:sp>
    </p:spTree>
    <p:extLst>
      <p:ext uri="{BB962C8B-B14F-4D97-AF65-F5344CB8AC3E}">
        <p14:creationId xmlns:p14="http://schemas.microsoft.com/office/powerpoint/2010/main" val="407565794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표지. 이 자료는 2026-10-06 내부 회의 지시에 따라 해외영업/마케팅이 만든 1차 검토안입니다. 중국 정부 사이트 원문은 작업 환경 제약으로 직접 열지 못했고, 검색 결과 요약으로 확인한 내용은 '공식 출처·요약 확인'으로 표시했습니다. 법무·현지 전문가 검토 전이므로 결론은 조건부입니다.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메시지: 지금 추천할 수 있는 구조는 'TC 독자 법인(무석 신오구) + 무저장 위험화학품 경영허가 + 허가된 외부 창고'이며, 확정은 2주 확인 후입니다.</a:t>
            </a:r>
          </a:p>
          <a:p>
            <a:r>
              <a:t>근거: ① 생태환경부 12호령 개정 초안(2026-06-11)은 신청 주체를 중국 내 생산·수입기업으로 한정(EVD-002, 초안). ② 환판고체함〔2026〕301호: 2026-08-15 备案 중단, 기존 备案은 12-31까지 등록증(EVD-003). ③ 위험화학품안전법(2026-05-01 시행): 경영 허가제, 생산기업 예외(EVD-008·009). ④ 무석 세칙: 무저장·임차저장 유형(EVD-014).</a:t>
            </a:r>
          </a:p>
          <a:p>
            <a:r>
              <a:t>예상 질문: '연말까지 법인 설립하면 되나?' → 법인 등기와 등록·허가는 별개. 연말 기한은 기존 备案 보유자의 전환 의무이므로 보유자를 먼저 확인해야 함.</a:t>
            </a:r>
          </a:p>
          <a:p>
            <a:r>
              <a:t>예상 질문: '비용은?' → 현지 인건비만 공개 통계로 산정(연 715,844 CNY, 가정). 임대·등록·3PL은 견적 필요.</a:t>
            </a:r>
          </a:p>
          <a:p>
            <a:r>
              <a:t>추가 확인: 개정 12호령 최종 공포 여부, TC 제품의 备案 보유자·번호, 무석 신오구 허가 기한.</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회의에서 나온 내용은 모두 '내부 제공·검증 전'입니다. 특히 MP의 허가 미보유, 12월 말 기한, 4명 인력은 사실 확인 대상입니다. 독자 법인의 사업 명분은 '빨리 만든다'가 아니라 '등록 명의·자료 접근·재고·고객 대응을 TC가 통제한다'에 있으며, 반론(MP가 이미 허가를 보유한 경우)은 23장에서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고객 위치는 공개 주소 또는 언론 보도 기준이며 실제 반입 공장 위치는 고객 확인이 필요합니다. 제품 정보(CAS·SDS·물량·기존 备案)가 없어서 6장의 시나리오 A~D로 분석합니다. 이 정보가 들어오면 규제 판단이 바로 좁혀집니다 — 2주 과제 1번.</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주장 1: 현행 12호령은 해외 생산·무역기업이 중국 대리인을 지정하면 신청인이 될 수 있다(EVD-001). 2026-06 개정 초안은 중국 내 생산·수입기업만 신청인으로 하는 방향(EVD-002) — 최종 공포 여부 확인 필요.</a:t>
            </a:r>
          </a:p>
          <a:p>
            <a:r>
              <a:t>주장 2: 위험화학품안전법은 경영 허가제를 두고, 안전생산허가는 생산기업 대상(EVD-008·011). 수입·판매 법인에 생산설비를 요구하는 규정은 확인되지 않음. 충진·소분·분장은 지역에 따라 '분장·충진 경영' 또는 생산으로 볼 수 있어 별도 확인.</a:t>
            </a:r>
          </a:p>
          <a:p>
            <a:r>
              <a:t>주장 3: 환판고체함〔2026〕301호 — 2026-08-15 备案 접수 중단, 기존 备案 보유자는 12-31까지 등록증 취득(EVD-003). 미취득 시 제재 수준은 원문·법전 조항 확인 필요.</a:t>
            </a:r>
          </a:p>
          <a:p>
            <a:r>
              <a:t>주장 4: 간이등록 생태독성 자료에 중국 공시생물 시험 포함(EVD-006). 한국 자료 인정 범위는 물질별 확인.</a:t>
            </a:r>
          </a:p>
          <a:p>
            <a:r>
              <a:t>주장 5: 등기는 출발점일 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무거운 경우(A)를 기준으로 준비하되, 제품 정보가 들어오면 경우가 줄어듭니다. 운송상 위험물(UN 분류)과 위험화학품 목록 해당 여부는 서로 다른 판정이므로 둘 다 확인해야 합니다. CAS나 위험등급을 임의로 넣지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 수입자 = 통관 서류상 들여오는 회사, 등록 신청 주체 = 신규물질 등록증 명의자, 외부 창고 = 허가를 가진 3PL. 회의에서 '수입만 해도 생산설비'라는 말은 이 구분이 섞여서 나온 것으로 보입니다. 제조(충진·소분)는 지금 계획이 확정되지 않았으므로 초기 법인에는 넣지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A안은 MP 정보가 없어 판정 보류입니다. MP가 해당 품목 경영허가·창고·등록 수행 능력을 이미 갖고 있다면 속도·비용은 A안이 우위입니다(23장 시나리오 1). G안(대리인·적격 수입자)은 법인 설립과 별개로 연말 기한에 대응하는 수단이지만, 등록증 명의가 대리인·수입자에게 남는 문제가 있습니다. 기간은 분석 가정입니다.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법정 의무와 실무를 구분했습니다. 외국인 주재원 취업허가·체류, 현지 직원 근로계약·사회보험, 실질 지배자 정보 신고 등은 등기 대행사·법무 확인 항목입니다. 기존 연락사무소가 있다면 유지·정리 방안을 별도로 검토합니다(내부 확인).</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독자 법인을 만들어도 정부·시험기관에 대한 정보 제공은 없어지지 않습니다. 달라지는 것은 등록증 명의와 자료 접근을 TC가 통제한다는 점입니다.</a:t>
            </a:r>
          </a:p>
          <a:p>
            <a:r>
              <a:t>대리인·고객 명의로 등록하면 계약 종료 후에도 등록증이 그쪽에 남고, 명의 변경은 '기재 사항 변경 → 재신청'이 될 수 있어(EVD-005) 처음부터 최종 명의자로 신청하는 편이 안전합니다.</a:t>
            </a:r>
          </a:p>
          <a:p>
            <a:r>
              <a:t>NDA로 해결되는 것: 대리인·시험기관의 외부 유출 금지. NDA로 해결 안 되는 것: 등록증 명의·법적 책임·정부 제출 자료의 공개 범위.</a:t>
            </a:r>
          </a:p>
          <a:p>
            <a:r>
              <a:t>확인: 개정 최종본의 신청 주체·정보보호 조항, 한국 시험자료 소유권(공동시험 여부).</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무저장 경영은 사무실 주소로 허가를 받고, 실제 물건은 허가 창고에 둡니다. 처리기한 20 영업일은 다른 지역 사례이며 무석 신오구 기한은 질의가 필요합니다. 저장 시설은 지방정부가 정한 전용 구역에 있어야 한다는 요건(EVD-013)이 있어, 강소성에서는 인정 화공원구 안 창고가 현실적인 선택입니다.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인허가에 필요한 최소 조건과 사업을 키울 때 필요한 조건을 나눴습니다. 전담 안전관리자는 '겸직 불가'로 해석될 수 있어 영업·물류와 분리하는 것이 안전합니다. 창고 면적은 물량 정보가 없어 계산식만 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강소성 전체 1차 인정 화공원구 23곳 중 고객(무석·허페이)과 수입항(상하이·장자강) 동선에 있는 남부 후보를 표시했습니다. 쑤저우와 쿤산·타이창·장자강·창수는 같은 쑤저우시 관할(현급시)이며, 무석과 강음·의흥도 같은 관계입니다. 북부(롄윈강·쉬저우·화이안 등) 원구는 고객 거리로 1단계에서 제외했습니다. 지도 위치는 도시·구 중심의 대략 좌표입니다.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필수 관문(법인 설립·무저장 경영 경로·적격 창고 후보)을 먼저 보고, 관문을 통과한 후보만 점수를 매겼습니다. 점수는 분석 가정이며 기관 회신이 오면 갱신합니다. 쿤산은 1차 인정 명단에 원구가 없어 창고 거점에서 제외(사무 거점으로는 가능).</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无锡(무석) 후보 상세. 같은 항목·같은 순서로 3개 후보를 비교할 수 있게 했습니다. 판정 '추천'의 근거: SK하이닉스 근접, 무석 세칙에 무저장·임차저장 유형 명시, 관할 내 인정 화공원구 3곳. 공개 근거로 확인된 것은 원구의 '인정' 지위까지이며, 창고 운영사·품목·견적은 모두 문의 예정입니다.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苏州(쑤저우) 후보 상세. 같은 항목·같은 순서로 3개 후보를 비교할 수 있게 했습니다. 판정 '조건부'의 근거: 장자강 위험화학품 부두·보세 위험품 창고 보도, 인력·서비스 풍부. 공개 근거로 확인된 것은 원구의 '인정' 지위까지이며, 창고 운영사·품목·견적은 모두 문의 예정입니다.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常州(창저우) 후보 상세. 같은 항목·같은 순서로 3개 후보를 비교할 수 있게 했습니다. 판정 '확인 필요'의 근거: 무석·난징 사이, 인정 원구 보유. 공개 운영 자료 부족. 공개 근거로 확인된 것은 원구의 '인정' 지위까지이며, 창고 운영사·품목·견적은 모두 문의 예정입니다.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강소성 안에서 실행 가능성이 가장 높은 조합은 무석 법인 + 무석 관할 원구 3PL입니다. 법인과 창고를 다른 도시(또는 다른 성)에 두는 E안은 무저장 경영이면 성립 가능성이 높지만, 임차저장 경영으로 가면 관할 문제가 생길 수 있어 기관 질의가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장애를 국가 규정·성 공통·단지 기준·제품·비용으로 나눴습니다. 국가 규정 문제는 지역 이전으로 회피되지 않으므로, 대안 지역 검토는 창고 확보와 고객 거리 문제에 한정합니다.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상하이는 성이 아닌 직할시입니다. 법인·수입 관리 거점으로는 강점이 있지만 비용이 높고, 위험품 저장은 시가 정한 구역(화학공업구 등)에서만 가능합니다. 허페이는 CXMT와 가깝지만 허페이 관할 화공원구·위험품 창고 공개 근거를 찾지 못해 '확인 필요'입니다. 자싱(핑후 독산항·자싱항구)은 창고 대안입니다.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인근 대안도 국가 규정은 같습니다. 상하이는 수입항과 보세 물류가 강점이고, 허페이는 CXMT 납품 대응이 강점입니다. 둘 다 강소성 법인을 유지한 채 보완 거점으로 쓰는 방안을 먼저 보고, 강소성에서 창고를 전혀 못 구할 때 단독 이전을 검토합니다.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필수 관문을 통과한 5곳만 점수를 매겼고, 나머지 11곳은 정보 부족으로 점수를 보류했습니다(임의 평균 점수 없음). 허가 우선·속도 우선·비용 우선으로 가중치를 바꿔도 무석이 1위이며, 2위는 기준에 따라 쑤저우 또는 상하이로 바뀝니다. 점수 자체가 분석 가정이므로 기관 회신 후 갱신해야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MP의 정식 법인명·사업범위·허가·창고·등록 실적을 모르는 상태라 독자 법인 우위를 단정하지 않았습니다. 시나리오 2(MP도 새로 취득)라면 같은 투자를 MP에 하는 셈이므로 TC 독자 법인이 명의·통제 측면에서 합리적입니다. 시나리오 1이라면 단기에는 MP를 쓰되 등록은 TC 명의로 진행하는 혼합안이 현실적입니다. '그룹 법인은 비밀 유지가 된다', 'TC 법인이 무조건 빠르다'는 가정은 쓰지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도로거리·실제 운송 리드타임은 위험물 차량 통행 제한·출입 절차가 반영돼야 하므로 지도 시간으로 대체하지 않았습니다. 현지 재고는 기존 거래처(유통사)의 역할·수수료에도 영향을 주므로 영업 측 검토가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확인 가능 금액만 합산했고 견적이 필요한 항목은 빈칸으로 두어 '미완성(견적 n건)'으로 표시했습니다. 미확인 비용을 0원으로 처리하지 않았습니다.</a:t>
            </a:r>
          </a:p>
          <a:p>
            <a:r>
              <a:t>인건비 = 무석 2025 평균임금 147,293 CNY × 직무 배수 1.2 × (1 + 사업주 부담 35%) — 배수·부담률은 분석 가정입니다.</a:t>
            </a:r>
          </a:p>
          <a:p>
            <a:r>
              <a:t>자금 회수 경로: 배당(법정 공적금 적립 후, 원천징수 10% — 한중 조약 세율 확인), 본사 서비스 대가(이전가격), 차입금 상환, 감자·청산. '중국 자금은 돌려받을 수 없다'는 단정은 근거가 없습니다(EVD-035).</a:t>
            </a:r>
          </a:p>
          <a:p>
            <a:r>
              <a:t>최소 비용안(B) vs 중장기 적정안(C): 인건비 시나리오 '확대'가 C안에 해당하며 창고 임차·안전 설비가 추가됩니다.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착수 2026-10-06 기준입니다. 법인 등기 완료(기준 2026-12-21)는 사업 개시가 아닙니다. 수입·판매는 경영허가(2027-02-15), 위험화학품 등록(2027-03-15), 신규물질 등록(2027-05-10) 이후입니다.</a:t>
            </a:r>
          </a:p>
          <a:p>
            <a:r>
              <a:t>임계경로: 법인 등기 → TC 명의 신규물질 등록(중국 내 시험 포함 가정 20주) → 고객 승인 → 초도 공급.</a:t>
            </a:r>
          </a:p>
          <a:p>
            <a:r>
              <a:t>연말 목표: TC 법인 명의로 12-31까지 등록을 끝내는 것은 어렵습니다. 가능한 합법적 대응은 ① 기존 备案 보유자가 12-31 전 등록증 전환 신청(기준 2026-11-30) ② 현행 규정이 유지되면 TC 본사+대리인 신청 ③ 적격 수입자 경유 공급 ④ 고객에 일정 사전 안내. 기관 재량 유예는 근거·사례가 없어 일정에 넣지 않았습니다.</a:t>
            </a:r>
          </a:p>
          <a:p>
            <a:r>
              <a:t>기간은 분석 가정이며 국경절·춘절 등 공휴일은 반영하지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리스크 13개 중 결론을 바꿀 수 있는 것을 먼저 확인합니다. 부서별 역할: 해외영업(명분·제품·고객), 김지현 PL(규정 1차 조사), 한호진 PL(제품·공급 구조), 법무(법령·계약·현지 전문가), 여현석 팀장 등 기획(투자·운전자본), 인사(인력·채용), 중국 현지(입지·시설·업체). 기관에 실제 연락한 것은 없으며 모두 '문의 예정'입니다.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추천을 억지로 확정하지 않았습니다. 오늘은 검증 착수와 병행 후보를 승인받고, 2주 확인 결과로 11월 중순 구조·지역·예산을 확정하는 일정입니다.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 해설 (1/2).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 해설 (2/2).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06_LegalMatrix 요약. 상세 조건·미확인 사항은 Excel에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SITE-001~013. 공개 연락처·주소는 기관 공식 사이트에서 확인 후 기록 예정입니다. 허위 담당자·견적을 만들지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CAS·위험등급을 임의로 넣지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인건비 = BASE_WAGE × WAGE_MULT × (1+ER_RATE) × LOCAL_HC. 임대료 = OFFICE_RENT × OFFICE_SQM × 12 (단가 견적 필요). 운전자본 = MONTHLY_SALES × INV_DAYS/30 (판매액 미제공). KRW = CNY × FX_KRW.</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선행 작업의 종료 다음 날 시작. 기간(주)은 분석 가정이며 Excel에서 바꿀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질문지는 Excel 19 시트에 원본이 있습니다. 회신이 오면 09·17 시트 상태를 갱신합니다.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질문지는 Excel 19 시트에 원본이 있습니다. 회신이 오면 09·17 시트 상태를 갱신합니다.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30/60/90일 계획은 기준 시나리오 일정과 맞췄습니다.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목록. 공식 출처라도 원문 조문은 작업 환경 제약으로 직접 열지 못했고 검색 요약으로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목록. 공식 출처라도 원문 조문은 작업 환경 제약으로 직접 열지 못했고 검색 요약으로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36건의 상태 분포와 핵심 주장별 근거 수준입니다.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슬라이드 번호 개체 틀 5">
            <a:extLst>
              <a:ext uri="{FF2B5EF4-FFF2-40B4-BE49-F238E27FC236}">
                <a16:creationId xmlns:a16="http://schemas.microsoft.com/office/drawing/2014/main" id="{C71A4B21-8DEE-4335-81E3-82697404688F}"/>
              </a:ext>
            </a:extLst>
          </p:cNvPr>
          <p:cNvSpPr>
            <a:spLocks noGrp="1"/>
          </p:cNvSpPr>
          <p:nvPr>
            <p:ph type="sldNum" sz="quarter" idx="4"/>
          </p:nvPr>
        </p:nvSpPr>
        <p:spPr>
          <a:xfrm>
            <a:off x="7005322"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altLang="ko-KR" dirty="0"/>
              <a:t>-</a:t>
            </a:r>
            <a:fld id="{B45B5F3F-A87E-4E73-9154-1C8A9C2706CD}" type="slidenum">
              <a:rPr lang="ko-KR" altLang="en-US" smtClean="0"/>
              <a:pPr/>
              <a:t>‹#›</a:t>
            </a:fld>
            <a:r>
              <a:rPr lang="en-US" altLang="ko-KR" dirty="0"/>
              <a:t>-</a:t>
            </a:r>
            <a:endParaRPr lang="ko-KR" altLang="en-US" dirty="0"/>
          </a:p>
        </p:txBody>
      </p:sp>
    </p:spTree>
    <p:extLst>
      <p:ext uri="{BB962C8B-B14F-4D97-AF65-F5344CB8AC3E}">
        <p14:creationId xmlns:p14="http://schemas.microsoft.com/office/powerpoint/2010/main" val="1760509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
        <p:nvSpPr>
          <p:cNvPr id="2" name="슬라이드 번호 개체 틀 5">
            <a:extLst>
              <a:ext uri="{FF2B5EF4-FFF2-40B4-BE49-F238E27FC236}">
                <a16:creationId xmlns:a16="http://schemas.microsoft.com/office/drawing/2014/main" id="{D615167A-2341-4D77-BF97-C98DABC787BA}"/>
              </a:ext>
            </a:extLst>
          </p:cNvPr>
          <p:cNvSpPr>
            <a:spLocks noGrp="1"/>
          </p:cNvSpPr>
          <p:nvPr>
            <p:ph type="sldNum" sz="quarter" idx="4"/>
          </p:nvPr>
        </p:nvSpPr>
        <p:spPr>
          <a:xfrm>
            <a:off x="7005322"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altLang="ko-KR" dirty="0"/>
              <a:t>-</a:t>
            </a:r>
            <a:fld id="{B45B5F3F-A87E-4E73-9154-1C8A9C2706CD}" type="slidenum">
              <a:rPr lang="ko-KR" altLang="en-US" smtClean="0"/>
              <a:pPr/>
              <a:t>‹#›</a:t>
            </a:fld>
            <a:r>
              <a:rPr lang="en-US" altLang="ko-KR" dirty="0"/>
              <a:t>-</a:t>
            </a:r>
            <a:endParaRPr lang="ko-KR" altLang="en-US" dirty="0"/>
          </a:p>
        </p:txBody>
      </p:sp>
    </p:spTree>
    <p:extLst>
      <p:ext uri="{BB962C8B-B14F-4D97-AF65-F5344CB8AC3E}">
        <p14:creationId xmlns:p14="http://schemas.microsoft.com/office/powerpoint/2010/main" val="665710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263547" y="3829914"/>
            <a:ext cx="8229600" cy="633565"/>
          </a:xfrm>
        </p:spPr>
        <p:txBody>
          <a:bodyPr/>
          <a:lstStyle>
            <a:lvl1pPr algn="l">
              <a:defRPr>
                <a:solidFill>
                  <a:schemeClr val="bg1"/>
                </a:solidFill>
              </a:defRPr>
            </a:lvl1pPr>
          </a:lstStyle>
          <a:p>
            <a:r>
              <a:rPr lang="ko-KR" altLang="en-US"/>
              <a:t>마스터 제목 스타일 편집</a:t>
            </a:r>
          </a:p>
        </p:txBody>
      </p:sp>
      <p:sp>
        <p:nvSpPr>
          <p:cNvPr id="3" name="내용 개체 틀 2"/>
          <p:cNvSpPr>
            <a:spLocks noGrp="1"/>
          </p:cNvSpPr>
          <p:nvPr>
            <p:ph idx="1"/>
          </p:nvPr>
        </p:nvSpPr>
        <p:spPr>
          <a:xfrm>
            <a:off x="392040" y="573234"/>
            <a:ext cx="8229600" cy="2508741"/>
          </a:xfrm>
        </p:spPr>
        <p:txBody>
          <a:bodyPr/>
          <a:lstStyle>
            <a:lvl1pPr algn="r">
              <a:defRPr>
                <a:solidFill>
                  <a:schemeClr val="bg1"/>
                </a:solidFill>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슬라이드 번호 개체 틀 5">
            <a:extLst>
              <a:ext uri="{FF2B5EF4-FFF2-40B4-BE49-F238E27FC236}">
                <a16:creationId xmlns:a16="http://schemas.microsoft.com/office/drawing/2014/main" id="{0715BF9F-7BEC-43D5-AA15-65F5EC73A673}"/>
              </a:ext>
            </a:extLst>
          </p:cNvPr>
          <p:cNvSpPr>
            <a:spLocks noGrp="1"/>
          </p:cNvSpPr>
          <p:nvPr>
            <p:ph type="sldNum" sz="quarter" idx="4"/>
          </p:nvPr>
        </p:nvSpPr>
        <p:spPr>
          <a:xfrm>
            <a:off x="7005322"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altLang="ko-KR" dirty="0"/>
              <a:t>-</a:t>
            </a:r>
            <a:fld id="{B45B5F3F-A87E-4E73-9154-1C8A9C2706CD}" type="slidenum">
              <a:rPr lang="ko-KR" altLang="en-US" smtClean="0"/>
              <a:pPr/>
              <a:t>‹#›</a:t>
            </a:fld>
            <a:r>
              <a:rPr lang="en-US" altLang="ko-KR" dirty="0"/>
              <a:t>-</a:t>
            </a:r>
            <a:endParaRPr lang="ko-KR" altLang="en-US" dirty="0"/>
          </a:p>
        </p:txBody>
      </p:sp>
    </p:spTree>
    <p:extLst>
      <p:ext uri="{BB962C8B-B14F-4D97-AF65-F5344CB8AC3E}">
        <p14:creationId xmlns:p14="http://schemas.microsoft.com/office/powerpoint/2010/main" val="3983380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슬라이드 번호 개체 틀 5"/>
          <p:cNvSpPr>
            <a:spLocks noGrp="1"/>
          </p:cNvSpPr>
          <p:nvPr>
            <p:ph type="sldNum" sz="quarter" idx="4"/>
          </p:nvPr>
        </p:nvSpPr>
        <p:spPr>
          <a:xfrm>
            <a:off x="7005322"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altLang="ko-KR" dirty="0"/>
              <a:t>-</a:t>
            </a:r>
            <a:fld id="{B45B5F3F-A87E-4E73-9154-1C8A9C2706CD}" type="slidenum">
              <a:rPr lang="ko-KR" altLang="en-US" smtClean="0"/>
              <a:pPr/>
              <a:t>‹#›</a:t>
            </a:fld>
            <a:r>
              <a:rPr lang="en-US" altLang="ko-KR" dirty="0"/>
              <a:t>-</a:t>
            </a:r>
            <a:endParaRPr lang="ko-KR" altLang="en-US" dirty="0"/>
          </a:p>
        </p:txBody>
      </p:sp>
    </p:spTree>
    <p:extLst>
      <p:ext uri="{BB962C8B-B14F-4D97-AF65-F5344CB8AC3E}">
        <p14:creationId xmlns:p14="http://schemas.microsoft.com/office/powerpoint/2010/main" val="2392028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138.png"/><Relationship Id="rId4" Type="http://schemas.openxmlformats.org/officeDocument/2006/relationships/notesSlide" Target="../notesSlides/notesSlide45.xml"/></Relationships>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731520" y="2148840"/>
            <a:ext cx="7680960" cy="640080"/>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3400" dirty="0" b="1">
                <a:gradFill>
                  <a:gsLst>
                    <a:gs pos="0">
                      <a:srgbClr val="FF7900"/>
                    </a:gs>
                    <a:gs pos="67000">
                      <a:srgbClr val="EB002C"/>
                    </a:gs>
                  </a:gsLst>
                  <a:lin ang="5400000" scaled="1"/>
                </a:gradFill>
              </a:rPr>
              <a:t>SKTC 중국법인 설립 검토</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4" name="TextBox 163"/>
          <p:cNvSpPr txBox="1"/>
          <p:nvPr/>
        </p:nvSpPr>
        <p:spPr>
          <a:xfrm>
            <a:off x="731520" y="2971800"/>
            <a:ext cx="7680960" cy="457200"/>
          </a:xfrm>
          <a:prstGeom prst="rect">
            <a:avLst/>
          </a:prstGeom>
          <a:noFill/>
        </p:spPr>
        <p:txBody>
          <a:bodyPr wrap="square" anchor="t" lIns="27432" rIns="27432" tIns="18288" bIns="18288">
            <a:spAutoFit/>
          </a:bodyPr>
          <a:lstStyle/>
          <a:p>
            <a:pPr algn="l"/>
            <a:r>
              <a:rPr sz="2000" b="1">
                <a:solidFill>
                  <a:srgbClr val="1A1A1A"/>
                </a:solidFill>
                <a:latin typeface="Noto Sans KR"/>
                <a:ea typeface="Noto Sans KR"/>
                <a:cs typeface="Noto Sans KR"/>
              </a:rPr>
              <a:t>강소성 우선 입지 · 인허가 · 비용 · 실행계획</a:t>
            </a:r>
          </a:p>
        </p:txBody>
      </p:sp>
      <p:sp>
        <p:nvSpPr>
          <p:cNvPr id="165" name="Rectangle 164"/>
          <p:cNvSpPr/>
          <p:nvPr/>
        </p:nvSpPr>
        <p:spPr>
          <a:xfrm>
            <a:off x="731520" y="3566160"/>
            <a:ext cx="2011680" cy="45720"/>
          </a:xfrm>
          <a:prstGeom prst="rect">
            <a:avLst/>
          </a:prstGeom>
          <a:solidFill>
            <a:srgbClr val="EB0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731520" y="3749039"/>
            <a:ext cx="7680960" cy="1097280"/>
          </a:xfrm>
          <a:prstGeom prst="rect">
            <a:avLst/>
          </a:prstGeom>
          <a:noFill/>
        </p:spPr>
        <p:txBody>
          <a:bodyPr wrap="square" anchor="t" lIns="27432" rIns="27432" tIns="18288" bIns="18288">
            <a:spAutoFit/>
          </a:bodyPr>
          <a:lstStyle/>
          <a:p>
            <a:pPr algn="l"/>
            <a:r>
              <a:rPr sz="1300" b="0">
                <a:solidFill>
                  <a:srgbClr val="404040"/>
                </a:solidFill>
                <a:latin typeface="Noto Sans KR"/>
                <a:ea typeface="Noto Sans KR"/>
                <a:cs typeface="Noto Sans KR"/>
              </a:rPr>
              <a:t>기준일 2026-10-06 (내부 회의일) · 해외영업/마케팅 1차 검토안</a:t>
            </a:r>
          </a:p>
          <a:p>
            <a:pPr algn="l"/>
            <a:r>
              <a:rPr sz="1200" b="0">
                <a:solidFill>
                  <a:srgbClr val="C00000"/>
                </a:solidFill>
                <a:latin typeface="Noto Sans KR"/>
                <a:ea typeface="Noto Sans KR"/>
                <a:cs typeface="Noto Sans KR"/>
              </a:rPr>
              <a:t>법무·기획·인사·현지 검증 전 자료 — 결론은 조건부이며 기관 확인 결과에 따라 바뀔 수 있음</a:t>
            </a:r>
          </a:p>
          <a:p>
            <a:pPr algn="l"/>
            <a:r>
              <a:rPr sz="1100" b="0">
                <a:solidFill>
                  <a:srgbClr val="7F7F7F"/>
                </a:solidFill>
                <a:latin typeface="Noto Sans KR"/>
                <a:ea typeface="Noto Sans KR"/>
                <a:cs typeface="Noto Sans KR"/>
              </a:rPr>
              <a:t>원자료·출처·수식: SKTC_중국법인설립_Raw_File_Data_20261006.xlsx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무석 법인 + 무저장 허가 + 외부 창고가 1순위입니다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단, 연말 기한 대상 여부·창고 품목 확인 전까지 최종 확정은 불가합니다</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sz="1000" b="1" dirty="0">
                <a:latin typeface="Noto Sans KR" pitchFamily="2" charset="-127"/>
                <a:ea typeface="Noto Sans KR" pitchFamily="2" charset="-127"/>
              </a:rPr>
              <a:t>2</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- 2 -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4133088"/>
        </p:xfrm>
        <a:graphic>
          <a:graphicData uri="http://schemas.openxmlformats.org/drawingml/2006/table">
            <a:tbl>
              <a:tblPr firstRow="0" bandRow="0"/>
              <a:tblGrid>
                <a:gridCol w="1965960"/>
                <a:gridCol w="5641848"/>
                <a:gridCol w="960120"/>
              </a:tblGrid>
              <a:tr h="292608">
                <a:tc>
                  <a:txBody>
                    <a:bodyPr wrap="square"/>
                    <a:lstStyle/>
                    <a:p>
                      <a:pPr algn="ctr"/>
                      <a:r>
                        <a:rPr sz="1150" b="1">
                          <a:solidFill>
                            <a:srgbClr val="FFFFFF"/>
                          </a:solidFill>
                          <a:latin typeface="Noto Sans KR"/>
                          <a:ea typeface="Noto Sans KR"/>
                          <a:cs typeface="Noto Sans KR"/>
                        </a:rPr>
                        <a:t>핵심 질문</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현재 답 (2026-10-06)</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상태</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548640">
                <a:tc>
                  <a:txBody>
                    <a:bodyPr wrap="square"/>
                    <a:lstStyle/>
                    <a:p>
                      <a:pPr algn="l"/>
                      <a:r>
                        <a:rPr sz="1150" b="0">
                          <a:solidFill>
                            <a:srgbClr val="1A1A1A"/>
                          </a:solidFill>
                          <a:latin typeface="Noto Sans KR"/>
                          <a:ea typeface="Noto Sans KR"/>
                          <a:cs typeface="Noto Sans KR"/>
                        </a:rPr>
                        <a:t>① TC 독자 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개정안이 확정되면 등록은 '중국 내 수입기업' 명의만 가능 → 등록·자료를 TC가 쥐려면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1">
                          <a:solidFill>
                            <a:srgbClr val="7F6000"/>
                          </a:solidFill>
                          <a:latin typeface="Noto Sans KR"/>
                          <a:ea typeface="Noto Sans KR"/>
                          <a:cs typeface="Noto Sans KR"/>
                        </a:rPr>
                        <a:t>조건부</a:t>
                      </a:r>
                    </a:p>
                  </a:txBody>
                  <a:tcPr marL="45720" marR="45720" marT="18000" marB="18000" anchor="ctr">
                    <a:lnL w="0">
                      <a:noFill/>
                    </a:lnL>
                    <a:lnR w="0">
                      <a:noFill/>
                    </a:lnR>
                    <a:lnT w="0">
                      <a:noFill/>
                    </a:lnT>
                    <a:lnB w="6350">
                      <a:solidFill>
                        <a:srgbClr val="D9D9D9"/>
                      </a:solidFill>
                    </a:lnB>
                    <a:solidFill>
                      <a:srgbClr val="FFF2CC"/>
                    </a:solidFill>
                  </a:tcPr>
                </a:tc>
              </a:tr>
              <a:tr h="548640">
                <a:tc>
                  <a:txBody>
                    <a:bodyPr wrap="square"/>
                    <a:lstStyle/>
                    <a:p>
                      <a:pPr algn="l"/>
                      <a:r>
                        <a:rPr sz="1150" b="0">
                          <a:solidFill>
                            <a:srgbClr val="1A1A1A"/>
                          </a:solidFill>
                          <a:latin typeface="Noto Sans KR"/>
                          <a:ea typeface="Noto Sans KR"/>
                          <a:cs typeface="Noto Sans KR"/>
                        </a:rPr>
                        <a:t>② 강소성 어디?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무석 신오구 법인(무저장 경영허가) + 무석 관할 인정 화공원구 창고 / 차선: 쑤저우+장자강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1">
                          <a:solidFill>
                            <a:srgbClr val="7F6000"/>
                          </a:solidFill>
                          <a:latin typeface="Noto Sans KR"/>
                          <a:ea typeface="Noto Sans KR"/>
                          <a:cs typeface="Noto Sans KR"/>
                        </a:rPr>
                        <a:t>조건부</a:t>
                      </a:r>
                    </a:p>
                  </a:txBody>
                  <a:tcPr marL="45720" marR="45720" marT="18000" marB="18000" anchor="ctr">
                    <a:lnL w="0">
                      <a:noFill/>
                    </a:lnL>
                    <a:lnR w="0">
                      <a:noFill/>
                    </a:lnR>
                    <a:lnT w="0">
                      <a:noFill/>
                    </a:lnT>
                    <a:lnB w="6350">
                      <a:solidFill>
                        <a:srgbClr val="D9D9D9"/>
                      </a:solidFill>
                    </a:lnB>
                    <a:solidFill>
                      <a:srgbClr val="FFF2CC"/>
                    </a:solidFill>
                  </a:tcPr>
                </a:tc>
              </a:tr>
              <a:tr h="548640">
                <a:tc>
                  <a:txBody>
                    <a:bodyPr wrap="square"/>
                    <a:lstStyle/>
                    <a:p>
                      <a:pPr algn="l"/>
                      <a:r>
                        <a:rPr sz="1150" b="0">
                          <a:solidFill>
                            <a:srgbClr val="1A1A1A"/>
                          </a:solidFill>
                          <a:latin typeface="Noto Sans KR"/>
                          <a:ea typeface="Noto Sans KR"/>
                          <a:cs typeface="Noto Sans KR"/>
                        </a:rPr>
                        <a:t>③ 강소성이 막히면?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막힐 곳은 '품목을 받아줄 창고' → 상하이 항만 물류·허페이로 전환 (국가 규정은 동일)</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1">
                          <a:solidFill>
                            <a:srgbClr val="C00000"/>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DE9E7"/>
                    </a:solidFill>
                  </a:tcPr>
                </a:tc>
              </a:tr>
              <a:tr h="548640">
                <a:tc>
                  <a:txBody>
                    <a:bodyPr wrap="square"/>
                    <a:lstStyle/>
                    <a:p>
                      <a:pPr algn="l"/>
                      <a:r>
                        <a:rPr sz="1150" b="0">
                          <a:solidFill>
                            <a:srgbClr val="1A1A1A"/>
                          </a:solidFill>
                          <a:latin typeface="Noto Sans KR"/>
                          <a:ea typeface="Noto Sans KR"/>
                          <a:cs typeface="Noto Sans KR"/>
                        </a:rPr>
                        <a:t>④ 수입만 해도 생산설비?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생산허가는 생산기업 대상. 수입·판매는 경영허가로 충분 (충진·소분 시 별도)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1">
                          <a:solidFill>
                            <a:srgbClr val="385723"/>
                          </a:solidFill>
                          <a:latin typeface="Noto Sans KR"/>
                          <a:ea typeface="Noto Sans KR"/>
                          <a:cs typeface="Noto Sans KR"/>
                        </a:rPr>
                        <a:t>근거 확인</a:t>
                      </a:r>
                    </a:p>
                  </a:txBody>
                  <a:tcPr marL="45720" marR="45720" marT="18000" marB="18000" anchor="ctr">
                    <a:lnL w="0">
                      <a:noFill/>
                    </a:lnL>
                    <a:lnR w="0">
                      <a:noFill/>
                    </a:lnR>
                    <a:lnT w="0">
                      <a:noFill/>
                    </a:lnT>
                    <a:lnB w="6350">
                      <a:solidFill>
                        <a:srgbClr val="D9D9D9"/>
                      </a:solidFill>
                    </a:lnB>
                    <a:solidFill>
                      <a:srgbClr val="E2EFD9"/>
                    </a:solidFill>
                  </a:tcPr>
                </a:tc>
              </a:tr>
              <a:tr h="548640">
                <a:tc>
                  <a:txBody>
                    <a:bodyPr wrap="square"/>
                    <a:lstStyle/>
                    <a:p>
                      <a:pPr algn="l"/>
                      <a:r>
                        <a:rPr sz="1150" b="0">
                          <a:solidFill>
                            <a:srgbClr val="1A1A1A"/>
                          </a:solidFill>
                          <a:latin typeface="Noto Sans KR"/>
                          <a:ea typeface="Noto Sans KR"/>
                          <a:cs typeface="Noto Sans KR"/>
                        </a:rPr>
                        <a:t>⑤ 등록은 누구 명의?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현행: TC 본사+중국 대리인 가능 / 개정 초안: 중국 생산·수입기업만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1">
                          <a:solidFill>
                            <a:srgbClr val="C00000"/>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DE9E7"/>
                    </a:solidFill>
                  </a:tcPr>
                </a:tc>
              </a:tr>
              <a:tr h="548640">
                <a:tc>
                  <a:txBody>
                    <a:bodyPr wrap="square"/>
                    <a:lstStyle/>
                    <a:p>
                      <a:pPr algn="l"/>
                      <a:r>
                        <a:rPr sz="1150" b="0">
                          <a:solidFill>
                            <a:srgbClr val="1A1A1A"/>
                          </a:solidFill>
                          <a:latin typeface="Noto Sans KR"/>
                          <a:ea typeface="Noto Sans KR"/>
                          <a:cs typeface="Noto Sans KR"/>
                        </a:rPr>
                        <a:t>⑥ 최소 요건·예산?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4~5명(전담 안전관리자 포함)·사무실·3PL / 현지 인건비 연 72만 CNY(가정), 그 외 견적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1">
                          <a:solidFill>
                            <a:srgbClr val="843C0C"/>
                          </a:solidFill>
                          <a:latin typeface="Noto Sans KR"/>
                          <a:ea typeface="Noto Sans KR"/>
                          <a:cs typeface="Noto Sans KR"/>
                        </a:rPr>
                        <a:t>가정</a:t>
                      </a:r>
                    </a:p>
                  </a:txBody>
                  <a:tcPr marL="45720" marR="45720" marT="18000" marB="18000" anchor="ctr">
                    <a:lnL w="0">
                      <a:noFill/>
                    </a:lnL>
                    <a:lnR w="0">
                      <a:noFill/>
                    </a:lnR>
                    <a:lnT w="0">
                      <a:noFill/>
                    </a:lnT>
                    <a:lnB w="6350">
                      <a:solidFill>
                        <a:srgbClr val="D9D9D9"/>
                      </a:solidFill>
                    </a:lnB>
                    <a:solidFill>
                      <a:srgbClr val="FCE4D6"/>
                    </a:solidFill>
                  </a:tcPr>
                </a:tc>
              </a:tr>
              <a:tr h="548640">
                <a:tc>
                  <a:txBody>
                    <a:bodyPr wrap="square"/>
                    <a:lstStyle/>
                    <a:p>
                      <a:pPr algn="l"/>
                      <a:r>
                        <a:rPr sz="1150" b="0">
                          <a:solidFill>
                            <a:srgbClr val="1A1A1A"/>
                          </a:solidFill>
                          <a:latin typeface="Noto Sans KR"/>
                          <a:ea typeface="Noto Sans KR"/>
                          <a:cs typeface="Noto Sans KR"/>
                        </a:rPr>
                        <a:t>⑦ 연말 못 맞추면?</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150" b="0">
                          <a:solidFill>
                            <a:srgbClr val="1A1A1A"/>
                          </a:solidFill>
                          <a:latin typeface="Noto Sans KR"/>
                          <a:ea typeface="Noto Sans KR"/>
                          <a:cs typeface="Noto Sans KR"/>
                        </a:rPr>
                        <a:t>기존 备案 보유자가 12-31 전 전환 신청 · 적격 수입자 경유 공급 · 고객 사전 안내</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1">
                          <a:solidFill>
                            <a:srgbClr val="C00000"/>
                          </a:solidFill>
                          <a:latin typeface="Noto Sans KR"/>
                          <a:ea typeface="Noto Sans KR"/>
                          <a:cs typeface="Noto Sans KR"/>
                        </a:rPr>
                        <a:t>확인 필요</a:t>
                      </a:r>
                    </a:p>
                  </a:txBody>
                  <a:tcPr marL="45720" marR="45720" marT="18000" marB="18000" anchor="ctr">
                    <a:lnL w="0">
                      <a:noFill/>
                    </a:lnL>
                    <a:lnR w="0">
                      <a:noFill/>
                    </a:lnR>
                    <a:lnT w="0">
                      <a:noFill/>
                    </a:lnT>
                    <a:lnB w="9525">
                      <a:solidFill>
                        <a:srgbClr val="404040"/>
                      </a:solidFill>
                    </a:lnB>
                    <a:solidFill>
                      <a:srgbClr val="FDE9E7"/>
                    </a:solidFill>
                  </a:tcPr>
                </a:tc>
              </a:tr>
            </a:tbl>
          </a:graphicData>
        </a:graphic>
      </p:graphicFrame>
      <p:sp>
        <p:nvSpPr>
          <p:cNvPr id="165" name="Rectangle 164"/>
          <p:cNvSpPr/>
          <p:nvPr/>
        </p:nvSpPr>
        <p:spPr>
          <a:xfrm>
            <a:off x="283464" y="5230368"/>
            <a:ext cx="8567928" cy="822960"/>
          </a:xfrm>
          <a:prstGeom prst="rect">
            <a:avLst/>
          </a:prstGeom>
          <a:solidFill>
            <a:srgbClr val="FFF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411480" y="5266944"/>
            <a:ext cx="8321040" cy="777240"/>
          </a:xfrm>
          <a:prstGeom prst="rect">
            <a:avLst/>
          </a:prstGeom>
          <a:noFill/>
        </p:spPr>
        <p:txBody>
          <a:bodyPr wrap="square" anchor="t" lIns="27432" rIns="27432" tIns="18288" bIns="18288">
            <a:spAutoFit/>
          </a:bodyPr>
          <a:lstStyle/>
          <a:p>
            <a:pPr algn="l"/>
            <a:r>
              <a:rPr sz="1200" b="1">
                <a:solidFill>
                  <a:srgbClr val="C00000"/>
                </a:solidFill>
                <a:latin typeface="Noto Sans KR"/>
                <a:ea typeface="Noto Sans KR"/>
                <a:cs typeface="Noto Sans KR"/>
              </a:rPr>
              <a:t>승인 요청  </a:t>
            </a:r>
            <a:r>
              <a:rPr sz="1200" b="0">
                <a:solidFill>
                  <a:srgbClr val="1A1A1A"/>
                </a:solidFill>
                <a:latin typeface="Noto Sans KR"/>
                <a:ea typeface="Noto Sans KR"/>
                <a:cs typeface="Noto Sans KR"/>
              </a:rPr>
              <a:t>① 2주 확인 착수 (备案 보유자·제품 분류·MP 실사·무석 기관 질의)  ② 중국 법무·등록 전문가 위촉  ③ 11월 중순 구조·지역·예산 최종 결정</a:t>
            </a:r>
          </a:p>
        </p:txBody>
      </p:sp>
      <p:sp>
        <p:nvSpPr>
          <p:cNvPr id="167" name="TextBox 166"/>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EVD-001~003 생태환경부 12호령·개정 초안·환판고체함〔2026〕301호 / EVD-009·011 위험화학품안전법 / EVD-014 무석 세칙 (Excel 02·04)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독자 법인의 명분은 등록 명의와 자료 통제입니다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350" dirty="0">
                <a:latin typeface="Noto Sans KR" panose="02000503000000020004" pitchFamily="2" charset="-127"/>
                <a:ea typeface="Noto Sans KR" panose="02000503000000020004" pitchFamily="2" charset="-127"/>
                <a:cs typeface="Noto Sans KR" panose="02000503000000020004" pitchFamily="2" charset="-127"/>
              </a:rPr>
              <a:t>회의 지시: 강소성 우선 · 연말 등록 · 최소 자금 · MP 대비 명분 정리</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sz="1000" b="1" dirty="0">
                <a:latin typeface="Noto Sans KR" pitchFamily="2" charset="-127"/>
                <a:ea typeface="Noto Sans KR" pitchFamily="2" charset="-127"/>
              </a:rPr>
              <a:t>3</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- 3 -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sp>
        <p:nvSpPr>
          <p:cNvPr id="164" name="Rectangle 163"/>
          <p:cNvSpPr/>
          <p:nvPr/>
        </p:nvSpPr>
        <p:spPr>
          <a:xfrm>
            <a:off x="283464" y="1024128"/>
            <a:ext cx="54864" cy="182880"/>
          </a:xfrm>
          <a:prstGeom prst="rect">
            <a:avLst/>
          </a:prstGeom>
          <a:solidFill>
            <a:srgbClr val="EB0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393192" y="978408"/>
            <a:ext cx="4096511" cy="274320"/>
          </a:xfrm>
          <a:prstGeom prst="rect">
            <a:avLst/>
          </a:prstGeom>
          <a:noFill/>
        </p:spPr>
        <p:txBody>
          <a:bodyPr wrap="square" anchor="t" lIns="27432" rIns="27432" tIns="18288" bIns="18288">
            <a:spAutoFit/>
          </a:bodyPr>
          <a:lstStyle/>
          <a:p>
            <a:pPr algn="l"/>
            <a:r>
              <a:rPr sz="1200" b="1">
                <a:solidFill>
                  <a:srgbClr val="1A1A1A"/>
                </a:solidFill>
                <a:latin typeface="Noto Sans KR"/>
                <a:ea typeface="Noto Sans KR"/>
                <a:cs typeface="Noto Sans KR"/>
              </a:rPr>
              <a:t>회의에서 나온 내용</a:t>
            </a:r>
            <a:r>
              <a:rPr sz="1000" b="1">
                <a:solidFill>
                  <a:srgbClr val="C00000"/>
                </a:solidFill>
                <a:latin typeface="Noto Sans KR"/>
                <a:ea typeface="Noto Sans KR"/>
                <a:cs typeface="Noto Sans KR"/>
              </a:rPr>
              <a:t>   내부 제공 · 검증 전</a:t>
            </a:r>
          </a:p>
        </p:txBody>
      </p:sp>
      <p:sp>
        <p:nvSpPr>
          <p:cNvPr id="166" name="TextBox 165"/>
          <p:cNvSpPr txBox="1"/>
          <p:nvPr/>
        </p:nvSpPr>
        <p:spPr>
          <a:xfrm>
            <a:off x="283464" y="1298448"/>
            <a:ext cx="4160520" cy="4480560"/>
          </a:xfrm>
          <a:prstGeom prst="rect">
            <a:avLst/>
          </a:prstGeom>
          <a:noFill/>
        </p:spPr>
        <p:txBody>
          <a:bodyPr wrap="square" lIns="27432" rIns="27432">
            <a:spAutoFit/>
          </a:bodyPr>
          <a:lstStyle/>
          <a:p>
            <a:pPr>
              <a:spcAft>
                <a:spcPts val="400"/>
              </a:spcAft>
            </a:pPr>
            <a:r>
              <a:rPr sz="1200" b="0">
                <a:solidFill>
                  <a:srgbClr val="1A1A1A"/>
                </a:solidFill>
                <a:latin typeface="Noto Sans KR"/>
                <a:ea typeface="Noto Sans KR"/>
                <a:cs typeface="Noto Sans KR"/>
              </a:rPr>
              <a:t>• 중국 고객(CXMT·SK하이닉스 우시·YMTC)에 반도체 전구체 공급 추진</a:t>
            </a:r>
          </a:p>
          <a:p>
            <a:pPr>
              <a:spcAft>
                <a:spcPts val="400"/>
              </a:spcAft>
            </a:pPr>
            <a:r>
              <a:rPr sz="1200" b="0">
                <a:solidFill>
                  <a:srgbClr val="1A1A1A"/>
                </a:solidFill>
                <a:latin typeface="Noto Sans KR"/>
                <a:ea typeface="Noto Sans KR"/>
                <a:cs typeface="Noto Sans KR"/>
              </a:rPr>
              <a:t>• 사장님: 기존 MP 중국법인에 기능 추가해 TC가 이용</a:t>
            </a:r>
          </a:p>
          <a:p>
            <a:pPr>
              <a:spcAft>
                <a:spcPts val="400"/>
              </a:spcAft>
            </a:pPr>
            <a:r>
              <a:rPr sz="1200" b="0">
                <a:solidFill>
                  <a:srgbClr val="1A1A1A"/>
                </a:solidFill>
                <a:latin typeface="Noto Sans KR"/>
                <a:ea typeface="Noto Sans KR"/>
                <a:cs typeface="Noto Sans KR"/>
              </a:rPr>
              <a:t>• 대표님: TC 독자 법인으로 자체 운영 선호</a:t>
            </a:r>
          </a:p>
          <a:p>
            <a:pPr>
              <a:spcAft>
                <a:spcPts val="400"/>
              </a:spcAft>
            </a:pPr>
            <a:r>
              <a:rPr sz="1200" b="0">
                <a:solidFill>
                  <a:srgbClr val="1A1A1A"/>
                </a:solidFill>
                <a:latin typeface="Noto Sans KR"/>
                <a:ea typeface="Noto Sans KR"/>
                <a:cs typeface="Noto Sans KR"/>
              </a:rPr>
              <a:t>• 우선 소재: Y·Sc·La 전구체 3종 (이후 CpZr 등 확대)</a:t>
            </a:r>
          </a:p>
          <a:p>
            <a:pPr>
              <a:spcAft>
                <a:spcPts val="400"/>
              </a:spcAft>
            </a:pPr>
            <a:r>
              <a:rPr sz="1200" b="0">
                <a:solidFill>
                  <a:srgbClr val="1A1A1A"/>
                </a:solidFill>
                <a:latin typeface="Noto Sans KR"/>
                <a:ea typeface="Noto Sans KR"/>
                <a:cs typeface="Noto Sans KR"/>
              </a:rPr>
              <a:t>• 외부·고객 명의 등록 시 기술정보 노출 우려</a:t>
            </a:r>
          </a:p>
          <a:p>
            <a:pPr>
              <a:spcAft>
                <a:spcPts val="400"/>
              </a:spcAft>
            </a:pPr>
            <a:r>
              <a:rPr sz="1200" b="0">
                <a:solidFill>
                  <a:srgbClr val="1A1A1A"/>
                </a:solidFill>
                <a:latin typeface="Noto Sans KR"/>
                <a:ea typeface="Noto Sans KR"/>
                <a:cs typeface="Noto Sans KR"/>
              </a:rPr>
              <a:t>• MP는 위험물 인허가 미보유 언급 (미확인)</a:t>
            </a:r>
          </a:p>
          <a:p>
            <a:pPr>
              <a:spcAft>
                <a:spcPts val="400"/>
              </a:spcAft>
            </a:pPr>
            <a:r>
              <a:rPr sz="1200" b="0">
                <a:solidFill>
                  <a:srgbClr val="1A1A1A"/>
                </a:solidFill>
                <a:latin typeface="Noto Sans KR"/>
                <a:ea typeface="Noto Sans KR"/>
                <a:cs typeface="Noto Sans KR"/>
              </a:rPr>
              <a:t>• 목표: 2026년 12월 말 법인·물질등록 완료</a:t>
            </a:r>
          </a:p>
          <a:p>
            <a:pPr>
              <a:spcAft>
                <a:spcPts val="400"/>
              </a:spcAft>
            </a:pPr>
            <a:r>
              <a:rPr sz="1200" b="0">
                <a:solidFill>
                  <a:srgbClr val="1A1A1A"/>
                </a:solidFill>
                <a:latin typeface="Noto Sans KR"/>
                <a:ea typeface="Noto Sans KR"/>
                <a:cs typeface="Noto Sans KR"/>
              </a:rPr>
              <a:t>• 초기 4명, 중국 투입 자금 최소화, 창고는 향후 재고 거점</a:t>
            </a:r>
          </a:p>
        </p:txBody>
      </p:sp>
      <p:sp>
        <p:nvSpPr>
          <p:cNvPr id="167" name="Rectangle 166"/>
          <p:cNvSpPr/>
          <p:nvPr/>
        </p:nvSpPr>
        <p:spPr>
          <a:xfrm>
            <a:off x="4617720" y="1024128"/>
            <a:ext cx="54864" cy="182880"/>
          </a:xfrm>
          <a:prstGeom prst="rect">
            <a:avLst/>
          </a:prstGeom>
          <a:solidFill>
            <a:srgbClr val="EB0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4727448" y="978408"/>
            <a:ext cx="4123944" cy="274320"/>
          </a:xfrm>
          <a:prstGeom prst="rect">
            <a:avLst/>
          </a:prstGeom>
          <a:noFill/>
        </p:spPr>
        <p:txBody>
          <a:bodyPr wrap="square" anchor="t" lIns="27432" rIns="27432" tIns="18288" bIns="18288">
            <a:spAutoFit/>
          </a:bodyPr>
          <a:lstStyle/>
          <a:p>
            <a:pPr algn="l"/>
            <a:r>
              <a:rPr sz="1200" b="1">
                <a:solidFill>
                  <a:srgbClr val="1A1A1A"/>
                </a:solidFill>
                <a:latin typeface="Noto Sans KR"/>
                <a:ea typeface="Noto Sans KR"/>
                <a:cs typeface="Noto Sans KR"/>
              </a:rPr>
              <a:t>이 자료가 답하는 질문</a:t>
            </a:r>
          </a:p>
        </p:txBody>
      </p:sp>
      <p:sp>
        <p:nvSpPr>
          <p:cNvPr id="169" name="TextBox 168"/>
          <p:cNvSpPr txBox="1"/>
          <p:nvPr/>
        </p:nvSpPr>
        <p:spPr>
          <a:xfrm>
            <a:off x="4617720" y="1298448"/>
            <a:ext cx="4206240" cy="4480560"/>
          </a:xfrm>
          <a:prstGeom prst="rect">
            <a:avLst/>
          </a:prstGeom>
          <a:noFill/>
        </p:spPr>
        <p:txBody>
          <a:bodyPr wrap="square" lIns="27432" rIns="27432">
            <a:spAutoFit/>
          </a:bodyPr>
          <a:lstStyle/>
          <a:p>
            <a:pPr>
              <a:spcAft>
                <a:spcPts val="400"/>
              </a:spcAft>
            </a:pPr>
            <a:r>
              <a:rPr sz="1200" b="0">
                <a:solidFill>
                  <a:srgbClr val="1A1A1A"/>
                </a:solidFill>
                <a:latin typeface="Noto Sans KR"/>
                <a:ea typeface="Noto Sans KR"/>
                <a:cs typeface="Noto Sans KR"/>
              </a:rPr>
              <a:t>• 독자 법인 필요성 vs MP 활용</a:t>
            </a:r>
          </a:p>
          <a:p>
            <a:pPr>
              <a:spcAft>
                <a:spcPts val="400"/>
              </a:spcAft>
            </a:pPr>
            <a:r>
              <a:rPr sz="1200" b="0">
                <a:solidFill>
                  <a:srgbClr val="1A1A1A"/>
                </a:solidFill>
                <a:latin typeface="Noto Sans KR"/>
                <a:ea typeface="Noto Sans KR"/>
                <a:cs typeface="Noto Sans KR"/>
              </a:rPr>
              <a:t>• 강소성 내 도시·단지·운영 방식</a:t>
            </a:r>
          </a:p>
          <a:p>
            <a:pPr>
              <a:spcAft>
                <a:spcPts val="400"/>
              </a:spcAft>
            </a:pPr>
            <a:r>
              <a:rPr sz="1200" b="0">
                <a:solidFill>
                  <a:srgbClr val="1A1A1A"/>
                </a:solidFill>
                <a:latin typeface="Noto Sans KR"/>
                <a:ea typeface="Noto Sans KR"/>
                <a:cs typeface="Noto Sans KR"/>
              </a:rPr>
              <a:t>• 강소성이 막히는 이유와 인근 대안</a:t>
            </a:r>
          </a:p>
          <a:p>
            <a:pPr>
              <a:spcAft>
                <a:spcPts val="400"/>
              </a:spcAft>
            </a:pPr>
            <a:r>
              <a:rPr sz="1200" b="0">
                <a:solidFill>
                  <a:srgbClr val="1A1A1A"/>
                </a:solidFill>
                <a:latin typeface="Noto Sans KR"/>
                <a:ea typeface="Noto Sans KR"/>
                <a:cs typeface="Noto Sans KR"/>
              </a:rPr>
              <a:t>• 수입만 해도 생산허가·설비가 필요한가</a:t>
            </a:r>
          </a:p>
          <a:p>
            <a:pPr>
              <a:spcAft>
                <a:spcPts val="400"/>
              </a:spcAft>
            </a:pPr>
            <a:r>
              <a:rPr sz="1200" b="0">
                <a:solidFill>
                  <a:srgbClr val="1A1A1A"/>
                </a:solidFill>
                <a:latin typeface="Noto Sans KR"/>
                <a:ea typeface="Noto Sans KR"/>
                <a:cs typeface="Noto Sans KR"/>
              </a:rPr>
              <a:t>• 신규화학물질 등록 신청 주체</a:t>
            </a:r>
          </a:p>
          <a:p>
            <a:pPr>
              <a:spcAft>
                <a:spcPts val="400"/>
              </a:spcAft>
            </a:pPr>
            <a:r>
              <a:rPr sz="1200" b="0">
                <a:solidFill>
                  <a:srgbClr val="1A1A1A"/>
                </a:solidFill>
                <a:latin typeface="Noto Sans KR"/>
                <a:ea typeface="Noto Sans KR"/>
                <a:cs typeface="Noto Sans KR"/>
              </a:rPr>
              <a:t>• 최소 인력·시설·자본·예산·일정</a:t>
            </a:r>
          </a:p>
          <a:p>
            <a:pPr>
              <a:spcAft>
                <a:spcPts val="400"/>
              </a:spcAft>
            </a:pPr>
            <a:r>
              <a:rPr sz="1200" b="0">
                <a:solidFill>
                  <a:srgbClr val="1A1A1A"/>
                </a:solidFill>
                <a:latin typeface="Noto Sans KR"/>
                <a:ea typeface="Noto Sans KR"/>
                <a:cs typeface="Noto Sans KR"/>
              </a:rPr>
              <a:t>• 연말 미달 시 합법적 대안</a:t>
            </a:r>
          </a:p>
        </p:txBody>
      </p:sp>
      <p:sp>
        <p:nvSpPr>
          <p:cNvPr id="170" name="Rectangle 169"/>
          <p:cNvSpPr/>
          <p:nvPr/>
        </p:nvSpPr>
        <p:spPr>
          <a:xfrm>
            <a:off x="283464" y="5440680"/>
            <a:ext cx="8567928"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411480" y="5486400"/>
            <a:ext cx="8321040" cy="502920"/>
          </a:xfrm>
          <a:prstGeom prst="rect">
            <a:avLst/>
          </a:prstGeom>
          <a:noFill/>
        </p:spPr>
        <p:txBody>
          <a:bodyPr wrap="square" anchor="t" lIns="27432" rIns="27432" tIns="18288" bIns="18288">
            <a:spAutoFit/>
          </a:bodyPr>
          <a:lstStyle/>
          <a:p>
            <a:pPr algn="l"/>
            <a:r>
              <a:rPr sz="1150" b="1">
                <a:solidFill>
                  <a:srgbClr val="C00000"/>
                </a:solidFill>
                <a:latin typeface="Noto Sans KR"/>
                <a:ea typeface="Noto Sans KR"/>
                <a:cs typeface="Noto Sans KR"/>
              </a:rPr>
              <a:t>원칙  </a:t>
            </a:r>
            <a:r>
              <a:rPr sz="1150" b="0">
                <a:solidFill>
                  <a:srgbClr val="1A1A1A"/>
                </a:solidFill>
                <a:latin typeface="Noto Sans KR"/>
                <a:ea typeface="Noto Sans KR"/>
                <a:cs typeface="Noto Sans KR"/>
              </a:rPr>
              <a:t>강소성은 '우선 조사 대상'이지 정해진 결론이 아님 · MP 활용안의 이점도 함께 비교 · 법인 등기 ≠ 사업 개시</a:t>
            </a:r>
          </a:p>
        </p:txBody>
      </p:sp>
      <p:sp>
        <p:nvSpPr>
          <p:cNvPr id="172" name="TextBox 171"/>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2026-10-06 내부 회의 (내부 제공)</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제품 정보가 없어 규제 판단은 시나리오로 합니다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350" dirty="0">
                <a:latin typeface="Noto Sans KR" panose="02000503000000020004" pitchFamily="2" charset="-127"/>
                <a:ea typeface="Noto Sans KR" panose="02000503000000020004" pitchFamily="2" charset="-127"/>
                <a:cs typeface="Noto Sans KR" panose="02000503000000020004" pitchFamily="2" charset="-127"/>
              </a:rPr>
              <a:t>고객 위치는 공개 주소 기준 · CAS·SDS·물량·기존 备案 확인이 첫 과제</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sz="1000" b="1" dirty="0">
                <a:latin typeface="Noto Sans KR" pitchFamily="2" charset="-127"/>
                <a:ea typeface="Noto Sans KR" pitchFamily="2" charset="-127"/>
              </a:rPr>
              <a:t>4</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- 4 -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sp>
        <p:nvSpPr>
          <p:cNvPr id="164" name="Rectangle 163"/>
          <p:cNvSpPr/>
          <p:nvPr/>
        </p:nvSpPr>
        <p:spPr>
          <a:xfrm>
            <a:off x="283464" y="1024128"/>
            <a:ext cx="54864" cy="182880"/>
          </a:xfrm>
          <a:prstGeom prst="rect">
            <a:avLst/>
          </a:prstGeom>
          <a:solidFill>
            <a:srgbClr val="EB0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393192" y="978408"/>
            <a:ext cx="8458200" cy="274320"/>
          </a:xfrm>
          <a:prstGeom prst="rect">
            <a:avLst/>
          </a:prstGeom>
          <a:noFill/>
        </p:spPr>
        <p:txBody>
          <a:bodyPr wrap="square" anchor="t" lIns="27432" rIns="27432" tIns="18288" bIns="18288">
            <a:spAutoFit/>
          </a:bodyPr>
          <a:lstStyle/>
          <a:p>
            <a:pPr algn="l"/>
            <a:r>
              <a:rPr sz="1200" b="1">
                <a:solidFill>
                  <a:srgbClr val="1A1A1A"/>
                </a:solidFill>
                <a:latin typeface="Noto Sans KR"/>
                <a:ea typeface="Noto Sans KR"/>
                <a:cs typeface="Noto Sans KR"/>
              </a:rPr>
              <a:t>① 중국 고객</a:t>
            </a:r>
            <a:r>
              <a:rPr sz="1000" b="1">
                <a:solidFill>
                  <a:srgbClr val="C00000"/>
                </a:solidFill>
                <a:latin typeface="Noto Sans KR"/>
                <a:ea typeface="Noto Sans KR"/>
                <a:cs typeface="Noto Sans KR"/>
              </a:rPr>
              <a:t>   거래·공급·등록 상태는 내부 확인</a:t>
            </a:r>
          </a:p>
        </p:txBody>
      </p:sp>
      <p:graphicFrame>
        <p:nvGraphicFramePr>
          <p:cNvPr id="166" name="Table 165"/>
          <p:cNvGraphicFramePr>
            <a:graphicFrameLocks noGrp="1"/>
          </p:cNvGraphicFramePr>
          <p:nvPr/>
        </p:nvGraphicFramePr>
        <p:xfrm>
          <a:off x="283464" y="1243584"/>
          <a:ext cx="8567928" cy="1444752"/>
        </p:xfrm>
        <a:graphic>
          <a:graphicData uri="http://schemas.openxmlformats.org/drawingml/2006/table">
            <a:tbl>
              <a:tblPr firstRow="0" bandRow="0"/>
              <a:tblGrid>
                <a:gridCol w="2011680"/>
                <a:gridCol w="2651760"/>
                <a:gridCol w="1645920"/>
                <a:gridCol w="2258568"/>
              </a:tblGrid>
              <a:tr h="292608">
                <a:tc>
                  <a:txBody>
                    <a:bodyPr wrap="square"/>
                    <a:lstStyle/>
                    <a:p>
                      <a:pPr algn="ctr"/>
                      <a:r>
                        <a:rPr sz="1200" b="1">
                          <a:solidFill>
                            <a:srgbClr val="FFFFFF"/>
                          </a:solidFill>
                          <a:latin typeface="Noto Sans KR"/>
                          <a:ea typeface="Noto Sans KR"/>
                          <a:cs typeface="Noto Sans KR"/>
                        </a:rPr>
                        <a:t>고객</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위치 (공개 정보)</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가까운 후보</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확인할 것</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384048">
                <a:tc>
                  <a:txBody>
                    <a:bodyPr wrap="square"/>
                    <a:lstStyle/>
                    <a:p>
                      <a:pPr algn="l"/>
                      <a:r>
                        <a:rPr sz="1200" b="0">
                          <a:solidFill>
                            <a:srgbClr val="1A1A1A"/>
                          </a:solidFill>
                          <a:latin typeface="Noto Sans KR"/>
                          <a:ea typeface="Noto Sans KR"/>
                          <a:cs typeface="Noto Sans KR"/>
                        </a:rPr>
                        <a:t>CXMT (长鑫存储)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안후이 허페이 경제기술개발구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허페이 · 난징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반입 공장·현 수입자·备案 주체</a:t>
                      </a:r>
                    </a:p>
                  </a:txBody>
                  <a:tcPr marL="45720" marR="45720" marT="18000" marB="18000" anchor="ctr">
                    <a:lnL w="0">
                      <a:noFill/>
                    </a:lnL>
                    <a:lnR w="0">
                      <a:noFill/>
                    </a:lnR>
                    <a:lnT w="0">
                      <a:noFill/>
                    </a:lnT>
                    <a:lnB w="6350">
                      <a:solidFill>
                        <a:srgbClr val="D9D9D9"/>
                      </a:solidFill>
                    </a:lnB>
                    <a:solidFill>
                      <a:srgbClr val="FFFFFF"/>
                    </a:solidFill>
                  </a:tcPr>
                </a:tc>
              </a:tr>
              <a:tr h="384048">
                <a:tc>
                  <a:txBody>
                    <a:bodyPr wrap="square"/>
                    <a:lstStyle/>
                    <a:p>
                      <a:pPr algn="l"/>
                      <a:r>
                        <a:rPr sz="1200" b="0">
                          <a:solidFill>
                            <a:srgbClr val="1A1A1A"/>
                          </a:solidFill>
                          <a:latin typeface="Noto Sans KR"/>
                          <a:ea typeface="Noto Sans KR"/>
                          <a:cs typeface="Noto Sans KR"/>
                        </a:rPr>
                        <a:t>SK하이닉스 우시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강소 무석 신오구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무석 · 쑤저우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공급자 변경 승인 절차</a:t>
                      </a:r>
                    </a:p>
                  </a:txBody>
                  <a:tcPr marL="45720" marR="45720" marT="18000" marB="18000" anchor="ctr">
                    <a:lnL w="0">
                      <a:noFill/>
                    </a:lnL>
                    <a:lnR w="0">
                      <a:noFill/>
                    </a:lnR>
                    <a:lnT w="0">
                      <a:noFill/>
                    </a:lnT>
                    <a:lnB w="6350">
                      <a:solidFill>
                        <a:srgbClr val="D9D9D9"/>
                      </a:solidFill>
                    </a:lnB>
                    <a:solidFill>
                      <a:srgbClr val="FFFFFF"/>
                    </a:solidFill>
                  </a:tcPr>
                </a:tc>
              </a:tr>
              <a:tr h="384048">
                <a:tc>
                  <a:txBody>
                    <a:bodyPr wrap="square"/>
                    <a:lstStyle/>
                    <a:p>
                      <a:pPr algn="l"/>
                      <a:r>
                        <a:rPr sz="1200" b="0">
                          <a:solidFill>
                            <a:srgbClr val="1A1A1A"/>
                          </a:solidFill>
                          <a:latin typeface="Noto Sans KR"/>
                          <a:ea typeface="Noto Sans KR"/>
                          <a:cs typeface="Noto Sans KR"/>
                        </a:rPr>
                        <a:t>YMTC (长江存储)</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후베이 우한 동호고신구</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(지도 밖 서쪽)</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공급 여부 자체 확인</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7" name="Rectangle 166"/>
          <p:cNvSpPr/>
          <p:nvPr/>
        </p:nvSpPr>
        <p:spPr>
          <a:xfrm>
            <a:off x="283464" y="2916936"/>
            <a:ext cx="54864" cy="182880"/>
          </a:xfrm>
          <a:prstGeom prst="rect">
            <a:avLst/>
          </a:prstGeom>
          <a:solidFill>
            <a:srgbClr val="EB0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393192" y="2871216"/>
            <a:ext cx="8458200" cy="274320"/>
          </a:xfrm>
          <a:prstGeom prst="rect">
            <a:avLst/>
          </a:prstGeom>
          <a:noFill/>
        </p:spPr>
        <p:txBody>
          <a:bodyPr wrap="square" anchor="t" lIns="27432" rIns="27432" tIns="18288" bIns="18288">
            <a:spAutoFit/>
          </a:bodyPr>
          <a:lstStyle/>
          <a:p>
            <a:pPr algn="l"/>
            <a:r>
              <a:rPr sz="1200" b="1">
                <a:solidFill>
                  <a:srgbClr val="1A1A1A"/>
                </a:solidFill>
                <a:latin typeface="Noto Sans KR"/>
                <a:ea typeface="Noto Sans KR"/>
                <a:cs typeface="Noto Sans KR"/>
              </a:rPr>
              <a:t>② 대상 제품과 비어 있는 입력값</a:t>
            </a:r>
            <a:r>
              <a:rPr sz="1000" b="1">
                <a:solidFill>
                  <a:srgbClr val="C00000"/>
                </a:solidFill>
                <a:latin typeface="Noto Sans KR"/>
                <a:ea typeface="Noto Sans KR"/>
                <a:cs typeface="Noto Sans KR"/>
              </a:rPr>
              <a:t>   제품 코드·화학명·CAS 미제공 → 임의 기재하지 않음</a:t>
            </a:r>
          </a:p>
        </p:txBody>
      </p:sp>
      <p:graphicFrame>
        <p:nvGraphicFramePr>
          <p:cNvPr id="169" name="Table 168"/>
          <p:cNvGraphicFramePr>
            <a:graphicFrameLocks noGrp="1"/>
          </p:cNvGraphicFramePr>
          <p:nvPr/>
        </p:nvGraphicFramePr>
        <p:xfrm>
          <a:off x="283464" y="3136392"/>
          <a:ext cx="8567928" cy="1828800"/>
        </p:xfrm>
        <a:graphic>
          <a:graphicData uri="http://schemas.openxmlformats.org/drawingml/2006/table">
            <a:tbl>
              <a:tblPr firstRow="0" bandRow="0"/>
              <a:tblGrid>
                <a:gridCol w="1828800"/>
                <a:gridCol w="2011680"/>
                <a:gridCol w="4727448"/>
              </a:tblGrid>
              <a:tr h="292608">
                <a:tc>
                  <a:txBody>
                    <a:bodyPr wrap="square"/>
                    <a:lstStyle/>
                    <a:p>
                      <a:pPr algn="ctr"/>
                      <a:r>
                        <a:rPr sz="1200" b="1">
                          <a:solidFill>
                            <a:srgbClr val="FFFFFF"/>
                          </a:solidFill>
                          <a:latin typeface="Noto Sans KR"/>
                          <a:ea typeface="Noto Sans KR"/>
                          <a:cs typeface="Noto Sans KR"/>
                        </a:rPr>
                        <a:t>제품</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알고 있는 것</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비어 있는 입력값 (판단에 미치는 영향)</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384048">
                <a:tc>
                  <a:txBody>
                    <a:bodyPr wrap="square"/>
                    <a:lstStyle/>
                    <a:p>
                      <a:pPr algn="l"/>
                      <a:r>
                        <a:rPr sz="1200" b="0">
                          <a:solidFill>
                            <a:srgbClr val="1A1A1A"/>
                          </a:solidFill>
                          <a:latin typeface="Noto Sans KR"/>
                          <a:ea typeface="Noto Sans KR"/>
                          <a:cs typeface="Noto Sans KR"/>
                        </a:rPr>
                        <a:t>Y 전구체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원소 기준 소재군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CAS → 신규물질 여부 / 물성 → 위험화학품·창고</a:t>
                      </a:r>
                    </a:p>
                  </a:txBody>
                  <a:tcPr marL="45720" marR="45720" marT="18000" marB="18000" anchor="ctr">
                    <a:lnL w="0">
                      <a:noFill/>
                    </a:lnL>
                    <a:lnR w="0">
                      <a:noFill/>
                    </a:lnR>
                    <a:lnT w="0">
                      <a:noFill/>
                    </a:lnT>
                    <a:lnB w="6350">
                      <a:solidFill>
                        <a:srgbClr val="D9D9D9"/>
                      </a:solidFill>
                    </a:lnB>
                    <a:solidFill>
                      <a:srgbClr val="FFFFFF"/>
                    </a:solidFill>
                  </a:tcPr>
                </a:tc>
              </a:tr>
              <a:tr h="384048">
                <a:tc>
                  <a:txBody>
                    <a:bodyPr wrap="square"/>
                    <a:lstStyle/>
                    <a:p>
                      <a:pPr algn="l"/>
                      <a:r>
                        <a:rPr sz="1200" b="0">
                          <a:solidFill>
                            <a:srgbClr val="1A1A1A"/>
                          </a:solidFill>
                          <a:latin typeface="Noto Sans KR"/>
                          <a:ea typeface="Noto Sans KR"/>
                          <a:cs typeface="Noto Sans KR"/>
                        </a:rPr>
                        <a:t>Sc 전구체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원소 기준 소재군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연간 수입량 → 등록 유형(1t·10t 기준)</a:t>
                      </a:r>
                    </a:p>
                  </a:txBody>
                  <a:tcPr marL="45720" marR="45720" marT="18000" marB="18000" anchor="ctr">
                    <a:lnL w="0">
                      <a:noFill/>
                    </a:lnL>
                    <a:lnR w="0">
                      <a:noFill/>
                    </a:lnR>
                    <a:lnT w="0">
                      <a:noFill/>
                    </a:lnT>
                    <a:lnB w="6350">
                      <a:solidFill>
                        <a:srgbClr val="D9D9D9"/>
                      </a:solidFill>
                    </a:lnB>
                    <a:solidFill>
                      <a:srgbClr val="FFFFFF"/>
                    </a:solidFill>
                  </a:tcPr>
                </a:tc>
              </a:tr>
              <a:tr h="384048">
                <a:tc>
                  <a:txBody>
                    <a:bodyPr wrap="square"/>
                    <a:lstStyle/>
                    <a:p>
                      <a:pPr algn="l"/>
                      <a:r>
                        <a:rPr sz="1200" b="0">
                          <a:solidFill>
                            <a:srgbClr val="1A1A1A"/>
                          </a:solidFill>
                          <a:latin typeface="Noto Sans KR"/>
                          <a:ea typeface="Noto Sans KR"/>
                          <a:cs typeface="Noto Sans KR"/>
                        </a:rPr>
                        <a:t>La 전구체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원소 기준 소재군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기존 备案·수입자 → 연말 기한 적용 여부</a:t>
                      </a:r>
                    </a:p>
                  </a:txBody>
                  <a:tcPr marL="45720" marR="45720" marT="18000" marB="18000" anchor="ctr">
                    <a:lnL w="0">
                      <a:noFill/>
                    </a:lnL>
                    <a:lnR w="0">
                      <a:noFill/>
                    </a:lnR>
                    <a:lnT w="0">
                      <a:noFill/>
                    </a:lnT>
                    <a:lnB w="6350">
                      <a:solidFill>
                        <a:srgbClr val="D9D9D9"/>
                      </a:solidFill>
                    </a:lnB>
                    <a:solidFill>
                      <a:srgbClr val="FFFFFF"/>
                    </a:solidFill>
                  </a:tcPr>
                </a:tc>
              </a:tr>
              <a:tr h="384048">
                <a:tc>
                  <a:txBody>
                    <a:bodyPr wrap="square"/>
                    <a:lstStyle/>
                    <a:p>
                      <a:pPr algn="l"/>
                      <a:r>
                        <a:rPr sz="1200" b="0">
                          <a:solidFill>
                            <a:srgbClr val="1A1A1A"/>
                          </a:solidFill>
                          <a:latin typeface="Noto Sans KR"/>
                          <a:ea typeface="Noto Sans KR"/>
                          <a:cs typeface="Noto Sans KR"/>
                        </a:rPr>
                        <a:t>CpZr 등 (후속)</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중국 공급 제품</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고객별 수입 구조 → 공급자 변경 필요 여부</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70" name="TextBox 169"/>
          <p:cNvSpPr txBox="1"/>
          <p:nvPr/>
        </p:nvSpPr>
        <p:spPr>
          <a:xfrm>
            <a:off x="283464" y="5166360"/>
            <a:ext cx="8567928" cy="822960"/>
          </a:xfrm>
          <a:prstGeom prst="rect">
            <a:avLst/>
          </a:prstGeom>
          <a:noFill/>
        </p:spPr>
        <p:txBody>
          <a:bodyPr wrap="square" anchor="t" lIns="27432" rIns="27432" tIns="18288" bIns="18288">
            <a:spAutoFit/>
          </a:bodyPr>
          <a:lstStyle/>
          <a:p>
            <a:pPr algn="l"/>
            <a:r>
              <a:rPr sz="1150" b="1">
                <a:solidFill>
                  <a:srgbClr val="1A1A1A"/>
                </a:solidFill>
                <a:latin typeface="Noto Sans KR"/>
                <a:ea typeface="Noto Sans KR"/>
                <a:cs typeface="Noto Sans KR"/>
              </a:rPr>
              <a:t>원소를 파는 것이 아니라 Y·Sc·La를 포함한 전구체 화합물입니다. </a:t>
            </a:r>
            <a:r>
              <a:rPr sz="1150" b="0">
                <a:solidFill>
                  <a:srgbClr val="1A1A1A"/>
                </a:solidFill>
                <a:latin typeface="Noto Sans KR"/>
                <a:ea typeface="Noto Sans KR"/>
                <a:cs typeface="Noto Sans KR"/>
              </a:rPr>
              <a:t>같은 원소라도 화합물·용매·농도에 따라 신규물질 여부와 위험 분류가 달라지므로 제품별로 따로 판정합니다.</a:t>
            </a:r>
          </a:p>
        </p:txBody>
      </p:sp>
      <p:sp>
        <p:nvSpPr>
          <p:cNvPr id="171" name="TextBox 170"/>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EVD-029~031 (CXMT·YMTC 공개 주소, SK하이닉스 우시 보도) / 05_Materials 시트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회의 가설 5개 중 3개는 근거와 다르거나 조건부입니다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생산설비·한국 시험자료·법인 설립 즉시 수입은 사실과 다름</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sz="1000" b="1" dirty="0">
                <a:latin typeface="Noto Sans KR" pitchFamily="2" charset="-127"/>
                <a:ea typeface="Noto Sans KR" pitchFamily="2" charset="-127"/>
              </a:rPr>
              <a:t>5</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- 5 -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4224528"/>
        </p:xfrm>
        <a:graphic>
          <a:graphicData uri="http://schemas.openxmlformats.org/drawingml/2006/table">
            <a:tbl>
              <a:tblPr firstRow="0" bandRow="0"/>
              <a:tblGrid>
                <a:gridCol w="2240280"/>
                <a:gridCol w="4206240"/>
                <a:gridCol w="1005840"/>
                <a:gridCol w="1115568"/>
              </a:tblGrid>
              <a:tr h="292608">
                <a:tc>
                  <a:txBody>
                    <a:bodyPr wrap="square"/>
                    <a:lstStyle/>
                    <a:p>
                      <a:pPr algn="ctr"/>
                      <a:r>
                        <a:rPr sz="1150" b="1">
                          <a:solidFill>
                            <a:srgbClr val="FFFFFF"/>
                          </a:solidFill>
                          <a:latin typeface="Noto Sans KR"/>
                          <a:ea typeface="Noto Sans KR"/>
                          <a:cs typeface="Noto Sans KR"/>
                        </a:rPr>
                        <a:t>회의 주장</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확인 결과 (2026-10-06)</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판정</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근거</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786384">
                <a:tc>
                  <a:txBody>
                    <a:bodyPr wrap="square"/>
                    <a:lstStyle/>
                    <a:p>
                      <a:pPr algn="l"/>
                      <a:r>
                        <a:rPr sz="1150" b="0">
                          <a:solidFill>
                            <a:srgbClr val="1A1A1A"/>
                          </a:solidFill>
                          <a:latin typeface="Noto Sans KR"/>
                          <a:ea typeface="Noto Sans KR"/>
                          <a:cs typeface="Noto Sans KR"/>
                        </a:rPr>
                        <a:t>해외 제조자는 등록 못 하고</a:t>
                      </a:r>
                    </a:p>
                    <a:p>
                      <a:pPr algn="l"/>
                      <a:r>
                        <a:rPr sz="1150" b="0">
                          <a:solidFill>
                            <a:srgbClr val="1A1A1A"/>
                          </a:solidFill>
                          <a:latin typeface="Noto Sans KR"/>
                          <a:ea typeface="Noto Sans KR"/>
                          <a:cs typeface="Noto Sans KR"/>
                        </a:rPr>
                        <a:t>중국 법인이 있어야 한다</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현행: 중국 대리인 지정 시 해외 생산자도 신청 가능</a:t>
                      </a:r>
                    </a:p>
                    <a:p>
                      <a:pPr algn="l"/>
                      <a:r>
                        <a:rPr sz="1150" b="0">
                          <a:solidFill>
                            <a:srgbClr val="1A1A1A"/>
                          </a:solidFill>
                          <a:latin typeface="Noto Sans KR"/>
                          <a:ea typeface="Noto Sans KR"/>
                          <a:cs typeface="Noto Sans KR"/>
                        </a:rPr>
                        <a:t>개정 초안: 중국 생산·수입기업만 → 확정 시 맞는 말</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1">
                          <a:solidFill>
                            <a:srgbClr val="7F6000"/>
                          </a:solidFill>
                          <a:latin typeface="Noto Sans KR"/>
                          <a:ea typeface="Noto Sans KR"/>
                          <a:cs typeface="Noto Sans KR"/>
                        </a:rPr>
                        <a:t>부분 맞음</a:t>
                      </a:r>
                    </a:p>
                  </a:txBody>
                  <a:tcPr marL="45720" marR="45720" marT="18000" marB="18000" anchor="ctr">
                    <a:lnL w="0">
                      <a:noFill/>
                    </a:lnL>
                    <a:lnR w="0">
                      <a:noFill/>
                    </a:lnR>
                    <a:lnT w="0">
                      <a:noFill/>
                    </a:lnT>
                    <a:lnB w="6350">
                      <a:solidFill>
                        <a:srgbClr val="D9D9D9"/>
                      </a:solidFill>
                    </a:lnB>
                    <a:solidFill>
                      <a:srgbClr val="FFF2CC"/>
                    </a:solidFill>
                  </a:tcPr>
                </a:tc>
                <a:tc>
                  <a:txBody>
                    <a:bodyPr wrap="square"/>
                    <a:lstStyle/>
                    <a:p>
                      <a:pPr algn="ctr"/>
                      <a:r>
                        <a:rPr sz="1150" b="0">
                          <a:solidFill>
                            <a:srgbClr val="1A1A1A"/>
                          </a:solidFill>
                          <a:latin typeface="Noto Sans KR"/>
                          <a:ea typeface="Noto Sans KR"/>
                          <a:cs typeface="Noto Sans KR"/>
                        </a:rPr>
                        <a:t>EVD-001·002</a:t>
                      </a:r>
                    </a:p>
                  </a:txBody>
                  <a:tcPr marL="45720" marR="45720" marT="18000" marB="18000" anchor="ctr">
                    <a:lnL w="0">
                      <a:noFill/>
                    </a:lnL>
                    <a:lnR w="0">
                      <a:noFill/>
                    </a:lnR>
                    <a:lnT w="0">
                      <a:noFill/>
                    </a:lnT>
                    <a:lnB w="6350">
                      <a:solidFill>
                        <a:srgbClr val="D9D9D9"/>
                      </a:solidFill>
                    </a:lnB>
                    <a:solidFill>
                      <a:srgbClr val="FFFFFF"/>
                    </a:solidFill>
                  </a:tcPr>
                </a:tc>
              </a:tr>
              <a:tr h="786384">
                <a:tc>
                  <a:txBody>
                    <a:bodyPr wrap="square"/>
                    <a:lstStyle/>
                    <a:p>
                      <a:pPr algn="l"/>
                      <a:r>
                        <a:rPr sz="1150" b="0">
                          <a:solidFill>
                            <a:srgbClr val="1A1A1A"/>
                          </a:solidFill>
                          <a:latin typeface="Noto Sans KR"/>
                          <a:ea typeface="Noto Sans KR"/>
                          <a:cs typeface="Noto Sans KR"/>
                        </a:rPr>
                        <a:t>수입만 해도 생산허가·</a:t>
                      </a:r>
                    </a:p>
                    <a:p>
                      <a:pPr algn="l"/>
                      <a:r>
                        <a:rPr sz="1150" b="0">
                          <a:solidFill>
                            <a:srgbClr val="1A1A1A"/>
                          </a:solidFill>
                          <a:latin typeface="Noto Sans KR"/>
                          <a:ea typeface="Noto Sans KR"/>
                          <a:cs typeface="Noto Sans KR"/>
                        </a:rPr>
                        <a:t>생산설비가 필요하다</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생산허가는 '생산기업' 대상. 수입·판매는 경영허가</a:t>
                      </a:r>
                    </a:p>
                    <a:p>
                      <a:pPr algn="l"/>
                      <a:r>
                        <a:rPr sz="1150" b="0">
                          <a:solidFill>
                            <a:srgbClr val="1A1A1A"/>
                          </a:solidFill>
                          <a:latin typeface="Noto Sans KR"/>
                          <a:ea typeface="Noto Sans KR"/>
                          <a:cs typeface="Noto Sans KR"/>
                        </a:rPr>
                        <a:t>(충진·소분 등 가공을 하면 별도 판단)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1">
                          <a:solidFill>
                            <a:srgbClr val="C00000"/>
                          </a:solidFill>
                          <a:latin typeface="Noto Sans KR"/>
                          <a:ea typeface="Noto Sans KR"/>
                          <a:cs typeface="Noto Sans KR"/>
                        </a:rPr>
                        <a:t>근거 없음</a:t>
                      </a:r>
                    </a:p>
                  </a:txBody>
                  <a:tcPr marL="45720" marR="45720" marT="18000" marB="18000" anchor="ctr">
                    <a:lnL w="0">
                      <a:noFill/>
                    </a:lnL>
                    <a:lnR w="0">
                      <a:noFill/>
                    </a:lnR>
                    <a:lnT w="0">
                      <a:noFill/>
                    </a:lnT>
                    <a:lnB w="6350">
                      <a:solidFill>
                        <a:srgbClr val="D9D9D9"/>
                      </a:solidFill>
                    </a:lnB>
                    <a:solidFill>
                      <a:srgbClr val="FDE9E7"/>
                    </a:solidFill>
                  </a:tcPr>
                </a:tc>
                <a:tc>
                  <a:txBody>
                    <a:bodyPr wrap="square"/>
                    <a:lstStyle/>
                    <a:p>
                      <a:pPr algn="ctr"/>
                      <a:r>
                        <a:rPr sz="1150" b="0">
                          <a:solidFill>
                            <a:srgbClr val="1A1A1A"/>
                          </a:solidFill>
                          <a:latin typeface="Noto Sans KR"/>
                          <a:ea typeface="Noto Sans KR"/>
                          <a:cs typeface="Noto Sans KR"/>
                        </a:rPr>
                        <a:t>EVD-008·011</a:t>
                      </a:r>
                    </a:p>
                  </a:txBody>
                  <a:tcPr marL="45720" marR="45720" marT="18000" marB="18000" anchor="ctr">
                    <a:lnL w="0">
                      <a:noFill/>
                    </a:lnL>
                    <a:lnR w="0">
                      <a:noFill/>
                    </a:lnR>
                    <a:lnT w="0">
                      <a:noFill/>
                    </a:lnT>
                    <a:lnB w="6350">
                      <a:solidFill>
                        <a:srgbClr val="D9D9D9"/>
                      </a:solidFill>
                    </a:lnB>
                    <a:solidFill>
                      <a:srgbClr val="FFFFFF"/>
                    </a:solidFill>
                  </a:tcPr>
                </a:tc>
              </a:tr>
              <a:tr h="786384">
                <a:tc>
                  <a:txBody>
                    <a:bodyPr wrap="square"/>
                    <a:lstStyle/>
                    <a:p>
                      <a:pPr algn="l"/>
                      <a:r>
                        <a:rPr sz="1150" b="0">
                          <a:solidFill>
                            <a:srgbClr val="1A1A1A"/>
                          </a:solidFill>
                          <a:latin typeface="Noto Sans KR"/>
                          <a:ea typeface="Noto Sans KR"/>
                          <a:cs typeface="Noto Sans KR"/>
                        </a:rPr>
                        <a:t>12월 말까지 등록 안 하면</a:t>
                      </a:r>
                    </a:p>
                    <a:p>
                      <a:pPr algn="l"/>
                      <a:r>
                        <a:rPr sz="1150" b="0">
                          <a:solidFill>
                            <a:srgbClr val="1A1A1A"/>
                          </a:solidFill>
                          <a:latin typeface="Noto Sans KR"/>
                          <a:ea typeface="Noto Sans KR"/>
                          <a:cs typeface="Noto Sans KR"/>
                        </a:rPr>
                        <a:t>영업정지 대상</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기존 备案 보유자는 12-31까지 등록증 취득 의무 (통지)</a:t>
                      </a:r>
                    </a:p>
                    <a:p>
                      <a:pPr algn="l"/>
                      <a:r>
                        <a:rPr sz="1150" b="0">
                          <a:solidFill>
                            <a:srgbClr val="1A1A1A"/>
                          </a:solidFill>
                          <a:latin typeface="Noto Sans KR"/>
                          <a:ea typeface="Noto Sans KR"/>
                          <a:cs typeface="Noto Sans KR"/>
                        </a:rPr>
                        <a:t>'영업정지' 제재 근거는 미확인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1">
                          <a:solidFill>
                            <a:srgbClr val="7F6000"/>
                          </a:solidFill>
                          <a:latin typeface="Noto Sans KR"/>
                          <a:ea typeface="Noto Sans KR"/>
                          <a:cs typeface="Noto Sans KR"/>
                        </a:rPr>
                        <a:t>부분 맞음</a:t>
                      </a:r>
                    </a:p>
                  </a:txBody>
                  <a:tcPr marL="45720" marR="45720" marT="18000" marB="18000" anchor="ctr">
                    <a:lnL w="0">
                      <a:noFill/>
                    </a:lnL>
                    <a:lnR w="0">
                      <a:noFill/>
                    </a:lnR>
                    <a:lnT w="0">
                      <a:noFill/>
                    </a:lnT>
                    <a:lnB w="6350">
                      <a:solidFill>
                        <a:srgbClr val="D9D9D9"/>
                      </a:solidFill>
                    </a:lnB>
                    <a:solidFill>
                      <a:srgbClr val="FFF2CC"/>
                    </a:solidFill>
                  </a:tcPr>
                </a:tc>
                <a:tc>
                  <a:txBody>
                    <a:bodyPr wrap="square"/>
                    <a:lstStyle/>
                    <a:p>
                      <a:pPr algn="ctr"/>
                      <a:r>
                        <a:rPr sz="1150" b="0">
                          <a:solidFill>
                            <a:srgbClr val="1A1A1A"/>
                          </a:solidFill>
                          <a:latin typeface="Noto Sans KR"/>
                          <a:ea typeface="Noto Sans KR"/>
                          <a:cs typeface="Noto Sans KR"/>
                        </a:rPr>
                        <a:t>EVD-003</a:t>
                      </a:r>
                    </a:p>
                  </a:txBody>
                  <a:tcPr marL="45720" marR="45720" marT="18000" marB="18000" anchor="ctr">
                    <a:lnL w="0">
                      <a:noFill/>
                    </a:lnL>
                    <a:lnR w="0">
                      <a:noFill/>
                    </a:lnR>
                    <a:lnT w="0">
                      <a:noFill/>
                    </a:lnT>
                    <a:lnB w="6350">
                      <a:solidFill>
                        <a:srgbClr val="D9D9D9"/>
                      </a:solidFill>
                    </a:lnB>
                    <a:solidFill>
                      <a:srgbClr val="FFFFFF"/>
                    </a:solidFill>
                  </a:tcPr>
                </a:tc>
              </a:tr>
              <a:tr h="786384">
                <a:tc>
                  <a:txBody>
                    <a:bodyPr wrap="square"/>
                    <a:lstStyle/>
                    <a:p>
                      <a:pPr algn="l"/>
                      <a:r>
                        <a:rPr sz="1150" b="0">
                          <a:solidFill>
                            <a:srgbClr val="1A1A1A"/>
                          </a:solidFill>
                          <a:latin typeface="Noto Sans KR"/>
                          <a:ea typeface="Noto Sans KR"/>
                          <a:cs typeface="Noto Sans KR"/>
                        </a:rPr>
                        <a:t>한국 시험자료를</a:t>
                      </a:r>
                    </a:p>
                    <a:p>
                      <a:pPr algn="l"/>
                      <a:r>
                        <a:rPr sz="1150" b="0">
                          <a:solidFill>
                            <a:srgbClr val="1A1A1A"/>
                          </a:solidFill>
                          <a:latin typeface="Noto Sans KR"/>
                          <a:ea typeface="Noto Sans KR"/>
                          <a:cs typeface="Noto Sans KR"/>
                        </a:rPr>
                        <a:t>그대로 쓸 수 있다</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간이등록도 중국 공시생물 생태독성 시험 포함 필요</a:t>
                      </a:r>
                    </a:p>
                    <a:p>
                      <a:pPr algn="l"/>
                      <a:r>
                        <a:rPr sz="1150" b="0">
                          <a:solidFill>
                            <a:srgbClr val="1A1A1A"/>
                          </a:solidFill>
                          <a:latin typeface="Noto Sans KR"/>
                          <a:ea typeface="Noto Sans KR"/>
                          <a:cs typeface="Noto Sans KR"/>
                        </a:rPr>
                        <a:t>→ 일부 보완 시험 가능성 높음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1">
                          <a:solidFill>
                            <a:srgbClr val="C00000"/>
                          </a:solidFill>
                          <a:latin typeface="Noto Sans KR"/>
                          <a:ea typeface="Noto Sans KR"/>
                          <a:cs typeface="Noto Sans KR"/>
                        </a:rPr>
                        <a:t>근거 없음</a:t>
                      </a:r>
                    </a:p>
                  </a:txBody>
                  <a:tcPr marL="45720" marR="45720" marT="18000" marB="18000" anchor="ctr">
                    <a:lnL w="0">
                      <a:noFill/>
                    </a:lnL>
                    <a:lnR w="0">
                      <a:noFill/>
                    </a:lnR>
                    <a:lnT w="0">
                      <a:noFill/>
                    </a:lnT>
                    <a:lnB w="6350">
                      <a:solidFill>
                        <a:srgbClr val="D9D9D9"/>
                      </a:solidFill>
                    </a:lnB>
                    <a:solidFill>
                      <a:srgbClr val="FDE9E7"/>
                    </a:solidFill>
                  </a:tcPr>
                </a:tc>
                <a:tc>
                  <a:txBody>
                    <a:bodyPr wrap="square"/>
                    <a:lstStyle/>
                    <a:p>
                      <a:pPr algn="ctr"/>
                      <a:r>
                        <a:rPr sz="1150" b="0">
                          <a:solidFill>
                            <a:srgbClr val="1A1A1A"/>
                          </a:solidFill>
                          <a:latin typeface="Noto Sans KR"/>
                          <a:ea typeface="Noto Sans KR"/>
                          <a:cs typeface="Noto Sans KR"/>
                        </a:rPr>
                        <a:t>EVD-006</a:t>
                      </a:r>
                    </a:p>
                  </a:txBody>
                  <a:tcPr marL="45720" marR="45720" marT="18000" marB="18000" anchor="ctr">
                    <a:lnL w="0">
                      <a:noFill/>
                    </a:lnL>
                    <a:lnR w="0">
                      <a:noFill/>
                    </a:lnR>
                    <a:lnT w="0">
                      <a:noFill/>
                    </a:lnT>
                    <a:lnB w="6350">
                      <a:solidFill>
                        <a:srgbClr val="D9D9D9"/>
                      </a:solidFill>
                    </a:lnB>
                    <a:solidFill>
                      <a:srgbClr val="FFFFFF"/>
                    </a:solidFill>
                  </a:tcPr>
                </a:tc>
              </a:tr>
              <a:tr h="786384">
                <a:tc>
                  <a:txBody>
                    <a:bodyPr wrap="square"/>
                    <a:lstStyle/>
                    <a:p>
                      <a:pPr algn="l"/>
                      <a:r>
                        <a:rPr sz="1150" b="0">
                          <a:solidFill>
                            <a:srgbClr val="1A1A1A"/>
                          </a:solidFill>
                          <a:latin typeface="Noto Sans KR"/>
                          <a:ea typeface="Noto Sans KR"/>
                          <a:cs typeface="Noto Sans KR"/>
                        </a:rPr>
                        <a:t>법인 설립이 끝나면</a:t>
                      </a:r>
                    </a:p>
                    <a:p>
                      <a:pPr algn="l"/>
                      <a:r>
                        <a:rPr sz="1150" b="0">
                          <a:solidFill>
                            <a:srgbClr val="1A1A1A"/>
                          </a:solidFill>
                          <a:latin typeface="Noto Sans KR"/>
                          <a:ea typeface="Noto Sans KR"/>
                          <a:cs typeface="Noto Sans KR"/>
                        </a:rPr>
                        <a:t>바로 수입 가능</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150" b="0">
                          <a:solidFill>
                            <a:srgbClr val="1A1A1A"/>
                          </a:solidFill>
                          <a:latin typeface="Noto Sans KR"/>
                          <a:ea typeface="Noto Sans KR"/>
                          <a:cs typeface="Noto Sans KR"/>
                        </a:rPr>
                        <a:t>등기 후 경영허가·위험화학품 등록·신규물질 등록·</a:t>
                      </a:r>
                    </a:p>
                    <a:p>
                      <a:pPr algn="l"/>
                      <a:r>
                        <a:rPr sz="1150" b="0">
                          <a:solidFill>
                            <a:srgbClr val="1A1A1A"/>
                          </a:solidFill>
                          <a:latin typeface="Noto Sans KR"/>
                          <a:ea typeface="Noto Sans KR"/>
                          <a:cs typeface="Noto Sans KR"/>
                        </a:rPr>
                        <a:t>중문 SDS·라벨이 갖춰져야 수입·판매</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1">
                          <a:solidFill>
                            <a:srgbClr val="C00000"/>
                          </a:solidFill>
                          <a:latin typeface="Noto Sans KR"/>
                          <a:ea typeface="Noto Sans KR"/>
                          <a:cs typeface="Noto Sans KR"/>
                        </a:rPr>
                        <a:t>근거 없음</a:t>
                      </a:r>
                    </a:p>
                  </a:txBody>
                  <a:tcPr marL="45720" marR="45720" marT="18000" marB="18000" anchor="ctr">
                    <a:lnL w="0">
                      <a:noFill/>
                    </a:lnL>
                    <a:lnR w="0">
                      <a:noFill/>
                    </a:lnR>
                    <a:lnT w="0">
                      <a:noFill/>
                    </a:lnT>
                    <a:lnB w="9525">
                      <a:solidFill>
                        <a:srgbClr val="404040"/>
                      </a:solidFill>
                    </a:lnB>
                    <a:solidFill>
                      <a:srgbClr val="FDE9E7"/>
                    </a:solidFill>
                  </a:tcPr>
                </a:tc>
                <a:tc>
                  <a:txBody>
                    <a:bodyPr wrap="square"/>
                    <a:lstStyle/>
                    <a:p>
                      <a:pPr algn="ctr"/>
                      <a:r>
                        <a:rPr sz="1150" b="0">
                          <a:solidFill>
                            <a:srgbClr val="1A1A1A"/>
                          </a:solidFill>
                          <a:latin typeface="Noto Sans KR"/>
                          <a:ea typeface="Noto Sans KR"/>
                          <a:cs typeface="Noto Sans KR"/>
                        </a:rPr>
                        <a:t>EVD-012·018·019</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TextBox 164"/>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SRC-001·004·005 생태환경부, SRC-009 위험화학품안전법(2026-05-01), SRC-040 등록 지침 — 검색 요약 확인·원문 대조 필요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제품이 신규·위험물인지에 따라 해야 할 일이 갈립니다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350" dirty="0">
                <a:latin typeface="Noto Sans KR" panose="02000503000000020004" pitchFamily="2" charset="-127"/>
                <a:ea typeface="Noto Sans KR" panose="02000503000000020004" pitchFamily="2" charset="-127"/>
                <a:cs typeface="Noto Sans KR" panose="02000503000000020004" pitchFamily="2" charset="-127"/>
              </a:rPr>
              <a:t>CAS 확인 전이므로 4가지 경우를 모두 준비 — 운송 위험물 분류는 별도 판정</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sz="1000" b="1" dirty="0">
                <a:latin typeface="Noto Sans KR" pitchFamily="2" charset="-127"/>
                <a:ea typeface="Noto Sans KR" pitchFamily="2" charset="-127"/>
              </a:rPr>
              <a:t>6</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- 6 -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2194560"/>
        </p:xfrm>
        <a:graphic>
          <a:graphicData uri="http://schemas.openxmlformats.org/drawingml/2006/table">
            <a:tbl>
              <a:tblPr firstRow="0" bandRow="0"/>
              <a:tblGrid>
                <a:gridCol w="1554480"/>
                <a:gridCol w="1554480"/>
                <a:gridCol w="2011680"/>
                <a:gridCol w="1691640"/>
                <a:gridCol w="1755648"/>
              </a:tblGrid>
              <a:tr h="292608">
                <a:tc>
                  <a:txBody>
                    <a:bodyPr wrap="square"/>
                    <a:lstStyle/>
                    <a:p>
                      <a:pPr algn="ctr"/>
                      <a:r>
                        <a:rPr sz="1200" b="1">
                          <a:solidFill>
                            <a:srgbClr val="FFFFFF"/>
                          </a:solidFill>
                          <a:latin typeface="Noto Sans KR"/>
                          <a:ea typeface="Noto Sans KR"/>
                          <a:cs typeface="Noto Sans KR"/>
                        </a:rPr>
                        <a:t>경우</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신규화학물질 등록</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위험화학품 경영허가·등록</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창고·운송</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사업 영향</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475488">
                <a:tc>
                  <a:txBody>
                    <a:bodyPr wrap="square"/>
                    <a:lstStyle/>
                    <a:p>
                      <a:pPr algn="l"/>
                      <a:r>
                        <a:rPr sz="1200" b="0">
                          <a:solidFill>
                            <a:srgbClr val="1A1A1A"/>
                          </a:solidFill>
                          <a:latin typeface="Noto Sans KR"/>
                          <a:ea typeface="Noto Sans KR"/>
                          <a:cs typeface="Noto Sans KR"/>
                        </a:rPr>
                        <a:t>A 신규 · 위험</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200" b="0">
                          <a:solidFill>
                            <a:srgbClr val="1A1A1A"/>
                          </a:solidFill>
                          <a:latin typeface="Noto Sans KR"/>
                          <a:ea typeface="Noto Sans KR"/>
                          <a:cs typeface="Noto Sans KR"/>
                        </a:rPr>
                        <a:t>필요</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200" b="0">
                          <a:solidFill>
                            <a:srgbClr val="1A1A1A"/>
                          </a:solidFill>
                          <a:latin typeface="Noto Sans KR"/>
                          <a:ea typeface="Noto Sans KR"/>
                          <a:cs typeface="Noto Sans KR"/>
                        </a:rPr>
                        <a:t>필요</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200" b="0">
                          <a:solidFill>
                            <a:srgbClr val="1A1A1A"/>
                          </a:solidFill>
                          <a:latin typeface="Noto Sans KR"/>
                          <a:ea typeface="Noto Sans KR"/>
                          <a:cs typeface="Noto Sans KR"/>
                        </a:rPr>
                        <a:t>허가 창고·위험물 운송</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l"/>
                      <a:r>
                        <a:rPr sz="1200" b="0">
                          <a:solidFill>
                            <a:srgbClr val="1A1A1A"/>
                          </a:solidFill>
                          <a:latin typeface="Noto Sans KR"/>
                          <a:ea typeface="Noto Sans KR"/>
                          <a:cs typeface="Noto Sans KR"/>
                        </a:rPr>
                        <a:t>가장 무거움 · 등록 명의가 핵심</a:t>
                      </a:r>
                    </a:p>
                  </a:txBody>
                  <a:tcPr marL="45720" marR="45720" marT="18000" marB="18000" anchor="ctr">
                    <a:lnL w="0">
                      <a:noFill/>
                    </a:lnL>
                    <a:lnR w="0">
                      <a:noFill/>
                    </a:lnR>
                    <a:lnT w="0">
                      <a:noFill/>
                    </a:lnT>
                    <a:lnB w="6350">
                      <a:solidFill>
                        <a:srgbClr val="D9D9D9"/>
                      </a:solidFill>
                    </a:lnB>
                    <a:solidFill>
                      <a:srgbClr val="FFF2E6"/>
                    </a:solidFill>
                  </a:tcPr>
                </a:tc>
              </a:tr>
              <a:tr h="475488">
                <a:tc>
                  <a:txBody>
                    <a:bodyPr wrap="square"/>
                    <a:lstStyle/>
                    <a:p>
                      <a:pPr algn="l"/>
                      <a:r>
                        <a:rPr sz="1200" b="0">
                          <a:solidFill>
                            <a:srgbClr val="1A1A1A"/>
                          </a:solidFill>
                          <a:latin typeface="Noto Sans KR"/>
                          <a:ea typeface="Noto Sans KR"/>
                          <a:cs typeface="Noto Sans KR"/>
                        </a:rPr>
                        <a:t>B 신규 · 비위험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불필요 (판정 근거 보관)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물성 맞는 일반 창고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등록 명의 문제만 남음</a:t>
                      </a:r>
                    </a:p>
                  </a:txBody>
                  <a:tcPr marL="45720" marR="45720" marT="18000" marB="18000" anchor="ctr">
                    <a:lnL w="0">
                      <a:noFill/>
                    </a:lnL>
                    <a:lnR w="0">
                      <a:noFill/>
                    </a:lnR>
                    <a:lnT w="0">
                      <a:noFill/>
                    </a:lnT>
                    <a:lnB w="6350">
                      <a:solidFill>
                        <a:srgbClr val="D9D9D9"/>
                      </a:solidFill>
                    </a:lnB>
                    <a:solidFill>
                      <a:srgbClr val="FFFFFF"/>
                    </a:solidFill>
                  </a:tcPr>
                </a:tc>
              </a:tr>
              <a:tr h="475488">
                <a:tc>
                  <a:txBody>
                    <a:bodyPr wrap="square"/>
                    <a:lstStyle/>
                    <a:p>
                      <a:pPr algn="l"/>
                      <a:r>
                        <a:rPr sz="1200" b="0">
                          <a:solidFill>
                            <a:srgbClr val="1A1A1A"/>
                          </a:solidFill>
                          <a:latin typeface="Noto Sans KR"/>
                          <a:ea typeface="Noto Sans KR"/>
                          <a:cs typeface="Noto Sans KR"/>
                        </a:rPr>
                        <a:t>C 기존 · 위험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불필요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허가 창고·위험물 운송</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법인·허가·창고가 핵심</a:t>
                      </a:r>
                    </a:p>
                  </a:txBody>
                  <a:tcPr marL="45720" marR="45720" marT="18000" marB="18000" anchor="ctr">
                    <a:lnL w="0">
                      <a:noFill/>
                    </a:lnL>
                    <a:lnR w="0">
                      <a:noFill/>
                    </a:lnR>
                    <a:lnT w="0">
                      <a:noFill/>
                    </a:lnT>
                    <a:lnB w="6350">
                      <a:solidFill>
                        <a:srgbClr val="D9D9D9"/>
                      </a:solidFill>
                    </a:lnB>
                    <a:solidFill>
                      <a:srgbClr val="FFFFFF"/>
                    </a:solidFill>
                  </a:tcPr>
                </a:tc>
              </a:tr>
              <a:tr h="475488">
                <a:tc>
                  <a:txBody>
                    <a:bodyPr wrap="square"/>
                    <a:lstStyle/>
                    <a:p>
                      <a:pPr algn="l"/>
                      <a:r>
                        <a:rPr sz="1200" b="0">
                          <a:solidFill>
                            <a:srgbClr val="1A1A1A"/>
                          </a:solidFill>
                          <a:latin typeface="Noto Sans KR"/>
                          <a:ea typeface="Noto Sans KR"/>
                          <a:cs typeface="Noto Sans KR"/>
                        </a:rPr>
                        <a:t>D 기존 · 비위험</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200" b="0">
                          <a:solidFill>
                            <a:srgbClr val="1A1A1A"/>
                          </a:solidFill>
                          <a:latin typeface="Noto Sans KR"/>
                          <a:ea typeface="Noto Sans KR"/>
                          <a:cs typeface="Noto Sans KR"/>
                        </a:rPr>
                        <a:t>불필요</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200" b="0">
                          <a:solidFill>
                            <a:srgbClr val="1A1A1A"/>
                          </a:solidFill>
                          <a:latin typeface="Noto Sans KR"/>
                          <a:ea typeface="Noto Sans KR"/>
                          <a:cs typeface="Noto Sans KR"/>
                        </a:rPr>
                        <a:t>불필요</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200" b="0">
                          <a:solidFill>
                            <a:srgbClr val="1A1A1A"/>
                          </a:solidFill>
                          <a:latin typeface="Noto Sans KR"/>
                          <a:ea typeface="Noto Sans KR"/>
                          <a:cs typeface="Noto Sans KR"/>
                        </a:rPr>
                        <a:t>일반</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MP·일반 무역법인도 가능</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Rectangle 164"/>
          <p:cNvSpPr/>
          <p:nvPr/>
        </p:nvSpPr>
        <p:spPr>
          <a:xfrm>
            <a:off x="283464" y="3328416"/>
            <a:ext cx="54864" cy="182880"/>
          </a:xfrm>
          <a:prstGeom prst="rect">
            <a:avLst/>
          </a:prstGeom>
          <a:solidFill>
            <a:srgbClr val="EB0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393192" y="3282696"/>
            <a:ext cx="8458200" cy="274320"/>
          </a:xfrm>
          <a:prstGeom prst="rect">
            <a:avLst/>
          </a:prstGeom>
          <a:noFill/>
        </p:spPr>
        <p:txBody>
          <a:bodyPr wrap="square" anchor="t" lIns="27432" rIns="27432" tIns="18288" bIns="18288">
            <a:spAutoFit/>
          </a:bodyPr>
          <a:lstStyle/>
          <a:p>
            <a:pPr algn="l"/>
            <a:r>
              <a:rPr sz="1200" b="1">
                <a:solidFill>
                  <a:srgbClr val="1A1A1A"/>
                </a:solidFill>
                <a:latin typeface="Noto Sans KR"/>
                <a:ea typeface="Noto Sans KR"/>
                <a:cs typeface="Noto Sans KR"/>
              </a:rPr>
              <a:t>판정에 필요한 입력값</a:t>
            </a:r>
            <a:r>
              <a:rPr sz="1000" b="1">
                <a:solidFill>
                  <a:srgbClr val="C00000"/>
                </a:solidFill>
                <a:latin typeface="Noto Sans KR"/>
                <a:ea typeface="Noto Sans KR"/>
                <a:cs typeface="Noto Sans KR"/>
              </a:rPr>
              <a:t>   05_Materials 시트</a:t>
            </a:r>
          </a:p>
        </p:txBody>
      </p:sp>
      <p:sp>
        <p:nvSpPr>
          <p:cNvPr id="167" name="TextBox 166"/>
          <p:cNvSpPr txBox="1"/>
          <p:nvPr/>
        </p:nvSpPr>
        <p:spPr>
          <a:xfrm>
            <a:off x="283464" y="3584448"/>
            <a:ext cx="8567928" cy="2377440"/>
          </a:xfrm>
          <a:prstGeom prst="rect">
            <a:avLst/>
          </a:prstGeom>
          <a:noFill/>
        </p:spPr>
        <p:txBody>
          <a:bodyPr wrap="square" lIns="27432" rIns="27432">
            <a:spAutoFit/>
          </a:bodyPr>
          <a:lstStyle/>
          <a:p>
            <a:pPr>
              <a:spcAft>
                <a:spcPts val="400"/>
              </a:spcAft>
            </a:pPr>
            <a:r>
              <a:rPr sz="1200" b="0">
                <a:solidFill>
                  <a:srgbClr val="1A1A1A"/>
                </a:solidFill>
                <a:latin typeface="Noto Sans KR"/>
                <a:ea typeface="Noto Sans KR"/>
                <a:cs typeface="Noto Sans KR"/>
              </a:rPr>
              <a:t>• CAS·화학명·조성·용매·농도 → IECSC(중국 기존화학물질 목록) 검색으로 신규 여부</a:t>
            </a:r>
          </a:p>
          <a:p>
            <a:pPr>
              <a:spcAft>
                <a:spcPts val="400"/>
              </a:spcAft>
            </a:pPr>
            <a:r>
              <a:rPr sz="1200" b="0">
                <a:solidFill>
                  <a:srgbClr val="1A1A1A"/>
                </a:solidFill>
                <a:latin typeface="Noto Sans KR"/>
                <a:ea typeface="Noto Sans KR"/>
                <a:cs typeface="Noto Sans KR"/>
              </a:rPr>
              <a:t>• SDS의 GHS 분류·물리적 위험 → 위험화학품 목록 해당·판정 (목록은 공고로 갱신됨, 2026년 3호 공고 5종 추가)</a:t>
            </a:r>
          </a:p>
          <a:p>
            <a:pPr>
              <a:spcAft>
                <a:spcPts val="400"/>
              </a:spcAft>
            </a:pPr>
            <a:r>
              <a:rPr sz="1200" b="0">
                <a:solidFill>
                  <a:srgbClr val="1A1A1A"/>
                </a:solidFill>
                <a:latin typeface="Noto Sans KR"/>
                <a:ea typeface="Noto Sans KR"/>
                <a:cs typeface="Noto Sans KR"/>
              </a:rPr>
              <a:t>• UN번호·운송 분류(자연발화·수분반응 여부) → 창고·운송 수용 가능성</a:t>
            </a:r>
          </a:p>
          <a:p>
            <a:pPr>
              <a:spcAft>
                <a:spcPts val="400"/>
              </a:spcAft>
            </a:pPr>
            <a:r>
              <a:rPr sz="1200" b="0">
                <a:solidFill>
                  <a:srgbClr val="1A1A1A"/>
                </a:solidFill>
                <a:latin typeface="Noto Sans KR"/>
                <a:ea typeface="Noto Sans KR"/>
                <a:cs typeface="Noto Sans KR"/>
              </a:rPr>
              <a:t>• 연간 수입량(샘플/양산) → 등록 유형 (1톤 미만 종전 备案 → 간이등록 준용)</a:t>
            </a:r>
          </a:p>
          <a:p>
            <a:pPr>
              <a:spcAft>
                <a:spcPts val="400"/>
              </a:spcAft>
            </a:pPr>
            <a:r>
              <a:rPr sz="1200" b="0">
                <a:solidFill>
                  <a:srgbClr val="1A1A1A"/>
                </a:solidFill>
                <a:latin typeface="Noto Sans KR"/>
                <a:ea typeface="Noto Sans KR"/>
                <a:cs typeface="Noto Sans KR"/>
              </a:rPr>
              <a:t>• 기존 备案·등록 보유자와 번호 → 연말 기한 적용 대상인지</a:t>
            </a:r>
          </a:p>
        </p:txBody>
      </p:sp>
      <p:sp>
        <p:nvSpPr>
          <p:cNvPr id="168" name="TextBox 167"/>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EVD-003·004 생태환경부 통지, EVD-032 응급관리부 2026년 3호 공고, 05_Materials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등록·수입·판매·보관 주체마다 필요한 허가가 다릅니다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B안 기준: 등록·수입·판매는 TC 법인, 보관은 허가 창고 운영사</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sz="1000" b="1" dirty="0">
                <a:latin typeface="Noto Sans KR" pitchFamily="2" charset="-127"/>
                <a:ea typeface="Noto Sans KR" pitchFamily="2" charset="-127"/>
              </a:rPr>
              <a:t>7</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- 7 -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sp>
        <p:nvSpPr>
          <p:cNvPr id="164" name="Pentagon 163"/>
          <p:cNvSpPr/>
          <p:nvPr/>
        </p:nvSpPr>
        <p:spPr>
          <a:xfrm>
            <a:off x="283464" y="1051560"/>
            <a:ext cx="1768449" cy="713232"/>
          </a:xfrm>
          <a:prstGeom prst="homePlate">
            <a:avLst>
              <a:gd name="adj" fmla="val 25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73152"/>
          <a:lstStyle/>
          <a:p>
            <a:pPr algn="ctr"/>
            <a:r>
              <a:rPr sz="1200" b="1">
                <a:solidFill>
                  <a:srgbClr val="1A1A1A"/>
                </a:solidFill>
                <a:latin typeface="Noto Sans KR"/>
                <a:ea typeface="Noto Sans KR"/>
                <a:cs typeface="Noto Sans KR"/>
              </a:rPr>
              <a:t>TC 본사 (한국)</a:t>
            </a:r>
          </a:p>
          <a:p>
            <a:pPr algn="ctr"/>
            <a:r>
              <a:rPr sz="1000" b="0">
                <a:solidFill>
                  <a:srgbClr val="1A1A1A"/>
                </a:solidFill>
                <a:latin typeface="Noto Sans KR"/>
                <a:ea typeface="Noto Sans KR"/>
                <a:cs typeface="Noto Sans KR"/>
              </a:rPr>
              <a:t>제조·수출</a:t>
            </a:r>
          </a:p>
        </p:txBody>
      </p:sp>
      <p:sp>
        <p:nvSpPr>
          <p:cNvPr id="165" name="Chevron 164"/>
          <p:cNvSpPr/>
          <p:nvPr/>
        </p:nvSpPr>
        <p:spPr>
          <a:xfrm>
            <a:off x="1997049" y="1051560"/>
            <a:ext cx="1768449" cy="713232"/>
          </a:xfrm>
          <a:prstGeom prst="chevron">
            <a:avLst>
              <a:gd name="adj" fmla="val 2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200" b="1">
                <a:solidFill>
                  <a:srgbClr val="FFFFFF"/>
                </a:solidFill>
                <a:latin typeface="Noto Sans KR"/>
                <a:ea typeface="Noto Sans KR"/>
                <a:cs typeface="Noto Sans KR"/>
              </a:rPr>
              <a:t>수입</a:t>
            </a:r>
          </a:p>
          <a:p>
            <a:pPr algn="ctr"/>
            <a:r>
              <a:rPr sz="1000" b="0">
                <a:solidFill>
                  <a:srgbClr val="FFFFFF"/>
                </a:solidFill>
                <a:latin typeface="Noto Sans KR"/>
                <a:ea typeface="Noto Sans KR"/>
                <a:cs typeface="Noto Sans KR"/>
              </a:rPr>
              <a:t>통관 명의자</a:t>
            </a:r>
          </a:p>
        </p:txBody>
      </p:sp>
      <p:sp>
        <p:nvSpPr>
          <p:cNvPr id="166" name="Chevron 165"/>
          <p:cNvSpPr/>
          <p:nvPr/>
        </p:nvSpPr>
        <p:spPr>
          <a:xfrm>
            <a:off x="3710635" y="1051560"/>
            <a:ext cx="1768449" cy="713232"/>
          </a:xfrm>
          <a:prstGeom prst="chevron">
            <a:avLst>
              <a:gd name="adj" fmla="val 25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200" b="1">
                <a:solidFill>
                  <a:srgbClr val="FFFFFF"/>
                </a:solidFill>
                <a:latin typeface="Noto Sans KR"/>
                <a:ea typeface="Noto Sans KR"/>
                <a:cs typeface="Noto Sans KR"/>
              </a:rPr>
              <a:t>판매</a:t>
            </a:r>
          </a:p>
          <a:p>
            <a:pPr algn="ctr"/>
            <a:r>
              <a:rPr sz="1000" b="0">
                <a:solidFill>
                  <a:srgbClr val="FFFFFF"/>
                </a:solidFill>
                <a:latin typeface="Noto Sans KR"/>
                <a:ea typeface="Noto Sans KR"/>
                <a:cs typeface="Noto Sans KR"/>
              </a:rPr>
              <a:t>중국 내 거래</a:t>
            </a:r>
          </a:p>
        </p:txBody>
      </p:sp>
      <p:sp>
        <p:nvSpPr>
          <p:cNvPr id="167" name="Chevron 166"/>
          <p:cNvSpPr/>
          <p:nvPr/>
        </p:nvSpPr>
        <p:spPr>
          <a:xfrm>
            <a:off x="5424220" y="1051560"/>
            <a:ext cx="1768449" cy="713232"/>
          </a:xfrm>
          <a:prstGeom prst="chevron">
            <a:avLst>
              <a:gd name="adj" fmla="val 25000"/>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200" b="1">
                <a:solidFill>
                  <a:srgbClr val="FFFFFF"/>
                </a:solidFill>
                <a:latin typeface="Noto Sans KR"/>
                <a:ea typeface="Noto Sans KR"/>
                <a:cs typeface="Noto Sans KR"/>
              </a:rPr>
              <a:t>보관</a:t>
            </a:r>
          </a:p>
          <a:p>
            <a:pPr algn="ctr"/>
            <a:r>
              <a:rPr sz="1000" b="0">
                <a:solidFill>
                  <a:srgbClr val="FFFFFF"/>
                </a:solidFill>
                <a:latin typeface="Noto Sans KR"/>
                <a:ea typeface="Noto Sans KR"/>
                <a:cs typeface="Noto Sans KR"/>
              </a:rPr>
              <a:t>창고</a:t>
            </a:r>
          </a:p>
        </p:txBody>
      </p:sp>
      <p:sp>
        <p:nvSpPr>
          <p:cNvPr id="168" name="Chevron 167"/>
          <p:cNvSpPr/>
          <p:nvPr/>
        </p:nvSpPr>
        <p:spPr>
          <a:xfrm>
            <a:off x="7137806" y="1051560"/>
            <a:ext cx="1768449" cy="713232"/>
          </a:xfrm>
          <a:prstGeom prst="chevron">
            <a:avLst>
              <a:gd name="adj" fmla="val 25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200" b="1">
                <a:solidFill>
                  <a:srgbClr val="FFFFFF"/>
                </a:solidFill>
                <a:latin typeface="Noto Sans KR"/>
                <a:ea typeface="Noto Sans KR"/>
                <a:cs typeface="Noto Sans KR"/>
              </a:rPr>
              <a:t>고객</a:t>
            </a:r>
          </a:p>
          <a:p>
            <a:pPr algn="ctr"/>
            <a:r>
              <a:rPr sz="1000" b="0">
                <a:solidFill>
                  <a:srgbClr val="FFFFFF"/>
                </a:solidFill>
                <a:latin typeface="Noto Sans KR"/>
                <a:ea typeface="Noto Sans KR"/>
                <a:cs typeface="Noto Sans KR"/>
              </a:rPr>
              <a:t>반입</a:t>
            </a:r>
          </a:p>
        </p:txBody>
      </p:sp>
      <p:graphicFrame>
        <p:nvGraphicFramePr>
          <p:cNvPr id="169" name="Table 168"/>
          <p:cNvGraphicFramePr>
            <a:graphicFrameLocks noGrp="1"/>
          </p:cNvGraphicFramePr>
          <p:nvPr/>
        </p:nvGraphicFramePr>
        <p:xfrm>
          <a:off x="283464" y="1965960"/>
          <a:ext cx="8567928" cy="2807208"/>
        </p:xfrm>
        <a:graphic>
          <a:graphicData uri="http://schemas.openxmlformats.org/drawingml/2006/table">
            <a:tbl>
              <a:tblPr firstRow="0" bandRow="0"/>
              <a:tblGrid>
                <a:gridCol w="1600200"/>
                <a:gridCol w="2606040"/>
                <a:gridCol w="3355848"/>
                <a:gridCol w="1005840"/>
              </a:tblGrid>
              <a:tr h="292608">
                <a:tc>
                  <a:txBody>
                    <a:bodyPr wrap="square"/>
                    <a:lstStyle/>
                    <a:p>
                      <a:pPr algn="ctr"/>
                      <a:r>
                        <a:rPr sz="1200" b="1">
                          <a:solidFill>
                            <a:srgbClr val="FFFFFF"/>
                          </a:solidFill>
                          <a:latin typeface="Noto Sans KR"/>
                          <a:ea typeface="Noto Sans KR"/>
                          <a:cs typeface="Noto Sans KR"/>
                        </a:rPr>
                        <a:t>단계</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누가 (B안)</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필요한 등록·허가</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근거</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502920">
                <a:tc>
                  <a:txBody>
                    <a:bodyPr wrap="square"/>
                    <a:lstStyle/>
                    <a:p>
                      <a:pPr algn="l"/>
                      <a:r>
                        <a:rPr sz="1200" b="0">
                          <a:solidFill>
                            <a:srgbClr val="1A1A1A"/>
                          </a:solidFill>
                          <a:latin typeface="Noto Sans KR"/>
                          <a:ea typeface="Noto Sans KR"/>
                          <a:cs typeface="Noto Sans KR"/>
                        </a:rPr>
                        <a:t>신규물질 등록</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TC 법인 (개정안) / TC 본사+대리인 (현행)</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간이·상규 등록 또는 备案 전환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EVD-001~004</a:t>
                      </a:r>
                    </a:p>
                  </a:txBody>
                  <a:tcPr marL="45720" marR="45720" marT="18000" marB="18000" anchor="ctr">
                    <a:lnL w="0">
                      <a:noFill/>
                    </a:lnL>
                    <a:lnR w="0">
                      <a:noFill/>
                    </a:lnR>
                    <a:lnT w="0">
                      <a:noFill/>
                    </a:lnT>
                    <a:lnB w="6350">
                      <a:solidFill>
                        <a:srgbClr val="D9D9D9"/>
                      </a:solidFill>
                    </a:lnB>
                    <a:solidFill>
                      <a:srgbClr val="FFFFFF"/>
                    </a:solidFill>
                  </a:tcPr>
                </a:tc>
              </a:tr>
              <a:tr h="502920">
                <a:tc>
                  <a:txBody>
                    <a:bodyPr wrap="square"/>
                    <a:lstStyle/>
                    <a:p>
                      <a:pPr algn="l"/>
                      <a:r>
                        <a:rPr sz="1200" b="0">
                          <a:solidFill>
                            <a:srgbClr val="1A1A1A"/>
                          </a:solidFill>
                          <a:latin typeface="Noto Sans KR"/>
                          <a:ea typeface="Noto Sans KR"/>
                          <a:cs typeface="Noto Sans KR"/>
                        </a:rPr>
                        <a:t>수입</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TC 법인 (수입 명의)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위험화학품 등록(첫 수입 전) · 중문 SDS·라벨 · 적합성 성명</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EVD-018·019</a:t>
                      </a:r>
                    </a:p>
                  </a:txBody>
                  <a:tcPr marL="45720" marR="45720" marT="18000" marB="18000" anchor="ctr">
                    <a:lnL w="0">
                      <a:noFill/>
                    </a:lnL>
                    <a:lnR w="0">
                      <a:noFill/>
                    </a:lnR>
                    <a:lnT w="0">
                      <a:noFill/>
                    </a:lnT>
                    <a:lnB w="6350">
                      <a:solidFill>
                        <a:srgbClr val="D9D9D9"/>
                      </a:solidFill>
                    </a:lnB>
                    <a:solidFill>
                      <a:srgbClr val="FFFFFF"/>
                    </a:solidFill>
                  </a:tcPr>
                </a:tc>
              </a:tr>
              <a:tr h="502920">
                <a:tc>
                  <a:txBody>
                    <a:bodyPr wrap="square"/>
                    <a:lstStyle/>
                    <a:p>
                      <a:pPr algn="l"/>
                      <a:r>
                        <a:rPr sz="1200" b="0">
                          <a:solidFill>
                            <a:srgbClr val="1A1A1A"/>
                          </a:solidFill>
                          <a:latin typeface="Noto Sans KR"/>
                          <a:ea typeface="Noto Sans KR"/>
                          <a:cs typeface="Noto Sans KR"/>
                        </a:rPr>
                        <a:t>판매</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TC 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위험화학품 경영허가 (무저장)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EVD-008·015</a:t>
                      </a:r>
                    </a:p>
                  </a:txBody>
                  <a:tcPr marL="45720" marR="45720" marT="18000" marB="18000" anchor="ctr">
                    <a:lnL w="0">
                      <a:noFill/>
                    </a:lnL>
                    <a:lnR w="0">
                      <a:noFill/>
                    </a:lnR>
                    <a:lnT w="0">
                      <a:noFill/>
                    </a:lnT>
                    <a:lnB w="6350">
                      <a:solidFill>
                        <a:srgbClr val="D9D9D9"/>
                      </a:solidFill>
                    </a:lnB>
                    <a:solidFill>
                      <a:srgbClr val="FFFFFF"/>
                    </a:solidFill>
                  </a:tcPr>
                </a:tc>
              </a:tr>
              <a:tr h="502920">
                <a:tc>
                  <a:txBody>
                    <a:bodyPr wrap="square"/>
                    <a:lstStyle/>
                    <a:p>
                      <a:pPr algn="l"/>
                      <a:r>
                        <a:rPr sz="1200" b="0">
                          <a:solidFill>
                            <a:srgbClr val="1A1A1A"/>
                          </a:solidFill>
                          <a:latin typeface="Noto Sans KR"/>
                          <a:ea typeface="Noto Sans KR"/>
                          <a:cs typeface="Noto Sans KR"/>
                        </a:rPr>
                        <a:t>보관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허가 3PL</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3PL의 창고(저장) 경영허가·품목 범위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EVD-013</a:t>
                      </a:r>
                    </a:p>
                  </a:txBody>
                  <a:tcPr marL="45720" marR="45720" marT="18000" marB="18000" anchor="ctr">
                    <a:lnL w="0">
                      <a:noFill/>
                    </a:lnL>
                    <a:lnR w="0">
                      <a:noFill/>
                    </a:lnR>
                    <a:lnT w="0">
                      <a:noFill/>
                    </a:lnT>
                    <a:lnB w="6350">
                      <a:solidFill>
                        <a:srgbClr val="D9D9D9"/>
                      </a:solidFill>
                    </a:lnB>
                    <a:solidFill>
                      <a:srgbClr val="FFFFFF"/>
                    </a:solidFill>
                  </a:tcPr>
                </a:tc>
              </a:tr>
              <a:tr h="502920">
                <a:tc>
                  <a:txBody>
                    <a:bodyPr wrap="square"/>
                    <a:lstStyle/>
                    <a:p>
                      <a:pPr algn="l"/>
                      <a:r>
                        <a:rPr sz="1200" b="0">
                          <a:solidFill>
                            <a:srgbClr val="1A1A1A"/>
                          </a:solidFill>
                          <a:latin typeface="Noto Sans KR"/>
                          <a:ea typeface="Noto Sans KR"/>
                          <a:cs typeface="Noto Sans KR"/>
                        </a:rPr>
                        <a:t>제조 (충진·소분)</a:t>
                      </a:r>
                    </a:p>
                  </a:txBody>
                  <a:tcPr marL="45720" marR="45720" marT="18000" marB="18000" anchor="ctr">
                    <a:lnL w="0">
                      <a:noFill/>
                    </a:lnL>
                    <a:lnR w="0">
                      <a:noFill/>
                    </a:lnR>
                    <a:lnT w="0">
                      <a:noFill/>
                    </a:lnT>
                    <a:lnB w="9525">
                      <a:solidFill>
                        <a:srgbClr val="404040"/>
                      </a:solidFill>
                    </a:lnB>
                    <a:solidFill>
                      <a:srgbClr val="F2F2F2"/>
                    </a:solidFill>
                  </a:tcPr>
                </a:tc>
                <a:tc>
                  <a:txBody>
                    <a:bodyPr wrap="square"/>
                    <a:lstStyle/>
                    <a:p>
                      <a:pPr algn="l"/>
                      <a:r>
                        <a:rPr sz="1200" b="0">
                          <a:solidFill>
                            <a:srgbClr val="1A1A1A"/>
                          </a:solidFill>
                          <a:latin typeface="Noto Sans KR"/>
                          <a:ea typeface="Noto Sans KR"/>
                          <a:cs typeface="Noto Sans KR"/>
                        </a:rPr>
                        <a:t>해당 없음 (현 단계)</a:t>
                      </a:r>
                    </a:p>
                  </a:txBody>
                  <a:tcPr marL="45720" marR="45720" marT="18000" marB="18000" anchor="ctr">
                    <a:lnL w="0">
                      <a:noFill/>
                    </a:lnL>
                    <a:lnR w="0">
                      <a:noFill/>
                    </a:lnR>
                    <a:lnT w="0">
                      <a:noFill/>
                    </a:lnT>
                    <a:lnB w="9525">
                      <a:solidFill>
                        <a:srgbClr val="404040"/>
                      </a:solidFill>
                    </a:lnB>
                    <a:solidFill>
                      <a:srgbClr val="F2F2F2"/>
                    </a:solidFill>
                  </a:tcPr>
                </a:tc>
                <a:tc>
                  <a:txBody>
                    <a:bodyPr wrap="square"/>
                    <a:lstStyle/>
                    <a:p>
                      <a:pPr algn="l"/>
                      <a:r>
                        <a:rPr sz="1200" b="0">
                          <a:solidFill>
                            <a:srgbClr val="1A1A1A"/>
                          </a:solidFill>
                          <a:latin typeface="Noto Sans KR"/>
                          <a:ea typeface="Noto Sans KR"/>
                          <a:cs typeface="Noto Sans KR"/>
                        </a:rPr>
                        <a:t>안전생산허가 또는 분장·충진 경영 — 필요 시 별도</a:t>
                      </a:r>
                    </a:p>
                  </a:txBody>
                  <a:tcPr marL="45720" marR="45720" marT="18000" marB="18000" anchor="ctr">
                    <a:lnL w="0">
                      <a:noFill/>
                    </a:lnL>
                    <a:lnR w="0">
                      <a:noFill/>
                    </a:lnR>
                    <a:lnT w="0">
                      <a:noFill/>
                    </a:lnT>
                    <a:lnB w="9525">
                      <a:solidFill>
                        <a:srgbClr val="404040"/>
                      </a:solidFill>
                    </a:lnB>
                    <a:solidFill>
                      <a:srgbClr val="F2F2F2"/>
                    </a:solidFill>
                  </a:tcPr>
                </a:tc>
                <a:tc>
                  <a:txBody>
                    <a:bodyPr wrap="square"/>
                    <a:lstStyle/>
                    <a:p>
                      <a:pPr algn="ctr"/>
                      <a:r>
                        <a:rPr sz="1200" b="0">
                          <a:solidFill>
                            <a:srgbClr val="1A1A1A"/>
                          </a:solidFill>
                          <a:latin typeface="Noto Sans KR"/>
                          <a:ea typeface="Noto Sans KR"/>
                          <a:cs typeface="Noto Sans KR"/>
                        </a:rPr>
                        <a:t>EVD-011</a:t>
                      </a:r>
                    </a:p>
                  </a:txBody>
                  <a:tcPr marL="45720" marR="45720" marT="18000" marB="18000" anchor="ctr">
                    <a:lnL w="0">
                      <a:noFill/>
                    </a:lnL>
                    <a:lnR w="0">
                      <a:noFill/>
                    </a:lnR>
                    <a:lnT w="0">
                      <a:noFill/>
                    </a:lnT>
                    <a:lnB w="9525">
                      <a:solidFill>
                        <a:srgbClr val="404040"/>
                      </a:solidFill>
                    </a:lnB>
                    <a:solidFill>
                      <a:srgbClr val="F2F2F2"/>
                    </a:solidFill>
                  </a:tcPr>
                </a:tc>
              </a:tr>
            </a:tbl>
          </a:graphicData>
        </a:graphic>
      </p:graphicFrame>
      <p:sp>
        <p:nvSpPr>
          <p:cNvPr id="170" name="TextBox 169"/>
          <p:cNvSpPr txBox="1"/>
          <p:nvPr/>
        </p:nvSpPr>
        <p:spPr>
          <a:xfrm>
            <a:off x="283464" y="5166360"/>
            <a:ext cx="8567928" cy="822960"/>
          </a:xfrm>
          <a:prstGeom prst="rect">
            <a:avLst/>
          </a:prstGeom>
          <a:noFill/>
        </p:spPr>
        <p:txBody>
          <a:bodyPr wrap="square" anchor="t" lIns="27432" rIns="27432" tIns="18288" bIns="18288">
            <a:spAutoFit/>
          </a:bodyPr>
          <a:lstStyle/>
          <a:p>
            <a:pPr algn="l"/>
            <a:r>
              <a:rPr sz="1200" b="1">
                <a:solidFill>
                  <a:srgbClr val="C00000"/>
                </a:solidFill>
                <a:latin typeface="Noto Sans KR"/>
                <a:ea typeface="Noto Sans KR"/>
                <a:cs typeface="Noto Sans KR"/>
              </a:rPr>
              <a:t>포인트  </a:t>
            </a:r>
            <a:r>
              <a:rPr sz="1200" b="0">
                <a:solidFill>
                  <a:srgbClr val="1A1A1A"/>
                </a:solidFill>
                <a:latin typeface="Noto Sans KR"/>
                <a:ea typeface="Noto Sans KR"/>
                <a:cs typeface="Noto Sans KR"/>
              </a:rPr>
              <a:t>수입 명의자 = 위험화학품 등록·통관 책임자, 판매자 = 경영허가 보유자, 보관 = 창고 허가 보유자. 같은 회사일 필요는 없지만 계약서에 책임을 나눠 적어야 합니다.</a:t>
            </a:r>
          </a:p>
        </p:txBody>
      </p:sp>
      <p:sp>
        <p:nvSpPr>
          <p:cNvPr id="171" name="TextBox 170"/>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SRC-009 위험화학품안전법, SRC-016 등록관리 53호령, SRC-017 해관총서 2020-129호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최소 투자로 등록 명의를 쥐는 구조는 B안입니다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350" dirty="0">
                <a:latin typeface="Noto Sans KR" panose="02000503000000020004" pitchFamily="2" charset="-127"/>
                <a:ea typeface="Noto Sans KR" panose="02000503000000020004" pitchFamily="2" charset="-127"/>
                <a:cs typeface="Noto Sans KR" panose="02000503000000020004" pitchFamily="2" charset="-127"/>
              </a:rPr>
              <a:t>MP 허가 보유가 확인되면 A안이 가장 빠를 수 있음 — G안은 연말 대응 수단</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sz="1000" b="1" dirty="0">
                <a:latin typeface="Noto Sans KR" pitchFamily="2" charset="-127"/>
                <a:ea typeface="Noto Sans KR" pitchFamily="2" charset="-127"/>
              </a:rPr>
              <a:t>8</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- 8 -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3493008"/>
        </p:xfrm>
        <a:graphic>
          <a:graphicData uri="http://schemas.openxmlformats.org/drawingml/2006/table">
            <a:tbl>
              <a:tblPr firstRow="0" bandRow="0"/>
              <a:tblGrid>
                <a:gridCol w="1691640"/>
                <a:gridCol w="1097280"/>
                <a:gridCol w="1051560"/>
                <a:gridCol w="914400"/>
                <a:gridCol w="1600200"/>
                <a:gridCol w="1298448"/>
                <a:gridCol w="914400"/>
              </a:tblGrid>
              <a:tr h="292608">
                <a:tc>
                  <a:txBody>
                    <a:bodyPr wrap="square"/>
                    <a:lstStyle/>
                    <a:p>
                      <a:pPr algn="ctr"/>
                      <a:r>
                        <a:rPr sz="1150" b="1">
                          <a:solidFill>
                            <a:srgbClr val="FFFFFF"/>
                          </a:solidFill>
                          <a:latin typeface="Noto Sans KR"/>
                          <a:ea typeface="Noto Sans KR"/>
                          <a:cs typeface="Noto Sans KR"/>
                        </a:rPr>
                        <a:t>구조</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등록 명의</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수입·판매</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창고</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법적 가능성</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비용·기간</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판정</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457200">
                <a:tc>
                  <a:txBody>
                    <a:bodyPr wrap="square"/>
                    <a:lstStyle/>
                    <a:p>
                      <a:pPr algn="l"/>
                      <a:r>
                        <a:rPr sz="1150" b="0">
                          <a:solidFill>
                            <a:srgbClr val="1A1A1A"/>
                          </a:solidFill>
                          <a:latin typeface="Noto Sans KR"/>
                          <a:ea typeface="Noto Sans KR"/>
                          <a:cs typeface="Noto Sans KR"/>
                        </a:rPr>
                        <a:t>A MP 활용</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MP</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MP</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MP/3PL</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MP 허가 보유 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보유 시 최소·최단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1">
                          <a:solidFill>
                            <a:srgbClr val="C00000"/>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DE9E7"/>
                    </a:solidFill>
                  </a:tcPr>
                </a:tc>
              </a:tr>
              <a:tr h="457200">
                <a:tc>
                  <a:txBody>
                    <a:bodyPr wrap="square"/>
                    <a:lstStyle/>
                    <a:p>
                      <a:pPr algn="l"/>
                      <a:r>
                        <a:rPr sz="1150" b="0">
                          <a:solidFill>
                            <a:srgbClr val="1A1A1A"/>
                          </a:solidFill>
                          <a:latin typeface="Noto Sans KR"/>
                          <a:ea typeface="Noto Sans KR"/>
                          <a:cs typeface="Noto Sans KR"/>
                        </a:rPr>
                        <a:t>B TC+무저장+3PL</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150" b="0">
                          <a:solidFill>
                            <a:srgbClr val="1A1A1A"/>
                          </a:solidFill>
                          <a:latin typeface="Noto Sans KR"/>
                          <a:ea typeface="Noto Sans KR"/>
                          <a:cs typeface="Noto Sans KR"/>
                        </a:rPr>
                        <a:t>TC 법인</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150" b="0">
                          <a:solidFill>
                            <a:srgbClr val="1A1A1A"/>
                          </a:solidFill>
                          <a:latin typeface="Noto Sans KR"/>
                          <a:ea typeface="Noto Sans KR"/>
                          <a:cs typeface="Noto Sans KR"/>
                        </a:rPr>
                        <a:t>TC 법인</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150" b="0">
                          <a:solidFill>
                            <a:srgbClr val="1A1A1A"/>
                          </a:solidFill>
                          <a:latin typeface="Noto Sans KR"/>
                          <a:ea typeface="Noto Sans KR"/>
                          <a:cs typeface="Noto Sans KR"/>
                        </a:rPr>
                        <a:t>3PL</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150" b="0">
                          <a:solidFill>
                            <a:srgbClr val="1A1A1A"/>
                          </a:solidFill>
                          <a:latin typeface="Noto Sans KR"/>
                          <a:ea typeface="Noto Sans KR"/>
                          <a:cs typeface="Noto Sans KR"/>
                        </a:rPr>
                        <a:t>가능 (근거 기반)</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150" b="0">
                          <a:solidFill>
                            <a:srgbClr val="1A1A1A"/>
                          </a:solidFill>
                          <a:latin typeface="Noto Sans KR"/>
                          <a:ea typeface="Noto Sans KR"/>
                          <a:cs typeface="Noto Sans KR"/>
                        </a:rPr>
                        <a:t>낮음 · 3~6개월</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150" b="1">
                          <a:solidFill>
                            <a:srgbClr val="385723"/>
                          </a:solidFill>
                          <a:latin typeface="Noto Sans KR"/>
                          <a:ea typeface="Noto Sans KR"/>
                          <a:cs typeface="Noto Sans KR"/>
                        </a:rPr>
                        <a:t>추천</a:t>
                      </a:r>
                    </a:p>
                  </a:txBody>
                  <a:tcPr marL="45720" marR="45720" marT="18000" marB="18000" anchor="ctr">
                    <a:lnL w="0">
                      <a:noFill/>
                    </a:lnL>
                    <a:lnR w="0">
                      <a:noFill/>
                    </a:lnR>
                    <a:lnT w="0">
                      <a:noFill/>
                    </a:lnT>
                    <a:lnB w="6350">
                      <a:solidFill>
                        <a:srgbClr val="D9D9D9"/>
                      </a:solidFill>
                    </a:lnB>
                    <a:solidFill>
                      <a:srgbClr val="E2EFD9"/>
                    </a:solidFill>
                  </a:tcPr>
                </a:tc>
              </a:tr>
              <a:tr h="457200">
                <a:tc>
                  <a:txBody>
                    <a:bodyPr wrap="square"/>
                    <a:lstStyle/>
                    <a:p>
                      <a:pPr algn="l"/>
                      <a:r>
                        <a:rPr sz="1150" b="0">
                          <a:solidFill>
                            <a:srgbClr val="1A1A1A"/>
                          </a:solidFill>
                          <a:latin typeface="Noto Sans KR"/>
                          <a:ea typeface="Noto Sans KR"/>
                          <a:cs typeface="Noto Sans KR"/>
                        </a:rPr>
                        <a:t>C TC+임차 창고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TC 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TC 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TC 임차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가능성 (무석 세칙)</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중간 · 6~9개월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1">
                          <a:solidFill>
                            <a:srgbClr val="7F6000"/>
                          </a:solidFill>
                          <a:latin typeface="Noto Sans KR"/>
                          <a:ea typeface="Noto Sans KR"/>
                          <a:cs typeface="Noto Sans KR"/>
                        </a:rPr>
                        <a:t>조건부</a:t>
                      </a:r>
                    </a:p>
                  </a:txBody>
                  <a:tcPr marL="45720" marR="45720" marT="18000" marB="18000" anchor="ctr">
                    <a:lnL w="0">
                      <a:noFill/>
                    </a:lnL>
                    <a:lnR w="0">
                      <a:noFill/>
                    </a:lnR>
                    <a:lnT w="0">
                      <a:noFill/>
                    </a:lnT>
                    <a:lnB w="6350">
                      <a:solidFill>
                        <a:srgbClr val="D9D9D9"/>
                      </a:solidFill>
                    </a:lnB>
                    <a:solidFill>
                      <a:srgbClr val="FFF2CC"/>
                    </a:solidFill>
                  </a:tcPr>
                </a:tc>
              </a:tr>
              <a:tr h="457200">
                <a:tc>
                  <a:txBody>
                    <a:bodyPr wrap="square"/>
                    <a:lstStyle/>
                    <a:p>
                      <a:pPr algn="l"/>
                      <a:r>
                        <a:rPr sz="1150" b="0">
                          <a:solidFill>
                            <a:srgbClr val="1A1A1A"/>
                          </a:solidFill>
                          <a:latin typeface="Noto Sans KR"/>
                          <a:ea typeface="Noto Sans KR"/>
                          <a:cs typeface="Noto Sans KR"/>
                        </a:rPr>
                        <a:t>D TC+자체 창고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TC 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TC 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TC</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원구 입주 전제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높음 · 12~24개월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1">
                          <a:solidFill>
                            <a:srgbClr val="595959"/>
                          </a:solidFill>
                          <a:latin typeface="Noto Sans KR"/>
                          <a:ea typeface="Noto Sans KR"/>
                          <a:cs typeface="Noto Sans KR"/>
                        </a:rPr>
                        <a:t>보류</a:t>
                      </a:r>
                    </a:p>
                  </a:txBody>
                  <a:tcPr marL="45720" marR="45720" marT="18000" marB="18000" anchor="ctr">
                    <a:lnL w="0">
                      <a:noFill/>
                    </a:lnL>
                    <a:lnR w="0">
                      <a:noFill/>
                    </a:lnR>
                    <a:lnT w="0">
                      <a:noFill/>
                    </a:lnT>
                    <a:lnB w="6350">
                      <a:solidFill>
                        <a:srgbClr val="D9D9D9"/>
                      </a:solidFill>
                    </a:lnB>
                    <a:solidFill>
                      <a:srgbClr val="F2F2F2"/>
                    </a:solidFill>
                  </a:tcPr>
                </a:tc>
              </a:tr>
              <a:tr h="457200">
                <a:tc>
                  <a:txBody>
                    <a:bodyPr wrap="square"/>
                    <a:lstStyle/>
                    <a:p>
                      <a:pPr algn="l"/>
                      <a:r>
                        <a:rPr sz="1150" b="0">
                          <a:solidFill>
                            <a:srgbClr val="1A1A1A"/>
                          </a:solidFill>
                          <a:latin typeface="Noto Sans KR"/>
                          <a:ea typeface="Noto Sans KR"/>
                          <a:cs typeface="Noto Sans KR"/>
                        </a:rPr>
                        <a:t>E 거점 분리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TC 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TC 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타 도시 3PL</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관할 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B와 유사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1">
                          <a:solidFill>
                            <a:srgbClr val="7F6000"/>
                          </a:solidFill>
                          <a:latin typeface="Noto Sans KR"/>
                          <a:ea typeface="Noto Sans KR"/>
                          <a:cs typeface="Noto Sans KR"/>
                        </a:rPr>
                        <a:t>조건부</a:t>
                      </a:r>
                    </a:p>
                  </a:txBody>
                  <a:tcPr marL="45720" marR="45720" marT="18000" marB="18000" anchor="ctr">
                    <a:lnL w="0">
                      <a:noFill/>
                    </a:lnL>
                    <a:lnR w="0">
                      <a:noFill/>
                    </a:lnR>
                    <a:lnT w="0">
                      <a:noFill/>
                    </a:lnT>
                    <a:lnB w="6350">
                      <a:solidFill>
                        <a:srgbClr val="D9D9D9"/>
                      </a:solidFill>
                    </a:lnB>
                    <a:solidFill>
                      <a:srgbClr val="FFF2CC"/>
                    </a:solidFill>
                  </a:tcPr>
                </a:tc>
              </a:tr>
              <a:tr h="457200">
                <a:tc>
                  <a:txBody>
                    <a:bodyPr wrap="square"/>
                    <a:lstStyle/>
                    <a:p>
                      <a:pPr algn="l"/>
                      <a:r>
                        <a:rPr sz="1150" b="0">
                          <a:solidFill>
                            <a:srgbClr val="1A1A1A"/>
                          </a:solidFill>
                          <a:latin typeface="Noto Sans KR"/>
                          <a:ea typeface="Noto Sans KR"/>
                          <a:cs typeface="Noto Sans KR"/>
                        </a:rPr>
                        <a:t>F 충진·소분 포함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TC 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TC 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TC</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현 단계 불필요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매우 높음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1">
                          <a:solidFill>
                            <a:srgbClr val="404040"/>
                          </a:solidFill>
                          <a:latin typeface="Noto Sans KR"/>
                          <a:ea typeface="Noto Sans KR"/>
                          <a:cs typeface="Noto Sans KR"/>
                        </a:rPr>
                        <a:t>제외</a:t>
                      </a:r>
                    </a:p>
                  </a:txBody>
                  <a:tcPr marL="45720" marR="45720" marT="18000" marB="18000" anchor="ctr">
                    <a:lnL w="0">
                      <a:noFill/>
                    </a:lnL>
                    <a:lnR w="0">
                      <a:noFill/>
                    </a:lnR>
                    <a:lnT w="0">
                      <a:noFill/>
                    </a:lnT>
                    <a:lnB w="6350">
                      <a:solidFill>
                        <a:srgbClr val="D9D9D9"/>
                      </a:solidFill>
                    </a:lnB>
                    <a:solidFill>
                      <a:srgbClr val="D9D9D9"/>
                    </a:solidFill>
                  </a:tcPr>
                </a:tc>
              </a:tr>
              <a:tr h="457200">
                <a:tc>
                  <a:txBody>
                    <a:bodyPr wrap="square"/>
                    <a:lstStyle/>
                    <a:p>
                      <a:pPr algn="l"/>
                      <a:r>
                        <a:rPr sz="1150" b="0">
                          <a:solidFill>
                            <a:srgbClr val="1A1A1A"/>
                          </a:solidFill>
                          <a:latin typeface="Noto Sans KR"/>
                          <a:ea typeface="Noto Sans KR"/>
                          <a:cs typeface="Noto Sans KR"/>
                        </a:rPr>
                        <a:t>G 대리인·수입자</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0">
                          <a:solidFill>
                            <a:srgbClr val="1A1A1A"/>
                          </a:solidFill>
                          <a:latin typeface="Noto Sans KR"/>
                          <a:ea typeface="Noto Sans KR"/>
                          <a:cs typeface="Noto Sans KR"/>
                        </a:rPr>
                        <a:t>대리인/수입자</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0">
                          <a:solidFill>
                            <a:srgbClr val="1A1A1A"/>
                          </a:solidFill>
                          <a:latin typeface="Noto Sans KR"/>
                          <a:ea typeface="Noto Sans KR"/>
                          <a:cs typeface="Noto Sans KR"/>
                        </a:rPr>
                        <a:t>적격 수입자</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0">
                          <a:solidFill>
                            <a:srgbClr val="1A1A1A"/>
                          </a:solidFill>
                          <a:latin typeface="Noto Sans KR"/>
                          <a:ea typeface="Noto Sans KR"/>
                          <a:cs typeface="Noto Sans KR"/>
                        </a:rPr>
                        <a:t>수입자</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0">
                          <a:solidFill>
                            <a:srgbClr val="1A1A1A"/>
                          </a:solidFill>
                          <a:latin typeface="Noto Sans KR"/>
                          <a:ea typeface="Noto Sans KR"/>
                          <a:cs typeface="Noto Sans KR"/>
                        </a:rPr>
                        <a:t>현행 가능·개정 시 수입자</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0">
                          <a:solidFill>
                            <a:srgbClr val="1A1A1A"/>
                          </a:solidFill>
                          <a:latin typeface="Noto Sans KR"/>
                          <a:ea typeface="Noto Sans KR"/>
                          <a:cs typeface="Noto Sans KR"/>
                        </a:rPr>
                        <a:t>가장 빠름</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1">
                          <a:solidFill>
                            <a:srgbClr val="7F6000"/>
                          </a:solidFill>
                          <a:latin typeface="Noto Sans KR"/>
                          <a:ea typeface="Noto Sans KR"/>
                          <a:cs typeface="Noto Sans KR"/>
                        </a:rPr>
                        <a:t>조건부</a:t>
                      </a:r>
                    </a:p>
                  </a:txBody>
                  <a:tcPr marL="45720" marR="45720" marT="18000" marB="18000" anchor="ctr">
                    <a:lnL w="0">
                      <a:noFill/>
                    </a:lnL>
                    <a:lnR w="0">
                      <a:noFill/>
                    </a:lnR>
                    <a:lnT w="0">
                      <a:noFill/>
                    </a:lnT>
                    <a:lnB w="9525">
                      <a:solidFill>
                        <a:srgbClr val="404040"/>
                      </a:solidFill>
                    </a:lnB>
                    <a:solidFill>
                      <a:srgbClr val="FFF2CC"/>
                    </a:solidFill>
                  </a:tcPr>
                </a:tc>
              </a:tr>
            </a:tbl>
          </a:graphicData>
        </a:graphic>
      </p:graphicFrame>
      <p:sp>
        <p:nvSpPr>
          <p:cNvPr id="165" name="TextBox 164"/>
          <p:cNvSpPr txBox="1"/>
          <p:nvPr/>
        </p:nvSpPr>
        <p:spPr>
          <a:xfrm>
            <a:off x="283464" y="4572000"/>
            <a:ext cx="8567928" cy="1417320"/>
          </a:xfrm>
          <a:prstGeom prst="rect">
            <a:avLst/>
          </a:prstGeom>
          <a:noFill/>
        </p:spPr>
        <p:txBody>
          <a:bodyPr wrap="square" anchor="t" lIns="27432" rIns="27432" tIns="18288" bIns="18288">
            <a:spAutoFit/>
          </a:bodyPr>
          <a:lstStyle/>
          <a:p>
            <a:pPr algn="l"/>
            <a:r>
              <a:rPr sz="1200" b="1">
                <a:solidFill>
                  <a:srgbClr val="C00000"/>
                </a:solidFill>
                <a:latin typeface="Noto Sans KR"/>
                <a:ea typeface="Noto Sans KR"/>
                <a:cs typeface="Noto Sans KR"/>
              </a:rPr>
              <a:t>왜 B안인가  </a:t>
            </a:r>
            <a:r>
              <a:rPr sz="1200" b="0">
                <a:solidFill>
                  <a:srgbClr val="1A1A1A"/>
                </a:solidFill>
                <a:latin typeface="Noto Sans KR"/>
                <a:ea typeface="Noto Sans KR"/>
                <a:cs typeface="Noto Sans KR"/>
              </a:rPr>
              <a:t>등록·수입·판매 명의를 TC가 갖고, 위험품 보관은 이미 허가를 가진 창고에 맡겨 초기 시설 투자를 피합니다.</a:t>
            </a:r>
          </a:p>
          <a:p>
            <a:pPr algn="l"/>
            <a:r>
              <a:rPr sz="1200" b="1">
                <a:solidFill>
                  <a:srgbClr val="C00000"/>
                </a:solidFill>
                <a:latin typeface="Noto Sans KR"/>
                <a:ea typeface="Noto Sans KR"/>
                <a:cs typeface="Noto Sans KR"/>
              </a:rPr>
              <a:t>B안의 약점  </a:t>
            </a:r>
            <a:r>
              <a:rPr sz="1200" b="0">
                <a:solidFill>
                  <a:srgbClr val="1A1A1A"/>
                </a:solidFill>
                <a:latin typeface="Noto Sans KR"/>
                <a:ea typeface="Noto Sans KR"/>
                <a:cs typeface="Noto Sans KR"/>
              </a:rPr>
              <a:t>창고 운영사의 허가 품목 안에 우리 제품이 들어가야 합니다 — 자연발화·수분반응 물질이면 받아줄 창고가 적을 수 있습니다.</a:t>
            </a:r>
          </a:p>
        </p:txBody>
      </p:sp>
      <p:sp>
        <p:nvSpPr>
          <p:cNvPr id="166" name="TextBox 165"/>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10_OperatingModels 시트 · EVD-002, EVD-013~015 (기간은 분석 가정)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외투 무역법인은 100% 독자 설립이 가능합니다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350" dirty="0">
                <a:latin typeface="Noto Sans KR" panose="02000503000000020004" pitchFamily="2" charset="-127"/>
                <a:ea typeface="Noto Sans KR" panose="02000503000000020004" pitchFamily="2" charset="-127"/>
                <a:cs typeface="Noto Sans KR" panose="02000503000000020004" pitchFamily="2" charset="-127"/>
              </a:rPr>
              <a:t>등록자본 법정 최저액 없음 · 5년 내 납입 · 법인 등기 ≠ 화학품 사업 개시</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sz="1000" b="1" dirty="0">
                <a:latin typeface="Noto Sans KR" pitchFamily="2" charset="-127"/>
                <a:ea typeface="Noto Sans KR" pitchFamily="2" charset="-127"/>
              </a:rPr>
              <a:t>9</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- 9 -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3300984"/>
        </p:xfrm>
        <a:graphic>
          <a:graphicData uri="http://schemas.openxmlformats.org/drawingml/2006/table">
            <a:tbl>
              <a:tblPr firstRow="0" bandRow="0"/>
              <a:tblGrid>
                <a:gridCol w="1188720"/>
                <a:gridCol w="3429000"/>
                <a:gridCol w="2898648"/>
                <a:gridCol w="1051560"/>
              </a:tblGrid>
              <a:tr h="292608">
                <a:tc>
                  <a:txBody>
                    <a:bodyPr wrap="square"/>
                    <a:lstStyle/>
                    <a:p>
                      <a:pPr algn="ctr"/>
                      <a:r>
                        <a:rPr sz="1150" b="1">
                          <a:solidFill>
                            <a:srgbClr val="FFFFFF"/>
                          </a:solidFill>
                          <a:latin typeface="Noto Sans KR"/>
                          <a:ea typeface="Noto Sans KR"/>
                          <a:cs typeface="Noto Sans KR"/>
                        </a:rPr>
                        <a:t>항목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법정 의무</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실무·확인 사항</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근거</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429768">
                <a:tc>
                  <a:txBody>
                    <a:bodyPr wrap="square"/>
                    <a:lstStyle/>
                    <a:p>
                      <a:pPr algn="l"/>
                      <a:r>
                        <a:rPr sz="1150" b="0">
                          <a:solidFill>
                            <a:srgbClr val="1A1A1A"/>
                          </a:solidFill>
                          <a:latin typeface="Noto Sans KR"/>
                          <a:ea typeface="Noto Sans KR"/>
                          <a:cs typeface="Noto Sans KR"/>
                        </a:rPr>
                        <a:t>지분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화학품 도매는 네거티브리스트 제한 항목 아님(파악)</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원문 대조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EVD-024</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150" b="0">
                          <a:solidFill>
                            <a:srgbClr val="1A1A1A"/>
                          </a:solidFill>
                          <a:latin typeface="Noto Sans KR"/>
                          <a:ea typeface="Noto Sans KR"/>
                          <a:cs typeface="Noto Sans KR"/>
                        </a:rPr>
                        <a:t>등록자본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법정 최저액 없음 · 설립 후 5년 내 납입</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은행·임대인이 규모를 보기도 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EVD-022</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150" b="0">
                          <a:solidFill>
                            <a:srgbClr val="1A1A1A"/>
                          </a:solidFill>
                          <a:latin typeface="Noto Sans KR"/>
                          <a:ea typeface="Noto Sans KR"/>
                          <a:cs typeface="Noto Sans KR"/>
                        </a:rPr>
                        <a:t>기관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법정대표인 = 이사 또는 경리 · 소규모는 감사 1명/생략</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법인장과 법정대표인은 다를 수 있음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EVD-023</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150" b="0">
                          <a:solidFill>
                            <a:srgbClr val="1A1A1A"/>
                          </a:solidFill>
                          <a:latin typeface="Noto Sans KR"/>
                          <a:ea typeface="Noto Sans KR"/>
                          <a:cs typeface="Noto Sans KR"/>
                        </a:rPr>
                        <a:t>주소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실제 사무 장소 (임대계약)</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무저장 경영허가 장소 요건과 일치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EVD-015</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150" b="0">
                          <a:solidFill>
                            <a:srgbClr val="1A1A1A"/>
                          </a:solidFill>
                          <a:latin typeface="Noto Sans KR"/>
                          <a:ea typeface="Noto Sans KR"/>
                          <a:cs typeface="Noto Sans KR"/>
                        </a:rPr>
                        <a:t>한국 서류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아포스티유 (영사 인증 불필요)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번역·공증 기간 포함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EVD-025</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150" b="0">
                          <a:solidFill>
                            <a:srgbClr val="1A1A1A"/>
                          </a:solidFill>
                          <a:latin typeface="Noto Sans KR"/>
                          <a:ea typeface="Noto Sans KR"/>
                          <a:cs typeface="Noto Sans KR"/>
                        </a:rPr>
                        <a:t>한국 신고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해외직접투자 사전 신고 (외국환은행)</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송금·증권취득 보고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EVD-026</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150" b="0">
                          <a:solidFill>
                            <a:srgbClr val="1A1A1A"/>
                          </a:solidFill>
                          <a:latin typeface="Noto Sans KR"/>
                          <a:ea typeface="Noto Sans KR"/>
                          <a:cs typeface="Noto Sans KR"/>
                        </a:rPr>
                        <a:t>등기 후</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150" b="0">
                          <a:solidFill>
                            <a:srgbClr val="1A1A1A"/>
                          </a:solidFill>
                          <a:latin typeface="Noto Sans KR"/>
                          <a:ea typeface="Noto Sans KR"/>
                          <a:cs typeface="Noto Sans KR"/>
                        </a:rPr>
                        <a:t>계좌·외환·세무·해관 등록</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150" b="0">
                          <a:solidFill>
                            <a:srgbClr val="1A1A1A"/>
                          </a:solidFill>
                          <a:latin typeface="Noto Sans KR"/>
                          <a:ea typeface="Noto Sans KR"/>
                          <a:cs typeface="Noto Sans KR"/>
                        </a:rPr>
                        <a:t>기관 실무 기간 확인</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0">
                          <a:solidFill>
                            <a:srgbClr val="1A1A1A"/>
                          </a:solidFill>
                          <a:latin typeface="Noto Sans KR"/>
                          <a:ea typeface="Noto Sans KR"/>
                          <a:cs typeface="Noto Sans KR"/>
                        </a:rPr>
                        <a:t>기관 확인</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Pentagon 164"/>
          <p:cNvSpPr/>
          <p:nvPr/>
        </p:nvSpPr>
        <p:spPr>
          <a:xfrm>
            <a:off x="283464" y="4526280"/>
            <a:ext cx="1482852" cy="658368"/>
          </a:xfrm>
          <a:prstGeom prst="homePlate">
            <a:avLst>
              <a:gd name="adj" fmla="val 25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73152"/>
          <a:lstStyle/>
          <a:p>
            <a:pPr algn="ctr"/>
            <a:r>
              <a:rPr sz="1100" b="1">
                <a:solidFill>
                  <a:srgbClr val="1A1A1A"/>
                </a:solidFill>
                <a:latin typeface="Noto Sans KR"/>
                <a:ea typeface="Noto Sans KR"/>
                <a:cs typeface="Noto Sans KR"/>
              </a:rPr>
              <a:t>투자 신고</a:t>
            </a:r>
          </a:p>
          <a:p>
            <a:pPr algn="ctr"/>
            <a:r>
              <a:rPr sz="900" b="0">
                <a:solidFill>
                  <a:srgbClr val="1A1A1A"/>
                </a:solidFill>
                <a:latin typeface="Noto Sans KR"/>
                <a:ea typeface="Noto Sans KR"/>
                <a:cs typeface="Noto Sans KR"/>
              </a:rPr>
              <a:t>한국</a:t>
            </a:r>
          </a:p>
        </p:txBody>
      </p:sp>
      <p:sp>
        <p:nvSpPr>
          <p:cNvPr id="166" name="Chevron 165"/>
          <p:cNvSpPr/>
          <p:nvPr/>
        </p:nvSpPr>
        <p:spPr>
          <a:xfrm>
            <a:off x="1711452" y="4526280"/>
            <a:ext cx="1482852" cy="658368"/>
          </a:xfrm>
          <a:prstGeom prst="chevron">
            <a:avLst>
              <a:gd name="adj" fmla="val 25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100" b="1">
                <a:solidFill>
                  <a:srgbClr val="1A1A1A"/>
                </a:solidFill>
                <a:latin typeface="Noto Sans KR"/>
                <a:ea typeface="Noto Sans KR"/>
                <a:cs typeface="Noto Sans KR"/>
              </a:rPr>
              <a:t>서류 준비</a:t>
            </a:r>
          </a:p>
          <a:p>
            <a:pPr algn="ctr"/>
            <a:r>
              <a:rPr sz="900" b="0">
                <a:solidFill>
                  <a:srgbClr val="1A1A1A"/>
                </a:solidFill>
                <a:latin typeface="Noto Sans KR"/>
                <a:ea typeface="Noto Sans KR"/>
                <a:cs typeface="Noto Sans KR"/>
              </a:rPr>
              <a:t>아포스티유</a:t>
            </a:r>
          </a:p>
        </p:txBody>
      </p:sp>
      <p:sp>
        <p:nvSpPr>
          <p:cNvPr id="167" name="Chevron 166"/>
          <p:cNvSpPr/>
          <p:nvPr/>
        </p:nvSpPr>
        <p:spPr>
          <a:xfrm>
            <a:off x="3139440" y="4526280"/>
            <a:ext cx="1482852" cy="658368"/>
          </a:xfrm>
          <a:prstGeom prst="chevron">
            <a:avLst>
              <a:gd name="adj" fmla="val 2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100" b="1">
                <a:solidFill>
                  <a:srgbClr val="FFFFFF"/>
                </a:solidFill>
                <a:latin typeface="Noto Sans KR"/>
                <a:ea typeface="Noto Sans KR"/>
                <a:cs typeface="Noto Sans KR"/>
              </a:rPr>
              <a:t>등기</a:t>
            </a:r>
          </a:p>
          <a:p>
            <a:pPr algn="ctr"/>
            <a:r>
              <a:rPr sz="900" b="0">
                <a:solidFill>
                  <a:srgbClr val="FFFFFF"/>
                </a:solidFill>
                <a:latin typeface="Noto Sans KR"/>
                <a:ea typeface="Noto Sans KR"/>
                <a:cs typeface="Noto Sans KR"/>
              </a:rPr>
              <a:t>营业执照</a:t>
            </a:r>
          </a:p>
        </p:txBody>
      </p:sp>
      <p:sp>
        <p:nvSpPr>
          <p:cNvPr id="168" name="Chevron 167"/>
          <p:cNvSpPr/>
          <p:nvPr/>
        </p:nvSpPr>
        <p:spPr>
          <a:xfrm>
            <a:off x="4567427" y="4526280"/>
            <a:ext cx="1482852" cy="658368"/>
          </a:xfrm>
          <a:prstGeom prst="chevron">
            <a:avLst>
              <a:gd name="adj" fmla="val 2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100" b="1">
                <a:solidFill>
                  <a:srgbClr val="FFFFFF"/>
                </a:solidFill>
                <a:latin typeface="Noto Sans KR"/>
                <a:ea typeface="Noto Sans KR"/>
                <a:cs typeface="Noto Sans KR"/>
              </a:rPr>
              <a:t>계좌·세무</a:t>
            </a:r>
          </a:p>
          <a:p>
            <a:pPr algn="ctr"/>
            <a:r>
              <a:rPr sz="900" b="0">
                <a:solidFill>
                  <a:srgbClr val="FFFFFF"/>
                </a:solidFill>
                <a:latin typeface="Noto Sans KR"/>
                <a:ea typeface="Noto Sans KR"/>
                <a:cs typeface="Noto Sans KR"/>
              </a:rPr>
              <a:t>해관·외환</a:t>
            </a:r>
          </a:p>
        </p:txBody>
      </p:sp>
      <p:sp>
        <p:nvSpPr>
          <p:cNvPr id="169" name="Chevron 168"/>
          <p:cNvSpPr/>
          <p:nvPr/>
        </p:nvSpPr>
        <p:spPr>
          <a:xfrm>
            <a:off x="5995415" y="4526280"/>
            <a:ext cx="1482852" cy="658368"/>
          </a:xfrm>
          <a:prstGeom prst="chevron">
            <a:avLst>
              <a:gd name="adj" fmla="val 25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100" b="1">
                <a:solidFill>
                  <a:srgbClr val="FFFFFF"/>
                </a:solidFill>
                <a:latin typeface="Noto Sans KR"/>
                <a:ea typeface="Noto Sans KR"/>
                <a:cs typeface="Noto Sans KR"/>
              </a:rPr>
              <a:t>경영허가</a:t>
            </a:r>
          </a:p>
          <a:p>
            <a:pPr algn="ctr"/>
            <a:r>
              <a:rPr sz="900" b="0">
                <a:solidFill>
                  <a:srgbClr val="FFFFFF"/>
                </a:solidFill>
                <a:latin typeface="Noto Sans KR"/>
                <a:ea typeface="Noto Sans KR"/>
                <a:cs typeface="Noto Sans KR"/>
              </a:rPr>
              <a:t>무저장</a:t>
            </a:r>
          </a:p>
        </p:txBody>
      </p:sp>
      <p:sp>
        <p:nvSpPr>
          <p:cNvPr id="170" name="Chevron 169"/>
          <p:cNvSpPr/>
          <p:nvPr/>
        </p:nvSpPr>
        <p:spPr>
          <a:xfrm>
            <a:off x="7423403" y="4526280"/>
            <a:ext cx="1482852" cy="658368"/>
          </a:xfrm>
          <a:prstGeom prst="chevron">
            <a:avLst>
              <a:gd name="adj" fmla="val 25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100" b="1">
                <a:solidFill>
                  <a:srgbClr val="FFFFFF"/>
                </a:solidFill>
                <a:latin typeface="Noto Sans KR"/>
                <a:ea typeface="Noto Sans KR"/>
                <a:cs typeface="Noto Sans KR"/>
              </a:rPr>
              <a:t>등록</a:t>
            </a:r>
          </a:p>
          <a:p>
            <a:pPr algn="ctr"/>
            <a:r>
              <a:rPr sz="900" b="0">
                <a:solidFill>
                  <a:srgbClr val="FFFFFF"/>
                </a:solidFill>
                <a:latin typeface="Noto Sans KR"/>
                <a:ea typeface="Noto Sans KR"/>
                <a:cs typeface="Noto Sans KR"/>
              </a:rPr>
              <a:t>위험화학품·신규물질</a:t>
            </a:r>
          </a:p>
        </p:txBody>
      </p:sp>
      <p:sp>
        <p:nvSpPr>
          <p:cNvPr id="171" name="TextBox 170"/>
          <p:cNvSpPr txBox="1"/>
          <p:nvPr/>
        </p:nvSpPr>
        <p:spPr>
          <a:xfrm>
            <a:off x="283464" y="5303520"/>
            <a:ext cx="8567928" cy="731520"/>
          </a:xfrm>
          <a:prstGeom prst="rect">
            <a:avLst/>
          </a:prstGeom>
          <a:noFill/>
        </p:spPr>
        <p:txBody>
          <a:bodyPr wrap="square" anchor="t" lIns="27432" rIns="27432" tIns="18288" bIns="18288">
            <a:spAutoFit/>
          </a:bodyPr>
          <a:lstStyle/>
          <a:p>
            <a:pPr algn="l"/>
            <a:r>
              <a:rPr sz="1200" b="1">
                <a:solidFill>
                  <a:srgbClr val="C00000"/>
                </a:solidFill>
                <a:latin typeface="Noto Sans KR"/>
                <a:ea typeface="Noto Sans KR"/>
                <a:cs typeface="Noto Sans KR"/>
              </a:rPr>
              <a:t>주의  </a:t>
            </a:r>
            <a:r>
              <a:rPr sz="1200" b="0">
                <a:solidFill>
                  <a:srgbClr val="1A1A1A"/>
                </a:solidFill>
                <a:latin typeface="Noto Sans KR"/>
                <a:ea typeface="Noto Sans KR"/>
                <a:cs typeface="Noto Sans KR"/>
              </a:rPr>
              <a:t>'법인 설립 4명 필수', '등록자본은 반드시 얼마' 같은 법정 기준은 확인되지 않았습니다. 인력은 경영허가 요건(전담 안전관리자 등)에서 나옵니다.</a:t>
            </a:r>
          </a:p>
        </p:txBody>
      </p:sp>
      <p:sp>
        <p:nvSpPr>
          <p:cNvPr id="172" name="TextBox 171"/>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SRC-020 공사법(2024-07-01), SRC-021 네거티브리스트 2024, SRC-022 외교부, SRC-023 외국환거래 신고</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신규물질 등록 명의자가 자료와 책임을 갖습니다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개정안이 확정되면 해외 기업은 자료만 제공 — 중국 수입기업 명의가 필수</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10</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- 10 -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2670048"/>
        </p:xfrm>
        <a:graphic>
          <a:graphicData uri="http://schemas.openxmlformats.org/drawingml/2006/table">
            <a:tbl>
              <a:tblPr firstRow="0" bandRow="0"/>
              <a:tblGrid>
                <a:gridCol w="1463040"/>
                <a:gridCol w="3566160"/>
                <a:gridCol w="3538728"/>
              </a:tblGrid>
              <a:tr h="292608">
                <a:tc>
                  <a:txBody>
                    <a:bodyPr wrap="square"/>
                    <a:lstStyle/>
                    <a:p>
                      <a:pPr algn="ctr"/>
                      <a:r>
                        <a:rPr sz="1200" b="1">
                          <a:solidFill>
                            <a:srgbClr val="FFFFFF"/>
                          </a:solidFill>
                          <a:latin typeface="Noto Sans KR"/>
                          <a:ea typeface="Noto Sans KR"/>
                          <a:cs typeface="Noto Sans KR"/>
                        </a:rPr>
                        <a:t>구분</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현행 (12호령)</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개정 초안 (2026-06)</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475488">
                <a:tc>
                  <a:txBody>
                    <a:bodyPr wrap="square"/>
                    <a:lstStyle/>
                    <a:p>
                      <a:pPr algn="l"/>
                      <a:r>
                        <a:rPr sz="1200" b="0">
                          <a:solidFill>
                            <a:srgbClr val="1A1A1A"/>
                          </a:solidFill>
                          <a:latin typeface="Noto Sans KR"/>
                          <a:ea typeface="Noto Sans KR"/>
                          <a:cs typeface="Noto Sans KR"/>
                        </a:rPr>
                        <a:t>신청 주체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중국 생산·수입기업 또는 해외 기업 + 중국 대리인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중국 내 생산·수입기업만</a:t>
                      </a:r>
                    </a:p>
                  </a:txBody>
                  <a:tcPr marL="45720" marR="45720" marT="18000" marB="18000" anchor="ctr">
                    <a:lnL w="0">
                      <a:noFill/>
                    </a:lnL>
                    <a:lnR w="0">
                      <a:noFill/>
                    </a:lnR>
                    <a:lnT w="0">
                      <a:noFill/>
                    </a:lnT>
                    <a:lnB w="6350">
                      <a:solidFill>
                        <a:srgbClr val="D9D9D9"/>
                      </a:solidFill>
                    </a:lnB>
                    <a:solidFill>
                      <a:srgbClr val="FFFFFF"/>
                    </a:solidFill>
                  </a:tcPr>
                </a:tc>
              </a:tr>
              <a:tr h="475488">
                <a:tc>
                  <a:txBody>
                    <a:bodyPr wrap="square"/>
                    <a:lstStyle/>
                    <a:p>
                      <a:pPr algn="l"/>
                      <a:r>
                        <a:rPr sz="1200" b="0">
                          <a:solidFill>
                            <a:srgbClr val="1A1A1A"/>
                          </a:solidFill>
                          <a:latin typeface="Noto Sans KR"/>
                          <a:ea typeface="Noto Sans KR"/>
                          <a:cs typeface="Noto Sans KR"/>
                        </a:rPr>
                        <a:t>소량 (备案)</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1톤 미만 등 备案 가능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8-15 접수 중단 · 기존 备案은 12-31까지 등록증</a:t>
                      </a:r>
                    </a:p>
                  </a:txBody>
                  <a:tcPr marL="45720" marR="45720" marT="18000" marB="18000" anchor="ctr">
                    <a:lnL w="0">
                      <a:noFill/>
                    </a:lnL>
                    <a:lnR w="0">
                      <a:noFill/>
                    </a:lnR>
                    <a:lnT w="0">
                      <a:noFill/>
                    </a:lnT>
                    <a:lnB w="6350">
                      <a:solidFill>
                        <a:srgbClr val="D9D9D9"/>
                      </a:solidFill>
                    </a:lnB>
                    <a:solidFill>
                      <a:srgbClr val="FFFFFF"/>
                    </a:solidFill>
                  </a:tcPr>
                </a:tc>
              </a:tr>
              <a:tr h="475488">
                <a:tc>
                  <a:txBody>
                    <a:bodyPr wrap="square"/>
                    <a:lstStyle/>
                    <a:p>
                      <a:pPr algn="l"/>
                      <a:r>
                        <a:rPr sz="1200" b="0">
                          <a:solidFill>
                            <a:srgbClr val="1A1A1A"/>
                          </a:solidFill>
                          <a:latin typeface="Noto Sans KR"/>
                          <a:ea typeface="Noto Sans KR"/>
                          <a:cs typeface="Noto Sans KR"/>
                        </a:rPr>
                        <a:t>기존 등록증</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유효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유효 · 기재 사항 변경 시 재신청</a:t>
                      </a:r>
                    </a:p>
                  </a:txBody>
                  <a:tcPr marL="45720" marR="45720" marT="18000" marB="18000" anchor="ctr">
                    <a:lnL w="0">
                      <a:noFill/>
                    </a:lnL>
                    <a:lnR w="0">
                      <a:noFill/>
                    </a:lnR>
                    <a:lnT w="0">
                      <a:noFill/>
                    </a:lnT>
                    <a:lnB w="6350">
                      <a:solidFill>
                        <a:srgbClr val="D9D9D9"/>
                      </a:solidFill>
                    </a:lnB>
                    <a:solidFill>
                      <a:srgbClr val="FFFFFF"/>
                    </a:solidFill>
                  </a:tcPr>
                </a:tc>
              </a:tr>
              <a:tr h="475488">
                <a:tc>
                  <a:txBody>
                    <a:bodyPr wrap="square"/>
                    <a:lstStyle/>
                    <a:p>
                      <a:pPr algn="l"/>
                      <a:r>
                        <a:rPr sz="1200" b="0">
                          <a:solidFill>
                            <a:srgbClr val="1A1A1A"/>
                          </a:solidFill>
                          <a:latin typeface="Noto Sans KR"/>
                          <a:ea typeface="Noto Sans KR"/>
                          <a:cs typeface="Noto Sans KR"/>
                        </a:rPr>
                        <a:t>시험자료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간이등록도 중국 공시생물 생태독성 시험 포함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확인 필요 (개정 세부)</a:t>
                      </a:r>
                    </a:p>
                  </a:txBody>
                  <a:tcPr marL="45720" marR="45720" marT="18000" marB="18000" anchor="ctr">
                    <a:lnL w="0">
                      <a:noFill/>
                    </a:lnL>
                    <a:lnR w="0">
                      <a:noFill/>
                    </a:lnR>
                    <a:lnT w="0">
                      <a:noFill/>
                    </a:lnT>
                    <a:lnB w="6350">
                      <a:solidFill>
                        <a:srgbClr val="D9D9D9"/>
                      </a:solidFill>
                    </a:lnB>
                    <a:solidFill>
                      <a:srgbClr val="FFFFFF"/>
                    </a:solidFill>
                  </a:tcPr>
                </a:tc>
              </a:tr>
              <a:tr h="475488">
                <a:tc>
                  <a:txBody>
                    <a:bodyPr wrap="square"/>
                    <a:lstStyle/>
                    <a:p>
                      <a:pPr algn="l"/>
                      <a:r>
                        <a:rPr sz="1200" b="0">
                          <a:solidFill>
                            <a:srgbClr val="1A1A1A"/>
                          </a:solidFill>
                          <a:latin typeface="Noto Sans KR"/>
                          <a:ea typeface="Noto Sans KR"/>
                          <a:cs typeface="Noto Sans KR"/>
                        </a:rPr>
                        <a:t>정보 보호</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명칭·CAS·구조 비공개 신청 가능 (기간 제한)</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Rectangle 164"/>
          <p:cNvSpPr/>
          <p:nvPr/>
        </p:nvSpPr>
        <p:spPr>
          <a:xfrm>
            <a:off x="283464" y="3739896"/>
            <a:ext cx="54864" cy="182880"/>
          </a:xfrm>
          <a:prstGeom prst="rect">
            <a:avLst/>
          </a:prstGeom>
          <a:solidFill>
            <a:srgbClr val="EB0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393192" y="3694176"/>
            <a:ext cx="8458200" cy="274320"/>
          </a:xfrm>
          <a:prstGeom prst="rect">
            <a:avLst/>
          </a:prstGeom>
          <a:noFill/>
        </p:spPr>
        <p:txBody>
          <a:bodyPr wrap="square" anchor="t" lIns="27432" rIns="27432" tIns="18288" bIns="18288">
            <a:spAutoFit/>
          </a:bodyPr>
          <a:lstStyle/>
          <a:p>
            <a:pPr algn="l"/>
            <a:r>
              <a:rPr sz="1200" b="1">
                <a:solidFill>
                  <a:srgbClr val="1A1A1A"/>
                </a:solidFill>
                <a:latin typeface="Noto Sans KR"/>
                <a:ea typeface="Noto Sans KR"/>
                <a:cs typeface="Noto Sans KR"/>
              </a:rPr>
              <a:t>누가 무엇을 보게 되나</a:t>
            </a:r>
            <a:r>
              <a:rPr sz="1000" b="1">
                <a:solidFill>
                  <a:srgbClr val="C00000"/>
                </a:solidFill>
                <a:latin typeface="Noto Sans KR"/>
                <a:ea typeface="Noto Sans KR"/>
                <a:cs typeface="Noto Sans KR"/>
              </a:rPr>
              <a:t>   법인을 세워도 '노출'은 남고 '통제권'이 바뀜</a:t>
            </a:r>
          </a:p>
        </p:txBody>
      </p:sp>
      <p:graphicFrame>
        <p:nvGraphicFramePr>
          <p:cNvPr id="167" name="Table 166"/>
          <p:cNvGraphicFramePr>
            <a:graphicFrameLocks noGrp="1"/>
          </p:cNvGraphicFramePr>
          <p:nvPr/>
        </p:nvGraphicFramePr>
        <p:xfrm>
          <a:off x="283464" y="3977639"/>
          <a:ext cx="8567928" cy="1609344"/>
        </p:xfrm>
        <a:graphic>
          <a:graphicData uri="http://schemas.openxmlformats.org/drawingml/2006/table">
            <a:tbl>
              <a:tblPr firstRow="0" bandRow="0"/>
              <a:tblGrid>
                <a:gridCol w="2377440"/>
                <a:gridCol w="3291840"/>
                <a:gridCol w="2898648"/>
              </a:tblGrid>
              <a:tr h="292608">
                <a:tc>
                  <a:txBody>
                    <a:bodyPr wrap="square"/>
                    <a:lstStyle/>
                    <a:p>
                      <a:pPr algn="ctr"/>
                      <a:r>
                        <a:rPr sz="1200" b="1">
                          <a:solidFill>
                            <a:srgbClr val="FFFFFF"/>
                          </a:solidFill>
                          <a:latin typeface="Noto Sans KR"/>
                          <a:ea typeface="Noto Sans KR"/>
                          <a:cs typeface="Noto Sans KR"/>
                        </a:rPr>
                        <a:t>상대</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보게 되는 정보</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통제 수단</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438912">
                <a:tc>
                  <a:txBody>
                    <a:bodyPr wrap="square"/>
                    <a:lstStyle/>
                    <a:p>
                      <a:pPr algn="l"/>
                      <a:r>
                        <a:rPr sz="1200" b="0">
                          <a:solidFill>
                            <a:srgbClr val="1A1A1A"/>
                          </a:solidFill>
                          <a:latin typeface="Noto Sans KR"/>
                          <a:ea typeface="Noto Sans KR"/>
                          <a:cs typeface="Noto Sans KR"/>
                        </a:rPr>
                        <a:t>생태환경부·심사기관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구조·조성·시험자료 전체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정보보호 신청</a:t>
                      </a:r>
                    </a:p>
                  </a:txBody>
                  <a:tcPr marL="45720" marR="45720" marT="18000" marB="18000" anchor="ctr">
                    <a:lnL w="0">
                      <a:noFill/>
                    </a:lnL>
                    <a:lnR w="0">
                      <a:noFill/>
                    </a:lnR>
                    <a:lnT w="0">
                      <a:noFill/>
                    </a:lnT>
                    <a:lnB w="6350">
                      <a:solidFill>
                        <a:srgbClr val="D9D9D9"/>
                      </a:solidFill>
                    </a:lnB>
                    <a:solidFill>
                      <a:srgbClr val="FFFFFF"/>
                    </a:solidFill>
                  </a:tcPr>
                </a:tc>
              </a:tr>
              <a:tr h="438912">
                <a:tc>
                  <a:txBody>
                    <a:bodyPr wrap="square"/>
                    <a:lstStyle/>
                    <a:p>
                      <a:pPr algn="l"/>
                      <a:r>
                        <a:rPr sz="1200" b="0">
                          <a:solidFill>
                            <a:srgbClr val="1A1A1A"/>
                          </a:solidFill>
                          <a:latin typeface="Noto Sans KR"/>
                          <a:ea typeface="Noto Sans KR"/>
                          <a:cs typeface="Noto Sans KR"/>
                        </a:rPr>
                        <a:t>중국 시험기관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시험 물질·결과</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시험 계약 비밀유지</a:t>
                      </a:r>
                    </a:p>
                  </a:txBody>
                  <a:tcPr marL="45720" marR="45720" marT="18000" marB="18000" anchor="ctr">
                    <a:lnL w="0">
                      <a:noFill/>
                    </a:lnL>
                    <a:lnR w="0">
                      <a:noFill/>
                    </a:lnR>
                    <a:lnT w="0">
                      <a:noFill/>
                    </a:lnT>
                    <a:lnB w="6350">
                      <a:solidFill>
                        <a:srgbClr val="D9D9D9"/>
                      </a:solidFill>
                    </a:lnB>
                    <a:solidFill>
                      <a:srgbClr val="FFFFFF"/>
                    </a:solidFill>
                  </a:tcPr>
                </a:tc>
              </a:tr>
              <a:tr h="438912">
                <a:tc>
                  <a:txBody>
                    <a:bodyPr wrap="square"/>
                    <a:lstStyle/>
                    <a:p>
                      <a:pPr algn="l"/>
                      <a:r>
                        <a:rPr sz="1200" b="0">
                          <a:solidFill>
                            <a:srgbClr val="1A1A1A"/>
                          </a:solidFill>
                          <a:latin typeface="Noto Sans KR"/>
                          <a:ea typeface="Noto Sans KR"/>
                          <a:cs typeface="Noto Sans KR"/>
                        </a:rPr>
                        <a:t>대리인·수입자(MP·고객)</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신청서·자료 (명의자면 등록증까지)</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NDA로 부족 — 명의가 핵심</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8" name="TextBox 167"/>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EVD-001~007 · SRC-001·004·005·008·036·040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위험화학품이면 TC 법인은 판매(경영) 허가가 필요합니다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무저장 허가가 최소안 — 저장하려면 지정 구역(화공원구 등) 창고가 필요</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11</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- 11 -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3310128"/>
        </p:xfrm>
        <a:graphic>
          <a:graphicData uri="http://schemas.openxmlformats.org/drawingml/2006/table">
            <a:tbl>
              <a:tblPr firstRow="0" bandRow="0"/>
              <a:tblGrid>
                <a:gridCol w="1920240"/>
                <a:gridCol w="1920240"/>
                <a:gridCol w="3200400"/>
                <a:gridCol w="1527048"/>
              </a:tblGrid>
              <a:tr h="292608">
                <a:tc>
                  <a:txBody>
                    <a:bodyPr wrap="square"/>
                    <a:lstStyle/>
                    <a:p>
                      <a:pPr algn="ctr"/>
                      <a:r>
                        <a:rPr sz="1150" b="1">
                          <a:solidFill>
                            <a:srgbClr val="FFFFFF"/>
                          </a:solidFill>
                          <a:latin typeface="Noto Sans KR"/>
                          <a:ea typeface="Noto Sans KR"/>
                          <a:cs typeface="Noto Sans KR"/>
                        </a:rPr>
                        <a:t>허가·등록</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언제 필요</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핵심 조건</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기간 (확인 수준)</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502920">
                <a:tc>
                  <a:txBody>
                    <a:bodyPr wrap="square"/>
                    <a:lstStyle/>
                    <a:p>
                      <a:pPr algn="l"/>
                      <a:r>
                        <a:rPr sz="1150" b="0">
                          <a:solidFill>
                            <a:srgbClr val="1A1A1A"/>
                          </a:solidFill>
                          <a:latin typeface="Noto Sans KR"/>
                          <a:ea typeface="Noto Sans KR"/>
                          <a:cs typeface="Noto Sans KR"/>
                        </a:rPr>
                        <a:t>경영허가 · 무저장</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l"/>
                      <a:r>
                        <a:rPr sz="1150" b="0">
                          <a:solidFill>
                            <a:srgbClr val="1A1A1A"/>
                          </a:solidFill>
                          <a:latin typeface="Noto Sans KR"/>
                          <a:ea typeface="Noto Sans KR"/>
                          <a:cs typeface="Noto Sans KR"/>
                        </a:rPr>
                        <a:t>판매만, 자체 저장 없음</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l"/>
                      <a:r>
                        <a:rPr sz="1150" b="0">
                          <a:solidFill>
                            <a:srgbClr val="1A1A1A"/>
                          </a:solidFill>
                          <a:latin typeface="Noto Sans KR"/>
                          <a:ea typeface="Noto Sans KR"/>
                          <a:cs typeface="Noto Sans KR"/>
                        </a:rPr>
                        <a:t>사무 장소, 책임자·전담 안전관리자 자격, 규정·응급계획</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150" b="0">
                          <a:solidFill>
                            <a:srgbClr val="1A1A1A"/>
                          </a:solidFill>
                          <a:latin typeface="Noto Sans KR"/>
                          <a:ea typeface="Noto Sans KR"/>
                          <a:cs typeface="Noto Sans KR"/>
                        </a:rPr>
                        <a:t>20 영업일 사례 (무석 확인)</a:t>
                      </a:r>
                    </a:p>
                  </a:txBody>
                  <a:tcPr marL="45720" marR="45720" marT="18000" marB="18000" anchor="ctr">
                    <a:lnL w="0">
                      <a:noFill/>
                    </a:lnL>
                    <a:lnR w="0">
                      <a:noFill/>
                    </a:lnR>
                    <a:lnT w="0">
                      <a:noFill/>
                    </a:lnT>
                    <a:lnB w="6350">
                      <a:solidFill>
                        <a:srgbClr val="D9D9D9"/>
                      </a:solidFill>
                    </a:lnB>
                    <a:solidFill>
                      <a:srgbClr val="FFF2E6"/>
                    </a:solidFill>
                  </a:tcPr>
                </a:tc>
              </a:tr>
              <a:tr h="502920">
                <a:tc>
                  <a:txBody>
                    <a:bodyPr wrap="square"/>
                    <a:lstStyle/>
                    <a:p>
                      <a:pPr algn="l"/>
                      <a:r>
                        <a:rPr sz="1150" b="0">
                          <a:solidFill>
                            <a:srgbClr val="1A1A1A"/>
                          </a:solidFill>
                          <a:latin typeface="Noto Sans KR"/>
                          <a:ea typeface="Noto Sans KR"/>
                          <a:cs typeface="Noto Sans KR"/>
                        </a:rPr>
                        <a:t>경영허가 · 임차저장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허가 창고를 빌려 보관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임차 창고 요건·안전관리 협의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r>
              <a:tr h="502920">
                <a:tc>
                  <a:txBody>
                    <a:bodyPr wrap="square"/>
                    <a:lstStyle/>
                    <a:p>
                      <a:pPr algn="l"/>
                      <a:r>
                        <a:rPr sz="1150" b="0">
                          <a:solidFill>
                            <a:srgbClr val="1A1A1A"/>
                          </a:solidFill>
                          <a:latin typeface="Noto Sans KR"/>
                          <a:ea typeface="Noto Sans KR"/>
                          <a:cs typeface="Noto Sans KR"/>
                        </a:rPr>
                        <a:t>저장 경영 (자체)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자체 창고 보관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지정 구역 + 안전평가 + 건설 심사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1년 이상 (가정)</a:t>
                      </a:r>
                    </a:p>
                  </a:txBody>
                  <a:tcPr marL="45720" marR="45720" marT="18000" marB="18000" anchor="ctr">
                    <a:lnL w="0">
                      <a:noFill/>
                    </a:lnL>
                    <a:lnR w="0">
                      <a:noFill/>
                    </a:lnR>
                    <a:lnT w="0">
                      <a:noFill/>
                    </a:lnT>
                    <a:lnB w="6350">
                      <a:solidFill>
                        <a:srgbClr val="D9D9D9"/>
                      </a:solidFill>
                    </a:lnB>
                    <a:solidFill>
                      <a:srgbClr val="FFFFFF"/>
                    </a:solidFill>
                  </a:tcPr>
                </a:tc>
              </a:tr>
              <a:tr h="502920">
                <a:tc>
                  <a:txBody>
                    <a:bodyPr wrap="square"/>
                    <a:lstStyle/>
                    <a:p>
                      <a:pPr algn="l"/>
                      <a:r>
                        <a:rPr sz="1150" b="0">
                          <a:solidFill>
                            <a:srgbClr val="1A1A1A"/>
                          </a:solidFill>
                          <a:latin typeface="Noto Sans KR"/>
                          <a:ea typeface="Noto Sans KR"/>
                          <a:cs typeface="Noto Sans KR"/>
                        </a:rPr>
                        <a:t>위험화학품 등록</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목록 물질 첫 수입 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SDS·라벨·분류 보고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r>
              <a:tr h="502920">
                <a:tc>
                  <a:txBody>
                    <a:bodyPr wrap="square"/>
                    <a:lstStyle/>
                    <a:p>
                      <a:pPr algn="l"/>
                      <a:r>
                        <a:rPr sz="1150" b="0">
                          <a:solidFill>
                            <a:srgbClr val="1A1A1A"/>
                          </a:solidFill>
                          <a:latin typeface="Noto Sans KR"/>
                          <a:ea typeface="Noto Sans KR"/>
                          <a:cs typeface="Noto Sans KR"/>
                        </a:rPr>
                        <a:t>통관 검사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수입 신고 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UN번호·적합성 성명·중문 SDS·라벨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건별</a:t>
                      </a:r>
                    </a:p>
                  </a:txBody>
                  <a:tcPr marL="45720" marR="45720" marT="18000" marB="18000" anchor="ctr">
                    <a:lnL w="0">
                      <a:noFill/>
                    </a:lnL>
                    <a:lnR w="0">
                      <a:noFill/>
                    </a:lnR>
                    <a:lnT w="0">
                      <a:noFill/>
                    </a:lnT>
                    <a:lnB w="6350">
                      <a:solidFill>
                        <a:srgbClr val="D9D9D9"/>
                      </a:solidFill>
                    </a:lnB>
                    <a:solidFill>
                      <a:srgbClr val="FFFFFF"/>
                    </a:solidFill>
                  </a:tcPr>
                </a:tc>
              </a:tr>
              <a:tr h="502920">
                <a:tc>
                  <a:txBody>
                    <a:bodyPr wrap="square"/>
                    <a:lstStyle/>
                    <a:p>
                      <a:pPr algn="l"/>
                      <a:r>
                        <a:rPr sz="1150" b="0">
                          <a:solidFill>
                            <a:srgbClr val="1A1A1A"/>
                          </a:solidFill>
                          <a:latin typeface="Noto Sans KR"/>
                          <a:ea typeface="Noto Sans KR"/>
                          <a:cs typeface="Noto Sans KR"/>
                        </a:rPr>
                        <a:t>안전생산허가</a:t>
                      </a:r>
                    </a:p>
                  </a:txBody>
                  <a:tcPr marL="45720" marR="45720" marT="18000" marB="18000" anchor="ctr">
                    <a:lnL w="0">
                      <a:noFill/>
                    </a:lnL>
                    <a:lnR w="0">
                      <a:noFill/>
                    </a:lnR>
                    <a:lnT w="0">
                      <a:noFill/>
                    </a:lnT>
                    <a:lnB w="9525">
                      <a:solidFill>
                        <a:srgbClr val="404040"/>
                      </a:solidFill>
                    </a:lnB>
                    <a:solidFill>
                      <a:srgbClr val="F2F2F2"/>
                    </a:solidFill>
                  </a:tcPr>
                </a:tc>
                <a:tc>
                  <a:txBody>
                    <a:bodyPr wrap="square"/>
                    <a:lstStyle/>
                    <a:p>
                      <a:pPr algn="l"/>
                      <a:r>
                        <a:rPr sz="1150" b="0">
                          <a:solidFill>
                            <a:srgbClr val="1A1A1A"/>
                          </a:solidFill>
                          <a:latin typeface="Noto Sans KR"/>
                          <a:ea typeface="Noto Sans KR"/>
                          <a:cs typeface="Noto Sans KR"/>
                        </a:rPr>
                        <a:t>생산할 때만</a:t>
                      </a:r>
                    </a:p>
                  </a:txBody>
                  <a:tcPr marL="45720" marR="45720" marT="18000" marB="18000" anchor="ctr">
                    <a:lnL w="0">
                      <a:noFill/>
                    </a:lnL>
                    <a:lnR w="0">
                      <a:noFill/>
                    </a:lnR>
                    <a:lnT w="0">
                      <a:noFill/>
                    </a:lnT>
                    <a:lnB w="9525">
                      <a:solidFill>
                        <a:srgbClr val="404040"/>
                      </a:solidFill>
                    </a:lnB>
                    <a:solidFill>
                      <a:srgbClr val="F2F2F2"/>
                    </a:solidFill>
                  </a:tcPr>
                </a:tc>
                <a:tc>
                  <a:txBody>
                    <a:bodyPr wrap="square"/>
                    <a:lstStyle/>
                    <a:p>
                      <a:pPr algn="l"/>
                      <a:r>
                        <a:rPr sz="1150" b="0">
                          <a:solidFill>
                            <a:srgbClr val="1A1A1A"/>
                          </a:solidFill>
                          <a:latin typeface="Noto Sans KR"/>
                          <a:ea typeface="Noto Sans KR"/>
                          <a:cs typeface="Noto Sans KR"/>
                        </a:rPr>
                        <a:t>수입·판매에는 해당 없음</a:t>
                      </a:r>
                    </a:p>
                  </a:txBody>
                  <a:tcPr marL="45720" marR="45720" marT="18000" marB="18000" anchor="ctr">
                    <a:lnL w="0">
                      <a:noFill/>
                    </a:lnL>
                    <a:lnR w="0">
                      <a:noFill/>
                    </a:lnR>
                    <a:lnT w="0">
                      <a:noFill/>
                    </a:lnT>
                    <a:lnB w="9525">
                      <a:solidFill>
                        <a:srgbClr val="404040"/>
                      </a:solidFill>
                    </a:lnB>
                    <a:solidFill>
                      <a:srgbClr val="F2F2F2"/>
                    </a:solidFill>
                  </a:tcPr>
                </a:tc>
                <a:tc>
                  <a:txBody>
                    <a:bodyPr wrap="square"/>
                    <a:lstStyle/>
                    <a:p>
                      <a:pPr algn="ctr"/>
                      <a:r>
                        <a:rPr sz="1150" b="0">
                          <a:solidFill>
                            <a:srgbClr val="1A1A1A"/>
                          </a:solidFill>
                          <a:latin typeface="Noto Sans KR"/>
                          <a:ea typeface="Noto Sans KR"/>
                          <a:cs typeface="Noto Sans KR"/>
                        </a:rPr>
                        <a:t>-</a:t>
                      </a:r>
                    </a:p>
                  </a:txBody>
                  <a:tcPr marL="45720" marR="45720" marT="18000" marB="18000" anchor="ctr">
                    <a:lnL w="0">
                      <a:noFill/>
                    </a:lnL>
                    <a:lnR w="0">
                      <a:noFill/>
                    </a:lnR>
                    <a:lnT w="0">
                      <a:noFill/>
                    </a:lnT>
                    <a:lnB w="9525">
                      <a:solidFill>
                        <a:srgbClr val="404040"/>
                      </a:solidFill>
                    </a:lnB>
                    <a:solidFill>
                      <a:srgbClr val="F2F2F2"/>
                    </a:solidFill>
                  </a:tcPr>
                </a:tc>
              </a:tr>
            </a:tbl>
          </a:graphicData>
        </a:graphic>
      </p:graphicFrame>
      <p:sp>
        <p:nvSpPr>
          <p:cNvPr id="165" name="TextBox 164"/>
          <p:cNvSpPr txBox="1"/>
          <p:nvPr/>
        </p:nvSpPr>
        <p:spPr>
          <a:xfrm>
            <a:off x="283464" y="4434840"/>
            <a:ext cx="8567928" cy="1554480"/>
          </a:xfrm>
          <a:prstGeom prst="rect">
            <a:avLst/>
          </a:prstGeom>
          <a:noFill/>
        </p:spPr>
        <p:txBody>
          <a:bodyPr wrap="square" anchor="t" lIns="27432" rIns="27432" tIns="18288" bIns="18288">
            <a:spAutoFit/>
          </a:bodyPr>
          <a:lstStyle/>
          <a:p>
            <a:pPr algn="l"/>
            <a:r>
              <a:rPr sz="1200" b="1">
                <a:solidFill>
                  <a:srgbClr val="C00000"/>
                </a:solidFill>
                <a:latin typeface="Noto Sans KR"/>
                <a:ea typeface="Noto Sans KR"/>
                <a:cs typeface="Noto Sans KR"/>
              </a:rPr>
              <a:t>무석의 구분  </a:t>
            </a:r>
            <a:r>
              <a:rPr sz="1200" b="0">
                <a:solidFill>
                  <a:srgbClr val="1A1A1A"/>
                </a:solidFill>
                <a:latin typeface="Noto Sans KR"/>
                <a:ea typeface="Noto Sans KR"/>
                <a:cs typeface="Noto Sans KR"/>
              </a:rPr>
              <a:t>무석 세칙은 경영 방식을 무저장·유저장·임차저장·주유소로 나눕니다. 무저장은 '서류로만 거래'이며 사무실에 위험물을 둘 수 없습니다.</a:t>
            </a:r>
          </a:p>
          <a:p>
            <a:pPr algn="l"/>
            <a:r>
              <a:rPr sz="1200" b="1">
                <a:solidFill>
                  <a:srgbClr val="C00000"/>
                </a:solidFill>
                <a:latin typeface="Noto Sans KR"/>
                <a:ea typeface="Noto Sans KR"/>
                <a:cs typeface="Noto Sans KR"/>
              </a:rPr>
              <a:t>유효기간  </a:t>
            </a:r>
            <a:r>
              <a:rPr sz="1200" b="0">
                <a:solidFill>
                  <a:srgbClr val="1A1A1A"/>
                </a:solidFill>
                <a:latin typeface="Noto Sans KR"/>
                <a:ea typeface="Noto Sans KR"/>
                <a:cs typeface="Noto Sans KR"/>
              </a:rPr>
              <a:t>경영허가 3년, 만료 3개월 전 연장 신청. 위험화학품안전법(2026-05-01) 시행 후 하위 규정 개정 여부는 확인 필요.</a:t>
            </a:r>
          </a:p>
        </p:txBody>
      </p:sp>
      <p:sp>
        <p:nvSpPr>
          <p:cNvPr id="166" name="TextBox 165"/>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SRC-009 위험화학품안전법, SRC-010 경영허가 55호령, SRC-011 무석 세칙(2023), SRC-035 처리기한 사례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창고·시설·인력은 최소 조건과 중장기 조건이 다릅니다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350" dirty="0">
                <a:latin typeface="Noto Sans KR" panose="02000503000000020004" pitchFamily="2" charset="-127"/>
                <a:ea typeface="Noto Sans KR" panose="02000503000000020004" pitchFamily="2" charset="-127"/>
                <a:cs typeface="Noto Sans KR" panose="02000503000000020004" pitchFamily="2" charset="-127"/>
              </a:rPr>
              <a:t>최소(B안): 사무실 + 4~5명 + 3PL / 중장기(C·D안): 전용 창고·창고 인력</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12</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- 12 -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3145536"/>
        </p:xfrm>
        <a:graphic>
          <a:graphicData uri="http://schemas.openxmlformats.org/drawingml/2006/table">
            <a:tbl>
              <a:tblPr firstRow="0" bandRow="0"/>
              <a:tblGrid>
                <a:gridCol w="1371600"/>
                <a:gridCol w="3566160"/>
                <a:gridCol w="3630168"/>
              </a:tblGrid>
              <a:tr h="292608">
                <a:tc>
                  <a:txBody>
                    <a:bodyPr wrap="square"/>
                    <a:lstStyle/>
                    <a:p>
                      <a:pPr algn="ctr"/>
                      <a:r>
                        <a:rPr sz="1200" b="1">
                          <a:solidFill>
                            <a:srgbClr val="FFFFFF"/>
                          </a:solidFill>
                          <a:latin typeface="Noto Sans KR"/>
                          <a:ea typeface="Noto Sans KR"/>
                          <a:cs typeface="Noto Sans KR"/>
                        </a:rPr>
                        <a:t>항목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최소 — 인허가 요건 (B안)</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중장기 — 사업 운영 (C·D안)</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475488">
                <a:tc>
                  <a:txBody>
                    <a:bodyPr wrap="square"/>
                    <a:lstStyle/>
                    <a:p>
                      <a:pPr algn="l"/>
                      <a:r>
                        <a:rPr sz="1200" b="0">
                          <a:solidFill>
                            <a:srgbClr val="1A1A1A"/>
                          </a:solidFill>
                          <a:latin typeface="Noto Sans KR"/>
                          <a:ea typeface="Noto Sans KR"/>
                          <a:cs typeface="Noto Sans KR"/>
                        </a:rPr>
                        <a:t>사무실</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무저장 경영 장소 (위험물 보관 금지)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고객 대응·기술지원 공간 확대</a:t>
                      </a:r>
                    </a:p>
                  </a:txBody>
                  <a:tcPr marL="45720" marR="45720" marT="18000" marB="18000" anchor="ctr">
                    <a:lnL w="0">
                      <a:noFill/>
                    </a:lnL>
                    <a:lnR w="0">
                      <a:noFill/>
                    </a:lnR>
                    <a:lnT w="0">
                      <a:noFill/>
                    </a:lnT>
                    <a:lnB w="6350">
                      <a:solidFill>
                        <a:srgbClr val="D9D9D9"/>
                      </a:solidFill>
                    </a:lnB>
                    <a:solidFill>
                      <a:srgbClr val="FFFFFF"/>
                    </a:solidFill>
                  </a:tcPr>
                </a:tc>
              </a:tr>
              <a:tr h="475488">
                <a:tc>
                  <a:txBody>
                    <a:bodyPr wrap="square"/>
                    <a:lstStyle/>
                    <a:p>
                      <a:pPr algn="l"/>
                      <a:r>
                        <a:rPr sz="1200" b="0">
                          <a:solidFill>
                            <a:srgbClr val="1A1A1A"/>
                          </a:solidFill>
                          <a:latin typeface="Noto Sans KR"/>
                          <a:ea typeface="Noto Sans KR"/>
                          <a:cs typeface="Noto Sans KR"/>
                        </a:rPr>
                        <a:t>창고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허가 3PL 계약 (품목·물성 수용)</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임차 전용 창고 → 자체 창고 (원구 내)</a:t>
                      </a:r>
                    </a:p>
                  </a:txBody>
                  <a:tcPr marL="45720" marR="45720" marT="18000" marB="18000" anchor="ctr">
                    <a:lnL w="0">
                      <a:noFill/>
                    </a:lnL>
                    <a:lnR w="0">
                      <a:noFill/>
                    </a:lnR>
                    <a:lnT w="0">
                      <a:noFill/>
                    </a:lnT>
                    <a:lnB w="6350">
                      <a:solidFill>
                        <a:srgbClr val="D9D9D9"/>
                      </a:solidFill>
                    </a:lnB>
                    <a:solidFill>
                      <a:srgbClr val="FFFFFF"/>
                    </a:solidFill>
                  </a:tcPr>
                </a:tc>
              </a:tr>
              <a:tr h="475488">
                <a:tc>
                  <a:txBody>
                    <a:bodyPr wrap="square"/>
                    <a:lstStyle/>
                    <a:p>
                      <a:pPr algn="l"/>
                      <a:r>
                        <a:rPr sz="1200" b="0">
                          <a:solidFill>
                            <a:srgbClr val="1A1A1A"/>
                          </a:solidFill>
                          <a:latin typeface="Noto Sans KR"/>
                          <a:ea typeface="Noto Sans KR"/>
                          <a:cs typeface="Noto Sans KR"/>
                        </a:rPr>
                        <a:t>필수 인력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법정대표인 1 + 전담 안전관리자 1 (자격 시험)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창고·품질 담당 추가</a:t>
                      </a:r>
                    </a:p>
                  </a:txBody>
                  <a:tcPr marL="45720" marR="45720" marT="18000" marB="18000" anchor="ctr">
                    <a:lnL w="0">
                      <a:noFill/>
                    </a:lnL>
                    <a:lnR w="0">
                      <a:noFill/>
                    </a:lnR>
                    <a:lnT w="0">
                      <a:noFill/>
                    </a:lnT>
                    <a:lnB w="6350">
                      <a:solidFill>
                        <a:srgbClr val="D9D9D9"/>
                      </a:solidFill>
                    </a:lnB>
                    <a:solidFill>
                      <a:srgbClr val="FFFFFF"/>
                    </a:solidFill>
                  </a:tcPr>
                </a:tc>
              </a:tr>
              <a:tr h="475488">
                <a:tc>
                  <a:txBody>
                    <a:bodyPr wrap="square"/>
                    <a:lstStyle/>
                    <a:p>
                      <a:pPr algn="l"/>
                      <a:r>
                        <a:rPr sz="1200" b="0">
                          <a:solidFill>
                            <a:srgbClr val="1A1A1A"/>
                          </a:solidFill>
                          <a:latin typeface="Noto Sans KR"/>
                          <a:ea typeface="Noto Sans KR"/>
                          <a:cs typeface="Noto Sans KR"/>
                        </a:rPr>
                        <a:t>운영 인력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영업 1 + 경리 1 (외주 가능)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물류·통관 1 + 기술 대응</a:t>
                      </a:r>
                    </a:p>
                  </a:txBody>
                  <a:tcPr marL="45720" marR="45720" marT="18000" marB="18000" anchor="ctr">
                    <a:lnL w="0">
                      <a:noFill/>
                    </a:lnL>
                    <a:lnR w="0">
                      <a:noFill/>
                    </a:lnR>
                    <a:lnT w="0">
                      <a:noFill/>
                    </a:lnT>
                    <a:lnB w="6350">
                      <a:solidFill>
                        <a:srgbClr val="D9D9D9"/>
                      </a:solidFill>
                    </a:lnB>
                    <a:solidFill>
                      <a:srgbClr val="FFFFFF"/>
                    </a:solidFill>
                  </a:tcPr>
                </a:tc>
              </a:tr>
              <a:tr h="475488">
                <a:tc>
                  <a:txBody>
                    <a:bodyPr wrap="square"/>
                    <a:lstStyle/>
                    <a:p>
                      <a:pPr algn="l"/>
                      <a:r>
                        <a:rPr sz="1200" b="0">
                          <a:solidFill>
                            <a:srgbClr val="1A1A1A"/>
                          </a:solidFill>
                          <a:latin typeface="Noto Sans KR"/>
                          <a:ea typeface="Noto Sans KR"/>
                          <a:cs typeface="Noto Sans KR"/>
                        </a:rPr>
                        <a:t>관리 체계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안전 규정·응급계획·교육</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창고 안전평가·소방·환경 관리</a:t>
                      </a:r>
                    </a:p>
                  </a:txBody>
                  <a:tcPr marL="45720" marR="45720" marT="18000" marB="18000" anchor="ctr">
                    <a:lnL w="0">
                      <a:noFill/>
                    </a:lnL>
                    <a:lnR w="0">
                      <a:noFill/>
                    </a:lnR>
                    <a:lnT w="0">
                      <a:noFill/>
                    </a:lnT>
                    <a:lnB w="6350">
                      <a:solidFill>
                        <a:srgbClr val="D9D9D9"/>
                      </a:solidFill>
                    </a:lnB>
                    <a:solidFill>
                      <a:srgbClr val="FFFFFF"/>
                    </a:solidFill>
                  </a:tcPr>
                </a:tc>
              </a:tr>
              <a:tr h="475488">
                <a:tc>
                  <a:txBody>
                    <a:bodyPr wrap="square"/>
                    <a:lstStyle/>
                    <a:p>
                      <a:pPr algn="l"/>
                      <a:r>
                        <a:rPr sz="1200" b="0">
                          <a:solidFill>
                            <a:srgbClr val="1A1A1A"/>
                          </a:solidFill>
                          <a:latin typeface="Noto Sans KR"/>
                          <a:ea typeface="Noto Sans KR"/>
                          <a:cs typeface="Noto Sans KR"/>
                        </a:rPr>
                        <a:t>저장 기준</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3PL이 GB 15603-2022 준수</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자체 준수 (혼재 금지·입출고)</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TextBox 164"/>
          <p:cNvSpPr txBox="1"/>
          <p:nvPr/>
        </p:nvSpPr>
        <p:spPr>
          <a:xfrm>
            <a:off x="283464" y="4343400"/>
            <a:ext cx="8567928" cy="1645920"/>
          </a:xfrm>
          <a:prstGeom prst="rect">
            <a:avLst/>
          </a:prstGeom>
          <a:noFill/>
        </p:spPr>
        <p:txBody>
          <a:bodyPr wrap="square" anchor="t" lIns="27432" rIns="27432" tIns="18288" bIns="18288">
            <a:spAutoFit/>
          </a:bodyPr>
          <a:lstStyle/>
          <a:p>
            <a:pPr algn="l"/>
            <a:r>
              <a:rPr sz="1200" b="1">
                <a:solidFill>
                  <a:srgbClr val="C00000"/>
                </a:solidFill>
                <a:latin typeface="Noto Sans KR"/>
                <a:ea typeface="Noto Sans KR"/>
                <a:cs typeface="Noto Sans KR"/>
              </a:rPr>
              <a:t>창고 면적  </a:t>
            </a:r>
            <a:r>
              <a:rPr sz="1200" b="0">
                <a:solidFill>
                  <a:srgbClr val="1A1A1A"/>
                </a:solidFill>
                <a:latin typeface="Noto Sans KR"/>
                <a:ea typeface="Noto Sans KR"/>
                <a:cs typeface="Noto Sans KR"/>
              </a:rPr>
              <a:t>법정 최소 면적은 확인되지 않았습니다. 면적 = 평균 재고량 ÷ 용기당 용량 × 용기 점유면적 × 통로·이격 계수 — 물량·용기 정보가 들어오면 계산합니다.</a:t>
            </a:r>
          </a:p>
          <a:p>
            <a:pPr algn="l"/>
            <a:r>
              <a:rPr sz="1200" b="1">
                <a:solidFill>
                  <a:srgbClr val="C00000"/>
                </a:solidFill>
                <a:latin typeface="Noto Sans KR"/>
                <a:ea typeface="Noto Sans KR"/>
                <a:cs typeface="Noto Sans KR"/>
              </a:rPr>
              <a:t>4명 구상  </a:t>
            </a:r>
            <a:r>
              <a:rPr sz="1200" b="0">
                <a:solidFill>
                  <a:srgbClr val="1A1A1A"/>
                </a:solidFill>
                <a:latin typeface="Noto Sans KR"/>
                <a:ea typeface="Noto Sans KR"/>
                <a:cs typeface="Noto Sans KR"/>
              </a:rPr>
              <a:t>이동선 총감·신규 채용·최영진·경리 중 1명이 '전담' 안전관리자로 자격을 갖추면 B안 최소 운영은 가능 (법정 최소 인원 아님).</a:t>
            </a:r>
          </a:p>
        </p:txBody>
      </p:sp>
      <p:sp>
        <p:nvSpPr>
          <p:cNvPr id="166" name="TextBox 165"/>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EVD-012·013·028 · 12_LogisticsStaff 시트</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강소성 남부에 인정 화공원구와 고객이 모여 있습니다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350" dirty="0">
                <a:latin typeface="Noto Sans KR" panose="02000503000000020004" pitchFamily="2" charset="-127"/>
                <a:ea typeface="Noto Sans KR" panose="02000503000000020004" pitchFamily="2" charset="-127"/>
                <a:cs typeface="Noto Sans KR" panose="02000503000000020004" pitchFamily="2" charset="-127"/>
              </a:rPr>
              <a:t>1단계 선별: 법인 거점 3곳 · 창고 후보는 원구 지위만 확인 (품목은 문의 예정)</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13</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- 13 -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sp>
        <p:nvSpPr>
          <p:cNvPr id="164" name="Rectangle 163"/>
          <p:cNvSpPr/>
          <p:nvPr/>
        </p:nvSpPr>
        <p:spPr>
          <a:xfrm>
            <a:off x="283464" y="987552"/>
            <a:ext cx="4937760" cy="3070835"/>
          </a:xfrm>
          <a:prstGeom prst="rect">
            <a:avLst/>
          </a:prstGeom>
          <a:solidFill>
            <a:srgbClr val="EAF2F8"/>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Freeform 1"/>
          <p:cNvSpPr/>
          <p:nvPr/>
        </p:nvSpPr>
        <p:spPr>
          <a:xfrm>
            <a:off x="283464" y="987552"/>
            <a:ext cx="1480020" cy="3070835"/>
          </a:xfrm>
          <a:custGeom>
            <a:avLst/>
            <a:gdLst/>
            <a:ahLst/>
            <a:cxnLst/>
            <a:rect l="l" t="t" r="r" b="b"/>
            <a:pathLst>
              <a:path w="1480020" h="3070835">
                <a:moveTo>
                  <a:pt x="0" y="3070835"/>
                </a:moveTo>
                <a:lnTo>
                  <a:pt x="0" y="0"/>
                </a:lnTo>
                <a:lnTo>
                  <a:pt x="841888" y="0"/>
                </a:lnTo>
                <a:lnTo>
                  <a:pt x="841888" y="126927"/>
                </a:lnTo>
                <a:lnTo>
                  <a:pt x="85662" y="0"/>
                </a:lnTo>
                <a:lnTo>
                  <a:pt x="0" y="0"/>
                </a:lnTo>
                <a:lnTo>
                  <a:pt x="0" y="219499"/>
                </a:lnTo>
                <a:lnTo>
                  <a:pt x="75954" y="576805"/>
                </a:lnTo>
                <a:lnTo>
                  <a:pt x="0" y="599098"/>
                </a:lnTo>
                <a:lnTo>
                  <a:pt x="0" y="1297061"/>
                </a:lnTo>
                <a:lnTo>
                  <a:pt x="458921" y="1701413"/>
                </a:lnTo>
                <a:lnTo>
                  <a:pt x="203609" y="2001161"/>
                </a:lnTo>
                <a:lnTo>
                  <a:pt x="331265" y="2226185"/>
                </a:lnTo>
                <a:lnTo>
                  <a:pt x="1097199" y="2151120"/>
                </a:lnTo>
                <a:lnTo>
                  <a:pt x="1224854" y="2376144"/>
                </a:lnTo>
                <a:lnTo>
                  <a:pt x="1480020" y="2451038"/>
                </a:lnTo>
                <a:lnTo>
                  <a:pt x="1480020" y="2526103"/>
                </a:lnTo>
                <a:lnTo>
                  <a:pt x="1274017" y="3070835"/>
                </a:lnTo>
                <a:close/>
              </a:path>
            </a:pathLst>
          </a:custGeom>
          <a:solidFill>
            <a:srgbClr val="F7F7F7"/>
          </a:solid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557481" y="3363696"/>
            <a:ext cx="3663743" cy="694691"/>
          </a:xfrm>
          <a:custGeom>
            <a:avLst/>
            <a:gdLst/>
            <a:ahLst/>
            <a:cxnLst/>
            <a:rect l="l" t="t" r="r" b="b"/>
            <a:pathLst>
              <a:path w="3663743" h="694691">
                <a:moveTo>
                  <a:pt x="0" y="694691"/>
                </a:moveTo>
                <a:lnTo>
                  <a:pt x="206003" y="149959"/>
                </a:lnTo>
                <a:lnTo>
                  <a:pt x="206003" y="74894"/>
                </a:lnTo>
                <a:lnTo>
                  <a:pt x="716626" y="0"/>
                </a:lnTo>
                <a:lnTo>
                  <a:pt x="1482414" y="599666"/>
                </a:lnTo>
                <a:lnTo>
                  <a:pt x="2120693" y="224853"/>
                </a:lnTo>
                <a:lnTo>
                  <a:pt x="2520651" y="694691"/>
                </a:lnTo>
                <a:lnTo>
                  <a:pt x="3221215" y="694691"/>
                </a:lnTo>
                <a:lnTo>
                  <a:pt x="3652415" y="599666"/>
                </a:lnTo>
                <a:lnTo>
                  <a:pt x="3663743" y="598002"/>
                </a:lnTo>
                <a:lnTo>
                  <a:pt x="3663743" y="694691"/>
                </a:lnTo>
                <a:close/>
              </a:path>
            </a:pathLst>
          </a:custGeom>
          <a:solidFill>
            <a:srgbClr val="F7F7F7"/>
          </a:solid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283464" y="987552"/>
            <a:ext cx="4926432" cy="2975810"/>
          </a:xfrm>
          <a:custGeom>
            <a:avLst/>
            <a:gdLst/>
            <a:ahLst/>
            <a:cxnLst/>
            <a:rect l="l" t="t" r="r" b="b"/>
            <a:pathLst>
              <a:path w="4926432" h="2975810">
                <a:moveTo>
                  <a:pt x="3816888" y="0"/>
                </a:moveTo>
                <a:lnTo>
                  <a:pt x="4032988" y="126927"/>
                </a:lnTo>
                <a:lnTo>
                  <a:pt x="4160498" y="651699"/>
                </a:lnTo>
                <a:lnTo>
                  <a:pt x="4798776" y="951617"/>
                </a:lnTo>
                <a:lnTo>
                  <a:pt x="4926432" y="1476389"/>
                </a:lnTo>
                <a:lnTo>
                  <a:pt x="4926432" y="1626348"/>
                </a:lnTo>
                <a:lnTo>
                  <a:pt x="3777676" y="1176471"/>
                </a:lnTo>
                <a:lnTo>
                  <a:pt x="3650021" y="1401495"/>
                </a:lnTo>
                <a:lnTo>
                  <a:pt x="4032988" y="1776307"/>
                </a:lnTo>
                <a:lnTo>
                  <a:pt x="3777676" y="1851372"/>
                </a:lnTo>
                <a:lnTo>
                  <a:pt x="3394710" y="2600997"/>
                </a:lnTo>
                <a:lnTo>
                  <a:pt x="2756431" y="2975810"/>
                </a:lnTo>
                <a:lnTo>
                  <a:pt x="1990643" y="2376144"/>
                </a:lnTo>
                <a:lnTo>
                  <a:pt x="1480020" y="2451038"/>
                </a:lnTo>
                <a:lnTo>
                  <a:pt x="1224854" y="2376144"/>
                </a:lnTo>
                <a:lnTo>
                  <a:pt x="1097199" y="2151120"/>
                </a:lnTo>
                <a:lnTo>
                  <a:pt x="331265" y="2226185"/>
                </a:lnTo>
                <a:lnTo>
                  <a:pt x="203609" y="2001161"/>
                </a:lnTo>
                <a:lnTo>
                  <a:pt x="458921" y="1701413"/>
                </a:lnTo>
                <a:lnTo>
                  <a:pt x="0" y="1297061"/>
                </a:lnTo>
                <a:lnTo>
                  <a:pt x="0" y="599098"/>
                </a:lnTo>
                <a:lnTo>
                  <a:pt x="75954" y="576805"/>
                </a:lnTo>
                <a:lnTo>
                  <a:pt x="0" y="219499"/>
                </a:lnTo>
                <a:lnTo>
                  <a:pt x="0" y="0"/>
                </a:lnTo>
                <a:lnTo>
                  <a:pt x="85662" y="0"/>
                </a:lnTo>
                <a:lnTo>
                  <a:pt x="841888" y="126927"/>
                </a:lnTo>
                <a:lnTo>
                  <a:pt x="841888" y="0"/>
                </a:lnTo>
                <a:close/>
              </a:path>
            </a:pathLst>
          </a:custGeom>
          <a:solidFill>
            <a:srgbClr val="FDEDF0"/>
          </a:solidFill>
          <a:ln w="15875">
            <a:solidFill>
              <a:srgbClr val="EB0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678174" y="2164023"/>
            <a:ext cx="1531722" cy="1894364"/>
          </a:xfrm>
          <a:custGeom>
            <a:avLst/>
            <a:gdLst/>
            <a:ahLst/>
            <a:cxnLst/>
            <a:rect l="l" t="t" r="r" b="b"/>
            <a:pathLst>
              <a:path w="1531722" h="1894364">
                <a:moveTo>
                  <a:pt x="0" y="1424526"/>
                </a:moveTo>
                <a:lnTo>
                  <a:pt x="382966" y="674901"/>
                </a:lnTo>
                <a:lnTo>
                  <a:pt x="638278" y="599836"/>
                </a:lnTo>
                <a:lnTo>
                  <a:pt x="255311" y="225024"/>
                </a:lnTo>
                <a:lnTo>
                  <a:pt x="382966" y="0"/>
                </a:lnTo>
                <a:lnTo>
                  <a:pt x="1531722" y="449877"/>
                </a:lnTo>
                <a:lnTo>
                  <a:pt x="1404066" y="1199673"/>
                </a:lnTo>
                <a:lnTo>
                  <a:pt x="1531722" y="1799339"/>
                </a:lnTo>
                <a:lnTo>
                  <a:pt x="1100522" y="1894364"/>
                </a:lnTo>
                <a:lnTo>
                  <a:pt x="399958" y="1894364"/>
                </a:lnTo>
                <a:lnTo>
                  <a:pt x="0" y="1424526"/>
                </a:lnTo>
                <a:close/>
              </a:path>
            </a:pathLst>
          </a:custGeom>
          <a:solidFill>
            <a:srgbClr val="F7F7F7"/>
          </a:solid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1087598" y="1032593"/>
            <a:ext cx="1005840" cy="201168"/>
          </a:xfrm>
          <a:prstGeom prst="rect">
            <a:avLst/>
          </a:prstGeom>
          <a:noFill/>
        </p:spPr>
        <p:txBody>
          <a:bodyPr wrap="square" anchor="t" lIns="27432" rIns="27432" tIns="18288" bIns="18288">
            <a:spAutoFit/>
          </a:bodyPr>
          <a:lstStyle/>
          <a:p>
            <a:pPr algn="ctr"/>
            <a:r>
              <a:rPr sz="850" b="1">
                <a:solidFill>
                  <a:srgbClr val="EB002C"/>
                </a:solidFill>
                <a:latin typeface="Noto Sans KR"/>
                <a:ea typeface="Noto Sans KR"/>
                <a:cs typeface="Noto Sans KR"/>
              </a:rPr>
              <a:t>江苏 강소성</a:t>
            </a:r>
          </a:p>
        </p:txBody>
      </p:sp>
      <p:sp>
        <p:nvSpPr>
          <p:cNvPr id="166" name="TextBox 165"/>
          <p:cNvSpPr txBox="1"/>
          <p:nvPr/>
        </p:nvSpPr>
        <p:spPr>
          <a:xfrm>
            <a:off x="288842" y="3284539"/>
            <a:ext cx="1005840" cy="201168"/>
          </a:xfrm>
          <a:prstGeom prst="rect">
            <a:avLst/>
          </a:prstGeom>
          <a:noFill/>
        </p:spPr>
        <p:txBody>
          <a:bodyPr wrap="square" anchor="t" lIns="27432" rIns="27432" tIns="18288" bIns="18288">
            <a:spAutoFit/>
          </a:bodyPr>
          <a:lstStyle/>
          <a:p>
            <a:pPr algn="ctr"/>
            <a:r>
              <a:rPr sz="850" b="1">
                <a:solidFill>
                  <a:srgbClr val="8C8C8C"/>
                </a:solidFill>
                <a:latin typeface="Noto Sans KR"/>
                <a:ea typeface="Noto Sans KR"/>
                <a:cs typeface="Noto Sans KR"/>
              </a:rPr>
              <a:t>安徽 안후이성</a:t>
            </a:r>
          </a:p>
        </p:txBody>
      </p:sp>
      <p:sp>
        <p:nvSpPr>
          <p:cNvPr id="167" name="TextBox 166"/>
          <p:cNvSpPr txBox="1"/>
          <p:nvPr/>
        </p:nvSpPr>
        <p:spPr>
          <a:xfrm>
            <a:off x="2249424" y="3796345"/>
            <a:ext cx="1005840" cy="201168"/>
          </a:xfrm>
          <a:prstGeom prst="rect">
            <a:avLst/>
          </a:prstGeom>
          <a:noFill/>
        </p:spPr>
        <p:txBody>
          <a:bodyPr wrap="square" anchor="t" lIns="27432" rIns="27432" tIns="18288" bIns="18288">
            <a:spAutoFit/>
          </a:bodyPr>
          <a:lstStyle/>
          <a:p>
            <a:pPr algn="ctr"/>
            <a:r>
              <a:rPr sz="850" b="1">
                <a:solidFill>
                  <a:srgbClr val="8C8C8C"/>
                </a:solidFill>
                <a:latin typeface="Noto Sans KR"/>
                <a:ea typeface="Noto Sans KR"/>
                <a:cs typeface="Noto Sans KR"/>
              </a:rPr>
              <a:t>浙江 저장성</a:t>
            </a:r>
          </a:p>
        </p:txBody>
      </p:sp>
      <p:sp>
        <p:nvSpPr>
          <p:cNvPr id="168" name="TextBox 167"/>
          <p:cNvSpPr txBox="1"/>
          <p:nvPr/>
        </p:nvSpPr>
        <p:spPr>
          <a:xfrm>
            <a:off x="4137391" y="3540442"/>
            <a:ext cx="1005840" cy="201168"/>
          </a:xfrm>
          <a:prstGeom prst="rect">
            <a:avLst/>
          </a:prstGeom>
          <a:noFill/>
        </p:spPr>
        <p:txBody>
          <a:bodyPr wrap="square" anchor="t" lIns="27432" rIns="27432" tIns="18288" bIns="18288">
            <a:spAutoFit/>
          </a:bodyPr>
          <a:lstStyle/>
          <a:p>
            <a:pPr algn="ctr"/>
            <a:r>
              <a:rPr sz="850" b="1">
                <a:solidFill>
                  <a:srgbClr val="8C8C8C"/>
                </a:solidFill>
                <a:latin typeface="Noto Sans KR"/>
                <a:ea typeface="Noto Sans KR"/>
                <a:cs typeface="Noto Sans KR"/>
              </a:rPr>
              <a:t>上海</a:t>
            </a:r>
          </a:p>
        </p:txBody>
      </p:sp>
      <p:sp>
        <p:nvSpPr>
          <p:cNvPr id="169" name="Oval 168"/>
          <p:cNvSpPr/>
          <p:nvPr/>
        </p:nvSpPr>
        <p:spPr>
          <a:xfrm>
            <a:off x="2799139" y="2638707"/>
            <a:ext cx="109728" cy="109728"/>
          </a:xfrm>
          <a:prstGeom prst="ellipse">
            <a:avLst/>
          </a:prstGeom>
          <a:solidFill>
            <a:srgbClr val="EB002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1189795" y="2510691"/>
            <a:ext cx="1572768" cy="201168"/>
          </a:xfrm>
          <a:prstGeom prst="rect">
            <a:avLst/>
          </a:prstGeom>
          <a:noFill/>
        </p:spPr>
        <p:txBody>
          <a:bodyPr wrap="square" anchor="t" lIns="27432" rIns="27432" tIns="18288" bIns="18288">
            <a:spAutoFit/>
          </a:bodyPr>
          <a:lstStyle/>
          <a:p>
            <a:pPr algn="r"/>
            <a:r>
              <a:rPr sz="850" b="1">
                <a:solidFill>
                  <a:srgbClr val="1A1A1A"/>
                </a:solidFill>
                <a:latin typeface="Noto Sans KR"/>
                <a:ea typeface="Noto Sans KR"/>
                <a:cs typeface="Noto Sans KR"/>
              </a:rPr>
              <a:t>무석 신오구</a:t>
            </a:r>
          </a:p>
        </p:txBody>
      </p:sp>
      <p:sp>
        <p:nvSpPr>
          <p:cNvPr id="171" name="Oval 170"/>
          <p:cNvSpPr/>
          <p:nvPr/>
        </p:nvSpPr>
        <p:spPr>
          <a:xfrm>
            <a:off x="2944368" y="2502226"/>
            <a:ext cx="109728" cy="109728"/>
          </a:xfrm>
          <a:prstGeom prst="ellipse">
            <a:avLst/>
          </a:prstGeom>
          <a:solidFill>
            <a:srgbClr val="FF7900"/>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3090672" y="2438218"/>
            <a:ext cx="1572768" cy="201168"/>
          </a:xfrm>
          <a:prstGeom prst="rect">
            <a:avLst/>
          </a:prstGeom>
          <a:noFill/>
        </p:spPr>
        <p:txBody>
          <a:bodyPr wrap="square" anchor="t" lIns="27432" rIns="27432" tIns="18288" bIns="18288">
            <a:spAutoFit/>
          </a:bodyPr>
          <a:lstStyle/>
          <a:p>
            <a:pPr algn="l"/>
            <a:r>
              <a:rPr sz="850" b="0">
                <a:solidFill>
                  <a:srgbClr val="1A1A1A"/>
                </a:solidFill>
                <a:latin typeface="Noto Sans KR"/>
                <a:ea typeface="Noto Sans KR"/>
                <a:cs typeface="Noto Sans KR"/>
              </a:rPr>
              <a:t>锡山 원구</a:t>
            </a:r>
          </a:p>
        </p:txBody>
      </p:sp>
      <p:sp>
        <p:nvSpPr>
          <p:cNvPr id="173" name="Oval 172"/>
          <p:cNvSpPr/>
          <p:nvPr/>
        </p:nvSpPr>
        <p:spPr>
          <a:xfrm>
            <a:off x="2479637" y="1990420"/>
            <a:ext cx="109728" cy="109728"/>
          </a:xfrm>
          <a:prstGeom prst="ellipse">
            <a:avLst/>
          </a:prstGeom>
          <a:solidFill>
            <a:srgbClr val="FF7900"/>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870293" y="2091004"/>
            <a:ext cx="1572768" cy="201168"/>
          </a:xfrm>
          <a:prstGeom prst="rect">
            <a:avLst/>
          </a:prstGeom>
          <a:noFill/>
        </p:spPr>
        <p:txBody>
          <a:bodyPr wrap="square" anchor="t" lIns="27432" rIns="27432" tIns="18288" bIns="18288">
            <a:spAutoFit/>
          </a:bodyPr>
          <a:lstStyle/>
          <a:p>
            <a:pPr algn="r"/>
            <a:r>
              <a:rPr sz="850" b="0">
                <a:solidFill>
                  <a:srgbClr val="1A1A1A"/>
                </a:solidFill>
                <a:latin typeface="Noto Sans KR"/>
                <a:ea typeface="Noto Sans KR"/>
                <a:cs typeface="Noto Sans KR"/>
              </a:rPr>
              <a:t>江阴临港 원구</a:t>
            </a:r>
          </a:p>
        </p:txBody>
      </p:sp>
      <p:sp>
        <p:nvSpPr>
          <p:cNvPr id="175" name="Oval 174"/>
          <p:cNvSpPr/>
          <p:nvPr/>
        </p:nvSpPr>
        <p:spPr>
          <a:xfrm>
            <a:off x="2000384" y="2962851"/>
            <a:ext cx="109728" cy="109728"/>
          </a:xfrm>
          <a:prstGeom prst="ellipse">
            <a:avLst/>
          </a:prstGeom>
          <a:solidFill>
            <a:srgbClr val="FF7900"/>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391040" y="2926275"/>
            <a:ext cx="1572768" cy="201168"/>
          </a:xfrm>
          <a:prstGeom prst="rect">
            <a:avLst/>
          </a:prstGeom>
          <a:noFill/>
        </p:spPr>
        <p:txBody>
          <a:bodyPr wrap="square" anchor="t" lIns="27432" rIns="27432" tIns="18288" bIns="18288">
            <a:spAutoFit/>
          </a:bodyPr>
          <a:lstStyle/>
          <a:p>
            <a:pPr algn="r"/>
            <a:r>
              <a:rPr sz="850" b="0">
                <a:solidFill>
                  <a:srgbClr val="1A1A1A"/>
                </a:solidFill>
                <a:latin typeface="Noto Sans KR"/>
                <a:ea typeface="Noto Sans KR"/>
                <a:cs typeface="Noto Sans KR"/>
              </a:rPr>
              <a:t>宜兴 원구</a:t>
            </a:r>
          </a:p>
        </p:txBody>
      </p:sp>
      <p:sp>
        <p:nvSpPr>
          <p:cNvPr id="177" name="Oval 176"/>
          <p:cNvSpPr/>
          <p:nvPr/>
        </p:nvSpPr>
        <p:spPr>
          <a:xfrm>
            <a:off x="3307438" y="3031092"/>
            <a:ext cx="109728" cy="109728"/>
          </a:xfrm>
          <a:prstGeom prst="ellipse">
            <a:avLst/>
          </a:prstGeom>
          <a:solidFill>
            <a:srgbClr val="EB002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3453742" y="3040236"/>
            <a:ext cx="1572768" cy="201168"/>
          </a:xfrm>
          <a:prstGeom prst="rect">
            <a:avLst/>
          </a:prstGeom>
          <a:noFill/>
        </p:spPr>
        <p:txBody>
          <a:bodyPr wrap="square" anchor="t" lIns="27432" rIns="27432" tIns="18288" bIns="18288">
            <a:spAutoFit/>
          </a:bodyPr>
          <a:lstStyle/>
          <a:p>
            <a:pPr algn="l"/>
            <a:r>
              <a:rPr sz="850" b="1">
                <a:solidFill>
                  <a:srgbClr val="1A1A1A"/>
                </a:solidFill>
                <a:latin typeface="Noto Sans KR"/>
                <a:ea typeface="Noto Sans KR"/>
                <a:cs typeface="Noto Sans KR"/>
              </a:rPr>
              <a:t>쑤저우 SIP</a:t>
            </a:r>
          </a:p>
        </p:txBody>
      </p:sp>
      <p:sp>
        <p:nvSpPr>
          <p:cNvPr id="179" name="Oval 178"/>
          <p:cNvSpPr/>
          <p:nvPr/>
        </p:nvSpPr>
        <p:spPr>
          <a:xfrm>
            <a:off x="2886276" y="1922179"/>
            <a:ext cx="109728" cy="109728"/>
          </a:xfrm>
          <a:prstGeom prst="ellipse">
            <a:avLst/>
          </a:prstGeom>
          <a:solidFill>
            <a:srgbClr val="FF7900"/>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3032580" y="1775875"/>
            <a:ext cx="1572768" cy="201168"/>
          </a:xfrm>
          <a:prstGeom prst="rect">
            <a:avLst/>
          </a:prstGeom>
          <a:noFill/>
        </p:spPr>
        <p:txBody>
          <a:bodyPr wrap="square" anchor="t" lIns="27432" rIns="27432" tIns="18288" bIns="18288">
            <a:spAutoFit/>
          </a:bodyPr>
          <a:lstStyle/>
          <a:p>
            <a:pPr algn="l"/>
            <a:r>
              <a:rPr sz="850" b="0">
                <a:solidFill>
                  <a:srgbClr val="1A1A1A"/>
                </a:solidFill>
                <a:latin typeface="Noto Sans KR"/>
                <a:ea typeface="Noto Sans KR"/>
                <a:cs typeface="Noto Sans KR"/>
              </a:rPr>
              <a:t>장자강 扬子江 원구</a:t>
            </a:r>
          </a:p>
        </p:txBody>
      </p:sp>
      <p:sp>
        <p:nvSpPr>
          <p:cNvPr id="181" name="Oval 180"/>
          <p:cNvSpPr/>
          <p:nvPr/>
        </p:nvSpPr>
        <p:spPr>
          <a:xfrm>
            <a:off x="3496235" y="2348684"/>
            <a:ext cx="109728" cy="109728"/>
          </a:xfrm>
          <a:prstGeom prst="ellipse">
            <a:avLst/>
          </a:prstGeom>
          <a:solidFill>
            <a:srgbClr val="FF7900"/>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3642539" y="2312108"/>
            <a:ext cx="1572768" cy="201168"/>
          </a:xfrm>
          <a:prstGeom prst="rect">
            <a:avLst/>
          </a:prstGeom>
          <a:noFill/>
        </p:spPr>
        <p:txBody>
          <a:bodyPr wrap="square" anchor="t" lIns="27432" rIns="27432" tIns="18288" bIns="18288">
            <a:spAutoFit/>
          </a:bodyPr>
          <a:lstStyle/>
          <a:p>
            <a:pPr algn="l"/>
            <a:r>
              <a:rPr sz="850" b="0">
                <a:solidFill>
                  <a:srgbClr val="1A1A1A"/>
                </a:solidFill>
                <a:latin typeface="Noto Sans KR"/>
                <a:ea typeface="Noto Sans KR"/>
                <a:cs typeface="Noto Sans KR"/>
              </a:rPr>
              <a:t>常熟 원구</a:t>
            </a:r>
          </a:p>
        </p:txBody>
      </p:sp>
      <p:sp>
        <p:nvSpPr>
          <p:cNvPr id="183" name="Oval 182"/>
          <p:cNvSpPr/>
          <p:nvPr/>
        </p:nvSpPr>
        <p:spPr>
          <a:xfrm>
            <a:off x="2116567" y="1905119"/>
            <a:ext cx="109728" cy="109728"/>
          </a:xfrm>
          <a:prstGeom prst="ellipse">
            <a:avLst/>
          </a:prstGeom>
          <a:solidFill>
            <a:srgbClr val="FF7900"/>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507223" y="1731383"/>
            <a:ext cx="1572768" cy="201168"/>
          </a:xfrm>
          <a:prstGeom prst="rect">
            <a:avLst/>
          </a:prstGeom>
          <a:noFill/>
        </p:spPr>
        <p:txBody>
          <a:bodyPr wrap="square" anchor="t" lIns="27432" rIns="27432" tIns="18288" bIns="18288">
            <a:spAutoFit/>
          </a:bodyPr>
          <a:lstStyle/>
          <a:p>
            <a:pPr algn="r"/>
            <a:r>
              <a:rPr sz="850" b="0">
                <a:solidFill>
                  <a:srgbClr val="1A1A1A"/>
                </a:solidFill>
                <a:latin typeface="Noto Sans KR"/>
                <a:ea typeface="Noto Sans KR"/>
                <a:cs typeface="Noto Sans KR"/>
              </a:rPr>
              <a:t>창저우 滨江</a:t>
            </a:r>
          </a:p>
        </p:txBody>
      </p:sp>
      <p:sp>
        <p:nvSpPr>
          <p:cNvPr id="185" name="Oval 184"/>
          <p:cNvSpPr/>
          <p:nvPr/>
        </p:nvSpPr>
        <p:spPr>
          <a:xfrm>
            <a:off x="1797064" y="1563915"/>
            <a:ext cx="109728" cy="109728"/>
          </a:xfrm>
          <a:prstGeom prst="ellipse">
            <a:avLst/>
          </a:prstGeom>
          <a:solidFill>
            <a:srgbClr val="A6A6A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187720" y="1509051"/>
            <a:ext cx="1572768" cy="201168"/>
          </a:xfrm>
          <a:prstGeom prst="rect">
            <a:avLst/>
          </a:prstGeom>
          <a:noFill/>
        </p:spPr>
        <p:txBody>
          <a:bodyPr wrap="square" anchor="t" lIns="27432" rIns="27432" tIns="18288" bIns="18288">
            <a:spAutoFit/>
          </a:bodyPr>
          <a:lstStyle/>
          <a:p>
            <a:pPr algn="r"/>
            <a:r>
              <a:rPr sz="850" b="0">
                <a:solidFill>
                  <a:srgbClr val="1A1A1A"/>
                </a:solidFill>
                <a:latin typeface="Noto Sans KR"/>
                <a:ea typeface="Noto Sans KR"/>
                <a:cs typeface="Noto Sans KR"/>
              </a:rPr>
              <a:t>전장 新区</a:t>
            </a:r>
          </a:p>
        </p:txBody>
      </p:sp>
      <p:sp>
        <p:nvSpPr>
          <p:cNvPr id="187" name="Oval 186"/>
          <p:cNvSpPr/>
          <p:nvPr/>
        </p:nvSpPr>
        <p:spPr>
          <a:xfrm>
            <a:off x="591670" y="1427433"/>
            <a:ext cx="109728" cy="109728"/>
          </a:xfrm>
          <a:prstGeom prst="ellipse">
            <a:avLst/>
          </a:prstGeom>
          <a:solidFill>
            <a:srgbClr val="A6A6A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646534" y="1555449"/>
            <a:ext cx="1572768" cy="201168"/>
          </a:xfrm>
          <a:prstGeom prst="rect">
            <a:avLst/>
          </a:prstGeom>
          <a:noFill/>
        </p:spPr>
        <p:txBody>
          <a:bodyPr wrap="square" anchor="t" lIns="27432" rIns="27432" tIns="18288" bIns="18288">
            <a:spAutoFit/>
          </a:bodyPr>
          <a:lstStyle/>
          <a:p>
            <a:pPr algn="l"/>
            <a:r>
              <a:rPr sz="850" b="0">
                <a:solidFill>
                  <a:srgbClr val="1A1A1A"/>
                </a:solidFill>
                <a:latin typeface="Noto Sans KR"/>
                <a:ea typeface="Noto Sans KR"/>
                <a:cs typeface="Noto Sans KR"/>
              </a:rPr>
              <a:t>난징 江北</a:t>
            </a:r>
          </a:p>
        </p:txBody>
      </p:sp>
      <p:sp>
        <p:nvSpPr>
          <p:cNvPr id="189" name="Oval 188"/>
          <p:cNvSpPr/>
          <p:nvPr/>
        </p:nvSpPr>
        <p:spPr>
          <a:xfrm>
            <a:off x="3641463" y="1956299"/>
            <a:ext cx="109728" cy="109728"/>
          </a:xfrm>
          <a:prstGeom prst="ellipse">
            <a:avLst/>
          </a:prstGeom>
          <a:solidFill>
            <a:srgbClr val="A6A6A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3787767" y="1919723"/>
            <a:ext cx="1572768" cy="201168"/>
          </a:xfrm>
          <a:prstGeom prst="rect">
            <a:avLst/>
          </a:prstGeom>
          <a:noFill/>
        </p:spPr>
        <p:txBody>
          <a:bodyPr wrap="square" anchor="t" lIns="27432" rIns="27432" tIns="18288" bIns="18288">
            <a:spAutoFit/>
          </a:bodyPr>
          <a:lstStyle/>
          <a:p>
            <a:pPr algn="l"/>
            <a:r>
              <a:rPr sz="850" b="0">
                <a:solidFill>
                  <a:srgbClr val="1A1A1A"/>
                </a:solidFill>
                <a:latin typeface="Noto Sans KR"/>
                <a:ea typeface="Noto Sans KR"/>
                <a:cs typeface="Noto Sans KR"/>
              </a:rPr>
              <a:t>난퉁 경개구</a:t>
            </a:r>
          </a:p>
        </p:txBody>
      </p:sp>
      <p:sp>
        <p:nvSpPr>
          <p:cNvPr id="191" name="Oval 190"/>
          <p:cNvSpPr/>
          <p:nvPr/>
        </p:nvSpPr>
        <p:spPr>
          <a:xfrm>
            <a:off x="1070923" y="1410373"/>
            <a:ext cx="109728" cy="109728"/>
          </a:xfrm>
          <a:prstGeom prst="ellipse">
            <a:avLst/>
          </a:prstGeom>
          <a:solidFill>
            <a:srgbClr val="A6A6A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1217227" y="1190917"/>
            <a:ext cx="1572768" cy="201168"/>
          </a:xfrm>
          <a:prstGeom prst="rect">
            <a:avLst/>
          </a:prstGeom>
          <a:noFill/>
        </p:spPr>
        <p:txBody>
          <a:bodyPr wrap="square" anchor="t" lIns="27432" rIns="27432" tIns="18288" bIns="18288">
            <a:spAutoFit/>
          </a:bodyPr>
          <a:lstStyle/>
          <a:p>
            <a:pPr algn="l"/>
            <a:r>
              <a:rPr sz="850" b="0">
                <a:solidFill>
                  <a:srgbClr val="1A1A1A"/>
                </a:solidFill>
                <a:latin typeface="Noto Sans KR"/>
                <a:ea typeface="Noto Sans KR"/>
                <a:cs typeface="Noto Sans KR"/>
              </a:rPr>
              <a:t>양저우 仪征</a:t>
            </a:r>
          </a:p>
        </p:txBody>
      </p:sp>
      <p:sp>
        <p:nvSpPr>
          <p:cNvPr id="193" name="Oval 192"/>
          <p:cNvSpPr/>
          <p:nvPr/>
        </p:nvSpPr>
        <p:spPr>
          <a:xfrm>
            <a:off x="2290840" y="1580975"/>
            <a:ext cx="109728" cy="109728"/>
          </a:xfrm>
          <a:prstGeom prst="ellipse">
            <a:avLst/>
          </a:prstGeom>
          <a:solidFill>
            <a:srgbClr val="A6A6A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2437144" y="1544399"/>
            <a:ext cx="1572768" cy="201168"/>
          </a:xfrm>
          <a:prstGeom prst="rect">
            <a:avLst/>
          </a:prstGeom>
          <a:noFill/>
        </p:spPr>
        <p:txBody>
          <a:bodyPr wrap="square" anchor="t" lIns="27432" rIns="27432" tIns="18288" bIns="18288">
            <a:spAutoFit/>
          </a:bodyPr>
          <a:lstStyle/>
          <a:p>
            <a:pPr algn="l"/>
            <a:r>
              <a:rPr sz="850" b="0">
                <a:solidFill>
                  <a:srgbClr val="1A1A1A"/>
                </a:solidFill>
                <a:latin typeface="Noto Sans KR"/>
                <a:ea typeface="Noto Sans KR"/>
                <a:cs typeface="Noto Sans KR"/>
              </a:rPr>
              <a:t>泰兴</a:t>
            </a:r>
          </a:p>
        </p:txBody>
      </p:sp>
      <p:sp>
        <p:nvSpPr>
          <p:cNvPr id="195" name="Oval 194"/>
          <p:cNvSpPr/>
          <p:nvPr/>
        </p:nvSpPr>
        <p:spPr>
          <a:xfrm>
            <a:off x="3685032" y="2928731"/>
            <a:ext cx="109728" cy="109728"/>
          </a:xfrm>
          <a:prstGeom prst="ellipse">
            <a:avLst/>
          </a:prstGeom>
          <a:solidFill>
            <a:srgbClr val="A6A6A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3831336" y="2764139"/>
            <a:ext cx="1572768" cy="201168"/>
          </a:xfrm>
          <a:prstGeom prst="rect">
            <a:avLst/>
          </a:prstGeom>
          <a:noFill/>
        </p:spPr>
        <p:txBody>
          <a:bodyPr wrap="square" anchor="t" lIns="27432" rIns="27432" tIns="18288" bIns="18288">
            <a:spAutoFit/>
          </a:bodyPr>
          <a:lstStyle/>
          <a:p>
            <a:pPr algn="l"/>
            <a:r>
              <a:rPr sz="850" b="0">
                <a:solidFill>
                  <a:srgbClr val="1A1A1A"/>
                </a:solidFill>
                <a:latin typeface="Noto Sans KR"/>
                <a:ea typeface="Noto Sans KR"/>
                <a:cs typeface="Noto Sans KR"/>
              </a:rPr>
              <a:t>쿤산 (창고 제외)</a:t>
            </a:r>
          </a:p>
        </p:txBody>
      </p:sp>
      <p:sp>
        <p:nvSpPr>
          <p:cNvPr id="197" name="Oval 196"/>
          <p:cNvSpPr/>
          <p:nvPr/>
        </p:nvSpPr>
        <p:spPr>
          <a:xfrm>
            <a:off x="4411173" y="3184634"/>
            <a:ext cx="109728" cy="109728"/>
          </a:xfrm>
          <a:prstGeom prst="ellipse">
            <a:avLst/>
          </a:prstGeom>
          <a:solidFill>
            <a:srgbClr val="2E75B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2801829" y="3285218"/>
            <a:ext cx="1572768" cy="201168"/>
          </a:xfrm>
          <a:prstGeom prst="rect">
            <a:avLst/>
          </a:prstGeom>
          <a:noFill/>
        </p:spPr>
        <p:txBody>
          <a:bodyPr wrap="square" anchor="t" lIns="27432" rIns="27432" tIns="18288" bIns="18288">
            <a:spAutoFit/>
          </a:bodyPr>
          <a:lstStyle/>
          <a:p>
            <a:pPr algn="r"/>
            <a:r>
              <a:rPr sz="850" b="0">
                <a:solidFill>
                  <a:srgbClr val="1A1A1A"/>
                </a:solidFill>
                <a:latin typeface="Noto Sans KR"/>
                <a:ea typeface="Noto Sans KR"/>
                <a:cs typeface="Noto Sans KR"/>
              </a:rPr>
              <a:t>상하이</a:t>
            </a:r>
          </a:p>
        </p:txBody>
      </p:sp>
      <p:sp>
        <p:nvSpPr>
          <p:cNvPr id="199" name="Diamond 198"/>
          <p:cNvSpPr/>
          <p:nvPr/>
        </p:nvSpPr>
        <p:spPr>
          <a:xfrm>
            <a:off x="2824420" y="2705720"/>
            <a:ext cx="146304" cy="146304"/>
          </a:xfrm>
          <a:prstGeom prst="diamond">
            <a:avLst/>
          </a:prstGeom>
          <a:solidFill>
            <a:srgbClr val="1F386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2989012" y="2778872"/>
            <a:ext cx="1645920" cy="201168"/>
          </a:xfrm>
          <a:prstGeom prst="rect">
            <a:avLst/>
          </a:prstGeom>
          <a:noFill/>
        </p:spPr>
        <p:txBody>
          <a:bodyPr wrap="square" anchor="t" lIns="27432" rIns="27432" tIns="18288" bIns="18288">
            <a:spAutoFit/>
          </a:bodyPr>
          <a:lstStyle/>
          <a:p>
            <a:pPr algn="l"/>
            <a:r>
              <a:rPr sz="850" b="1">
                <a:solidFill>
                  <a:srgbClr val="1F3864"/>
                </a:solidFill>
                <a:latin typeface="Noto Sans KR"/>
                <a:ea typeface="Noto Sans KR"/>
                <a:cs typeface="Noto Sans KR"/>
              </a:rPr>
              <a:t>SK하이닉스 우시</a:t>
            </a:r>
          </a:p>
        </p:txBody>
      </p:sp>
      <p:sp>
        <p:nvSpPr>
          <p:cNvPr id="201" name="TextBox 200"/>
          <p:cNvSpPr txBox="1"/>
          <p:nvPr/>
        </p:nvSpPr>
        <p:spPr>
          <a:xfrm>
            <a:off x="283464" y="4076675"/>
            <a:ext cx="4937760" cy="228600"/>
          </a:xfrm>
          <a:prstGeom prst="rect">
            <a:avLst/>
          </a:prstGeom>
          <a:noFill/>
        </p:spPr>
        <p:txBody>
          <a:bodyPr wrap="square" anchor="t" lIns="27432" rIns="27432" tIns="18288" bIns="18288">
            <a:spAutoFit/>
          </a:bodyPr>
          <a:lstStyle/>
          <a:p>
            <a:pPr algn="l"/>
            <a:r>
              <a:rPr sz="800" b="0">
                <a:solidFill>
                  <a:srgbClr val="595959"/>
                </a:solidFill>
                <a:latin typeface="Noto Sans KR"/>
                <a:ea typeface="Noto Sans KR"/>
                <a:cs typeface="Noto Sans KR"/>
              </a:rPr>
              <a:t>● 후보  ◆ 고객(공개 주소·구 단위)  — 성 경계: 공개 GeoJSON 단순화 · 위치는 대략</a:t>
            </a:r>
          </a:p>
        </p:txBody>
      </p:sp>
      <p:sp>
        <p:nvSpPr>
          <p:cNvPr id="202" name="TextBox 201"/>
          <p:cNvSpPr txBox="1"/>
          <p:nvPr/>
        </p:nvSpPr>
        <p:spPr>
          <a:xfrm>
            <a:off x="329184" y="2313878"/>
            <a:ext cx="1188720" cy="411480"/>
          </a:xfrm>
          <a:prstGeom prst="rect">
            <a:avLst/>
          </a:prstGeom>
          <a:noFill/>
        </p:spPr>
        <p:txBody>
          <a:bodyPr wrap="square" anchor="t" lIns="27432" rIns="27432" tIns="18288" bIns="18288">
            <a:spAutoFit/>
          </a:bodyPr>
          <a:lstStyle/>
          <a:p>
            <a:pPr algn="l"/>
            <a:r>
              <a:rPr sz="900" b="1">
                <a:solidFill>
                  <a:srgbClr val="1F3864"/>
                </a:solidFill>
                <a:latin typeface="Noto Sans KR"/>
                <a:ea typeface="Noto Sans KR"/>
                <a:cs typeface="Noto Sans KR"/>
              </a:rPr>
              <a:t>← CXMT 허페이</a:t>
            </a:r>
          </a:p>
          <a:p>
            <a:pPr algn="l"/>
            <a:r>
              <a:rPr sz="800" b="0">
                <a:solidFill>
                  <a:srgbClr val="1F3864"/>
                </a:solidFill>
                <a:latin typeface="Noto Sans KR"/>
                <a:ea typeface="Noto Sans KR"/>
                <a:cs typeface="Noto Sans KR"/>
              </a:rPr>
              <a:t>(서쪽 약 300 km)</a:t>
            </a:r>
          </a:p>
        </p:txBody>
      </p:sp>
      <p:graphicFrame>
        <p:nvGraphicFramePr>
          <p:cNvPr id="203" name="Table 202"/>
          <p:cNvGraphicFramePr>
            <a:graphicFrameLocks noGrp="1"/>
          </p:cNvGraphicFramePr>
          <p:nvPr/>
        </p:nvGraphicFramePr>
        <p:xfrm>
          <a:off x="5349240" y="987552"/>
          <a:ext cx="3502152" cy="2743200"/>
        </p:xfrm>
        <a:graphic>
          <a:graphicData uri="http://schemas.openxmlformats.org/drawingml/2006/table">
            <a:tbl>
              <a:tblPr firstRow="0" bandRow="0"/>
              <a:tblGrid>
                <a:gridCol w="1051560"/>
                <a:gridCol w="2450592"/>
              </a:tblGrid>
              <a:tr h="274320">
                <a:tc>
                  <a:txBody>
                    <a:bodyPr wrap="square"/>
                    <a:lstStyle/>
                    <a:p>
                      <a:pPr algn="ctr"/>
                      <a:r>
                        <a:rPr sz="1100" b="1">
                          <a:solidFill>
                            <a:srgbClr val="FFFFFF"/>
                          </a:solidFill>
                          <a:latin typeface="Noto Sans KR"/>
                          <a:ea typeface="Noto Sans KR"/>
                          <a:cs typeface="Noto Sans KR"/>
                        </a:rPr>
                        <a:t>구분</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00" b="1">
                          <a:solidFill>
                            <a:srgbClr val="FFFFFF"/>
                          </a:solidFill>
                          <a:latin typeface="Noto Sans KR"/>
                          <a:ea typeface="Noto Sans KR"/>
                          <a:cs typeface="Noto Sans KR"/>
                        </a:rPr>
                        <a:t>1단계 결과</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548640">
                <a:tc>
                  <a:txBody>
                    <a:bodyPr wrap="square"/>
                    <a:lstStyle/>
                    <a:p>
                      <a:pPr algn="l"/>
                      <a:r>
                        <a:rPr sz="1100" b="0">
                          <a:solidFill>
                            <a:srgbClr val="1A1A1A"/>
                          </a:solidFill>
                          <a:latin typeface="Noto Sans KR"/>
                          <a:ea typeface="Noto Sans KR"/>
                          <a:cs typeface="Noto Sans KR"/>
                        </a:rPr>
                        <a:t>법인 거점</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00" b="0">
                          <a:solidFill>
                            <a:srgbClr val="1A1A1A"/>
                          </a:solidFill>
                          <a:latin typeface="Noto Sans KR"/>
                          <a:ea typeface="Noto Sans KR"/>
                          <a:cs typeface="Noto Sans KR"/>
                        </a:rPr>
                        <a:t>무석 · 쑤저우 SIP · (난징)</a:t>
                      </a:r>
                    </a:p>
                  </a:txBody>
                  <a:tcPr marL="45720" marR="45720" marT="18000" marB="18000" anchor="ctr">
                    <a:lnL w="0">
                      <a:noFill/>
                    </a:lnL>
                    <a:lnR w="0">
                      <a:noFill/>
                    </a:lnR>
                    <a:lnT w="0">
                      <a:noFill/>
                    </a:lnT>
                    <a:lnB w="6350">
                      <a:solidFill>
                        <a:srgbClr val="D9D9D9"/>
                      </a:solidFill>
                    </a:lnB>
                    <a:solidFill>
                      <a:srgbClr val="FFFFFF"/>
                    </a:solidFill>
                  </a:tcPr>
                </a:tc>
              </a:tr>
              <a:tr h="822960">
                <a:tc>
                  <a:txBody>
                    <a:bodyPr wrap="square"/>
                    <a:lstStyle/>
                    <a:p>
                      <a:pPr algn="l"/>
                      <a:r>
                        <a:rPr sz="1100" b="0">
                          <a:solidFill>
                            <a:srgbClr val="1A1A1A"/>
                          </a:solidFill>
                          <a:latin typeface="Noto Sans KR"/>
                          <a:ea typeface="Noto Sans KR"/>
                          <a:cs typeface="Noto Sans KR"/>
                        </a:rPr>
                        <a:t>창고 후보</a:t>
                      </a:r>
                    </a:p>
                    <a:p>
                      <a:pPr algn="l"/>
                      <a:r>
                        <a:rPr sz="1100" b="0">
                          <a:solidFill>
                            <a:srgbClr val="1A1A1A"/>
                          </a:solidFill>
                          <a:latin typeface="Noto Sans KR"/>
                          <a:ea typeface="Noto Sans KR"/>
                          <a:cs typeface="Noto Sans KR"/>
                        </a:rPr>
                        <a:t>(인정 원구)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00" b="0">
                          <a:solidFill>
                            <a:srgbClr val="1A1A1A"/>
                          </a:solidFill>
                          <a:latin typeface="Noto Sans KR"/>
                          <a:ea typeface="Noto Sans KR"/>
                          <a:cs typeface="Noto Sans KR"/>
                        </a:rPr>
                        <a:t>무석 관할 3 · 쑤저우 관할 2</a:t>
                      </a:r>
                    </a:p>
                    <a:p>
                      <a:pPr algn="l"/>
                      <a:r>
                        <a:rPr sz="1100" b="0">
                          <a:solidFill>
                            <a:srgbClr val="1A1A1A"/>
                          </a:solidFill>
                          <a:latin typeface="Noto Sans KR"/>
                          <a:ea typeface="Noto Sans KR"/>
                          <a:cs typeface="Noto Sans KR"/>
                        </a:rPr>
                        <a:t>창저우 · 전장 · 난징 · 난퉁 3</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100" b="0">
                          <a:solidFill>
                            <a:srgbClr val="1A1A1A"/>
                          </a:solidFill>
                          <a:latin typeface="Noto Sans KR"/>
                          <a:ea typeface="Noto Sans KR"/>
                          <a:cs typeface="Noto Sans KR"/>
                        </a:rPr>
                        <a:t>창고 제외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00" b="0">
                          <a:solidFill>
                            <a:srgbClr val="1A1A1A"/>
                          </a:solidFill>
                          <a:latin typeface="Noto Sans KR"/>
                          <a:ea typeface="Noto Sans KR"/>
                          <a:cs typeface="Noto Sans KR"/>
                        </a:rPr>
                        <a:t>쿤산 (1차 명단에 원구 없음)</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10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100" b="0">
                          <a:solidFill>
                            <a:srgbClr val="1A1A1A"/>
                          </a:solidFill>
                          <a:latin typeface="Noto Sans KR"/>
                          <a:ea typeface="Noto Sans KR"/>
                          <a:cs typeface="Noto Sans KR"/>
                        </a:rPr>
                        <a:t>타이창 (항만·2차 명단)</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204" name="TextBox 203"/>
          <p:cNvSpPr txBox="1"/>
          <p:nvPr/>
        </p:nvSpPr>
        <p:spPr>
          <a:xfrm>
            <a:off x="5349240" y="3886200"/>
            <a:ext cx="3502152" cy="2103120"/>
          </a:xfrm>
          <a:prstGeom prst="rect">
            <a:avLst/>
          </a:prstGeom>
          <a:noFill/>
        </p:spPr>
        <p:txBody>
          <a:bodyPr wrap="square" anchor="t" lIns="27432" rIns="27432" tIns="18288" bIns="18288">
            <a:spAutoFit/>
          </a:bodyPr>
          <a:lstStyle/>
          <a:p>
            <a:pPr algn="l"/>
            <a:r>
              <a:rPr sz="1150" b="1">
                <a:solidFill>
                  <a:srgbClr val="C00000"/>
                </a:solidFill>
                <a:latin typeface="Noto Sans KR"/>
                <a:ea typeface="Noto Sans KR"/>
                <a:cs typeface="Noto Sans KR"/>
              </a:rPr>
              <a:t>읽는 법</a:t>
            </a:r>
          </a:p>
          <a:p>
            <a:pPr algn="l"/>
            <a:r>
              <a:rPr sz="1050" b="0">
                <a:solidFill>
                  <a:srgbClr val="1A1A1A"/>
                </a:solidFill>
                <a:latin typeface="Noto Sans KR"/>
                <a:ea typeface="Noto Sans KR"/>
                <a:cs typeface="Noto Sans KR"/>
              </a:rPr>
              <a:t>빨강 = 법인·영업 거점 후보, 주황 = 상위 후보 관할 인정 화공원구, 회색 = 보류, 파랑 = 인근 대안. </a:t>
            </a:r>
          </a:p>
          <a:p>
            <a:pPr algn="l"/>
            <a:r>
              <a:rPr sz="1050" b="1">
                <a:solidFill>
                  <a:srgbClr val="1A1A1A"/>
                </a:solidFill>
                <a:latin typeface="Noto Sans KR"/>
                <a:ea typeface="Noto Sans KR"/>
                <a:cs typeface="Noto Sans KR"/>
              </a:rPr>
              <a:t>원구가 있다는 것 ≠ 우리 제품을 보관할 창고가 있다는 것. 창고·품목은 2주 내 문의합니다.</a:t>
            </a:r>
          </a:p>
        </p:txBody>
      </p:sp>
      <p:sp>
        <p:nvSpPr>
          <p:cNvPr id="205" name="TextBox 204"/>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EVD-020 강소성 화공원구 인정 1차 명단(2023-06-02), EVD-029·031 고객 위치 · 지도 경계: 공개 GeoJSON(단순화)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강소성에서는 무석이 앞서고 쑤저우가 뒤따릅니다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점수는 분석 가정 (1~5점) — 정보 부족 후보는 점수를 매기지 않음</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14</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- 14 -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4636008"/>
        </p:xfrm>
        <a:graphic>
          <a:graphicData uri="http://schemas.openxmlformats.org/drawingml/2006/table">
            <a:tbl>
              <a:tblPr firstRow="0" bandRow="0"/>
              <a:tblGrid>
                <a:gridCol w="1600200"/>
                <a:gridCol w="1691640"/>
                <a:gridCol w="1325880"/>
                <a:gridCol w="1600200"/>
                <a:gridCol w="822960"/>
                <a:gridCol w="612648"/>
                <a:gridCol w="914400"/>
              </a:tblGrid>
              <a:tr h="411480">
                <a:tc>
                  <a:txBody>
                    <a:bodyPr wrap="square"/>
                    <a:lstStyle/>
                    <a:p>
                      <a:pPr algn="ctr"/>
                      <a:r>
                        <a:rPr sz="1050" b="1">
                          <a:solidFill>
                            <a:srgbClr val="FFFFFF"/>
                          </a:solidFill>
                          <a:latin typeface="Noto Sans KR"/>
                          <a:ea typeface="Noto Sans KR"/>
                          <a:cs typeface="Noto Sans KR"/>
                        </a:rPr>
                        <a:t>도시 (관할)</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역할</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무저장 경영 경로</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창고 후보</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SK하이닉스</a:t>
                      </a:r>
                    </a:p>
                    <a:p>
                      <a:pPr algn="ctr"/>
                      <a:r>
                        <a:rPr sz="1050" b="1">
                          <a:solidFill>
                            <a:srgbClr val="FFFFFF"/>
                          </a:solidFill>
                          <a:latin typeface="Noto Sans KR"/>
                          <a:ea typeface="Noto Sans KR"/>
                          <a:cs typeface="Noto Sans KR"/>
                        </a:rPr>
                        <a:t>직선 km</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점수</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판정</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603504">
                <a:tc>
                  <a:txBody>
                    <a:bodyPr wrap="square"/>
                    <a:lstStyle/>
                    <a:p>
                      <a:pPr algn="l"/>
                      <a:r>
                        <a:rPr sz="1050" b="0">
                          <a:solidFill>
                            <a:srgbClr val="1A1A1A"/>
                          </a:solidFill>
                          <a:latin typeface="Noto Sans KR"/>
                          <a:ea typeface="Noto Sans KR"/>
                          <a:cs typeface="Noto Sans KR"/>
                        </a:rPr>
                        <a:t>无锡(무석) 新吴区(신오구)</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l"/>
                      <a:r>
                        <a:rPr sz="1050" b="0">
                          <a:solidFill>
                            <a:srgbClr val="1A1A1A"/>
                          </a:solidFill>
                          <a:latin typeface="Noto Sans KR"/>
                          <a:ea typeface="Noto Sans KR"/>
                          <a:cs typeface="Noto Sans KR"/>
                        </a:rPr>
                        <a:t>법인·영업 거점 (+무석 관할</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050" b="0">
                          <a:solidFill>
                            <a:srgbClr val="1A1A1A"/>
                          </a:solidFill>
                          <a:latin typeface="Noto Sans KR"/>
                          <a:ea typeface="Noto Sans KR"/>
                          <a:cs typeface="Noto Sans KR"/>
                        </a:rPr>
                        <a:t>통과</a:t>
                      </a:r>
                    </a:p>
                    <a:p>
                      <a:pPr algn="ctr"/>
                      <a:r>
                        <a:rPr sz="1050" b="0">
                          <a:solidFill>
                            <a:srgbClr val="1A1A1A"/>
                          </a:solidFill>
                          <a:latin typeface="Noto Sans KR"/>
                          <a:ea typeface="Noto Sans KR"/>
                          <a:cs typeface="Noto Sans KR"/>
                        </a:rPr>
                        <a:t>(세칙 공개)</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050" b="0">
                          <a:solidFill>
                            <a:srgbClr val="1A1A1A"/>
                          </a:solidFill>
                          <a:latin typeface="Noto Sans KR"/>
                          <a:ea typeface="Noto Sans KR"/>
                          <a:cs typeface="Noto Sans KR"/>
                        </a:rPr>
                        <a:t>조건부</a:t>
                      </a:r>
                    </a:p>
                    <a:p>
                      <a:pPr algn="ctr"/>
                      <a:r>
                        <a:rPr sz="1050" b="0">
                          <a:solidFill>
                            <a:srgbClr val="1A1A1A"/>
                          </a:solidFill>
                          <a:latin typeface="Noto Sans KR"/>
                          <a:ea typeface="Noto Sans KR"/>
                          <a:cs typeface="Noto Sans KR"/>
                        </a:rPr>
                        <a:t>(江阴·锡山·宜兴 원구)</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050" b="0">
                          <a:solidFill>
                            <a:srgbClr val="1A1A1A"/>
                          </a:solidFill>
                          <a:latin typeface="Noto Sans KR"/>
                          <a:ea typeface="Noto Sans KR"/>
                          <a:cs typeface="Noto Sans KR"/>
                        </a:rPr>
                        <a:t>3</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050" b="0">
                          <a:solidFill>
                            <a:srgbClr val="1A1A1A"/>
                          </a:solidFill>
                          <a:latin typeface="Noto Sans KR"/>
                          <a:ea typeface="Noto Sans KR"/>
                          <a:cs typeface="Noto Sans KR"/>
                        </a:rPr>
                        <a:t>76</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050" b="1">
                          <a:solidFill>
                            <a:srgbClr val="385723"/>
                          </a:solidFill>
                          <a:latin typeface="Noto Sans KR"/>
                          <a:ea typeface="Noto Sans KR"/>
                          <a:cs typeface="Noto Sans KR"/>
                        </a:rPr>
                        <a:t>추천</a:t>
                      </a:r>
                    </a:p>
                  </a:txBody>
                  <a:tcPr marL="45720" marR="45720" marT="18000" marB="18000" anchor="ctr">
                    <a:lnL w="0">
                      <a:noFill/>
                    </a:lnL>
                    <a:lnR w="0">
                      <a:noFill/>
                    </a:lnR>
                    <a:lnT w="0">
                      <a:noFill/>
                    </a:lnT>
                    <a:lnB w="6350">
                      <a:solidFill>
                        <a:srgbClr val="D9D9D9"/>
                      </a:solidFill>
                    </a:lnB>
                    <a:solidFill>
                      <a:srgbClr val="E2EFD9"/>
                    </a:solidFill>
                  </a:tcPr>
                </a:tc>
              </a:tr>
              <a:tr h="603504">
                <a:tc>
                  <a:txBody>
                    <a:bodyPr wrap="square"/>
                    <a:lstStyle/>
                    <a:p>
                      <a:pPr algn="l"/>
                      <a:r>
                        <a:rPr sz="1050" b="0">
                          <a:solidFill>
                            <a:srgbClr val="1A1A1A"/>
                          </a:solidFill>
                          <a:latin typeface="Noto Sans KR"/>
                          <a:ea typeface="Noto Sans KR"/>
                          <a:cs typeface="Noto Sans KR"/>
                        </a:rPr>
                        <a:t>苏州(쑤저우) 工业园区(SIP)</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법인(SIP) + 장자강 보세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조건부</a:t>
                      </a:r>
                    </a:p>
                    <a:p>
                      <a:pPr algn="ctr"/>
                      <a:r>
                        <a:rPr sz="1050" b="0">
                          <a:solidFill>
                            <a:srgbClr val="1A1A1A"/>
                          </a:solidFill>
                          <a:latin typeface="Noto Sans KR"/>
                          <a:ea typeface="Noto Sans KR"/>
                          <a:cs typeface="Noto Sans KR"/>
                        </a:rPr>
                        <a:t>(쑤저우 세칙 미확보)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조건부</a:t>
                      </a:r>
                    </a:p>
                    <a:p>
                      <a:pPr algn="ctr"/>
                      <a:r>
                        <a:rPr sz="1050" b="0">
                          <a:solidFill>
                            <a:srgbClr val="1A1A1A"/>
                          </a:solidFill>
                          <a:latin typeface="Noto Sans KR"/>
                          <a:ea typeface="Noto Sans KR"/>
                          <a:cs typeface="Noto Sans KR"/>
                        </a:rPr>
                        <a:t>(扬子江国际化学工业园·常熟 원구)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40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69</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1">
                          <a:solidFill>
                            <a:srgbClr val="7F6000"/>
                          </a:solidFill>
                          <a:latin typeface="Noto Sans KR"/>
                          <a:ea typeface="Noto Sans KR"/>
                          <a:cs typeface="Noto Sans KR"/>
                        </a:rPr>
                        <a:t>조건부</a:t>
                      </a:r>
                    </a:p>
                  </a:txBody>
                  <a:tcPr marL="45720" marR="45720" marT="18000" marB="18000" anchor="ctr">
                    <a:lnL w="0">
                      <a:noFill/>
                    </a:lnL>
                    <a:lnR w="0">
                      <a:noFill/>
                    </a:lnR>
                    <a:lnT w="0">
                      <a:noFill/>
                    </a:lnT>
                    <a:lnB w="6350">
                      <a:solidFill>
                        <a:srgbClr val="D9D9D9"/>
                      </a:solidFill>
                    </a:lnB>
                    <a:solidFill>
                      <a:srgbClr val="FFF2CC"/>
                    </a:solidFill>
                  </a:tcPr>
                </a:tc>
              </a:tr>
              <a:tr h="603504">
                <a:tc>
                  <a:txBody>
                    <a:bodyPr wrap="square"/>
                    <a:lstStyle/>
                    <a:p>
                      <a:pPr algn="l"/>
                      <a:r>
                        <a:rPr sz="1050" b="0">
                          <a:solidFill>
                            <a:srgbClr val="1A1A1A"/>
                          </a:solidFill>
                          <a:latin typeface="Noto Sans KR"/>
                          <a:ea typeface="Noto Sans KR"/>
                          <a:cs typeface="Noto Sans KR"/>
                        </a:rPr>
                        <a:t>常州(창저우) 新北区</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중장기 자체시설(D안) 후보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조건부</a:t>
                      </a:r>
                    </a:p>
                    <a:p>
                      <a:pPr algn="ctr"/>
                      <a:r>
                        <a:rPr sz="1050" b="0">
                          <a:solidFill>
                            <a:srgbClr val="1A1A1A"/>
                          </a:solidFill>
                          <a:latin typeface="Noto Sans KR"/>
                          <a:ea typeface="Noto Sans KR"/>
                          <a:cs typeface="Noto Sans KR"/>
                        </a:rPr>
                        <a:t>(滨江 新材料产业园)</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67</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63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1">
                          <a:solidFill>
                            <a:srgbClr val="595959"/>
                          </a:solidFill>
                          <a:latin typeface="Noto Sans KR"/>
                          <a:ea typeface="Noto Sans KR"/>
                          <a:cs typeface="Noto Sans KR"/>
                        </a:rPr>
                        <a:t>보류</a:t>
                      </a:r>
                    </a:p>
                  </a:txBody>
                  <a:tcPr marL="45720" marR="45720" marT="18000" marB="18000" anchor="ctr">
                    <a:lnL w="0">
                      <a:noFill/>
                    </a:lnL>
                    <a:lnR w="0">
                      <a:noFill/>
                    </a:lnR>
                    <a:lnT w="0">
                      <a:noFill/>
                    </a:lnT>
                    <a:lnB w="6350">
                      <a:solidFill>
                        <a:srgbClr val="D9D9D9"/>
                      </a:solidFill>
                    </a:lnB>
                    <a:solidFill>
                      <a:srgbClr val="F2F2F2"/>
                    </a:solidFill>
                  </a:tcPr>
                </a:tc>
              </a:tr>
              <a:tr h="603504">
                <a:tc>
                  <a:txBody>
                    <a:bodyPr wrap="square"/>
                    <a:lstStyle/>
                    <a:p>
                      <a:pPr algn="l"/>
                      <a:r>
                        <a:rPr sz="1050" b="0">
                          <a:solidFill>
                            <a:srgbClr val="1A1A1A"/>
                          </a:solidFill>
                          <a:latin typeface="Noto Sans KR"/>
                          <a:ea typeface="Noto Sans KR"/>
                          <a:cs typeface="Noto Sans KR"/>
                        </a:rPr>
                        <a:t>南京(난징) 江北新区</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행정·원구 후보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통과</a:t>
                      </a:r>
                    </a:p>
                    <a:p>
                      <a:pPr algn="ctr"/>
                      <a:r>
                        <a:rPr sz="1050" b="0">
                          <a:solidFill>
                            <a:srgbClr val="1A1A1A"/>
                          </a:solidFill>
                          <a:latin typeface="Noto Sans KR"/>
                          <a:ea typeface="Noto Sans KR"/>
                          <a:cs typeface="Noto Sans KR"/>
                        </a:rPr>
                        <a:t>(세칙 공개)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조건부</a:t>
                      </a:r>
                    </a:p>
                    <a:p>
                      <a:pPr algn="ctr"/>
                      <a:r>
                        <a:rPr sz="1050" b="0">
                          <a:solidFill>
                            <a:srgbClr val="1A1A1A"/>
                          </a:solidFill>
                          <a:latin typeface="Noto Sans KR"/>
                          <a:ea typeface="Noto Sans KR"/>
                          <a:cs typeface="Noto Sans KR"/>
                        </a:rPr>
                        <a:t>(江北 원구)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166</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58</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1">
                          <a:solidFill>
                            <a:srgbClr val="595959"/>
                          </a:solidFill>
                          <a:latin typeface="Noto Sans KR"/>
                          <a:ea typeface="Noto Sans KR"/>
                          <a:cs typeface="Noto Sans KR"/>
                        </a:rPr>
                        <a:t>보류</a:t>
                      </a:r>
                    </a:p>
                  </a:txBody>
                  <a:tcPr marL="45720" marR="45720" marT="18000" marB="18000" anchor="ctr">
                    <a:lnL w="0">
                      <a:noFill/>
                    </a:lnL>
                    <a:lnR w="0">
                      <a:noFill/>
                    </a:lnR>
                    <a:lnT w="0">
                      <a:noFill/>
                    </a:lnT>
                    <a:lnB w="6350">
                      <a:solidFill>
                        <a:srgbClr val="D9D9D9"/>
                      </a:solidFill>
                    </a:lnB>
                    <a:solidFill>
                      <a:srgbClr val="F2F2F2"/>
                    </a:solidFill>
                  </a:tcPr>
                </a:tc>
              </a:tr>
              <a:tr h="603504">
                <a:tc>
                  <a:txBody>
                    <a:bodyPr wrap="square"/>
                    <a:lstStyle/>
                    <a:p>
                      <a:pPr algn="l"/>
                      <a:r>
                        <a:rPr sz="1050" b="0">
                          <a:solidFill>
                            <a:srgbClr val="1A1A1A"/>
                          </a:solidFill>
                          <a:latin typeface="Noto Sans KR"/>
                          <a:ea typeface="Noto Sans KR"/>
                          <a:cs typeface="Noto Sans KR"/>
                        </a:rPr>
                        <a:t>镇江(전장) 镇江新区</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원구·항만 물류 후보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조건부</a:t>
                      </a:r>
                    </a:p>
                    <a:p>
                      <a:pPr algn="ctr"/>
                      <a:r>
                        <a:rPr sz="1050" b="0">
                          <a:solidFill>
                            <a:srgbClr val="1A1A1A"/>
                          </a:solidFill>
                          <a:latin typeface="Noto Sans KR"/>
                          <a:ea typeface="Noto Sans KR"/>
                          <a:cs typeface="Noto Sans KR"/>
                        </a:rPr>
                        <a:t>(镇江新区新材料产业园)</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98</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보류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1">
                          <a:solidFill>
                            <a:srgbClr val="595959"/>
                          </a:solidFill>
                          <a:latin typeface="Noto Sans KR"/>
                          <a:ea typeface="Noto Sans KR"/>
                          <a:cs typeface="Noto Sans KR"/>
                        </a:rPr>
                        <a:t>보류</a:t>
                      </a:r>
                    </a:p>
                  </a:txBody>
                  <a:tcPr marL="45720" marR="45720" marT="18000" marB="18000" anchor="ctr">
                    <a:lnL w="0">
                      <a:noFill/>
                    </a:lnL>
                    <a:lnR w="0">
                      <a:noFill/>
                    </a:lnR>
                    <a:lnT w="0">
                      <a:noFill/>
                    </a:lnT>
                    <a:lnB w="6350">
                      <a:solidFill>
                        <a:srgbClr val="D9D9D9"/>
                      </a:solidFill>
                    </a:lnB>
                    <a:solidFill>
                      <a:srgbClr val="F2F2F2"/>
                    </a:solidFill>
                  </a:tcPr>
                </a:tc>
              </a:tr>
              <a:tr h="603504">
                <a:tc>
                  <a:txBody>
                    <a:bodyPr wrap="square"/>
                    <a:lstStyle/>
                    <a:p>
                      <a:pPr algn="l"/>
                      <a:r>
                        <a:rPr sz="1050" b="0">
                          <a:solidFill>
                            <a:srgbClr val="1A1A1A"/>
                          </a:solidFill>
                          <a:latin typeface="Noto Sans KR"/>
                          <a:ea typeface="Noto Sans KR"/>
                          <a:cs typeface="Noto Sans KR"/>
                        </a:rPr>
                        <a:t>南通(난퉁) 경개구·如东·如皋</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원구 창고 후보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조건부</a:t>
                      </a:r>
                    </a:p>
                    <a:p>
                      <a:pPr algn="ctr"/>
                      <a:r>
                        <a:rPr sz="1050" b="0">
                          <a:solidFill>
                            <a:srgbClr val="1A1A1A"/>
                          </a:solidFill>
                          <a:latin typeface="Noto Sans KR"/>
                          <a:ea typeface="Noto Sans KR"/>
                          <a:cs typeface="Noto Sans KR"/>
                        </a:rPr>
                        <a:t>(3개 원구)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68</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보류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1">
                          <a:solidFill>
                            <a:srgbClr val="595959"/>
                          </a:solidFill>
                          <a:latin typeface="Noto Sans KR"/>
                          <a:ea typeface="Noto Sans KR"/>
                          <a:cs typeface="Noto Sans KR"/>
                        </a:rPr>
                        <a:t>보류</a:t>
                      </a:r>
                    </a:p>
                  </a:txBody>
                  <a:tcPr marL="45720" marR="45720" marT="18000" marB="18000" anchor="ctr">
                    <a:lnL w="0">
                      <a:noFill/>
                    </a:lnL>
                    <a:lnR w="0">
                      <a:noFill/>
                    </a:lnR>
                    <a:lnT w="0">
                      <a:noFill/>
                    </a:lnT>
                    <a:lnB w="6350">
                      <a:solidFill>
                        <a:srgbClr val="D9D9D9"/>
                      </a:solidFill>
                    </a:lnB>
                    <a:solidFill>
                      <a:srgbClr val="F2F2F2"/>
                    </a:solidFill>
                  </a:tcPr>
                </a:tc>
              </a:tr>
              <a:tr h="603504">
                <a:tc>
                  <a:txBody>
                    <a:bodyPr wrap="square"/>
                    <a:lstStyle/>
                    <a:p>
                      <a:pPr algn="l"/>
                      <a:r>
                        <a:rPr sz="1050" b="0">
                          <a:solidFill>
                            <a:srgbClr val="1A1A1A"/>
                          </a:solidFill>
                          <a:latin typeface="Noto Sans KR"/>
                          <a:ea typeface="Noto Sans KR"/>
                          <a:cs typeface="Noto Sans KR"/>
                        </a:rPr>
                        <a:t>苏州(쑤저우) 昆山(쿤산,</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050" b="0">
                          <a:solidFill>
                            <a:srgbClr val="1A1A1A"/>
                          </a:solidFill>
                          <a:latin typeface="Noto Sans KR"/>
                          <a:ea typeface="Noto Sans KR"/>
                          <a:cs typeface="Noto Sans KR"/>
                        </a:rPr>
                        <a:t>사무 거점만</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50" b="0">
                          <a:solidFill>
                            <a:srgbClr val="1A1A1A"/>
                          </a:solidFill>
                          <a:latin typeface="Noto Sans KR"/>
                          <a:ea typeface="Noto Sans KR"/>
                          <a:cs typeface="Noto Sans KR"/>
                        </a:rPr>
                        <a:t>미통과</a:t>
                      </a:r>
                    </a:p>
                    <a:p>
                      <a:pPr algn="ctr"/>
                      <a:r>
                        <a:rPr sz="1050" b="0">
                          <a:solidFill>
                            <a:srgbClr val="1A1A1A"/>
                          </a:solidFill>
                          <a:latin typeface="Noto Sans KR"/>
                          <a:ea typeface="Noto Sans KR"/>
                          <a:cs typeface="Noto Sans KR"/>
                        </a:rPr>
                        <a:t>(1차 명단에 원구 없음)</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50" b="0">
                          <a:solidFill>
                            <a:srgbClr val="1A1A1A"/>
                          </a:solidFill>
                          <a:latin typeface="Noto Sans KR"/>
                          <a:ea typeface="Noto Sans KR"/>
                          <a:cs typeface="Noto Sans KR"/>
                        </a:rPr>
                        <a:t>58</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50" b="0">
                          <a:solidFill>
                            <a:srgbClr val="1A1A1A"/>
                          </a:solidFill>
                          <a:latin typeface="Noto Sans KR"/>
                          <a:ea typeface="Noto Sans KR"/>
                          <a:cs typeface="Noto Sans KR"/>
                        </a:rPr>
                        <a:t>보류</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50" b="1">
                          <a:solidFill>
                            <a:srgbClr val="404040"/>
                          </a:solidFill>
                          <a:latin typeface="Noto Sans KR"/>
                          <a:ea typeface="Noto Sans KR"/>
                          <a:cs typeface="Noto Sans KR"/>
                        </a:rPr>
                        <a:t>제외</a:t>
                      </a:r>
                    </a:p>
                  </a:txBody>
                  <a:tcPr marL="45720" marR="45720" marT="18000" marB="18000" anchor="ctr">
                    <a:lnL w="0">
                      <a:noFill/>
                    </a:lnL>
                    <a:lnR w="0">
                      <a:noFill/>
                    </a:lnR>
                    <a:lnT w="0">
                      <a:noFill/>
                    </a:lnT>
                    <a:lnB w="9525">
                      <a:solidFill>
                        <a:srgbClr val="404040"/>
                      </a:solidFill>
                    </a:lnB>
                    <a:solidFill>
                      <a:srgbClr val="D9D9D9"/>
                    </a:solidFill>
                  </a:tcPr>
                </a:tc>
              </a:tr>
            </a:tbl>
          </a:graphicData>
        </a:graphic>
      </p:graphicFrame>
      <p:sp>
        <p:nvSpPr>
          <p:cNvPr id="165" name="TextBox 164"/>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08_CityComparison 시트 (관문·점수·가중치 수식), EVD-014·020·021 · 직선거리 = 대략 좌표 기준, 도로·운송시간 아님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무석: 고객 옆 법인 + 관할 원구 창고</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350" dirty="0">
                <a:latin typeface="Noto Sans KR" panose="02000503000000020004" pitchFamily="2" charset="-127"/>
                <a:ea typeface="Noto Sans KR" panose="02000503000000020004" pitchFamily="2" charset="-127"/>
                <a:cs typeface="Noto Sans KR" panose="02000503000000020004" pitchFamily="2" charset="-127"/>
              </a:rPr>
              <a:t>SK하이닉스 우시와 같은 신오구 · 무석 세칙에 무저장·임차저장 유형이 명시돼 있음</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15</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- 15 -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sp>
        <p:nvSpPr>
          <p:cNvPr id="164" name="TextBox 163"/>
          <p:cNvSpPr txBox="1"/>
          <p:nvPr/>
        </p:nvSpPr>
        <p:spPr>
          <a:xfrm>
            <a:off x="283464" y="960120"/>
            <a:ext cx="5486400" cy="320040"/>
          </a:xfrm>
          <a:prstGeom prst="rect">
            <a:avLst/>
          </a:prstGeom>
          <a:noFill/>
        </p:spPr>
        <p:txBody>
          <a:bodyPr wrap="square" anchor="t" lIns="27432" rIns="27432" tIns="18288" bIns="18288">
            <a:spAutoFit/>
          </a:bodyPr>
          <a:lstStyle/>
          <a:p>
            <a:pPr algn="l"/>
            <a:r>
              <a:rPr sz="1300" b="1">
                <a:solidFill>
                  <a:srgbClr val="C00000"/>
                </a:solidFill>
                <a:latin typeface="Noto Sans KR"/>
                <a:ea typeface="Noto Sans KR"/>
                <a:cs typeface="Noto Sans KR"/>
              </a:rPr>
              <a:t>강소성 후보 1</a:t>
            </a:r>
          </a:p>
        </p:txBody>
      </p:sp>
      <p:sp>
        <p:nvSpPr>
          <p:cNvPr id="165" name="Rounded Rectangle 164"/>
          <p:cNvSpPr/>
          <p:nvPr/>
        </p:nvSpPr>
        <p:spPr>
          <a:xfrm>
            <a:off x="6400800" y="969264"/>
            <a:ext cx="1143000" cy="292608"/>
          </a:xfrm>
          <a:prstGeom prst="roundRect">
            <a:avLst/>
          </a:prstGeom>
          <a:solidFill>
            <a:srgbClr val="E2EFD9"/>
          </a:solidFill>
          <a:ln w="9525">
            <a:solidFill>
              <a:srgbClr val="38572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50" b="1">
                <a:solidFill>
                  <a:srgbClr val="385723"/>
                </a:solidFill>
                <a:latin typeface="Noto Sans KR"/>
                <a:ea typeface="Noto Sans KR"/>
                <a:cs typeface="Noto Sans KR"/>
              </a:rPr>
              <a:t>추천</a:t>
            </a:r>
          </a:p>
        </p:txBody>
      </p:sp>
      <p:sp>
        <p:nvSpPr>
          <p:cNvPr id="166" name="TextBox 165"/>
          <p:cNvSpPr txBox="1"/>
          <p:nvPr/>
        </p:nvSpPr>
        <p:spPr>
          <a:xfrm>
            <a:off x="7589520" y="978408"/>
            <a:ext cx="1280160" cy="292608"/>
          </a:xfrm>
          <a:prstGeom prst="rect">
            <a:avLst/>
          </a:prstGeom>
          <a:noFill/>
        </p:spPr>
        <p:txBody>
          <a:bodyPr wrap="square" anchor="t" lIns="27432" rIns="27432" tIns="18288" bIns="18288">
            <a:spAutoFit/>
          </a:bodyPr>
          <a:lstStyle/>
          <a:p>
            <a:pPr algn="r"/>
            <a:r>
              <a:rPr sz="1100" b="1">
                <a:solidFill>
                  <a:srgbClr val="1A1A1A"/>
                </a:solidFill>
                <a:latin typeface="Noto Sans KR"/>
                <a:ea typeface="Noto Sans KR"/>
                <a:cs typeface="Noto Sans KR"/>
              </a:rPr>
              <a:t>점수 76</a:t>
            </a:r>
          </a:p>
        </p:txBody>
      </p:sp>
      <p:graphicFrame>
        <p:nvGraphicFramePr>
          <p:cNvPr id="167" name="Table 166"/>
          <p:cNvGraphicFramePr>
            <a:graphicFrameLocks noGrp="1"/>
          </p:cNvGraphicFramePr>
          <p:nvPr/>
        </p:nvGraphicFramePr>
        <p:xfrm>
          <a:off x="283464" y="1371600"/>
          <a:ext cx="8567928" cy="4133088"/>
        </p:xfrm>
        <a:graphic>
          <a:graphicData uri="http://schemas.openxmlformats.org/drawingml/2006/table">
            <a:tbl>
              <a:tblPr firstRow="0" bandRow="0"/>
              <a:tblGrid>
                <a:gridCol w="1600200"/>
                <a:gridCol w="6967728"/>
              </a:tblGrid>
              <a:tr h="292608">
                <a:tc>
                  <a:txBody>
                    <a:bodyPr wrap="square"/>
                    <a:lstStyle/>
                    <a:p>
                      <a:pPr algn="ctr"/>
                      <a:r>
                        <a:rPr sz="1200" b="1">
                          <a:solidFill>
                            <a:srgbClr val="FFFFFF"/>
                          </a:solidFill>
                          <a:latin typeface="Noto Sans KR"/>
                          <a:ea typeface="Noto Sans KR"/>
                          <a:cs typeface="Noto Sans KR"/>
                        </a:rPr>
                        <a:t>항목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내용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548640">
                <a:tc>
                  <a:txBody>
                    <a:bodyPr wrap="square"/>
                    <a:lstStyle/>
                    <a:p>
                      <a:pPr algn="l"/>
                      <a:r>
                        <a:rPr sz="1200" b="0">
                          <a:solidFill>
                            <a:srgbClr val="1A1A1A"/>
                          </a:solidFill>
                          <a:latin typeface="Noto Sans KR"/>
                          <a:ea typeface="Noto Sans KR"/>
                          <a:cs typeface="Noto Sans KR"/>
                        </a:rPr>
                        <a:t>권장 운영 구조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B안 (무저장 경영 + 3PL) → 필요 시 C안 (임차저장)</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법인 주소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무석 신오구 업무용 건물 (무저장 경영 장소)</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창고 후보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江阴临港化工园区 · 锡山경개구 新材料产业园 · 宜兴 新材料产业园 (인정 원구)</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허가 관할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무석시 응급관리국·행정심사국 → 구 단위 접수 (확인 필요)</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고객 접근</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SK하이닉스 우시 약 3 km · CXMT 약 296 km (직선)</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핵심 관문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원구 내 3PL이 우리 품목(자연발화·수분반응 가능성)을 받아주는가</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미확인</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신오구 처리기한 · 무저장 장소 요건 · 임차저장이 관할 밖 창고도 되는지</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8" name="TextBox 167"/>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08·09 시트 (CITY·SITE), EVD-014·020·021 · 직선거리 대략, 점수 분석 가정</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쑤저우: SIP 법인 + 장자강 위험품 물류</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장자강에 위험화학품 부두·보세 위험품 창고 보도 · 쑤저우 세칙은 미확보</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16</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- 16 -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sp>
        <p:nvSpPr>
          <p:cNvPr id="164" name="TextBox 163"/>
          <p:cNvSpPr txBox="1"/>
          <p:nvPr/>
        </p:nvSpPr>
        <p:spPr>
          <a:xfrm>
            <a:off x="283464" y="960120"/>
            <a:ext cx="5486400" cy="320040"/>
          </a:xfrm>
          <a:prstGeom prst="rect">
            <a:avLst/>
          </a:prstGeom>
          <a:noFill/>
        </p:spPr>
        <p:txBody>
          <a:bodyPr wrap="square" anchor="t" lIns="27432" rIns="27432" tIns="18288" bIns="18288">
            <a:spAutoFit/>
          </a:bodyPr>
          <a:lstStyle/>
          <a:p>
            <a:pPr algn="l"/>
            <a:r>
              <a:rPr sz="1300" b="1">
                <a:solidFill>
                  <a:srgbClr val="C00000"/>
                </a:solidFill>
                <a:latin typeface="Noto Sans KR"/>
                <a:ea typeface="Noto Sans KR"/>
                <a:cs typeface="Noto Sans KR"/>
              </a:rPr>
              <a:t>강소성 후보 2</a:t>
            </a:r>
          </a:p>
        </p:txBody>
      </p:sp>
      <p:sp>
        <p:nvSpPr>
          <p:cNvPr id="165" name="Rounded Rectangle 164"/>
          <p:cNvSpPr/>
          <p:nvPr/>
        </p:nvSpPr>
        <p:spPr>
          <a:xfrm>
            <a:off x="6400800" y="969264"/>
            <a:ext cx="1143000" cy="292608"/>
          </a:xfrm>
          <a:prstGeom prst="roundRect">
            <a:avLst/>
          </a:prstGeom>
          <a:solidFill>
            <a:srgbClr val="FFF2CC"/>
          </a:solidFill>
          <a:ln w="9525">
            <a:solidFill>
              <a:srgbClr val="7F6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50" b="1">
                <a:solidFill>
                  <a:srgbClr val="7F6000"/>
                </a:solidFill>
                <a:latin typeface="Noto Sans KR"/>
                <a:ea typeface="Noto Sans KR"/>
                <a:cs typeface="Noto Sans KR"/>
              </a:rPr>
              <a:t>조건부</a:t>
            </a:r>
          </a:p>
        </p:txBody>
      </p:sp>
      <p:sp>
        <p:nvSpPr>
          <p:cNvPr id="166" name="TextBox 165"/>
          <p:cNvSpPr txBox="1"/>
          <p:nvPr/>
        </p:nvSpPr>
        <p:spPr>
          <a:xfrm>
            <a:off x="7589520" y="978408"/>
            <a:ext cx="1280160" cy="292608"/>
          </a:xfrm>
          <a:prstGeom prst="rect">
            <a:avLst/>
          </a:prstGeom>
          <a:noFill/>
        </p:spPr>
        <p:txBody>
          <a:bodyPr wrap="square" anchor="t" lIns="27432" rIns="27432" tIns="18288" bIns="18288">
            <a:spAutoFit/>
          </a:bodyPr>
          <a:lstStyle/>
          <a:p>
            <a:pPr algn="r"/>
            <a:r>
              <a:rPr sz="1100" b="1">
                <a:solidFill>
                  <a:srgbClr val="1A1A1A"/>
                </a:solidFill>
                <a:latin typeface="Noto Sans KR"/>
                <a:ea typeface="Noto Sans KR"/>
                <a:cs typeface="Noto Sans KR"/>
              </a:rPr>
              <a:t>점수 69</a:t>
            </a:r>
          </a:p>
        </p:txBody>
      </p:sp>
      <p:graphicFrame>
        <p:nvGraphicFramePr>
          <p:cNvPr id="167" name="Table 166"/>
          <p:cNvGraphicFramePr>
            <a:graphicFrameLocks noGrp="1"/>
          </p:cNvGraphicFramePr>
          <p:nvPr/>
        </p:nvGraphicFramePr>
        <p:xfrm>
          <a:off x="283464" y="1371600"/>
          <a:ext cx="8567928" cy="4133088"/>
        </p:xfrm>
        <a:graphic>
          <a:graphicData uri="http://schemas.openxmlformats.org/drawingml/2006/table">
            <a:tbl>
              <a:tblPr firstRow="0" bandRow="0"/>
              <a:tblGrid>
                <a:gridCol w="1600200"/>
                <a:gridCol w="6967728"/>
              </a:tblGrid>
              <a:tr h="292608">
                <a:tc>
                  <a:txBody>
                    <a:bodyPr wrap="square"/>
                    <a:lstStyle/>
                    <a:p>
                      <a:pPr algn="ctr"/>
                      <a:r>
                        <a:rPr sz="1200" b="1">
                          <a:solidFill>
                            <a:srgbClr val="FFFFFF"/>
                          </a:solidFill>
                          <a:latin typeface="Noto Sans KR"/>
                          <a:ea typeface="Noto Sans KR"/>
                          <a:cs typeface="Noto Sans KR"/>
                        </a:rPr>
                        <a:t>항목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내용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548640">
                <a:tc>
                  <a:txBody>
                    <a:bodyPr wrap="square"/>
                    <a:lstStyle/>
                    <a:p>
                      <a:pPr algn="l"/>
                      <a:r>
                        <a:rPr sz="1200" b="0">
                          <a:solidFill>
                            <a:srgbClr val="1A1A1A"/>
                          </a:solidFill>
                          <a:latin typeface="Noto Sans KR"/>
                          <a:ea typeface="Noto Sans KR"/>
                          <a:cs typeface="Noto Sans KR"/>
                        </a:rPr>
                        <a:t>권장 운영 구조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E안 (SIP 법인 + 장자강 3PL) 또는 장자강 단일 거점</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법인 주소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쑤저우공업원구(SIP) 또는 장자강보세구</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창고 후보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江苏扬子江国际化学工业园 (장자강) · 常熟 新材料产业园 (불소화학)</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허가 관할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쑤저우시 / 장자강시 (현급시) 응급관리 부문 — 확인 필요</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고객 접근</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SK하이닉스 우시 약 40 km · CXMT 약 332 km (직선)</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핵심 관문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보세 위험품 창고의 품목·물성 범위, 법인과 창고 관할 분리 가능 여부</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미확인</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쑤저우 경영허가 세칙 · 장자강 창고 운영사·견적</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8" name="TextBox 167"/>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08·09 시트 (CITY·SITE), EVD-014·020·021 · 직선거리 대략, 점수 분석 가정</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창저우: 중장기 자체시설 후보</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무석·난징 사이 인정 원구(滨江 新材料产业园) · 공개 운영 자료는 부족</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17</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- 17 -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sp>
        <p:nvSpPr>
          <p:cNvPr id="164" name="TextBox 163"/>
          <p:cNvSpPr txBox="1"/>
          <p:nvPr/>
        </p:nvSpPr>
        <p:spPr>
          <a:xfrm>
            <a:off x="283464" y="960120"/>
            <a:ext cx="5486400" cy="320040"/>
          </a:xfrm>
          <a:prstGeom prst="rect">
            <a:avLst/>
          </a:prstGeom>
          <a:noFill/>
        </p:spPr>
        <p:txBody>
          <a:bodyPr wrap="square" anchor="t" lIns="27432" rIns="27432" tIns="18288" bIns="18288">
            <a:spAutoFit/>
          </a:bodyPr>
          <a:lstStyle/>
          <a:p>
            <a:pPr algn="l"/>
            <a:r>
              <a:rPr sz="1300" b="1">
                <a:solidFill>
                  <a:srgbClr val="C00000"/>
                </a:solidFill>
                <a:latin typeface="Noto Sans KR"/>
                <a:ea typeface="Noto Sans KR"/>
                <a:cs typeface="Noto Sans KR"/>
              </a:rPr>
              <a:t>강소성 후보 3</a:t>
            </a:r>
          </a:p>
        </p:txBody>
      </p:sp>
      <p:sp>
        <p:nvSpPr>
          <p:cNvPr id="165" name="Rounded Rectangle 164"/>
          <p:cNvSpPr/>
          <p:nvPr/>
        </p:nvSpPr>
        <p:spPr>
          <a:xfrm>
            <a:off x="6400800" y="969264"/>
            <a:ext cx="1143000" cy="292608"/>
          </a:xfrm>
          <a:prstGeom prst="roundRect">
            <a:avLst/>
          </a:prstGeom>
          <a:solidFill>
            <a:srgbClr val="FDE9E7"/>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1050" b="1">
                <a:solidFill>
                  <a:srgbClr val="C00000"/>
                </a:solidFill>
                <a:latin typeface="Noto Sans KR"/>
                <a:ea typeface="Noto Sans KR"/>
                <a:cs typeface="Noto Sans KR"/>
              </a:rPr>
              <a:t>확인 필요</a:t>
            </a:r>
          </a:p>
        </p:txBody>
      </p:sp>
      <p:sp>
        <p:nvSpPr>
          <p:cNvPr id="166" name="TextBox 165"/>
          <p:cNvSpPr txBox="1"/>
          <p:nvPr/>
        </p:nvSpPr>
        <p:spPr>
          <a:xfrm>
            <a:off x="7589520" y="978408"/>
            <a:ext cx="1280160" cy="292608"/>
          </a:xfrm>
          <a:prstGeom prst="rect">
            <a:avLst/>
          </a:prstGeom>
          <a:noFill/>
        </p:spPr>
        <p:txBody>
          <a:bodyPr wrap="square" anchor="t" lIns="27432" rIns="27432" tIns="18288" bIns="18288">
            <a:spAutoFit/>
          </a:bodyPr>
          <a:lstStyle/>
          <a:p>
            <a:pPr algn="r"/>
            <a:r>
              <a:rPr sz="1100" b="1">
                <a:solidFill>
                  <a:srgbClr val="1A1A1A"/>
                </a:solidFill>
                <a:latin typeface="Noto Sans KR"/>
                <a:ea typeface="Noto Sans KR"/>
                <a:cs typeface="Noto Sans KR"/>
              </a:rPr>
              <a:t>점수 63</a:t>
            </a:r>
          </a:p>
        </p:txBody>
      </p:sp>
      <p:graphicFrame>
        <p:nvGraphicFramePr>
          <p:cNvPr id="167" name="Table 166"/>
          <p:cNvGraphicFramePr>
            <a:graphicFrameLocks noGrp="1"/>
          </p:cNvGraphicFramePr>
          <p:nvPr/>
        </p:nvGraphicFramePr>
        <p:xfrm>
          <a:off x="283464" y="1371600"/>
          <a:ext cx="8567928" cy="4133088"/>
        </p:xfrm>
        <a:graphic>
          <a:graphicData uri="http://schemas.openxmlformats.org/drawingml/2006/table">
            <a:tbl>
              <a:tblPr firstRow="0" bandRow="0"/>
              <a:tblGrid>
                <a:gridCol w="1600200"/>
                <a:gridCol w="6967728"/>
              </a:tblGrid>
              <a:tr h="292608">
                <a:tc>
                  <a:txBody>
                    <a:bodyPr wrap="square"/>
                    <a:lstStyle/>
                    <a:p>
                      <a:pPr algn="ctr"/>
                      <a:r>
                        <a:rPr sz="1200" b="1">
                          <a:solidFill>
                            <a:srgbClr val="FFFFFF"/>
                          </a:solidFill>
                          <a:latin typeface="Noto Sans KR"/>
                          <a:ea typeface="Noto Sans KR"/>
                          <a:cs typeface="Noto Sans KR"/>
                        </a:rPr>
                        <a:t>항목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내용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548640">
                <a:tc>
                  <a:txBody>
                    <a:bodyPr wrap="square"/>
                    <a:lstStyle/>
                    <a:p>
                      <a:pPr algn="l"/>
                      <a:r>
                        <a:rPr sz="1200" b="0">
                          <a:solidFill>
                            <a:srgbClr val="1A1A1A"/>
                          </a:solidFill>
                          <a:latin typeface="Noto Sans KR"/>
                          <a:ea typeface="Noto Sans KR"/>
                          <a:cs typeface="Noto Sans KR"/>
                        </a:rPr>
                        <a:t>권장 운영 구조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초기는 B안(무석 법인) 유지, 중장기 D안 자체 창고 후보지</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법인 주소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초기에는 두지 않음 (무석 법인의 창고 거점 후보)</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창고 후보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常州滨江经济开发区新材料产业园 (인정 원구)</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허가 관할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창저우시 응급관리 부문 · 원구 관리위원회</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고객 접근</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SK하이닉스 우시 약 67 km · CXMT 약 252 km (직선)</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핵심 관문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외자 소규모 무역법인의 원구 입주·창고 임차 조건</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미확인</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원구 위험품 창고 현황·임차료·입주 기준</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8" name="TextBox 167"/>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08·09 시트 (CITY·SITE), EVD-014·020·021 · 직선거리 대략, 점수 분석 가정</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강소성 결론: 무석 1순위, 쑤저우 차선 (모두 조건부)</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350" dirty="0">
                <a:latin typeface="Noto Sans KR" panose="02000503000000020004" pitchFamily="2" charset="-127"/>
                <a:ea typeface="Noto Sans KR" panose="02000503000000020004" pitchFamily="2" charset="-127"/>
                <a:cs typeface="Noto Sans KR" panose="02000503000000020004" pitchFamily="2" charset="-127"/>
              </a:rPr>
              <a:t>추천을 바꿀 수 있는 조건 = 3PL 품목 수용 · 관할 회신 · 제품 분류</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18</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- 18 -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3035808"/>
        </p:xfrm>
        <a:graphic>
          <a:graphicData uri="http://schemas.openxmlformats.org/drawingml/2006/table">
            <a:tbl>
              <a:tblPr firstRow="0" bandRow="0"/>
              <a:tblGrid>
                <a:gridCol w="822960"/>
                <a:gridCol w="2103120"/>
                <a:gridCol w="1188720"/>
                <a:gridCol w="2743200"/>
                <a:gridCol w="1709928"/>
              </a:tblGrid>
              <a:tr h="292608">
                <a:tc>
                  <a:txBody>
                    <a:bodyPr wrap="square"/>
                    <a:lstStyle/>
                    <a:p>
                      <a:pPr algn="ctr"/>
                      <a:r>
                        <a:rPr sz="1150" b="1">
                          <a:solidFill>
                            <a:srgbClr val="FFFFFF"/>
                          </a:solidFill>
                          <a:latin typeface="Noto Sans KR"/>
                          <a:ea typeface="Noto Sans KR"/>
                          <a:cs typeface="Noto Sans KR"/>
                        </a:rPr>
                        <a:t>순위</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후보</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운영 구조</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확정 조건</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탈락·보류 이유</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548640">
                <a:tc>
                  <a:txBody>
                    <a:bodyPr wrap="square"/>
                    <a:lstStyle/>
                    <a:p>
                      <a:pPr algn="ctr"/>
                      <a:r>
                        <a:rPr sz="1150" b="0">
                          <a:solidFill>
                            <a:srgbClr val="1A1A1A"/>
                          </a:solidFill>
                          <a:latin typeface="Noto Sans KR"/>
                          <a:ea typeface="Noto Sans KR"/>
                          <a:cs typeface="Noto Sans KR"/>
                        </a:rPr>
                        <a:t>1순위</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l"/>
                      <a:r>
                        <a:rPr sz="1150" b="0">
                          <a:solidFill>
                            <a:srgbClr val="1A1A1A"/>
                          </a:solidFill>
                          <a:latin typeface="Noto Sans KR"/>
                          <a:ea typeface="Noto Sans KR"/>
                          <a:cs typeface="Noto Sans KR"/>
                        </a:rPr>
                        <a:t>무석 신오구</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l"/>
                      <a:r>
                        <a:rPr sz="1150" b="0">
                          <a:solidFill>
                            <a:srgbClr val="1A1A1A"/>
                          </a:solidFill>
                          <a:latin typeface="Noto Sans KR"/>
                          <a:ea typeface="Noto Sans KR"/>
                          <a:cs typeface="Noto Sans KR"/>
                        </a:rPr>
                        <a:t>B안 → C안</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l"/>
                      <a:r>
                        <a:rPr sz="1150" b="0">
                          <a:solidFill>
                            <a:srgbClr val="1A1A1A"/>
                          </a:solidFill>
                          <a:latin typeface="Noto Sans KR"/>
                          <a:ea typeface="Noto Sans KR"/>
                          <a:cs typeface="Noto Sans KR"/>
                        </a:rPr>
                        <a:t>관할 원구 3PL이 품목 수용 · 신오구 기한 회신</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l"/>
                      <a:r>
                        <a:rPr sz="11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2E6"/>
                    </a:solidFill>
                  </a:tcPr>
                </a:tc>
              </a:tr>
              <a:tr h="548640">
                <a:tc>
                  <a:txBody>
                    <a:bodyPr wrap="square"/>
                    <a:lstStyle/>
                    <a:p>
                      <a:pPr algn="ctr"/>
                      <a:r>
                        <a:rPr sz="1150" b="0">
                          <a:solidFill>
                            <a:srgbClr val="1A1A1A"/>
                          </a:solidFill>
                          <a:latin typeface="Noto Sans KR"/>
                          <a:ea typeface="Noto Sans KR"/>
                          <a:cs typeface="Noto Sans KR"/>
                        </a:rPr>
                        <a:t>차선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쑤저우 SIP + 장자강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E안</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보세 위험품 창고 품목 · 관할 분리 허용</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세칙 미확보</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ctr"/>
                      <a:r>
                        <a:rPr sz="1150" b="0">
                          <a:solidFill>
                            <a:srgbClr val="1A1A1A"/>
                          </a:solidFill>
                          <a:latin typeface="Noto Sans KR"/>
                          <a:ea typeface="Noto Sans KR"/>
                          <a:cs typeface="Noto Sans KR"/>
                        </a:rPr>
                        <a:t>3순위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창저우 滨江</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D안 후보지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원구 입주 조건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공개 자료 부족</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ctr"/>
                      <a:r>
                        <a:rPr sz="1150" b="0">
                          <a:solidFill>
                            <a:srgbClr val="1A1A1A"/>
                          </a:solidFill>
                          <a:latin typeface="Noto Sans KR"/>
                          <a:ea typeface="Noto Sans KR"/>
                          <a:cs typeface="Noto Sans KR"/>
                        </a:rPr>
                        <a:t>보류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난징·전장·난퉁·양저우·타이저우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고객·수입항 동선 불리 / 자료 부족</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ctr"/>
                      <a:r>
                        <a:rPr sz="1150" b="0">
                          <a:solidFill>
                            <a:srgbClr val="1A1A1A"/>
                          </a:solidFill>
                          <a:latin typeface="Noto Sans KR"/>
                          <a:ea typeface="Noto Sans KR"/>
                          <a:cs typeface="Noto Sans KR"/>
                        </a:rPr>
                        <a:t>제외</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150" b="0">
                          <a:solidFill>
                            <a:srgbClr val="1A1A1A"/>
                          </a:solidFill>
                          <a:latin typeface="Noto Sans KR"/>
                          <a:ea typeface="Noto Sans KR"/>
                          <a:cs typeface="Noto Sans KR"/>
                        </a:rPr>
                        <a:t>쿤산 (창고)</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150" b="0">
                          <a:solidFill>
                            <a:srgbClr val="1A1A1A"/>
                          </a:solidFill>
                          <a:latin typeface="Noto Sans KR"/>
                          <a:ea typeface="Noto Sans KR"/>
                          <a:cs typeface="Noto Sans KR"/>
                        </a:rPr>
                        <a:t>사무만 가능</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150" b="0">
                          <a:solidFill>
                            <a:srgbClr val="1A1A1A"/>
                          </a:solidFill>
                          <a:latin typeface="Noto Sans KR"/>
                          <a:ea typeface="Noto Sans KR"/>
                          <a:cs typeface="Noto Sans KR"/>
                        </a:rPr>
                        <a:t>-</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150" b="0">
                          <a:solidFill>
                            <a:srgbClr val="1A1A1A"/>
                          </a:solidFill>
                          <a:latin typeface="Noto Sans KR"/>
                          <a:ea typeface="Noto Sans KR"/>
                          <a:cs typeface="Noto Sans KR"/>
                        </a:rPr>
                        <a:t>1차 명단에 원구 없음</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Rectangle 164"/>
          <p:cNvSpPr/>
          <p:nvPr/>
        </p:nvSpPr>
        <p:spPr>
          <a:xfrm>
            <a:off x="283464" y="4197096"/>
            <a:ext cx="54864" cy="182880"/>
          </a:xfrm>
          <a:prstGeom prst="rect">
            <a:avLst/>
          </a:prstGeom>
          <a:solidFill>
            <a:srgbClr val="EB0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393192" y="4151376"/>
            <a:ext cx="8458200" cy="274320"/>
          </a:xfrm>
          <a:prstGeom prst="rect">
            <a:avLst/>
          </a:prstGeom>
          <a:noFill/>
        </p:spPr>
        <p:txBody>
          <a:bodyPr wrap="square" anchor="t" lIns="27432" rIns="27432" tIns="18288" bIns="18288">
            <a:spAutoFit/>
          </a:bodyPr>
          <a:lstStyle/>
          <a:p>
            <a:pPr algn="l"/>
            <a:r>
              <a:rPr sz="1200" b="1">
                <a:solidFill>
                  <a:srgbClr val="1A1A1A"/>
                </a:solidFill>
                <a:latin typeface="Noto Sans KR"/>
                <a:ea typeface="Noto Sans KR"/>
                <a:cs typeface="Noto Sans KR"/>
              </a:rPr>
              <a:t>법인 주소와 창고는 같은 도시·같은 성이어야 하나?</a:t>
            </a:r>
          </a:p>
        </p:txBody>
      </p:sp>
      <p:sp>
        <p:nvSpPr>
          <p:cNvPr id="167" name="TextBox 166"/>
          <p:cNvSpPr txBox="1"/>
          <p:nvPr/>
        </p:nvSpPr>
        <p:spPr>
          <a:xfrm>
            <a:off x="283464" y="4462272"/>
            <a:ext cx="8567928" cy="1554480"/>
          </a:xfrm>
          <a:prstGeom prst="rect">
            <a:avLst/>
          </a:prstGeom>
          <a:noFill/>
        </p:spPr>
        <p:txBody>
          <a:bodyPr wrap="square" lIns="27432" rIns="27432">
            <a:spAutoFit/>
          </a:bodyPr>
          <a:lstStyle/>
          <a:p>
            <a:pPr>
              <a:spcAft>
                <a:spcPts val="400"/>
              </a:spcAft>
            </a:pPr>
            <a:r>
              <a:rPr sz="1200" b="0">
                <a:solidFill>
                  <a:srgbClr val="1A1A1A"/>
                </a:solidFill>
                <a:latin typeface="Noto Sans KR"/>
                <a:ea typeface="Noto Sans KR"/>
                <a:cs typeface="Noto Sans KR"/>
              </a:rPr>
              <a:t>• 무저장 경영은 사무실 주소 관할에서 허가 — 물건은 허가 창고(3PL)에 있으므로 창고는 다른 도시도 가능성 있음</a:t>
            </a:r>
          </a:p>
          <a:p>
            <a:pPr>
              <a:spcAft>
                <a:spcPts val="400"/>
              </a:spcAft>
            </a:pPr>
            <a:r>
              <a:rPr sz="1200" b="0">
                <a:solidFill>
                  <a:srgbClr val="1A1A1A"/>
                </a:solidFill>
                <a:latin typeface="Noto Sans KR"/>
                <a:ea typeface="Noto Sans KR"/>
                <a:cs typeface="Noto Sans KR"/>
              </a:rPr>
              <a:t>• 임차저장 경영은 임차 창고가 허가 내용에 들어가므로 관할(시·성) 제한이 있을 수 있음 → 무석 질의 항목</a:t>
            </a:r>
          </a:p>
          <a:p>
            <a:pPr>
              <a:spcAft>
                <a:spcPts val="400"/>
              </a:spcAft>
            </a:pPr>
            <a:r>
              <a:rPr sz="1200" b="0">
                <a:solidFill>
                  <a:srgbClr val="1A1A1A"/>
                </a:solidFill>
                <a:latin typeface="Noto Sans KR"/>
                <a:ea typeface="Noto Sans KR"/>
                <a:cs typeface="Noto Sans KR"/>
              </a:rPr>
              <a:t>• 운송: 성 경계를 넘는 위험물 도로운송 자체는 일반적이나 차량·경로 제한은 운송사 확인</a:t>
            </a:r>
          </a:p>
        </p:txBody>
      </p:sp>
      <p:sp>
        <p:nvSpPr>
          <p:cNvPr id="168" name="TextBox 167"/>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08_CityComparison, 09_SitesWarehouses · EVD-014·015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강소성에서 막혀도 국가 규정 문제는 이전으로 풀리지 않습니다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지역을 바꿔 해결되는 것은 '창고·원구 진입'과 '처리 속도' 정도</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19</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- 19 -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3310128"/>
        </p:xfrm>
        <a:graphic>
          <a:graphicData uri="http://schemas.openxmlformats.org/drawingml/2006/table">
            <a:tbl>
              <a:tblPr firstRow="0" bandRow="0"/>
              <a:tblGrid>
                <a:gridCol w="2514600"/>
                <a:gridCol w="1280160"/>
                <a:gridCol w="2606040"/>
                <a:gridCol w="2167128"/>
              </a:tblGrid>
              <a:tr h="292608">
                <a:tc>
                  <a:txBody>
                    <a:bodyPr wrap="square"/>
                    <a:lstStyle/>
                    <a:p>
                      <a:pPr algn="ctr"/>
                      <a:r>
                        <a:rPr sz="1200" b="1">
                          <a:solidFill>
                            <a:srgbClr val="FFFFFF"/>
                          </a:solidFill>
                          <a:latin typeface="Noto Sans KR"/>
                          <a:ea typeface="Noto Sans KR"/>
                          <a:cs typeface="Noto Sans KR"/>
                        </a:rPr>
                        <a:t>장애 유형</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성격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다른 지역으로 해결?</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전환 조건</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502920">
                <a:tc>
                  <a:txBody>
                    <a:bodyPr wrap="square"/>
                    <a:lstStyle/>
                    <a:p>
                      <a:pPr algn="l"/>
                      <a:r>
                        <a:rPr sz="1200" b="0">
                          <a:solidFill>
                            <a:srgbClr val="1A1A1A"/>
                          </a:solidFill>
                          <a:latin typeface="Noto Sans KR"/>
                          <a:ea typeface="Noto Sans KR"/>
                          <a:cs typeface="Noto Sans KR"/>
                        </a:rPr>
                        <a:t>신규물질 등록 명의 (개정안)</a:t>
                      </a:r>
                    </a:p>
                  </a:txBody>
                  <a:tcPr marL="45720" marR="45720" marT="18000" marB="18000" anchor="ctr">
                    <a:lnL w="0">
                      <a:noFill/>
                    </a:lnL>
                    <a:lnR w="0">
                      <a:noFill/>
                    </a:lnR>
                    <a:lnT w="0">
                      <a:noFill/>
                    </a:lnT>
                    <a:lnB w="6350">
                      <a:solidFill>
                        <a:srgbClr val="D9D9D9"/>
                      </a:solidFill>
                    </a:lnB>
                    <a:solidFill>
                      <a:srgbClr val="F2F2F2"/>
                    </a:solidFill>
                  </a:tcPr>
                </a:tc>
                <a:tc>
                  <a:txBody>
                    <a:bodyPr wrap="square"/>
                    <a:lstStyle/>
                    <a:p>
                      <a:pPr algn="ctr"/>
                      <a:r>
                        <a:rPr sz="1200" b="0">
                          <a:solidFill>
                            <a:srgbClr val="1A1A1A"/>
                          </a:solidFill>
                          <a:latin typeface="Noto Sans KR"/>
                          <a:ea typeface="Noto Sans KR"/>
                          <a:cs typeface="Noto Sans KR"/>
                        </a:rPr>
                        <a:t>국가 규정</a:t>
                      </a:r>
                    </a:p>
                  </a:txBody>
                  <a:tcPr marL="45720" marR="45720" marT="18000" marB="18000" anchor="ctr">
                    <a:lnL w="0">
                      <a:noFill/>
                    </a:lnL>
                    <a:lnR w="0">
                      <a:noFill/>
                    </a:lnR>
                    <a:lnT w="0">
                      <a:noFill/>
                    </a:lnT>
                    <a:lnB w="6350">
                      <a:solidFill>
                        <a:srgbClr val="D9D9D9"/>
                      </a:solidFill>
                    </a:lnB>
                    <a:solidFill>
                      <a:srgbClr val="F2F2F2"/>
                    </a:solidFill>
                  </a:tcPr>
                </a:tc>
                <a:tc>
                  <a:txBody>
                    <a:bodyPr wrap="square"/>
                    <a:lstStyle/>
                    <a:p>
                      <a:pPr algn="l"/>
                      <a:r>
                        <a:rPr sz="1200" b="0">
                          <a:solidFill>
                            <a:srgbClr val="1A1A1A"/>
                          </a:solidFill>
                          <a:latin typeface="Noto Sans KR"/>
                          <a:ea typeface="Noto Sans KR"/>
                          <a:cs typeface="Noto Sans KR"/>
                        </a:rPr>
                        <a:t>안 됨</a:t>
                      </a:r>
                    </a:p>
                  </a:txBody>
                  <a:tcPr marL="45720" marR="45720" marT="18000" marB="18000" anchor="ctr">
                    <a:lnL w="0">
                      <a:noFill/>
                    </a:lnL>
                    <a:lnR w="0">
                      <a:noFill/>
                    </a:lnR>
                    <a:lnT w="0">
                      <a:noFill/>
                    </a:lnT>
                    <a:lnB w="6350">
                      <a:solidFill>
                        <a:srgbClr val="D9D9D9"/>
                      </a:solidFill>
                    </a:lnB>
                    <a:solidFill>
                      <a:srgbClr val="F2F2F2"/>
                    </a:solidFill>
                  </a:tcPr>
                </a:tc>
                <a:tc>
                  <a:txBody>
                    <a:bodyPr wrap="square"/>
                    <a:lstStyle/>
                    <a:p>
                      <a:pPr algn="l"/>
                      <a:r>
                        <a:rPr sz="120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2F2F2"/>
                    </a:solidFill>
                  </a:tcPr>
                </a:tc>
              </a:tr>
              <a:tr h="502920">
                <a:tc>
                  <a:txBody>
                    <a:bodyPr wrap="square"/>
                    <a:lstStyle/>
                    <a:p>
                      <a:pPr algn="l"/>
                      <a:r>
                        <a:rPr sz="1200" b="0">
                          <a:solidFill>
                            <a:srgbClr val="1A1A1A"/>
                          </a:solidFill>
                          <a:latin typeface="Noto Sans KR"/>
                          <a:ea typeface="Noto Sans KR"/>
                          <a:cs typeface="Noto Sans KR"/>
                        </a:rPr>
                        <a:t>위험화학품 경영허가 필요</a:t>
                      </a:r>
                    </a:p>
                  </a:txBody>
                  <a:tcPr marL="45720" marR="45720" marT="18000" marB="18000" anchor="ctr">
                    <a:lnL w="0">
                      <a:noFill/>
                    </a:lnL>
                    <a:lnR w="0">
                      <a:noFill/>
                    </a:lnR>
                    <a:lnT w="0">
                      <a:noFill/>
                    </a:lnT>
                    <a:lnB w="6350">
                      <a:solidFill>
                        <a:srgbClr val="D9D9D9"/>
                      </a:solidFill>
                    </a:lnB>
                    <a:solidFill>
                      <a:srgbClr val="F2F2F2"/>
                    </a:solidFill>
                  </a:tcPr>
                </a:tc>
                <a:tc>
                  <a:txBody>
                    <a:bodyPr wrap="square"/>
                    <a:lstStyle/>
                    <a:p>
                      <a:pPr algn="ctr"/>
                      <a:r>
                        <a:rPr sz="1200" b="0">
                          <a:solidFill>
                            <a:srgbClr val="1A1A1A"/>
                          </a:solidFill>
                          <a:latin typeface="Noto Sans KR"/>
                          <a:ea typeface="Noto Sans KR"/>
                          <a:cs typeface="Noto Sans KR"/>
                        </a:rPr>
                        <a:t>국가 규정</a:t>
                      </a:r>
                    </a:p>
                  </a:txBody>
                  <a:tcPr marL="45720" marR="45720" marT="18000" marB="18000" anchor="ctr">
                    <a:lnL w="0">
                      <a:noFill/>
                    </a:lnL>
                    <a:lnR w="0">
                      <a:noFill/>
                    </a:lnR>
                    <a:lnT w="0">
                      <a:noFill/>
                    </a:lnT>
                    <a:lnB w="6350">
                      <a:solidFill>
                        <a:srgbClr val="D9D9D9"/>
                      </a:solidFill>
                    </a:lnB>
                    <a:solidFill>
                      <a:srgbClr val="F2F2F2"/>
                    </a:solidFill>
                  </a:tcPr>
                </a:tc>
                <a:tc>
                  <a:txBody>
                    <a:bodyPr wrap="square"/>
                    <a:lstStyle/>
                    <a:p>
                      <a:pPr algn="l"/>
                      <a:r>
                        <a:rPr sz="1200" b="0">
                          <a:solidFill>
                            <a:srgbClr val="1A1A1A"/>
                          </a:solidFill>
                          <a:latin typeface="Noto Sans KR"/>
                          <a:ea typeface="Noto Sans KR"/>
                          <a:cs typeface="Noto Sans KR"/>
                        </a:rPr>
                        <a:t>안 됨 (지역별 세칙·기한만 다름)</a:t>
                      </a:r>
                    </a:p>
                  </a:txBody>
                  <a:tcPr marL="45720" marR="45720" marT="18000" marB="18000" anchor="ctr">
                    <a:lnL w="0">
                      <a:noFill/>
                    </a:lnL>
                    <a:lnR w="0">
                      <a:noFill/>
                    </a:lnR>
                    <a:lnT w="0">
                      <a:noFill/>
                    </a:lnT>
                    <a:lnB w="6350">
                      <a:solidFill>
                        <a:srgbClr val="D9D9D9"/>
                      </a:solidFill>
                    </a:lnB>
                    <a:solidFill>
                      <a:srgbClr val="F2F2F2"/>
                    </a:solidFill>
                  </a:tcPr>
                </a:tc>
                <a:tc>
                  <a:txBody>
                    <a:bodyPr wrap="square"/>
                    <a:lstStyle/>
                    <a:p>
                      <a:pPr algn="l"/>
                      <a:r>
                        <a:rPr sz="120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2F2F2"/>
                    </a:solidFill>
                  </a:tcPr>
                </a:tc>
              </a:tr>
              <a:tr h="502920">
                <a:tc>
                  <a:txBody>
                    <a:bodyPr wrap="square"/>
                    <a:lstStyle/>
                    <a:p>
                      <a:pPr algn="l"/>
                      <a:r>
                        <a:rPr sz="1200" b="0">
                          <a:solidFill>
                            <a:srgbClr val="1A1A1A"/>
                          </a:solidFill>
                          <a:latin typeface="Noto Sans KR"/>
                          <a:ea typeface="Noto Sans KR"/>
                          <a:cs typeface="Noto Sans KR"/>
                        </a:rPr>
                        <a:t>저장은 지정 구역만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국가·성</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부분 (원구 여유·수용 품목이 다름)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강소성 원구 3PL 전부 불가 시</a:t>
                      </a:r>
                    </a:p>
                  </a:txBody>
                  <a:tcPr marL="45720" marR="45720" marT="18000" marB="18000" anchor="ctr">
                    <a:lnL w="0">
                      <a:noFill/>
                    </a:lnL>
                    <a:lnR w="0">
                      <a:noFill/>
                    </a:lnR>
                    <a:lnT w="0">
                      <a:noFill/>
                    </a:lnT>
                    <a:lnB w="6350">
                      <a:solidFill>
                        <a:srgbClr val="D9D9D9"/>
                      </a:solidFill>
                    </a:lnB>
                    <a:solidFill>
                      <a:srgbClr val="FFFFFF"/>
                    </a:solidFill>
                  </a:tcPr>
                </a:tc>
              </a:tr>
              <a:tr h="502920">
                <a:tc>
                  <a:txBody>
                    <a:bodyPr wrap="square"/>
                    <a:lstStyle/>
                    <a:p>
                      <a:pPr algn="l"/>
                      <a:r>
                        <a:rPr sz="1200" b="0">
                          <a:solidFill>
                            <a:srgbClr val="1A1A1A"/>
                          </a:solidFill>
                          <a:latin typeface="Noto Sans KR"/>
                          <a:ea typeface="Noto Sans KR"/>
                          <a:cs typeface="Noto Sans KR"/>
                        </a:rPr>
                        <a:t>특정 원구·창고 입주 거절</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단지 기준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해결 가능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후보 3곳 이상 거절 시</a:t>
                      </a:r>
                    </a:p>
                  </a:txBody>
                  <a:tcPr marL="45720" marR="45720" marT="18000" marB="18000" anchor="ctr">
                    <a:lnL w="0">
                      <a:noFill/>
                    </a:lnL>
                    <a:lnR w="0">
                      <a:noFill/>
                    </a:lnR>
                    <a:lnT w="0">
                      <a:noFill/>
                    </a:lnT>
                    <a:lnB w="6350">
                      <a:solidFill>
                        <a:srgbClr val="D9D9D9"/>
                      </a:solidFill>
                    </a:lnB>
                    <a:solidFill>
                      <a:srgbClr val="FFFFFF"/>
                    </a:solidFill>
                  </a:tcPr>
                </a:tc>
              </a:tr>
              <a:tr h="502920">
                <a:tc>
                  <a:txBody>
                    <a:bodyPr wrap="square"/>
                    <a:lstStyle/>
                    <a:p>
                      <a:pPr algn="l"/>
                      <a:r>
                        <a:rPr sz="1200" b="0">
                          <a:solidFill>
                            <a:srgbClr val="1A1A1A"/>
                          </a:solidFill>
                          <a:latin typeface="Noto Sans KR"/>
                          <a:ea typeface="Noto Sans KR"/>
                          <a:cs typeface="Noto Sans KR"/>
                        </a:rPr>
                        <a:t>자연발화·수분반응 품목 미수용</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제품·창고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해결 가능 (전문 창고 찾기)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물성 확정 후 수용 창고 없음</a:t>
                      </a:r>
                    </a:p>
                  </a:txBody>
                  <a:tcPr marL="45720" marR="45720" marT="18000" marB="18000" anchor="ctr">
                    <a:lnL w="0">
                      <a:noFill/>
                    </a:lnL>
                    <a:lnR w="0">
                      <a:noFill/>
                    </a:lnR>
                    <a:lnT w="0">
                      <a:noFill/>
                    </a:lnT>
                    <a:lnB w="6350">
                      <a:solidFill>
                        <a:srgbClr val="D9D9D9"/>
                      </a:solidFill>
                    </a:lnB>
                    <a:solidFill>
                      <a:srgbClr val="FFFFFF"/>
                    </a:solidFill>
                  </a:tcPr>
                </a:tc>
              </a:tr>
              <a:tr h="502920">
                <a:tc>
                  <a:txBody>
                    <a:bodyPr wrap="square"/>
                    <a:lstStyle/>
                    <a:p>
                      <a:pPr algn="l"/>
                      <a:r>
                        <a:rPr sz="1200" b="0">
                          <a:solidFill>
                            <a:srgbClr val="1A1A1A"/>
                          </a:solidFill>
                          <a:latin typeface="Noto Sans KR"/>
                          <a:ea typeface="Noto Sans KR"/>
                          <a:cs typeface="Noto Sans KR"/>
                        </a:rPr>
                        <a:t>처리기한·비용 과다</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200" b="0">
                          <a:solidFill>
                            <a:srgbClr val="1A1A1A"/>
                          </a:solidFill>
                          <a:latin typeface="Noto Sans KR"/>
                          <a:ea typeface="Noto Sans KR"/>
                          <a:cs typeface="Noto Sans KR"/>
                        </a:rPr>
                        <a:t>지방 실무</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일부 해결</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무석 회신이 3개월 이상</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TextBox 164"/>
          <p:cNvSpPr txBox="1"/>
          <p:nvPr/>
        </p:nvSpPr>
        <p:spPr>
          <a:xfrm>
            <a:off x="283464" y="4572000"/>
            <a:ext cx="8567928" cy="1371600"/>
          </a:xfrm>
          <a:prstGeom prst="rect">
            <a:avLst/>
          </a:prstGeom>
          <a:noFill/>
        </p:spPr>
        <p:txBody>
          <a:bodyPr wrap="square" anchor="t" lIns="27432" rIns="27432" tIns="18288" bIns="18288">
            <a:spAutoFit/>
          </a:bodyPr>
          <a:lstStyle/>
          <a:p>
            <a:pPr algn="l"/>
            <a:r>
              <a:rPr sz="1200" b="1">
                <a:solidFill>
                  <a:srgbClr val="C00000"/>
                </a:solidFill>
                <a:latin typeface="Noto Sans KR"/>
                <a:ea typeface="Noto Sans KR"/>
                <a:cs typeface="Noto Sans KR"/>
              </a:rPr>
              <a:t>정리  </a:t>
            </a:r>
            <a:r>
              <a:rPr sz="1200" b="0">
                <a:solidFill>
                  <a:srgbClr val="1A1A1A"/>
                </a:solidFill>
                <a:latin typeface="Noto Sans KR"/>
                <a:ea typeface="Noto Sans KR"/>
                <a:cs typeface="Noto Sans KR"/>
              </a:rPr>
              <a:t>상하이·저장·안후이로 옮겨도 등록 명의·경영허가 의무는 똑같습니다. 이전 검토는 '창고를 못 찾을 때'와 '고객(CXMT) 대응'에서만 의미가 있습니다.</a:t>
            </a:r>
          </a:p>
          <a:p>
            <a:pPr algn="l"/>
            <a:r>
              <a:rPr sz="1200" b="1">
                <a:solidFill>
                  <a:srgbClr val="C00000"/>
                </a:solidFill>
                <a:latin typeface="Noto Sans KR"/>
                <a:ea typeface="Noto Sans KR"/>
                <a:cs typeface="Noto Sans KR"/>
              </a:rPr>
              <a:t>유지안  </a:t>
            </a:r>
            <a:r>
              <a:rPr sz="1200" b="0">
                <a:solidFill>
                  <a:srgbClr val="1A1A1A"/>
                </a:solidFill>
                <a:latin typeface="Noto Sans KR"/>
                <a:ea typeface="Noto Sans KR"/>
                <a:cs typeface="Noto Sans KR"/>
              </a:rPr>
              <a:t>강소성 법인을 두고 창고만 타 지역 3PL을 쓰는 방안(E안)은 무저장 경영이면 성립 가능성 — 무석 질의로 확인.</a:t>
            </a:r>
          </a:p>
        </p:txBody>
      </p:sp>
      <p:sp>
        <p:nvSpPr>
          <p:cNvPr id="166" name="TextBox 165"/>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06_LegalMatrix · EVD-002·008·013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인근 대안은 상하이(수입항)와 허페이(CXMT)입니다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저장성 자싱은 창고 대안 · 닝보는 고객 거리로 제외</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20</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- 20 -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sp>
        <p:nvSpPr>
          <p:cNvPr id="164" name="Rectangle 163"/>
          <p:cNvSpPr/>
          <p:nvPr/>
        </p:nvSpPr>
        <p:spPr>
          <a:xfrm>
            <a:off x="283464" y="987552"/>
            <a:ext cx="4937760" cy="3554948"/>
          </a:xfrm>
          <a:prstGeom prst="rect">
            <a:avLst/>
          </a:prstGeom>
          <a:solidFill>
            <a:srgbClr val="EAF2F8"/>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Freeform 1"/>
          <p:cNvSpPr/>
          <p:nvPr/>
        </p:nvSpPr>
        <p:spPr>
          <a:xfrm>
            <a:off x="283464" y="4226599"/>
            <a:ext cx="559333" cy="315901"/>
          </a:xfrm>
          <a:custGeom>
            <a:avLst/>
            <a:gdLst/>
            <a:ahLst/>
            <a:cxnLst/>
            <a:rect l="l" t="t" r="r" b="b"/>
            <a:pathLst>
              <a:path w="559333" h="315901">
                <a:moveTo>
                  <a:pt x="0" y="315901"/>
                </a:moveTo>
                <a:lnTo>
                  <a:pt x="0" y="0"/>
                </a:lnTo>
                <a:lnTo>
                  <a:pt x="85618" y="75226"/>
                </a:lnTo>
                <a:lnTo>
                  <a:pt x="0" y="175564"/>
                </a:lnTo>
                <a:lnTo>
                  <a:pt x="0" y="315901"/>
                </a:lnTo>
                <a:lnTo>
                  <a:pt x="292829" y="315901"/>
                </a:lnTo>
                <a:lnTo>
                  <a:pt x="324533" y="308473"/>
                </a:lnTo>
                <a:lnTo>
                  <a:pt x="244894" y="168503"/>
                </a:lnTo>
                <a:lnTo>
                  <a:pt x="324533" y="75226"/>
                </a:lnTo>
                <a:lnTo>
                  <a:pt x="559333" y="315901"/>
                </a:lnTo>
                <a:close/>
              </a:path>
            </a:pathLst>
          </a:custGeom>
          <a:solidFill>
            <a:srgbClr val="FBFBFB"/>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283464" y="987552"/>
            <a:ext cx="2554135" cy="3554948"/>
          </a:xfrm>
          <a:custGeom>
            <a:avLst/>
            <a:gdLst/>
            <a:ahLst/>
            <a:cxnLst/>
            <a:rect l="l" t="t" r="r" b="b"/>
            <a:pathLst>
              <a:path w="2554135" h="3554948">
                <a:moveTo>
                  <a:pt x="0" y="0"/>
                </a:moveTo>
                <a:lnTo>
                  <a:pt x="1311396" y="0"/>
                </a:lnTo>
                <a:lnTo>
                  <a:pt x="1359741" y="283122"/>
                </a:lnTo>
                <a:lnTo>
                  <a:pt x="1757842" y="329708"/>
                </a:lnTo>
                <a:lnTo>
                  <a:pt x="1917119" y="96567"/>
                </a:lnTo>
                <a:lnTo>
                  <a:pt x="2156034" y="236536"/>
                </a:lnTo>
                <a:lnTo>
                  <a:pt x="2156034" y="609540"/>
                </a:lnTo>
                <a:lnTo>
                  <a:pt x="1598656" y="516263"/>
                </a:lnTo>
                <a:lnTo>
                  <a:pt x="1678204" y="889373"/>
                </a:lnTo>
                <a:lnTo>
                  <a:pt x="1519018" y="935959"/>
                </a:lnTo>
                <a:lnTo>
                  <a:pt x="1439379" y="1169206"/>
                </a:lnTo>
                <a:lnTo>
                  <a:pt x="1917119" y="1588902"/>
                </a:lnTo>
                <a:lnTo>
                  <a:pt x="1757842" y="1775351"/>
                </a:lnTo>
                <a:lnTo>
                  <a:pt x="1837480" y="1915321"/>
                </a:lnTo>
                <a:lnTo>
                  <a:pt x="2315311" y="1868629"/>
                </a:lnTo>
                <a:lnTo>
                  <a:pt x="2394949" y="2008598"/>
                </a:lnTo>
                <a:lnTo>
                  <a:pt x="2554135" y="2055184"/>
                </a:lnTo>
                <a:lnTo>
                  <a:pt x="2554135" y="2101876"/>
                </a:lnTo>
                <a:lnTo>
                  <a:pt x="2394949" y="2521572"/>
                </a:lnTo>
                <a:lnTo>
                  <a:pt x="2235672" y="2568158"/>
                </a:lnTo>
                <a:lnTo>
                  <a:pt x="2315311" y="2801299"/>
                </a:lnTo>
                <a:lnTo>
                  <a:pt x="1917119" y="2894576"/>
                </a:lnTo>
                <a:lnTo>
                  <a:pt x="1917119" y="3267687"/>
                </a:lnTo>
                <a:lnTo>
                  <a:pt x="1757842" y="3547520"/>
                </a:lnTo>
                <a:lnTo>
                  <a:pt x="1746970" y="3554948"/>
                </a:lnTo>
                <a:lnTo>
                  <a:pt x="559333" y="3554948"/>
                </a:lnTo>
                <a:lnTo>
                  <a:pt x="324533" y="3314273"/>
                </a:lnTo>
                <a:lnTo>
                  <a:pt x="244894" y="3407550"/>
                </a:lnTo>
                <a:lnTo>
                  <a:pt x="324533" y="3547520"/>
                </a:lnTo>
                <a:lnTo>
                  <a:pt x="292829" y="3554948"/>
                </a:lnTo>
                <a:lnTo>
                  <a:pt x="0" y="3554948"/>
                </a:lnTo>
                <a:lnTo>
                  <a:pt x="0" y="3414611"/>
                </a:lnTo>
                <a:lnTo>
                  <a:pt x="85618" y="3314273"/>
                </a:lnTo>
                <a:lnTo>
                  <a:pt x="0" y="3239047"/>
                </a:lnTo>
                <a:close/>
              </a:path>
            </a:pathLst>
          </a:custGeom>
          <a:solidFill>
            <a:srgbClr val="F7F7F7"/>
          </a:solid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2030434" y="2996150"/>
            <a:ext cx="3190790" cy="1546350"/>
          </a:xfrm>
          <a:custGeom>
            <a:avLst/>
            <a:gdLst/>
            <a:ahLst/>
            <a:cxnLst/>
            <a:rect l="l" t="t" r="r" b="b"/>
            <a:pathLst>
              <a:path w="3190790" h="1546350">
                <a:moveTo>
                  <a:pt x="0" y="1546350"/>
                </a:moveTo>
                <a:lnTo>
                  <a:pt x="10872" y="1538922"/>
                </a:lnTo>
                <a:lnTo>
                  <a:pt x="170149" y="1259089"/>
                </a:lnTo>
                <a:lnTo>
                  <a:pt x="170149" y="885978"/>
                </a:lnTo>
                <a:lnTo>
                  <a:pt x="568341" y="792701"/>
                </a:lnTo>
                <a:lnTo>
                  <a:pt x="488702" y="559560"/>
                </a:lnTo>
                <a:lnTo>
                  <a:pt x="647979" y="512974"/>
                </a:lnTo>
                <a:lnTo>
                  <a:pt x="807165" y="93278"/>
                </a:lnTo>
                <a:lnTo>
                  <a:pt x="807165" y="46586"/>
                </a:lnTo>
                <a:lnTo>
                  <a:pt x="1125719" y="0"/>
                </a:lnTo>
                <a:lnTo>
                  <a:pt x="1603458" y="373005"/>
                </a:lnTo>
                <a:lnTo>
                  <a:pt x="2001650" y="139864"/>
                </a:lnTo>
                <a:lnTo>
                  <a:pt x="2320204" y="512974"/>
                </a:lnTo>
                <a:lnTo>
                  <a:pt x="2957220" y="373005"/>
                </a:lnTo>
                <a:lnTo>
                  <a:pt x="3190790" y="338803"/>
                </a:lnTo>
                <a:lnTo>
                  <a:pt x="3190790" y="1546350"/>
                </a:lnTo>
                <a:close/>
              </a:path>
            </a:pathLst>
          </a:custGeom>
          <a:solidFill>
            <a:srgbClr val="F7F7F7"/>
          </a:solid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1594860" y="987552"/>
            <a:ext cx="3392794" cy="2381603"/>
          </a:xfrm>
          <a:custGeom>
            <a:avLst/>
            <a:gdLst/>
            <a:ahLst/>
            <a:cxnLst/>
            <a:rect l="l" t="t" r="r" b="b"/>
            <a:pathLst>
              <a:path w="3392794" h="2381603">
                <a:moveTo>
                  <a:pt x="2435913" y="0"/>
                </a:moveTo>
                <a:lnTo>
                  <a:pt x="2437224" y="3289"/>
                </a:lnTo>
                <a:lnTo>
                  <a:pt x="2516862" y="422985"/>
                </a:lnTo>
                <a:lnTo>
                  <a:pt x="2835416" y="609540"/>
                </a:lnTo>
                <a:lnTo>
                  <a:pt x="2914964" y="935959"/>
                </a:lnTo>
                <a:lnTo>
                  <a:pt x="3313155" y="1122514"/>
                </a:lnTo>
                <a:lnTo>
                  <a:pt x="3392794" y="1448933"/>
                </a:lnTo>
                <a:lnTo>
                  <a:pt x="3392794" y="1542210"/>
                </a:lnTo>
                <a:lnTo>
                  <a:pt x="2676139" y="1262378"/>
                </a:lnTo>
                <a:lnTo>
                  <a:pt x="2596501" y="1402347"/>
                </a:lnTo>
                <a:lnTo>
                  <a:pt x="2835416" y="1635488"/>
                </a:lnTo>
                <a:lnTo>
                  <a:pt x="2676139" y="1682180"/>
                </a:lnTo>
                <a:lnTo>
                  <a:pt x="2437224" y="2148462"/>
                </a:lnTo>
                <a:lnTo>
                  <a:pt x="2039032" y="2381603"/>
                </a:lnTo>
                <a:lnTo>
                  <a:pt x="1561293" y="2008598"/>
                </a:lnTo>
                <a:lnTo>
                  <a:pt x="1242739" y="2055184"/>
                </a:lnTo>
                <a:lnTo>
                  <a:pt x="1083553" y="2008598"/>
                </a:lnTo>
                <a:lnTo>
                  <a:pt x="1003915" y="1868629"/>
                </a:lnTo>
                <a:lnTo>
                  <a:pt x="526084" y="1915321"/>
                </a:lnTo>
                <a:lnTo>
                  <a:pt x="446446" y="1775351"/>
                </a:lnTo>
                <a:lnTo>
                  <a:pt x="605723" y="1588902"/>
                </a:lnTo>
                <a:lnTo>
                  <a:pt x="127983" y="1169206"/>
                </a:lnTo>
                <a:lnTo>
                  <a:pt x="207622" y="935959"/>
                </a:lnTo>
                <a:lnTo>
                  <a:pt x="366808" y="889373"/>
                </a:lnTo>
                <a:lnTo>
                  <a:pt x="287260" y="516263"/>
                </a:lnTo>
                <a:lnTo>
                  <a:pt x="844638" y="609540"/>
                </a:lnTo>
                <a:lnTo>
                  <a:pt x="844638" y="236536"/>
                </a:lnTo>
                <a:lnTo>
                  <a:pt x="605723" y="96567"/>
                </a:lnTo>
                <a:lnTo>
                  <a:pt x="446446" y="329708"/>
                </a:lnTo>
                <a:lnTo>
                  <a:pt x="48345" y="283122"/>
                </a:lnTo>
                <a:lnTo>
                  <a:pt x="0" y="0"/>
                </a:lnTo>
                <a:close/>
              </a:path>
            </a:pathLst>
          </a:custGeom>
          <a:solidFill>
            <a:srgbClr val="FDEDF0"/>
          </a:solidFill>
          <a:ln w="15875">
            <a:solidFill>
              <a:srgbClr val="EB0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4032084" y="2249930"/>
            <a:ext cx="955570" cy="1259194"/>
          </a:xfrm>
          <a:custGeom>
            <a:avLst/>
            <a:gdLst/>
            <a:ahLst/>
            <a:cxnLst/>
            <a:rect l="l" t="t" r="r" b="b"/>
            <a:pathLst>
              <a:path w="955570" h="1259194">
                <a:moveTo>
                  <a:pt x="0" y="886084"/>
                </a:moveTo>
                <a:lnTo>
                  <a:pt x="238915" y="419802"/>
                </a:lnTo>
                <a:lnTo>
                  <a:pt x="398192" y="373110"/>
                </a:lnTo>
                <a:lnTo>
                  <a:pt x="159277" y="139969"/>
                </a:lnTo>
                <a:lnTo>
                  <a:pt x="238915" y="0"/>
                </a:lnTo>
                <a:lnTo>
                  <a:pt x="955570" y="279832"/>
                </a:lnTo>
                <a:lnTo>
                  <a:pt x="875931" y="746220"/>
                </a:lnTo>
                <a:lnTo>
                  <a:pt x="955570" y="1119225"/>
                </a:lnTo>
                <a:lnTo>
                  <a:pt x="318554" y="1259194"/>
                </a:lnTo>
                <a:lnTo>
                  <a:pt x="0" y="886084"/>
                </a:lnTo>
                <a:close/>
              </a:path>
            </a:pathLst>
          </a:custGeom>
          <a:solidFill>
            <a:srgbClr val="F7F7F7"/>
          </a:solid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2317374" y="1108347"/>
            <a:ext cx="1005840" cy="201168"/>
          </a:xfrm>
          <a:prstGeom prst="rect">
            <a:avLst/>
          </a:prstGeom>
          <a:noFill/>
        </p:spPr>
        <p:txBody>
          <a:bodyPr wrap="square" anchor="t" lIns="27432" rIns="27432" tIns="18288" bIns="18288">
            <a:spAutoFit/>
          </a:bodyPr>
          <a:lstStyle/>
          <a:p>
            <a:pPr algn="ctr"/>
            <a:r>
              <a:rPr sz="850" b="1">
                <a:solidFill>
                  <a:srgbClr val="EB002C"/>
                </a:solidFill>
                <a:latin typeface="Noto Sans KR"/>
                <a:ea typeface="Noto Sans KR"/>
                <a:cs typeface="Noto Sans KR"/>
              </a:rPr>
              <a:t>江苏 강소성</a:t>
            </a:r>
          </a:p>
        </p:txBody>
      </p:sp>
      <p:sp>
        <p:nvSpPr>
          <p:cNvPr id="166" name="TextBox 165"/>
          <p:cNvSpPr txBox="1"/>
          <p:nvPr/>
        </p:nvSpPr>
        <p:spPr>
          <a:xfrm>
            <a:off x="2860981" y="4185765"/>
            <a:ext cx="1005840" cy="201168"/>
          </a:xfrm>
          <a:prstGeom prst="rect">
            <a:avLst/>
          </a:prstGeom>
          <a:noFill/>
        </p:spPr>
        <p:txBody>
          <a:bodyPr wrap="square" anchor="t" lIns="27432" rIns="27432" tIns="18288" bIns="18288">
            <a:spAutoFit/>
          </a:bodyPr>
          <a:lstStyle/>
          <a:p>
            <a:pPr algn="ctr"/>
            <a:r>
              <a:rPr sz="850" b="1">
                <a:solidFill>
                  <a:srgbClr val="8C8C8C"/>
                </a:solidFill>
                <a:latin typeface="Noto Sans KR"/>
                <a:ea typeface="Noto Sans KR"/>
                <a:cs typeface="Noto Sans KR"/>
              </a:rPr>
              <a:t>浙江 저장성</a:t>
            </a:r>
          </a:p>
        </p:txBody>
      </p:sp>
      <p:sp>
        <p:nvSpPr>
          <p:cNvPr id="167" name="TextBox 166"/>
          <p:cNvSpPr txBox="1"/>
          <p:nvPr/>
        </p:nvSpPr>
        <p:spPr>
          <a:xfrm>
            <a:off x="278850" y="1214465"/>
            <a:ext cx="1005840" cy="201168"/>
          </a:xfrm>
          <a:prstGeom prst="rect">
            <a:avLst/>
          </a:prstGeom>
          <a:noFill/>
        </p:spPr>
        <p:txBody>
          <a:bodyPr wrap="square" anchor="t" lIns="27432" rIns="27432" tIns="18288" bIns="18288">
            <a:spAutoFit/>
          </a:bodyPr>
          <a:lstStyle/>
          <a:p>
            <a:pPr algn="ctr"/>
            <a:r>
              <a:rPr sz="850" b="1">
                <a:solidFill>
                  <a:srgbClr val="8C8C8C"/>
                </a:solidFill>
                <a:latin typeface="Noto Sans KR"/>
                <a:ea typeface="Noto Sans KR"/>
                <a:cs typeface="Noto Sans KR"/>
              </a:rPr>
              <a:t>安徽 안후이성</a:t>
            </a:r>
          </a:p>
        </p:txBody>
      </p:sp>
      <p:sp>
        <p:nvSpPr>
          <p:cNvPr id="168" name="TextBox 167"/>
          <p:cNvSpPr txBox="1"/>
          <p:nvPr/>
        </p:nvSpPr>
        <p:spPr>
          <a:xfrm>
            <a:off x="4265298" y="3092751"/>
            <a:ext cx="1005840" cy="201168"/>
          </a:xfrm>
          <a:prstGeom prst="rect">
            <a:avLst/>
          </a:prstGeom>
          <a:noFill/>
        </p:spPr>
        <p:txBody>
          <a:bodyPr wrap="square" anchor="t" lIns="27432" rIns="27432" tIns="18288" bIns="18288">
            <a:spAutoFit/>
          </a:bodyPr>
          <a:lstStyle/>
          <a:p>
            <a:pPr algn="ctr"/>
            <a:r>
              <a:rPr sz="850" b="1">
                <a:solidFill>
                  <a:srgbClr val="8C8C8C"/>
                </a:solidFill>
                <a:latin typeface="Noto Sans KR"/>
                <a:ea typeface="Noto Sans KR"/>
                <a:cs typeface="Noto Sans KR"/>
              </a:rPr>
              <a:t>上海 상하이</a:t>
            </a:r>
          </a:p>
        </p:txBody>
      </p:sp>
      <p:sp>
        <p:nvSpPr>
          <p:cNvPr id="169" name="Oval 168"/>
          <p:cNvSpPr/>
          <p:nvPr/>
        </p:nvSpPr>
        <p:spPr>
          <a:xfrm>
            <a:off x="3463059" y="2524455"/>
            <a:ext cx="109728" cy="109728"/>
          </a:xfrm>
          <a:prstGeom prst="ellipse">
            <a:avLst/>
          </a:prstGeom>
          <a:solidFill>
            <a:srgbClr val="EB002C"/>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1853715" y="2396439"/>
            <a:ext cx="1572768" cy="201168"/>
          </a:xfrm>
          <a:prstGeom prst="rect">
            <a:avLst/>
          </a:prstGeom>
          <a:noFill/>
        </p:spPr>
        <p:txBody>
          <a:bodyPr wrap="square" anchor="t" lIns="27432" rIns="27432" tIns="18288" bIns="18288">
            <a:spAutoFit/>
          </a:bodyPr>
          <a:lstStyle/>
          <a:p>
            <a:pPr algn="r"/>
            <a:r>
              <a:rPr sz="850" b="1">
                <a:solidFill>
                  <a:srgbClr val="1A1A1A"/>
                </a:solidFill>
                <a:latin typeface="Noto Sans KR"/>
                <a:ea typeface="Noto Sans KR"/>
                <a:cs typeface="Noto Sans KR"/>
              </a:rPr>
              <a:t>무석 (1순위)·SK하이닉스</a:t>
            </a:r>
          </a:p>
        </p:txBody>
      </p:sp>
      <p:sp>
        <p:nvSpPr>
          <p:cNvPr id="171" name="Oval 170"/>
          <p:cNvSpPr/>
          <p:nvPr/>
        </p:nvSpPr>
        <p:spPr>
          <a:xfrm>
            <a:off x="4577452" y="2726079"/>
            <a:ext cx="109728" cy="109728"/>
          </a:xfrm>
          <a:prstGeom prst="ellipse">
            <a:avLst/>
          </a:prstGeom>
          <a:solidFill>
            <a:srgbClr val="2E75B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2968108" y="2854095"/>
            <a:ext cx="1572768" cy="201168"/>
          </a:xfrm>
          <a:prstGeom prst="rect">
            <a:avLst/>
          </a:prstGeom>
          <a:noFill/>
        </p:spPr>
        <p:txBody>
          <a:bodyPr wrap="square" anchor="t" lIns="27432" rIns="27432" tIns="18288" bIns="18288">
            <a:spAutoFit/>
          </a:bodyPr>
          <a:lstStyle/>
          <a:p>
            <a:pPr algn="r"/>
            <a:r>
              <a:rPr sz="850" b="1">
                <a:solidFill>
                  <a:srgbClr val="1A1A1A"/>
                </a:solidFill>
                <a:latin typeface="Noto Sans KR"/>
                <a:ea typeface="Noto Sans KR"/>
                <a:cs typeface="Noto Sans KR"/>
              </a:rPr>
              <a:t>상하이 외고교</a:t>
            </a:r>
          </a:p>
        </p:txBody>
      </p:sp>
      <p:sp>
        <p:nvSpPr>
          <p:cNvPr id="173" name="Oval 172"/>
          <p:cNvSpPr/>
          <p:nvPr/>
        </p:nvSpPr>
        <p:spPr>
          <a:xfrm>
            <a:off x="4441551" y="3320339"/>
            <a:ext cx="109728" cy="109728"/>
          </a:xfrm>
          <a:prstGeom prst="ellipse">
            <a:avLst/>
          </a:prstGeom>
          <a:solidFill>
            <a:srgbClr val="2E75B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2832207" y="3265475"/>
            <a:ext cx="1572768" cy="201168"/>
          </a:xfrm>
          <a:prstGeom prst="rect">
            <a:avLst/>
          </a:prstGeom>
          <a:noFill/>
        </p:spPr>
        <p:txBody>
          <a:bodyPr wrap="square" anchor="t" lIns="27432" rIns="27432" tIns="18288" bIns="18288">
            <a:spAutoFit/>
          </a:bodyPr>
          <a:lstStyle/>
          <a:p>
            <a:pPr algn="r"/>
            <a:r>
              <a:rPr sz="850" b="0">
                <a:solidFill>
                  <a:srgbClr val="1A1A1A"/>
                </a:solidFill>
                <a:latin typeface="Noto Sans KR"/>
                <a:ea typeface="Noto Sans KR"/>
                <a:cs typeface="Noto Sans KR"/>
              </a:rPr>
              <a:t>상하이 화학공업구</a:t>
            </a:r>
          </a:p>
        </p:txBody>
      </p:sp>
      <p:sp>
        <p:nvSpPr>
          <p:cNvPr id="175" name="Oval 174"/>
          <p:cNvSpPr/>
          <p:nvPr/>
        </p:nvSpPr>
        <p:spPr>
          <a:xfrm>
            <a:off x="4124447" y="3511352"/>
            <a:ext cx="109728" cy="109728"/>
          </a:xfrm>
          <a:prstGeom prst="ellipse">
            <a:avLst/>
          </a:prstGeom>
          <a:solidFill>
            <a:srgbClr val="5B9BD5"/>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2515103" y="3584504"/>
            <a:ext cx="1572768" cy="201168"/>
          </a:xfrm>
          <a:prstGeom prst="rect">
            <a:avLst/>
          </a:prstGeom>
          <a:noFill/>
        </p:spPr>
        <p:txBody>
          <a:bodyPr wrap="square" anchor="t" lIns="27432" rIns="27432" tIns="18288" bIns="18288">
            <a:spAutoFit/>
          </a:bodyPr>
          <a:lstStyle/>
          <a:p>
            <a:pPr algn="r"/>
            <a:r>
              <a:rPr sz="850" b="0">
                <a:solidFill>
                  <a:srgbClr val="1A1A1A"/>
                </a:solidFill>
                <a:latin typeface="Noto Sans KR"/>
                <a:ea typeface="Noto Sans KR"/>
                <a:cs typeface="Noto Sans KR"/>
              </a:rPr>
              <a:t>자싱·핑후</a:t>
            </a:r>
          </a:p>
        </p:txBody>
      </p:sp>
      <p:sp>
        <p:nvSpPr>
          <p:cNvPr id="177" name="Oval 176"/>
          <p:cNvSpPr/>
          <p:nvPr/>
        </p:nvSpPr>
        <p:spPr>
          <a:xfrm>
            <a:off x="4631813" y="4190506"/>
            <a:ext cx="109728" cy="109728"/>
          </a:xfrm>
          <a:prstGeom prst="ellipse">
            <a:avLst/>
          </a:prstGeom>
          <a:solidFill>
            <a:srgbClr val="A6A6A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3022469" y="4135642"/>
            <a:ext cx="1572768" cy="201168"/>
          </a:xfrm>
          <a:prstGeom prst="rect">
            <a:avLst/>
          </a:prstGeom>
          <a:noFill/>
        </p:spPr>
        <p:txBody>
          <a:bodyPr wrap="square" anchor="t" lIns="27432" rIns="27432" tIns="18288" bIns="18288">
            <a:spAutoFit/>
          </a:bodyPr>
          <a:lstStyle/>
          <a:p>
            <a:pPr algn="r"/>
            <a:r>
              <a:rPr sz="850" b="0">
                <a:solidFill>
                  <a:srgbClr val="1A1A1A"/>
                </a:solidFill>
                <a:latin typeface="Noto Sans KR"/>
                <a:ea typeface="Noto Sans KR"/>
                <a:cs typeface="Noto Sans KR"/>
              </a:rPr>
              <a:t>닝보 진해 (제외)</a:t>
            </a:r>
          </a:p>
        </p:txBody>
      </p:sp>
      <p:sp>
        <p:nvSpPr>
          <p:cNvPr id="179" name="Oval 178"/>
          <p:cNvSpPr/>
          <p:nvPr/>
        </p:nvSpPr>
        <p:spPr>
          <a:xfrm>
            <a:off x="627244" y="2312220"/>
            <a:ext cx="109728" cy="109728"/>
          </a:xfrm>
          <a:prstGeom prst="ellipse">
            <a:avLst/>
          </a:prstGeom>
          <a:solidFill>
            <a:srgbClr val="2E75B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791836" y="2257356"/>
            <a:ext cx="1572768" cy="201168"/>
          </a:xfrm>
          <a:prstGeom prst="rect">
            <a:avLst/>
          </a:prstGeom>
          <a:noFill/>
        </p:spPr>
        <p:txBody>
          <a:bodyPr wrap="square" anchor="t" lIns="27432" rIns="27432" tIns="18288" bIns="18288">
            <a:spAutoFit/>
          </a:bodyPr>
          <a:lstStyle/>
          <a:p>
            <a:pPr algn="l"/>
            <a:r>
              <a:rPr sz="850" b="1">
                <a:solidFill>
                  <a:srgbClr val="1A1A1A"/>
                </a:solidFill>
                <a:latin typeface="Noto Sans KR"/>
                <a:ea typeface="Noto Sans KR"/>
                <a:cs typeface="Noto Sans KR"/>
              </a:rPr>
              <a:t>허페이 경개구·CXMT</a:t>
            </a:r>
          </a:p>
        </p:txBody>
      </p:sp>
      <p:sp>
        <p:nvSpPr>
          <p:cNvPr id="181" name="Oval 180"/>
          <p:cNvSpPr/>
          <p:nvPr/>
        </p:nvSpPr>
        <p:spPr>
          <a:xfrm>
            <a:off x="1605736" y="1728571"/>
            <a:ext cx="109728" cy="109728"/>
          </a:xfrm>
          <a:prstGeom prst="ellipse">
            <a:avLst/>
          </a:prstGeom>
          <a:solidFill>
            <a:srgbClr val="A6A6A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1752040" y="1673707"/>
            <a:ext cx="1572768" cy="201168"/>
          </a:xfrm>
          <a:prstGeom prst="rect">
            <a:avLst/>
          </a:prstGeom>
          <a:noFill/>
        </p:spPr>
        <p:txBody>
          <a:bodyPr wrap="square" anchor="t" lIns="27432" rIns="27432" tIns="18288" bIns="18288">
            <a:spAutoFit/>
          </a:bodyPr>
          <a:lstStyle/>
          <a:p>
            <a:pPr algn="l"/>
            <a:r>
              <a:rPr sz="850" b="0">
                <a:solidFill>
                  <a:srgbClr val="1A1A1A"/>
                </a:solidFill>
                <a:latin typeface="Noto Sans KR"/>
                <a:ea typeface="Noto Sans KR"/>
                <a:cs typeface="Noto Sans KR"/>
              </a:rPr>
              <a:t>추저우</a:t>
            </a:r>
          </a:p>
        </p:txBody>
      </p:sp>
      <p:sp>
        <p:nvSpPr>
          <p:cNvPr id="183" name="Oval 182"/>
          <p:cNvSpPr/>
          <p:nvPr/>
        </p:nvSpPr>
        <p:spPr>
          <a:xfrm>
            <a:off x="1741638" y="2577514"/>
            <a:ext cx="109728" cy="109728"/>
          </a:xfrm>
          <a:prstGeom prst="ellipse">
            <a:avLst/>
          </a:prstGeom>
          <a:solidFill>
            <a:srgbClr val="A6A6A6"/>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1887942" y="2540938"/>
            <a:ext cx="1572768" cy="201168"/>
          </a:xfrm>
          <a:prstGeom prst="rect">
            <a:avLst/>
          </a:prstGeom>
          <a:noFill/>
        </p:spPr>
        <p:txBody>
          <a:bodyPr wrap="square" anchor="t" lIns="27432" rIns="27432" tIns="18288" bIns="18288">
            <a:spAutoFit/>
          </a:bodyPr>
          <a:lstStyle/>
          <a:p>
            <a:pPr algn="l"/>
            <a:r>
              <a:rPr sz="850" b="0">
                <a:solidFill>
                  <a:srgbClr val="1A1A1A"/>
                </a:solidFill>
                <a:latin typeface="Noto Sans KR"/>
                <a:ea typeface="Noto Sans KR"/>
                <a:cs typeface="Noto Sans KR"/>
              </a:rPr>
              <a:t>우후·마안산</a:t>
            </a:r>
          </a:p>
        </p:txBody>
      </p:sp>
      <p:sp>
        <p:nvSpPr>
          <p:cNvPr id="185" name="Oval 184"/>
          <p:cNvSpPr/>
          <p:nvPr/>
        </p:nvSpPr>
        <p:spPr>
          <a:xfrm>
            <a:off x="3517419" y="2099984"/>
            <a:ext cx="109728" cy="109728"/>
          </a:xfrm>
          <a:prstGeom prst="ellipse">
            <a:avLst/>
          </a:prstGeom>
          <a:solidFill>
            <a:srgbClr val="FF7900"/>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3663723" y="2017688"/>
            <a:ext cx="1572768" cy="201168"/>
          </a:xfrm>
          <a:prstGeom prst="rect">
            <a:avLst/>
          </a:prstGeom>
          <a:noFill/>
        </p:spPr>
        <p:txBody>
          <a:bodyPr wrap="square" anchor="t" lIns="27432" rIns="27432" tIns="18288" bIns="18288">
            <a:spAutoFit/>
          </a:bodyPr>
          <a:lstStyle/>
          <a:p>
            <a:pPr algn="l"/>
            <a:r>
              <a:rPr sz="850" b="0">
                <a:solidFill>
                  <a:srgbClr val="1A1A1A"/>
                </a:solidFill>
                <a:latin typeface="Noto Sans KR"/>
                <a:ea typeface="Noto Sans KR"/>
                <a:cs typeface="Noto Sans KR"/>
              </a:rPr>
              <a:t>장자강</a:t>
            </a:r>
          </a:p>
        </p:txBody>
      </p:sp>
      <p:sp>
        <p:nvSpPr>
          <p:cNvPr id="187" name="Diamond 186"/>
          <p:cNvSpPr/>
          <p:nvPr/>
        </p:nvSpPr>
        <p:spPr>
          <a:xfrm>
            <a:off x="3490071" y="2591062"/>
            <a:ext cx="146304" cy="146304"/>
          </a:xfrm>
          <a:prstGeom prst="diamond">
            <a:avLst/>
          </a:prstGeom>
          <a:solidFill>
            <a:srgbClr val="1F386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Diamond 187"/>
          <p:cNvSpPr/>
          <p:nvPr/>
        </p:nvSpPr>
        <p:spPr>
          <a:xfrm>
            <a:off x="681437" y="2368214"/>
            <a:ext cx="146304" cy="146304"/>
          </a:xfrm>
          <a:prstGeom prst="diamond">
            <a:avLst/>
          </a:prstGeom>
          <a:solidFill>
            <a:srgbClr val="1F3864"/>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283464" y="4560788"/>
            <a:ext cx="4937760" cy="228600"/>
          </a:xfrm>
          <a:prstGeom prst="rect">
            <a:avLst/>
          </a:prstGeom>
          <a:noFill/>
        </p:spPr>
        <p:txBody>
          <a:bodyPr wrap="square" anchor="t" lIns="27432" rIns="27432" tIns="18288" bIns="18288">
            <a:spAutoFit/>
          </a:bodyPr>
          <a:lstStyle/>
          <a:p>
            <a:pPr algn="l"/>
            <a:r>
              <a:rPr sz="800" b="0">
                <a:solidFill>
                  <a:srgbClr val="595959"/>
                </a:solidFill>
                <a:latin typeface="Noto Sans KR"/>
                <a:ea typeface="Noto Sans KR"/>
                <a:cs typeface="Noto Sans KR"/>
              </a:rPr>
              <a:t>● 후보  ◆ 고객(공개 주소·구 단위)  — 성 경계: 공개 GeoJSON 단순화 · 위치는 대략</a:t>
            </a:r>
          </a:p>
        </p:txBody>
      </p:sp>
      <p:graphicFrame>
        <p:nvGraphicFramePr>
          <p:cNvPr id="190" name="Table 189"/>
          <p:cNvGraphicFramePr>
            <a:graphicFrameLocks noGrp="1"/>
          </p:cNvGraphicFramePr>
          <p:nvPr/>
        </p:nvGraphicFramePr>
        <p:xfrm>
          <a:off x="5349240" y="987552"/>
          <a:ext cx="3502152" cy="2386584"/>
        </p:xfrm>
        <a:graphic>
          <a:graphicData uri="http://schemas.openxmlformats.org/drawingml/2006/table">
            <a:tbl>
              <a:tblPr firstRow="0" bandRow="0"/>
              <a:tblGrid>
                <a:gridCol w="1234440"/>
                <a:gridCol w="1463040"/>
                <a:gridCol w="804672"/>
              </a:tblGrid>
              <a:tr h="274320">
                <a:tc>
                  <a:txBody>
                    <a:bodyPr wrap="square"/>
                    <a:lstStyle/>
                    <a:p>
                      <a:pPr algn="ctr"/>
                      <a:r>
                        <a:rPr sz="1050" b="1">
                          <a:solidFill>
                            <a:srgbClr val="FFFFFF"/>
                          </a:solidFill>
                          <a:latin typeface="Noto Sans KR"/>
                          <a:ea typeface="Noto Sans KR"/>
                          <a:cs typeface="Noto Sans KR"/>
                        </a:rPr>
                        <a:t>대안</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해결하는 것</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판정</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566928">
                <a:tc>
                  <a:txBody>
                    <a:bodyPr wrap="square"/>
                    <a:lstStyle/>
                    <a:p>
                      <a:pPr algn="l"/>
                      <a:r>
                        <a:rPr sz="1050" b="0">
                          <a:solidFill>
                            <a:srgbClr val="1A1A1A"/>
                          </a:solidFill>
                          <a:latin typeface="Noto Sans KR"/>
                          <a:ea typeface="Noto Sans KR"/>
                          <a:cs typeface="Noto Sans KR"/>
                        </a:rPr>
                        <a:t>상하이 (직할시)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수입항·보세 물류·자유무역구 처리 속도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1">
                          <a:solidFill>
                            <a:srgbClr val="7F6000"/>
                          </a:solidFill>
                          <a:latin typeface="Noto Sans KR"/>
                          <a:ea typeface="Noto Sans KR"/>
                          <a:cs typeface="Noto Sans KR"/>
                        </a:rPr>
                        <a:t>조건부</a:t>
                      </a:r>
                    </a:p>
                  </a:txBody>
                  <a:tcPr marL="45720" marR="45720" marT="18000" marB="18000" anchor="ctr">
                    <a:lnL w="0">
                      <a:noFill/>
                    </a:lnL>
                    <a:lnR w="0">
                      <a:noFill/>
                    </a:lnR>
                    <a:lnT w="0">
                      <a:noFill/>
                    </a:lnT>
                    <a:lnB w="6350">
                      <a:solidFill>
                        <a:srgbClr val="D9D9D9"/>
                      </a:solidFill>
                    </a:lnB>
                    <a:solidFill>
                      <a:srgbClr val="FFF2CC"/>
                    </a:solidFill>
                  </a:tcPr>
                </a:tc>
              </a:tr>
              <a:tr h="566928">
                <a:tc>
                  <a:txBody>
                    <a:bodyPr wrap="square"/>
                    <a:lstStyle/>
                    <a:p>
                      <a:pPr algn="l"/>
                      <a:r>
                        <a:rPr sz="1050" b="0">
                          <a:solidFill>
                            <a:srgbClr val="1A1A1A"/>
                          </a:solidFill>
                          <a:latin typeface="Noto Sans KR"/>
                          <a:ea typeface="Noto Sans KR"/>
                          <a:cs typeface="Noto Sans KR"/>
                        </a:rPr>
                        <a:t>허페이 (안후이)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CXMT 대응 (직선 약 1 km)</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1">
                          <a:solidFill>
                            <a:srgbClr val="C00000"/>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DE9E7"/>
                    </a:solidFill>
                  </a:tcPr>
                </a:tc>
              </a:tr>
              <a:tr h="566928">
                <a:tc>
                  <a:txBody>
                    <a:bodyPr wrap="square"/>
                    <a:lstStyle/>
                    <a:p>
                      <a:pPr algn="l"/>
                      <a:r>
                        <a:rPr sz="1050" b="0">
                          <a:solidFill>
                            <a:srgbClr val="1A1A1A"/>
                          </a:solidFill>
                          <a:latin typeface="Noto Sans KR"/>
                          <a:ea typeface="Noto Sans KR"/>
                          <a:cs typeface="Noto Sans KR"/>
                        </a:rPr>
                        <a:t>자싱·핑후 (저장)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강소성 창고 미확보 시 원구 창고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1">
                          <a:solidFill>
                            <a:srgbClr val="595959"/>
                          </a:solidFill>
                          <a:latin typeface="Noto Sans KR"/>
                          <a:ea typeface="Noto Sans KR"/>
                          <a:cs typeface="Noto Sans KR"/>
                        </a:rPr>
                        <a:t>보류</a:t>
                      </a:r>
                    </a:p>
                  </a:txBody>
                  <a:tcPr marL="45720" marR="45720" marT="18000" marB="18000" anchor="ctr">
                    <a:lnL w="0">
                      <a:noFill/>
                    </a:lnL>
                    <a:lnR w="0">
                      <a:noFill/>
                    </a:lnR>
                    <a:lnT w="0">
                      <a:noFill/>
                    </a:lnT>
                    <a:lnB w="6350">
                      <a:solidFill>
                        <a:srgbClr val="D9D9D9"/>
                      </a:solidFill>
                    </a:lnB>
                    <a:solidFill>
                      <a:srgbClr val="F2F2F2"/>
                    </a:solidFill>
                  </a:tcPr>
                </a:tc>
              </a:tr>
              <a:tr h="411480">
                <a:tc>
                  <a:txBody>
                    <a:bodyPr wrap="square"/>
                    <a:lstStyle/>
                    <a:p>
                      <a:pPr algn="l"/>
                      <a:r>
                        <a:rPr sz="1050" b="0">
                          <a:solidFill>
                            <a:srgbClr val="1A1A1A"/>
                          </a:solidFill>
                          <a:latin typeface="Noto Sans KR"/>
                          <a:ea typeface="Noto Sans KR"/>
                          <a:cs typeface="Noto Sans KR"/>
                        </a:rPr>
                        <a:t>닝보 (저장)</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050" b="0">
                          <a:solidFill>
                            <a:srgbClr val="1A1A1A"/>
                          </a:solidFill>
                          <a:latin typeface="Noto Sans KR"/>
                          <a:ea typeface="Noto Sans KR"/>
                          <a:cs typeface="Noto Sans KR"/>
                        </a:rPr>
                        <a:t>-</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50" b="1">
                          <a:solidFill>
                            <a:srgbClr val="404040"/>
                          </a:solidFill>
                          <a:latin typeface="Noto Sans KR"/>
                          <a:ea typeface="Noto Sans KR"/>
                          <a:cs typeface="Noto Sans KR"/>
                        </a:rPr>
                        <a:t>제외</a:t>
                      </a:r>
                    </a:p>
                  </a:txBody>
                  <a:tcPr marL="45720" marR="45720" marT="18000" marB="18000" anchor="ctr">
                    <a:lnL w="0">
                      <a:noFill/>
                    </a:lnL>
                    <a:lnR w="0">
                      <a:noFill/>
                    </a:lnR>
                    <a:lnT w="0">
                      <a:noFill/>
                    </a:lnT>
                    <a:lnB w="9525">
                      <a:solidFill>
                        <a:srgbClr val="404040"/>
                      </a:solidFill>
                    </a:lnB>
                    <a:solidFill>
                      <a:srgbClr val="D9D9D9"/>
                    </a:solidFill>
                  </a:tcPr>
                </a:tc>
              </a:tr>
            </a:tbl>
          </a:graphicData>
        </a:graphic>
      </p:graphicFrame>
      <p:sp>
        <p:nvSpPr>
          <p:cNvPr id="191" name="TextBox 190"/>
          <p:cNvSpPr txBox="1"/>
          <p:nvPr/>
        </p:nvSpPr>
        <p:spPr>
          <a:xfrm>
            <a:off x="5349240" y="3520440"/>
            <a:ext cx="3502152" cy="2468880"/>
          </a:xfrm>
          <a:prstGeom prst="rect">
            <a:avLst/>
          </a:prstGeom>
          <a:noFill/>
        </p:spPr>
        <p:txBody>
          <a:bodyPr wrap="square" anchor="t" lIns="27432" rIns="27432" tIns="18288" bIns="18288">
            <a:spAutoFit/>
          </a:bodyPr>
          <a:lstStyle/>
          <a:p>
            <a:pPr algn="l"/>
            <a:r>
              <a:rPr sz="1150" b="1">
                <a:solidFill>
                  <a:srgbClr val="C00000"/>
                </a:solidFill>
                <a:latin typeface="Noto Sans KR"/>
                <a:ea typeface="Noto Sans KR"/>
                <a:cs typeface="Noto Sans KR"/>
              </a:rPr>
              <a:t>국가 규정은 동일, 다른 것은</a:t>
            </a:r>
          </a:p>
          <a:p>
            <a:pPr algn="l"/>
            <a:r>
              <a:rPr sz="1050" b="0">
                <a:solidFill>
                  <a:srgbClr val="1A1A1A"/>
                </a:solidFill>
                <a:latin typeface="Noto Sans KR"/>
                <a:ea typeface="Noto Sans KR"/>
                <a:cs typeface="Noto Sans KR"/>
              </a:rPr>
              <a:t>· 원구·창고의 여유와 수용 품목</a:t>
            </a:r>
          </a:p>
          <a:p>
            <a:pPr algn="l"/>
            <a:r>
              <a:rPr sz="1050" b="0">
                <a:solidFill>
                  <a:srgbClr val="1A1A1A"/>
                </a:solidFill>
                <a:latin typeface="Noto Sans KR"/>
                <a:ea typeface="Noto Sans KR"/>
                <a:cs typeface="Noto Sans KR"/>
              </a:rPr>
              <a:t>· 처리기한 (자유무역구 무저장 고지승낙 15 영업일 사례)</a:t>
            </a:r>
          </a:p>
          <a:p>
            <a:pPr algn="l"/>
            <a:r>
              <a:rPr sz="1050" b="0">
                <a:solidFill>
                  <a:srgbClr val="1A1A1A"/>
                </a:solidFill>
                <a:latin typeface="Noto Sans KR"/>
                <a:ea typeface="Noto Sans KR"/>
                <a:cs typeface="Noto Sans KR"/>
              </a:rPr>
              <a:t>· 고객·항만까지 거리</a:t>
            </a:r>
          </a:p>
          <a:p>
            <a:pPr algn="l"/>
            <a:r>
              <a:rPr sz="1050" b="0">
                <a:solidFill>
                  <a:srgbClr val="7F7F7F"/>
                </a:solidFill>
                <a:latin typeface="Noto Sans KR"/>
                <a:ea typeface="Noto Sans KR"/>
                <a:cs typeface="Noto Sans KR"/>
              </a:rPr>
              <a:t>YMTC(우한)는 지도 밖 서쪽 — 모든 후보에서 450 km 이상</a:t>
            </a:r>
          </a:p>
        </p:txBody>
      </p:sp>
      <p:sp>
        <p:nvSpPr>
          <p:cNvPr id="192" name="TextBox 191"/>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SRC-031·032 상하이, SRC-033 저장 원구, SRC-034 안후이 원구, EVD-016 · 지도 경계: 공개 GeoJSON(단순화)</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상하이는 수입 거점, 허페이는 CXMT 거점으로 의미가 있습니다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350" dirty="0">
                <a:latin typeface="Noto Sans KR" panose="02000503000000020004" pitchFamily="2" charset="-127"/>
                <a:ea typeface="Noto Sans KR" panose="02000503000000020004" pitchFamily="2" charset="-127"/>
                <a:cs typeface="Noto Sans KR" panose="02000503000000020004" pitchFamily="2" charset="-127"/>
              </a:rPr>
              <a:t>두 곳 모두 '강소성 법인 유지 + 보완 거점'이 우선 — 단독 이전은 차순위</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21</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- 21 -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4133088"/>
        </p:xfrm>
        <a:graphic>
          <a:graphicData uri="http://schemas.openxmlformats.org/drawingml/2006/table">
            <a:tbl>
              <a:tblPr firstRow="0" bandRow="0"/>
              <a:tblGrid>
                <a:gridCol w="1280160"/>
                <a:gridCol w="3657600"/>
                <a:gridCol w="3630168"/>
              </a:tblGrid>
              <a:tr h="292608">
                <a:tc>
                  <a:txBody>
                    <a:bodyPr wrap="square"/>
                    <a:lstStyle/>
                    <a:p>
                      <a:pPr algn="ctr"/>
                      <a:r>
                        <a:rPr sz="1200" b="1">
                          <a:solidFill>
                            <a:srgbClr val="FFFFFF"/>
                          </a:solidFill>
                          <a:latin typeface="Noto Sans KR"/>
                          <a:ea typeface="Noto Sans KR"/>
                          <a:cs typeface="Noto Sans KR"/>
                        </a:rPr>
                        <a:t>항목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인근 대안 1 · 상하이 (직할시)</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인근 대안 2 · 허페이 (안후이성)</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548640">
                <a:tc>
                  <a:txBody>
                    <a:bodyPr wrap="square"/>
                    <a:lstStyle/>
                    <a:p>
                      <a:pPr algn="l"/>
                      <a:r>
                        <a:rPr sz="1200" b="0">
                          <a:solidFill>
                            <a:srgbClr val="1A1A1A"/>
                          </a:solidFill>
                          <a:latin typeface="Noto Sans KR"/>
                          <a:ea typeface="Noto Sans KR"/>
                          <a:cs typeface="Noto Sans KR"/>
                        </a:rPr>
                        <a:t>역할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수입 통관·보세 물류 거점 (외고교·임항)</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CXMT 대응 영업·재고 거점</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권장 구조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E안: 무석 법인 + 상하이 3PL / 또는 상하이 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무석 법인 + 허페이 3PL / 필요 시 지점</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창고 후보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상하이 화학공업구·항만 보세 창고 (확인)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공개 근거 없음 (정보 없음)</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허가 근거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상하이 위험화학품 안전관리 규장 · 창고 품목 추가 지침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안후이 원구 39곳 인정 (허페이 포함 여부 미확인)</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고객 거리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SK하이닉스 약 116 km · CXMT 약 414 km</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CXMT 인접 · SK하이닉스 약 300 km</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약점</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임대·인건비 높음 · 저장 구역 제한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창고 후보 부재 · 강소성 우선 원칙과 거리</a:t>
                      </a:r>
                    </a:p>
                  </a:txBody>
                  <a:tcPr marL="45720" marR="45720" marT="18000" marB="18000" anchor="ctr">
                    <a:lnL w="0">
                      <a:noFill/>
                    </a:lnL>
                    <a:lnR w="0">
                      <a:noFill/>
                    </a:lnR>
                    <a:lnT w="0">
                      <a:noFill/>
                    </a:lnT>
                    <a:lnB w="6350">
                      <a:solidFill>
                        <a:srgbClr val="D9D9D9"/>
                      </a:solidFill>
                    </a:lnB>
                    <a:solidFill>
                      <a:srgbClr val="FFFFFF"/>
                    </a:solidFill>
                  </a:tcPr>
                </a:tc>
              </a:tr>
              <a:tr h="548640">
                <a:tc>
                  <a:txBody>
                    <a:bodyPr wrap="square"/>
                    <a:lstStyle/>
                    <a:p>
                      <a:pPr algn="l"/>
                      <a:r>
                        <a:rPr sz="1200" b="0">
                          <a:solidFill>
                            <a:srgbClr val="1A1A1A"/>
                          </a:solidFill>
                          <a:latin typeface="Noto Sans KR"/>
                          <a:ea typeface="Noto Sans KR"/>
                          <a:cs typeface="Noto Sans KR"/>
                        </a:rPr>
                        <a:t>판정</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조건부</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TextBox 164"/>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SRC-031·032 상하이시, SRC-034 안후이성 응급관리청 · 직선거리 대략(12_LogisticsStaff)</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가중치를 바꿔도 무석이 1순위로 유지됩니다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2위는 기준에 따라 쑤저우·상하이가 바뀜 — 점수는 분석 가정</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22</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- 22 -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2761488"/>
        </p:xfrm>
        <a:graphic>
          <a:graphicData uri="http://schemas.openxmlformats.org/drawingml/2006/table">
            <a:tbl>
              <a:tblPr firstRow="0" bandRow="0"/>
              <a:tblGrid>
                <a:gridCol w="2011680"/>
                <a:gridCol w="1737360"/>
                <a:gridCol w="1737360"/>
                <a:gridCol w="1737360"/>
                <a:gridCol w="1344168"/>
              </a:tblGrid>
              <a:tr h="292608">
                <a:tc>
                  <a:txBody>
                    <a:bodyPr wrap="square"/>
                    <a:lstStyle/>
                    <a:p>
                      <a:pPr algn="ctr"/>
                      <a:r>
                        <a:rPr sz="1200" b="1">
                          <a:solidFill>
                            <a:srgbClr val="FFFFFF"/>
                          </a:solidFill>
                          <a:latin typeface="Noto Sans KR"/>
                          <a:ea typeface="Noto Sans KR"/>
                          <a:cs typeface="Noto Sans KR"/>
                        </a:rPr>
                        <a:t>후보</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기본 (허가 우선)</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속도 우선</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비용 우선</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근거 충족</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411480">
                <a:tc>
                  <a:txBody>
                    <a:bodyPr wrap="square"/>
                    <a:lstStyle/>
                    <a:p>
                      <a:pPr algn="l"/>
                      <a:r>
                        <a:rPr sz="1200" b="0">
                          <a:solidFill>
                            <a:srgbClr val="1A1A1A"/>
                          </a:solidFill>
                          <a:latin typeface="Noto Sans KR"/>
                          <a:ea typeface="Noto Sans KR"/>
                          <a:cs typeface="Noto Sans KR"/>
                        </a:rPr>
                        <a:t>무석</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200" b="0">
                          <a:solidFill>
                            <a:srgbClr val="1A1A1A"/>
                          </a:solidFill>
                          <a:latin typeface="Noto Sans KR"/>
                          <a:ea typeface="Noto Sans KR"/>
                          <a:cs typeface="Noto Sans KR"/>
                        </a:rPr>
                        <a:t>76  (1위)</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200" b="0">
                          <a:solidFill>
                            <a:srgbClr val="1A1A1A"/>
                          </a:solidFill>
                          <a:latin typeface="Noto Sans KR"/>
                          <a:ea typeface="Noto Sans KR"/>
                          <a:cs typeface="Noto Sans KR"/>
                        </a:rPr>
                        <a:t>78  (1위)</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200" b="0">
                          <a:solidFill>
                            <a:srgbClr val="1A1A1A"/>
                          </a:solidFill>
                          <a:latin typeface="Noto Sans KR"/>
                          <a:ea typeface="Noto Sans KR"/>
                          <a:cs typeface="Noto Sans KR"/>
                        </a:rPr>
                        <a:t>72  (1위)</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200" b="0">
                          <a:solidFill>
                            <a:srgbClr val="1A1A1A"/>
                          </a:solidFill>
                          <a:latin typeface="Noto Sans KR"/>
                          <a:ea typeface="Noto Sans KR"/>
                          <a:cs typeface="Noto Sans KR"/>
                        </a:rPr>
                        <a:t>중</a:t>
                      </a:r>
                    </a:p>
                  </a:txBody>
                  <a:tcPr marL="45720" marR="45720" marT="18000" marB="18000" anchor="ctr">
                    <a:lnL w="0">
                      <a:noFill/>
                    </a:lnL>
                    <a:lnR w="0">
                      <a:noFill/>
                    </a:lnR>
                    <a:lnT w="0">
                      <a:noFill/>
                    </a:lnT>
                    <a:lnB w="6350">
                      <a:solidFill>
                        <a:srgbClr val="D9D9D9"/>
                      </a:solidFill>
                    </a:lnB>
                    <a:solidFill>
                      <a:srgbClr val="FFF2E6"/>
                    </a:solidFill>
                  </a:tcPr>
                </a:tc>
              </a:tr>
              <a:tr h="411480">
                <a:tc>
                  <a:txBody>
                    <a:bodyPr wrap="square"/>
                    <a:lstStyle/>
                    <a:p>
                      <a:pPr algn="l"/>
                      <a:r>
                        <a:rPr sz="1200" b="0">
                          <a:solidFill>
                            <a:srgbClr val="1A1A1A"/>
                          </a:solidFill>
                          <a:latin typeface="Noto Sans KR"/>
                          <a:ea typeface="Noto Sans KR"/>
                          <a:cs typeface="Noto Sans KR"/>
                        </a:rPr>
                        <a:t>쑤저우+장자강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69  (2위)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68  (3위)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67  (3위)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중</a:t>
                      </a:r>
                    </a:p>
                  </a:txBody>
                  <a:tcPr marL="45720" marR="45720" marT="18000" marB="18000" anchor="ctr">
                    <a:lnL w="0">
                      <a:noFill/>
                    </a:lnL>
                    <a:lnR w="0">
                      <a:noFill/>
                    </a:lnR>
                    <a:lnT w="0">
                      <a:noFill/>
                    </a:lnT>
                    <a:lnB w="6350">
                      <a:solidFill>
                        <a:srgbClr val="D9D9D9"/>
                      </a:solidFill>
                    </a:lnB>
                    <a:solidFill>
                      <a:srgbClr val="FFFFFF"/>
                    </a:solidFill>
                  </a:tcPr>
                </a:tc>
              </a:tr>
              <a:tr h="411480">
                <a:tc>
                  <a:txBody>
                    <a:bodyPr wrap="square"/>
                    <a:lstStyle/>
                    <a:p>
                      <a:pPr algn="l"/>
                      <a:r>
                        <a:rPr sz="1200" b="0">
                          <a:solidFill>
                            <a:srgbClr val="1A1A1A"/>
                          </a:solidFill>
                          <a:latin typeface="Noto Sans KR"/>
                          <a:ea typeface="Noto Sans KR"/>
                          <a:cs typeface="Noto Sans KR"/>
                        </a:rPr>
                        <a:t>상하이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68  (3위)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71  (2위)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62  (4위)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중</a:t>
                      </a:r>
                    </a:p>
                  </a:txBody>
                  <a:tcPr marL="45720" marR="45720" marT="18000" marB="18000" anchor="ctr">
                    <a:lnL w="0">
                      <a:noFill/>
                    </a:lnL>
                    <a:lnR w="0">
                      <a:noFill/>
                    </a:lnR>
                    <a:lnT w="0">
                      <a:noFill/>
                    </a:lnT>
                    <a:lnB w="6350">
                      <a:solidFill>
                        <a:srgbClr val="D9D9D9"/>
                      </a:solidFill>
                    </a:lnB>
                    <a:solidFill>
                      <a:srgbClr val="FFFFFF"/>
                    </a:solidFill>
                  </a:tcPr>
                </a:tc>
              </a:tr>
              <a:tr h="411480">
                <a:tc>
                  <a:txBody>
                    <a:bodyPr wrap="square"/>
                    <a:lstStyle/>
                    <a:p>
                      <a:pPr algn="l"/>
                      <a:r>
                        <a:rPr sz="1200" b="0">
                          <a:solidFill>
                            <a:srgbClr val="1A1A1A"/>
                          </a:solidFill>
                          <a:latin typeface="Noto Sans KR"/>
                          <a:ea typeface="Noto Sans KR"/>
                          <a:cs typeface="Noto Sans KR"/>
                        </a:rPr>
                        <a:t>창저우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63  (4위)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62  (4위)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67  (2위)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하</a:t>
                      </a:r>
                    </a:p>
                  </a:txBody>
                  <a:tcPr marL="45720" marR="45720" marT="18000" marB="18000" anchor="ctr">
                    <a:lnL w="0">
                      <a:noFill/>
                    </a:lnL>
                    <a:lnR w="0">
                      <a:noFill/>
                    </a:lnR>
                    <a:lnT w="0">
                      <a:noFill/>
                    </a:lnT>
                    <a:lnB w="6350">
                      <a:solidFill>
                        <a:srgbClr val="D9D9D9"/>
                      </a:solidFill>
                    </a:lnB>
                    <a:solidFill>
                      <a:srgbClr val="FFFFFF"/>
                    </a:solidFill>
                  </a:tcPr>
                </a:tc>
              </a:tr>
              <a:tr h="411480">
                <a:tc>
                  <a:txBody>
                    <a:bodyPr wrap="square"/>
                    <a:lstStyle/>
                    <a:p>
                      <a:pPr algn="l"/>
                      <a:r>
                        <a:rPr sz="1200" b="0">
                          <a:solidFill>
                            <a:srgbClr val="1A1A1A"/>
                          </a:solidFill>
                          <a:latin typeface="Noto Sans KR"/>
                          <a:ea typeface="Noto Sans KR"/>
                          <a:cs typeface="Noto Sans KR"/>
                        </a:rPr>
                        <a:t>난징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58  (5위)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58  (5위)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59  (5위)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중</a:t>
                      </a:r>
                    </a:p>
                  </a:txBody>
                  <a:tcPr marL="45720" marR="45720" marT="18000" marB="18000" anchor="ctr">
                    <a:lnL w="0">
                      <a:noFill/>
                    </a:lnL>
                    <a:lnR w="0">
                      <a:noFill/>
                    </a:lnR>
                    <a:lnT w="0">
                      <a:noFill/>
                    </a:lnT>
                    <a:lnB w="6350">
                      <a:solidFill>
                        <a:srgbClr val="D9D9D9"/>
                      </a:solidFill>
                    </a:lnB>
                    <a:solidFill>
                      <a:srgbClr val="FFFFFF"/>
                    </a:solidFill>
                  </a:tcPr>
                </a:tc>
              </a:tr>
              <a:tr h="411480">
                <a:tc>
                  <a:txBody>
                    <a:bodyPr wrap="square"/>
                    <a:lstStyle/>
                    <a:p>
                      <a:pPr algn="l"/>
                      <a:r>
                        <a:rPr sz="1200" b="0">
                          <a:solidFill>
                            <a:srgbClr val="1A1A1A"/>
                          </a:solidFill>
                          <a:latin typeface="Noto Sans KR"/>
                          <a:ea typeface="Noto Sans KR"/>
                          <a:cs typeface="Noto Sans KR"/>
                        </a:rPr>
                        <a:t>그 외 11곳</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200" b="0">
                          <a:solidFill>
                            <a:srgbClr val="1A1A1A"/>
                          </a:solidFill>
                          <a:latin typeface="Noto Sans KR"/>
                          <a:ea typeface="Noto Sans KR"/>
                          <a:cs typeface="Noto Sans KR"/>
                        </a:rPr>
                        <a:t>점수 보류</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200" b="0">
                          <a:solidFill>
                            <a:srgbClr val="1A1A1A"/>
                          </a:solidFill>
                          <a:latin typeface="Noto Sans KR"/>
                          <a:ea typeface="Noto Sans KR"/>
                          <a:cs typeface="Noto Sans KR"/>
                        </a:rPr>
                        <a:t>점수 보류</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200" b="0">
                          <a:solidFill>
                            <a:srgbClr val="1A1A1A"/>
                          </a:solidFill>
                          <a:latin typeface="Noto Sans KR"/>
                          <a:ea typeface="Noto Sans KR"/>
                          <a:cs typeface="Noto Sans KR"/>
                        </a:rPr>
                        <a:t>점수 보류</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200" b="0">
                          <a:solidFill>
                            <a:srgbClr val="1A1A1A"/>
                          </a:solidFill>
                          <a:latin typeface="Noto Sans KR"/>
                          <a:ea typeface="Noto Sans KR"/>
                          <a:cs typeface="Noto Sans KR"/>
                        </a:rPr>
                        <a:t>관문·정보 부족</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graphicFrame>
        <p:nvGraphicFramePr>
          <p:cNvPr id="165" name="Table 164"/>
          <p:cNvGraphicFramePr>
            <a:graphicFrameLocks noGrp="1"/>
          </p:cNvGraphicFramePr>
          <p:nvPr/>
        </p:nvGraphicFramePr>
        <p:xfrm>
          <a:off x="283464" y="3886200"/>
          <a:ext cx="8567928" cy="1207008"/>
        </p:xfrm>
        <a:graphic>
          <a:graphicData uri="http://schemas.openxmlformats.org/drawingml/2006/table">
            <a:tbl>
              <a:tblPr firstRow="0" bandRow="0"/>
              <a:tblGrid>
                <a:gridCol w="2011680"/>
                <a:gridCol w="1088136"/>
                <a:gridCol w="1088136"/>
                <a:gridCol w="1088136"/>
                <a:gridCol w="1088136"/>
                <a:gridCol w="1088136"/>
                <a:gridCol w="1115568"/>
              </a:tblGrid>
              <a:tr h="274320">
                <a:tc>
                  <a:txBody>
                    <a:bodyPr wrap="square"/>
                    <a:lstStyle/>
                    <a:p>
                      <a:pPr algn="ctr"/>
                      <a:r>
                        <a:rPr sz="1100" b="1">
                          <a:solidFill>
                            <a:srgbClr val="FFFFFF"/>
                          </a:solidFill>
                          <a:latin typeface="Noto Sans KR"/>
                          <a:ea typeface="Noto Sans KR"/>
                          <a:cs typeface="Noto Sans KR"/>
                        </a:rPr>
                        <a:t>가중치</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00" b="1">
                          <a:solidFill>
                            <a:srgbClr val="FFFFFF"/>
                          </a:solidFill>
                          <a:latin typeface="Noto Sans KR"/>
                          <a:ea typeface="Noto Sans KR"/>
                          <a:cs typeface="Noto Sans KR"/>
                        </a:rPr>
                        <a:t>허가</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00" b="1">
                          <a:solidFill>
                            <a:srgbClr val="FFFFFF"/>
                          </a:solidFill>
                          <a:latin typeface="Noto Sans KR"/>
                          <a:ea typeface="Noto Sans KR"/>
                          <a:cs typeface="Noto Sans KR"/>
                        </a:rPr>
                        <a:t>창고</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00" b="1">
                          <a:solidFill>
                            <a:srgbClr val="FFFFFF"/>
                          </a:solidFill>
                          <a:latin typeface="Noto Sans KR"/>
                          <a:ea typeface="Noto Sans KR"/>
                          <a:cs typeface="Noto Sans KR"/>
                        </a:rPr>
                        <a:t>일정</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00" b="1">
                          <a:solidFill>
                            <a:srgbClr val="FFFFFF"/>
                          </a:solidFill>
                          <a:latin typeface="Noto Sans KR"/>
                          <a:ea typeface="Noto Sans KR"/>
                          <a:cs typeface="Noto Sans KR"/>
                        </a:rPr>
                        <a:t>고객</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00" b="1">
                          <a:solidFill>
                            <a:srgbClr val="FFFFFF"/>
                          </a:solidFill>
                          <a:latin typeface="Noto Sans KR"/>
                          <a:ea typeface="Noto Sans KR"/>
                          <a:cs typeface="Noto Sans KR"/>
                        </a:rPr>
                        <a:t>비용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00" b="1">
                          <a:solidFill>
                            <a:srgbClr val="FFFFFF"/>
                          </a:solidFill>
                          <a:latin typeface="Noto Sans KR"/>
                          <a:ea typeface="Noto Sans KR"/>
                          <a:cs typeface="Noto Sans KR"/>
                        </a:rPr>
                        <a:t>인력</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310896">
                <a:tc>
                  <a:txBody>
                    <a:bodyPr wrap="square"/>
                    <a:lstStyle/>
                    <a:p>
                      <a:pPr algn="l"/>
                      <a:r>
                        <a:rPr sz="1100" b="0">
                          <a:solidFill>
                            <a:srgbClr val="1A1A1A"/>
                          </a:solidFill>
                          <a:latin typeface="Noto Sans KR"/>
                          <a:ea typeface="Noto Sans KR"/>
                          <a:cs typeface="Noto Sans KR"/>
                        </a:rPr>
                        <a:t>기본(허가 우선 제안)</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00" b="0">
                          <a:solidFill>
                            <a:srgbClr val="1A1A1A"/>
                          </a:solidFill>
                          <a:latin typeface="Noto Sans KR"/>
                          <a:ea typeface="Noto Sans KR"/>
                          <a:cs typeface="Noto Sans KR"/>
                        </a:rPr>
                        <a:t>30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00" b="0">
                          <a:solidFill>
                            <a:srgbClr val="1A1A1A"/>
                          </a:solidFill>
                          <a:latin typeface="Noto Sans KR"/>
                          <a:ea typeface="Noto Sans KR"/>
                          <a:cs typeface="Noto Sans KR"/>
                        </a:rPr>
                        <a:t>20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00" b="0">
                          <a:solidFill>
                            <a:srgbClr val="1A1A1A"/>
                          </a:solidFill>
                          <a:latin typeface="Noto Sans KR"/>
                          <a:ea typeface="Noto Sans KR"/>
                          <a:cs typeface="Noto Sans KR"/>
                        </a:rPr>
                        <a:t>15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00" b="0">
                          <a:solidFill>
                            <a:srgbClr val="1A1A1A"/>
                          </a:solidFill>
                          <a:latin typeface="Noto Sans KR"/>
                          <a:ea typeface="Noto Sans KR"/>
                          <a:cs typeface="Noto Sans KR"/>
                        </a:rPr>
                        <a:t>15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00" b="0">
                          <a:solidFill>
                            <a:srgbClr val="1A1A1A"/>
                          </a:solidFill>
                          <a:latin typeface="Noto Sans KR"/>
                          <a:ea typeface="Noto Sans KR"/>
                          <a:cs typeface="Noto Sans KR"/>
                        </a:rPr>
                        <a:t>15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00" b="0">
                          <a:solidFill>
                            <a:srgbClr val="1A1A1A"/>
                          </a:solidFill>
                          <a:latin typeface="Noto Sans KR"/>
                          <a:ea typeface="Noto Sans KR"/>
                          <a:cs typeface="Noto Sans KR"/>
                        </a:rPr>
                        <a:t>5</a:t>
                      </a:r>
                    </a:p>
                  </a:txBody>
                  <a:tcPr marL="45720" marR="45720" marT="18000" marB="18000" anchor="ctr">
                    <a:lnL w="0">
                      <a:noFill/>
                    </a:lnL>
                    <a:lnR w="0">
                      <a:noFill/>
                    </a:lnR>
                    <a:lnT w="0">
                      <a:noFill/>
                    </a:lnT>
                    <a:lnB w="6350">
                      <a:solidFill>
                        <a:srgbClr val="D9D9D9"/>
                      </a:solidFill>
                    </a:lnB>
                    <a:solidFill>
                      <a:srgbClr val="FFFFFF"/>
                    </a:solidFill>
                  </a:tcPr>
                </a:tc>
              </a:tr>
              <a:tr h="310896">
                <a:tc>
                  <a:txBody>
                    <a:bodyPr wrap="square"/>
                    <a:lstStyle/>
                    <a:p>
                      <a:pPr algn="l"/>
                      <a:r>
                        <a:rPr sz="1100" b="0">
                          <a:solidFill>
                            <a:srgbClr val="1A1A1A"/>
                          </a:solidFill>
                          <a:latin typeface="Noto Sans KR"/>
                          <a:ea typeface="Noto Sans KR"/>
                          <a:cs typeface="Noto Sans KR"/>
                        </a:rPr>
                        <a:t>속도 우선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00" b="0">
                          <a:solidFill>
                            <a:srgbClr val="1A1A1A"/>
                          </a:solidFill>
                          <a:latin typeface="Noto Sans KR"/>
                          <a:ea typeface="Noto Sans KR"/>
                          <a:cs typeface="Noto Sans KR"/>
                        </a:rPr>
                        <a:t>20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00" b="0">
                          <a:solidFill>
                            <a:srgbClr val="1A1A1A"/>
                          </a:solidFill>
                          <a:latin typeface="Noto Sans KR"/>
                          <a:ea typeface="Noto Sans KR"/>
                          <a:cs typeface="Noto Sans KR"/>
                        </a:rPr>
                        <a:t>15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00" b="0">
                          <a:solidFill>
                            <a:srgbClr val="1A1A1A"/>
                          </a:solidFill>
                          <a:latin typeface="Noto Sans KR"/>
                          <a:ea typeface="Noto Sans KR"/>
                          <a:cs typeface="Noto Sans KR"/>
                        </a:rPr>
                        <a:t>35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00" b="0">
                          <a:solidFill>
                            <a:srgbClr val="1A1A1A"/>
                          </a:solidFill>
                          <a:latin typeface="Noto Sans KR"/>
                          <a:ea typeface="Noto Sans KR"/>
                          <a:cs typeface="Noto Sans KR"/>
                        </a:rPr>
                        <a:t>15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00" b="0">
                          <a:solidFill>
                            <a:srgbClr val="1A1A1A"/>
                          </a:solidFill>
                          <a:latin typeface="Noto Sans KR"/>
                          <a:ea typeface="Noto Sans KR"/>
                          <a:cs typeface="Noto Sans KR"/>
                        </a:rPr>
                        <a:t>10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00" b="0">
                          <a:solidFill>
                            <a:srgbClr val="1A1A1A"/>
                          </a:solidFill>
                          <a:latin typeface="Noto Sans KR"/>
                          <a:ea typeface="Noto Sans KR"/>
                          <a:cs typeface="Noto Sans KR"/>
                        </a:rPr>
                        <a:t>5</a:t>
                      </a:r>
                    </a:p>
                  </a:txBody>
                  <a:tcPr marL="45720" marR="45720" marT="18000" marB="18000" anchor="ctr">
                    <a:lnL w="0">
                      <a:noFill/>
                    </a:lnL>
                    <a:lnR w="0">
                      <a:noFill/>
                    </a:lnR>
                    <a:lnT w="0">
                      <a:noFill/>
                    </a:lnT>
                    <a:lnB w="6350">
                      <a:solidFill>
                        <a:srgbClr val="D9D9D9"/>
                      </a:solidFill>
                    </a:lnB>
                    <a:solidFill>
                      <a:srgbClr val="FFFFFF"/>
                    </a:solidFill>
                  </a:tcPr>
                </a:tc>
              </a:tr>
              <a:tr h="310896">
                <a:tc>
                  <a:txBody>
                    <a:bodyPr wrap="square"/>
                    <a:lstStyle/>
                    <a:p>
                      <a:pPr algn="l"/>
                      <a:r>
                        <a:rPr sz="1100" b="0">
                          <a:solidFill>
                            <a:srgbClr val="1A1A1A"/>
                          </a:solidFill>
                          <a:latin typeface="Noto Sans KR"/>
                          <a:ea typeface="Noto Sans KR"/>
                          <a:cs typeface="Noto Sans KR"/>
                        </a:rPr>
                        <a:t>비용 우선</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00" b="0">
                          <a:solidFill>
                            <a:srgbClr val="1A1A1A"/>
                          </a:solidFill>
                          <a:latin typeface="Noto Sans KR"/>
                          <a:ea typeface="Noto Sans KR"/>
                          <a:cs typeface="Noto Sans KR"/>
                        </a:rPr>
                        <a:t>20</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00" b="0">
                          <a:solidFill>
                            <a:srgbClr val="1A1A1A"/>
                          </a:solidFill>
                          <a:latin typeface="Noto Sans KR"/>
                          <a:ea typeface="Noto Sans KR"/>
                          <a:cs typeface="Noto Sans KR"/>
                        </a:rPr>
                        <a:t>15</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00" b="0">
                          <a:solidFill>
                            <a:srgbClr val="1A1A1A"/>
                          </a:solidFill>
                          <a:latin typeface="Noto Sans KR"/>
                          <a:ea typeface="Noto Sans KR"/>
                          <a:cs typeface="Noto Sans KR"/>
                        </a:rPr>
                        <a:t>15</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00" b="0">
                          <a:solidFill>
                            <a:srgbClr val="1A1A1A"/>
                          </a:solidFill>
                          <a:latin typeface="Noto Sans KR"/>
                          <a:ea typeface="Noto Sans KR"/>
                          <a:cs typeface="Noto Sans KR"/>
                        </a:rPr>
                        <a:t>10</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00" b="0">
                          <a:solidFill>
                            <a:srgbClr val="1A1A1A"/>
                          </a:solidFill>
                          <a:latin typeface="Noto Sans KR"/>
                          <a:ea typeface="Noto Sans KR"/>
                          <a:cs typeface="Noto Sans KR"/>
                        </a:rPr>
                        <a:t>35</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00" b="0">
                          <a:solidFill>
                            <a:srgbClr val="1A1A1A"/>
                          </a:solidFill>
                          <a:latin typeface="Noto Sans KR"/>
                          <a:ea typeface="Noto Sans KR"/>
                          <a:cs typeface="Noto Sans KR"/>
                        </a:rPr>
                        <a:t>5</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6" name="Rectangle 165"/>
          <p:cNvSpPr/>
          <p:nvPr/>
        </p:nvSpPr>
        <p:spPr>
          <a:xfrm>
            <a:off x="283464" y="5230368"/>
            <a:ext cx="8567928" cy="777240"/>
          </a:xfrm>
          <a:prstGeom prst="rect">
            <a:avLst/>
          </a:prstGeom>
          <a:solidFill>
            <a:srgbClr val="FFF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411480" y="5266944"/>
            <a:ext cx="8321040" cy="731520"/>
          </a:xfrm>
          <a:prstGeom prst="rect">
            <a:avLst/>
          </a:prstGeom>
          <a:noFill/>
        </p:spPr>
        <p:txBody>
          <a:bodyPr wrap="square" anchor="t" lIns="27432" rIns="27432" tIns="18288" bIns="18288">
            <a:spAutoFit/>
          </a:bodyPr>
          <a:lstStyle/>
          <a:p>
            <a:pPr algn="l"/>
            <a:r>
              <a:rPr sz="1200" b="1">
                <a:solidFill>
                  <a:srgbClr val="C00000"/>
                </a:solidFill>
                <a:latin typeface="Noto Sans KR"/>
                <a:ea typeface="Noto Sans KR"/>
                <a:cs typeface="Noto Sans KR"/>
              </a:rPr>
              <a:t>최종 권고 (조건부)  </a:t>
            </a:r>
            <a:r>
              <a:rPr sz="1200" b="0">
                <a:solidFill>
                  <a:srgbClr val="1A1A1A"/>
                </a:solidFill>
                <a:latin typeface="Noto Sans KR"/>
                <a:ea typeface="Noto Sans KR"/>
                <a:cs typeface="Noto Sans KR"/>
              </a:rPr>
              <a:t>강소성 1순위 무석(B안) · 강소성 차선 쑤저우+장자강(E안) · 인근 대안 1 상하이(수입 거점) · 인근 대안 2 허페이(CXMT 거점)</a:t>
            </a:r>
          </a:p>
        </p:txBody>
      </p:sp>
      <p:sp>
        <p:nvSpPr>
          <p:cNvPr id="168" name="TextBox 167"/>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08_CityComparison (SUMPRODUCT 수식, 가중치 입력 셀) · 가중치는 제안값이며 공식 기준 아님</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MP가 허가를 이미 가졌는지가 비교의 분기점입니다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MP 정보(법인명·허가·창고)가 없어 두 시나리오로 비교</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23</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- 23 -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3300984"/>
        </p:xfrm>
        <a:graphic>
          <a:graphicData uri="http://schemas.openxmlformats.org/drawingml/2006/table">
            <a:tbl>
              <a:tblPr firstRow="0" bandRow="0"/>
              <a:tblGrid>
                <a:gridCol w="1600200"/>
                <a:gridCol w="2514600"/>
                <a:gridCol w="2240280"/>
                <a:gridCol w="2212848"/>
              </a:tblGrid>
              <a:tr h="292608">
                <a:tc>
                  <a:txBody>
                    <a:bodyPr wrap="square"/>
                    <a:lstStyle/>
                    <a:p>
                      <a:pPr algn="ctr"/>
                      <a:r>
                        <a:rPr sz="1150" b="1">
                          <a:solidFill>
                            <a:srgbClr val="FFFFFF"/>
                          </a:solidFill>
                          <a:latin typeface="Noto Sans KR"/>
                          <a:ea typeface="Noto Sans KR"/>
                          <a:cs typeface="Noto Sans KR"/>
                        </a:rPr>
                        <a:t>항목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시나리오 1: MP가 허가·창고 보유</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시나리오 2: MP도 새로 취득</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TC 독자 법인</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429768">
                <a:tc>
                  <a:txBody>
                    <a:bodyPr wrap="square"/>
                    <a:lstStyle/>
                    <a:p>
                      <a:pPr algn="l"/>
                      <a:r>
                        <a:rPr sz="1150" b="0">
                          <a:solidFill>
                            <a:srgbClr val="1A1A1A"/>
                          </a:solidFill>
                          <a:latin typeface="Noto Sans KR"/>
                          <a:ea typeface="Noto Sans KR"/>
                          <a:cs typeface="Noto Sans KR"/>
                        </a:rPr>
                        <a:t>속도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MP 가장 빠름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TC와 비슷</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등기+허가 필요</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150" b="0">
                          <a:solidFill>
                            <a:srgbClr val="1A1A1A"/>
                          </a:solidFill>
                          <a:latin typeface="Noto Sans KR"/>
                          <a:ea typeface="Noto Sans KR"/>
                          <a:cs typeface="Noto Sans KR"/>
                        </a:rPr>
                        <a:t>추가 비용</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MP 수수료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MP에도 같은 투자</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TC 신규 투자</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150" b="0">
                          <a:solidFill>
                            <a:srgbClr val="1A1A1A"/>
                          </a:solidFill>
                          <a:latin typeface="Noto Sans KR"/>
                          <a:ea typeface="Noto Sans KR"/>
                          <a:cs typeface="Noto Sans KR"/>
                        </a:rPr>
                        <a:t>등록 명의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MP</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MP</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TC</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150" b="0">
                          <a:solidFill>
                            <a:srgbClr val="1A1A1A"/>
                          </a:solidFill>
                          <a:latin typeface="Noto Sans KR"/>
                          <a:ea typeface="Noto Sans KR"/>
                          <a:cs typeface="Noto Sans KR"/>
                        </a:rPr>
                        <a:t>자료·IP 통제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MP 경유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MP 경유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TC 직접</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150" b="0">
                          <a:solidFill>
                            <a:srgbClr val="1A1A1A"/>
                          </a:solidFill>
                          <a:latin typeface="Noto Sans KR"/>
                          <a:ea typeface="Noto Sans KR"/>
                          <a:cs typeface="Noto Sans KR"/>
                        </a:rPr>
                        <a:t>우선순위·의사결정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MP 내부에 종속</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MP 내부에 종속</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TC 직접</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150" b="0">
                          <a:solidFill>
                            <a:srgbClr val="1A1A1A"/>
                          </a:solidFill>
                          <a:latin typeface="Noto Sans KR"/>
                          <a:ea typeface="Noto Sans KR"/>
                          <a:cs typeface="Noto Sans KR"/>
                        </a:rPr>
                        <a:t>계약 종료 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등록증·고객 이관 문제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동일</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해당 없음</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150" b="1">
                          <a:solidFill>
                            <a:srgbClr val="1A1A1A"/>
                          </a:solidFill>
                          <a:latin typeface="Noto Sans KR"/>
                          <a:ea typeface="Noto Sans KR"/>
                          <a:cs typeface="Noto Sans KR"/>
                        </a:rPr>
                        <a:t>합리적 결론</a:t>
                      </a:r>
                    </a:p>
                  </a:txBody>
                  <a:tcPr marL="45720" marR="45720" marT="18000" marB="18000" anchor="ctr">
                    <a:lnL w="0">
                      <a:noFill/>
                    </a:lnL>
                    <a:lnR w="0">
                      <a:noFill/>
                    </a:lnR>
                    <a:lnT w="0">
                      <a:noFill/>
                    </a:lnT>
                    <a:lnB w="9525">
                      <a:solidFill>
                        <a:srgbClr val="404040"/>
                      </a:solidFill>
                    </a:lnB>
                    <a:solidFill>
                      <a:srgbClr val="FFF2E6"/>
                    </a:solidFill>
                  </a:tcPr>
                </a:tc>
                <a:tc>
                  <a:txBody>
                    <a:bodyPr wrap="square"/>
                    <a:lstStyle/>
                    <a:p>
                      <a:pPr algn="ctr"/>
                      <a:r>
                        <a:rPr sz="1150" b="1">
                          <a:solidFill>
                            <a:srgbClr val="1A1A1A"/>
                          </a:solidFill>
                          <a:latin typeface="Noto Sans KR"/>
                          <a:ea typeface="Noto Sans KR"/>
                          <a:cs typeface="Noto Sans KR"/>
                        </a:rPr>
                        <a:t>단기 MP 활용 + TC 명의 등록 병행</a:t>
                      </a:r>
                    </a:p>
                  </a:txBody>
                  <a:tcPr marL="45720" marR="45720" marT="18000" marB="18000" anchor="ctr">
                    <a:lnL w="0">
                      <a:noFill/>
                    </a:lnL>
                    <a:lnR w="0">
                      <a:noFill/>
                    </a:lnR>
                    <a:lnT w="0">
                      <a:noFill/>
                    </a:lnT>
                    <a:lnB w="9525">
                      <a:solidFill>
                        <a:srgbClr val="404040"/>
                      </a:solidFill>
                    </a:lnB>
                    <a:solidFill>
                      <a:srgbClr val="FFF2E6"/>
                    </a:solidFill>
                  </a:tcPr>
                </a:tc>
                <a:tc>
                  <a:txBody>
                    <a:bodyPr wrap="square"/>
                    <a:lstStyle/>
                    <a:p>
                      <a:pPr algn="ctr"/>
                      <a:r>
                        <a:rPr sz="1150" b="1">
                          <a:solidFill>
                            <a:srgbClr val="1A1A1A"/>
                          </a:solidFill>
                          <a:latin typeface="Noto Sans KR"/>
                          <a:ea typeface="Noto Sans KR"/>
                          <a:cs typeface="Noto Sans KR"/>
                        </a:rPr>
                        <a:t>TC 독자 법인</a:t>
                      </a:r>
                    </a:p>
                  </a:txBody>
                  <a:tcPr marL="45720" marR="45720" marT="18000" marB="18000" anchor="ctr">
                    <a:lnL w="0">
                      <a:noFill/>
                    </a:lnL>
                    <a:lnR w="0">
                      <a:noFill/>
                    </a:lnR>
                    <a:lnT w="0">
                      <a:noFill/>
                    </a:lnT>
                    <a:lnB w="9525">
                      <a:solidFill>
                        <a:srgbClr val="404040"/>
                      </a:solidFill>
                    </a:lnB>
                    <a:solidFill>
                      <a:srgbClr val="FFF2E6"/>
                    </a:solidFill>
                  </a:tcPr>
                </a:tc>
                <a:tc>
                  <a:txBody>
                    <a:bodyPr wrap="square"/>
                    <a:lstStyle/>
                    <a:p>
                      <a:pPr algn="ctr"/>
                      <a:r>
                        <a:rPr sz="1150" b="1">
                          <a:solidFill>
                            <a:srgbClr val="1A1A1A"/>
                          </a:solidFill>
                          <a:latin typeface="Noto Sans KR"/>
                          <a:ea typeface="Noto Sans KR"/>
                          <a:cs typeface="Noto Sans KR"/>
                        </a:rPr>
                        <a:t>-</a:t>
                      </a:r>
                    </a:p>
                  </a:txBody>
                  <a:tcPr marL="45720" marR="45720" marT="18000" marB="18000" anchor="ctr">
                    <a:lnL w="0">
                      <a:noFill/>
                    </a:lnL>
                    <a:lnR w="0">
                      <a:noFill/>
                    </a:lnR>
                    <a:lnT w="0">
                      <a:noFill/>
                    </a:lnT>
                    <a:lnB w="9525">
                      <a:solidFill>
                        <a:srgbClr val="404040"/>
                      </a:solidFill>
                    </a:lnB>
                    <a:solidFill>
                      <a:srgbClr val="FFF2E6"/>
                    </a:solidFill>
                  </a:tcPr>
                </a:tc>
              </a:tr>
            </a:tbl>
          </a:graphicData>
        </a:graphic>
      </p:graphicFrame>
      <p:sp>
        <p:nvSpPr>
          <p:cNvPr id="165" name="Rectangle 164"/>
          <p:cNvSpPr/>
          <p:nvPr/>
        </p:nvSpPr>
        <p:spPr>
          <a:xfrm>
            <a:off x="283464" y="4562856"/>
            <a:ext cx="54864" cy="182880"/>
          </a:xfrm>
          <a:prstGeom prst="rect">
            <a:avLst/>
          </a:prstGeom>
          <a:solidFill>
            <a:srgbClr val="EB0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393192" y="4517136"/>
            <a:ext cx="8458200" cy="274320"/>
          </a:xfrm>
          <a:prstGeom prst="rect">
            <a:avLst/>
          </a:prstGeom>
          <a:noFill/>
        </p:spPr>
        <p:txBody>
          <a:bodyPr wrap="square" anchor="t" lIns="27432" rIns="27432" tIns="18288" bIns="18288">
            <a:spAutoFit/>
          </a:bodyPr>
          <a:lstStyle/>
          <a:p>
            <a:pPr algn="l"/>
            <a:r>
              <a:rPr sz="1200" b="1">
                <a:solidFill>
                  <a:srgbClr val="1A1A1A"/>
                </a:solidFill>
                <a:latin typeface="Noto Sans KR"/>
                <a:ea typeface="Noto Sans KR"/>
                <a:cs typeface="Noto Sans KR"/>
              </a:rPr>
              <a:t>독자 법인 명분과 반론</a:t>
            </a:r>
          </a:p>
        </p:txBody>
      </p:sp>
      <p:sp>
        <p:nvSpPr>
          <p:cNvPr id="167" name="TextBox 166"/>
          <p:cNvSpPr txBox="1"/>
          <p:nvPr/>
        </p:nvSpPr>
        <p:spPr>
          <a:xfrm>
            <a:off x="283464" y="4800600"/>
            <a:ext cx="8567928" cy="1234440"/>
          </a:xfrm>
          <a:prstGeom prst="rect">
            <a:avLst/>
          </a:prstGeom>
          <a:noFill/>
        </p:spPr>
        <p:txBody>
          <a:bodyPr wrap="square" lIns="27432" rIns="27432">
            <a:spAutoFit/>
          </a:bodyPr>
          <a:lstStyle/>
          <a:p>
            <a:pPr>
              <a:spcAft>
                <a:spcPts val="400"/>
              </a:spcAft>
            </a:pPr>
            <a:r>
              <a:rPr sz="1200" b="0">
                <a:solidFill>
                  <a:srgbClr val="1A1A1A"/>
                </a:solidFill>
                <a:latin typeface="Noto Sans KR"/>
                <a:ea typeface="Noto Sans KR"/>
                <a:cs typeface="Noto Sans KR"/>
              </a:rPr>
              <a:t>• 명분: 개정안 확정 시 등록 명의가 곧 사업권 — 그룹 법인이라도 법인이 다르면 명의·책임·이전가격이 갈림</a:t>
            </a:r>
          </a:p>
          <a:p>
            <a:pPr>
              <a:spcAft>
                <a:spcPts val="400"/>
              </a:spcAft>
            </a:pPr>
            <a:r>
              <a:rPr sz="1200" b="0">
                <a:solidFill>
                  <a:srgbClr val="1A1A1A"/>
                </a:solidFill>
                <a:latin typeface="Noto Sans KR"/>
                <a:ea typeface="Noto Sans KR"/>
                <a:cs typeface="Noto Sans KR"/>
              </a:rPr>
              <a:t>• 반론: MP가 해당 허가를 이미 가졌다면 시간·비용은 MP가 유리 → 'MP는 허가 미보유' 회의 언급부터 확인</a:t>
            </a:r>
          </a:p>
        </p:txBody>
      </p:sp>
      <p:sp>
        <p:nvSpPr>
          <p:cNvPr id="168" name="TextBox 167"/>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11_MPComparison 시트 · EVD-002·005 · MP 관련 항목은 정보 없음/내부 제공</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물류는 '수입항 → 허가 창고 → 고객' 한 줄로 설계합니다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재고일수는 미제공 — 1·2·3개월 민감도로만 비교</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24</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- 24 -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sp>
        <p:nvSpPr>
          <p:cNvPr id="164" name="Pentagon 163"/>
          <p:cNvSpPr/>
          <p:nvPr/>
        </p:nvSpPr>
        <p:spPr>
          <a:xfrm>
            <a:off x="283464" y="1024128"/>
            <a:ext cx="1768449" cy="749808"/>
          </a:xfrm>
          <a:prstGeom prst="homePlate">
            <a:avLst>
              <a:gd name="adj" fmla="val 25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73152"/>
          <a:lstStyle/>
          <a:p>
            <a:pPr algn="ctr"/>
            <a:r>
              <a:rPr sz="1150" b="1">
                <a:solidFill>
                  <a:srgbClr val="1A1A1A"/>
                </a:solidFill>
                <a:latin typeface="Noto Sans KR"/>
                <a:ea typeface="Noto Sans KR"/>
                <a:cs typeface="Noto Sans KR"/>
              </a:rPr>
              <a:t>한국 TC</a:t>
            </a:r>
          </a:p>
          <a:p>
            <a:pPr algn="ctr"/>
            <a:r>
              <a:rPr sz="950" b="0">
                <a:solidFill>
                  <a:srgbClr val="1A1A1A"/>
                </a:solidFill>
                <a:latin typeface="Noto Sans KR"/>
                <a:ea typeface="Noto Sans KR"/>
                <a:cs typeface="Noto Sans KR"/>
              </a:rPr>
              <a:t>제조·출하</a:t>
            </a:r>
          </a:p>
        </p:txBody>
      </p:sp>
      <p:sp>
        <p:nvSpPr>
          <p:cNvPr id="165" name="Chevron 164"/>
          <p:cNvSpPr/>
          <p:nvPr/>
        </p:nvSpPr>
        <p:spPr>
          <a:xfrm>
            <a:off x="1997049" y="1024128"/>
            <a:ext cx="1768449" cy="749808"/>
          </a:xfrm>
          <a:prstGeom prst="chevron">
            <a:avLst>
              <a:gd name="adj" fmla="val 2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150" b="1">
                <a:solidFill>
                  <a:srgbClr val="FFFFFF"/>
                </a:solidFill>
                <a:latin typeface="Noto Sans KR"/>
                <a:ea typeface="Noto Sans KR"/>
                <a:cs typeface="Noto Sans KR"/>
              </a:rPr>
              <a:t>수입항</a:t>
            </a:r>
          </a:p>
          <a:p>
            <a:pPr algn="ctr"/>
            <a:r>
              <a:rPr sz="950" b="0">
                <a:solidFill>
                  <a:srgbClr val="FFFFFF"/>
                </a:solidFill>
                <a:latin typeface="Noto Sans KR"/>
                <a:ea typeface="Noto Sans KR"/>
                <a:cs typeface="Noto Sans KR"/>
              </a:rPr>
              <a:t>상하이·장자강</a:t>
            </a:r>
          </a:p>
        </p:txBody>
      </p:sp>
      <p:sp>
        <p:nvSpPr>
          <p:cNvPr id="166" name="Chevron 165"/>
          <p:cNvSpPr/>
          <p:nvPr/>
        </p:nvSpPr>
        <p:spPr>
          <a:xfrm>
            <a:off x="3710635" y="1024128"/>
            <a:ext cx="1768449" cy="749808"/>
          </a:xfrm>
          <a:prstGeom prst="chevron">
            <a:avLst>
              <a:gd name="adj" fmla="val 25000"/>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150" b="1">
                <a:solidFill>
                  <a:srgbClr val="FFFFFF"/>
                </a:solidFill>
                <a:latin typeface="Noto Sans KR"/>
                <a:ea typeface="Noto Sans KR"/>
                <a:cs typeface="Noto Sans KR"/>
              </a:rPr>
              <a:t>허가 창고</a:t>
            </a:r>
          </a:p>
          <a:p>
            <a:pPr algn="ctr"/>
            <a:r>
              <a:rPr sz="950" b="0">
                <a:solidFill>
                  <a:srgbClr val="FFFFFF"/>
                </a:solidFill>
                <a:latin typeface="Noto Sans KR"/>
                <a:ea typeface="Noto Sans KR"/>
                <a:cs typeface="Noto Sans KR"/>
              </a:rPr>
              <a:t>3PL (원구)</a:t>
            </a:r>
          </a:p>
        </p:txBody>
      </p:sp>
      <p:sp>
        <p:nvSpPr>
          <p:cNvPr id="167" name="Chevron 166"/>
          <p:cNvSpPr/>
          <p:nvPr/>
        </p:nvSpPr>
        <p:spPr>
          <a:xfrm>
            <a:off x="5424220" y="1024128"/>
            <a:ext cx="1768449" cy="749808"/>
          </a:xfrm>
          <a:prstGeom prst="chevron">
            <a:avLst>
              <a:gd name="adj" fmla="val 25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150" b="1">
                <a:solidFill>
                  <a:srgbClr val="FFFFFF"/>
                </a:solidFill>
                <a:latin typeface="Noto Sans KR"/>
                <a:ea typeface="Noto Sans KR"/>
                <a:cs typeface="Noto Sans KR"/>
              </a:rPr>
              <a:t>고객 공장</a:t>
            </a:r>
          </a:p>
          <a:p>
            <a:pPr algn="ctr"/>
            <a:r>
              <a:rPr sz="950" b="0">
                <a:solidFill>
                  <a:srgbClr val="FFFFFF"/>
                </a:solidFill>
                <a:latin typeface="Noto Sans KR"/>
                <a:ea typeface="Noto Sans KR"/>
                <a:cs typeface="Noto Sans KR"/>
              </a:rPr>
              <a:t>무석·허페이</a:t>
            </a:r>
          </a:p>
        </p:txBody>
      </p:sp>
      <p:sp>
        <p:nvSpPr>
          <p:cNvPr id="168" name="Chevron 167"/>
          <p:cNvSpPr/>
          <p:nvPr/>
        </p:nvSpPr>
        <p:spPr>
          <a:xfrm>
            <a:off x="7137806" y="1024128"/>
            <a:ext cx="1768449" cy="749808"/>
          </a:xfrm>
          <a:prstGeom prst="chevron">
            <a:avLst>
              <a:gd name="adj" fmla="val 25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150" b="1">
                <a:solidFill>
                  <a:srgbClr val="FFFFFF"/>
                </a:solidFill>
                <a:latin typeface="Noto Sans KR"/>
                <a:ea typeface="Noto Sans KR"/>
                <a:cs typeface="Noto Sans KR"/>
              </a:rPr>
              <a:t>공병 회수</a:t>
            </a:r>
          </a:p>
          <a:p>
            <a:pPr algn="ctr"/>
            <a:r>
              <a:rPr sz="950" b="0">
                <a:solidFill>
                  <a:srgbClr val="FFFFFF"/>
                </a:solidFill>
                <a:latin typeface="Noto Sans KR"/>
                <a:ea typeface="Noto Sans KR"/>
                <a:cs typeface="Noto Sans KR"/>
              </a:rPr>
              <a:t>반송·세정</a:t>
            </a:r>
          </a:p>
        </p:txBody>
      </p:sp>
      <p:graphicFrame>
        <p:nvGraphicFramePr>
          <p:cNvPr id="169" name="Table 168"/>
          <p:cNvGraphicFramePr>
            <a:graphicFrameLocks noGrp="1"/>
          </p:cNvGraphicFramePr>
          <p:nvPr/>
        </p:nvGraphicFramePr>
        <p:xfrm>
          <a:off x="283464" y="1938528"/>
          <a:ext cx="8567928" cy="1938528"/>
        </p:xfrm>
        <a:graphic>
          <a:graphicData uri="http://schemas.openxmlformats.org/drawingml/2006/table">
            <a:tbl>
              <a:tblPr firstRow="0" bandRow="0"/>
              <a:tblGrid>
                <a:gridCol w="1463040"/>
                <a:gridCol w="7104888"/>
              </a:tblGrid>
              <a:tr h="292608">
                <a:tc>
                  <a:txBody>
                    <a:bodyPr wrap="square"/>
                    <a:lstStyle/>
                    <a:p>
                      <a:pPr algn="ctr"/>
                      <a:r>
                        <a:rPr sz="1200" b="1">
                          <a:solidFill>
                            <a:srgbClr val="FFFFFF"/>
                          </a:solidFill>
                          <a:latin typeface="Noto Sans KR"/>
                          <a:ea typeface="Noto Sans KR"/>
                          <a:cs typeface="Noto Sans KR"/>
                        </a:rPr>
                        <a:t>확인 항목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내용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411480">
                <a:tc>
                  <a:txBody>
                    <a:bodyPr wrap="square"/>
                    <a:lstStyle/>
                    <a:p>
                      <a:pPr algn="l"/>
                      <a:r>
                        <a:rPr sz="1200" b="0">
                          <a:solidFill>
                            <a:srgbClr val="1A1A1A"/>
                          </a:solidFill>
                          <a:latin typeface="Noto Sans KR"/>
                          <a:ea typeface="Noto Sans KR"/>
                          <a:cs typeface="Noto Sans KR"/>
                        </a:rPr>
                        <a:t>항만·운송</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해당 위험물 반입 가능 항만, 위험물 운송 자격 차량·경로</a:t>
                      </a:r>
                    </a:p>
                  </a:txBody>
                  <a:tcPr marL="45720" marR="45720" marT="18000" marB="18000" anchor="ctr">
                    <a:lnL w="0">
                      <a:noFill/>
                    </a:lnL>
                    <a:lnR w="0">
                      <a:noFill/>
                    </a:lnR>
                    <a:lnT w="0">
                      <a:noFill/>
                    </a:lnT>
                    <a:lnB w="6350">
                      <a:solidFill>
                        <a:srgbClr val="D9D9D9"/>
                      </a:solidFill>
                    </a:lnB>
                    <a:solidFill>
                      <a:srgbClr val="FFFFFF"/>
                    </a:solidFill>
                  </a:tcPr>
                </a:tc>
              </a:tr>
              <a:tr h="411480">
                <a:tc>
                  <a:txBody>
                    <a:bodyPr wrap="square"/>
                    <a:lstStyle/>
                    <a:p>
                      <a:pPr algn="l"/>
                      <a:r>
                        <a:rPr sz="1200" b="0">
                          <a:solidFill>
                            <a:srgbClr val="1A1A1A"/>
                          </a:solidFill>
                          <a:latin typeface="Noto Sans KR"/>
                          <a:ea typeface="Noto Sans KR"/>
                          <a:cs typeface="Noto Sans KR"/>
                        </a:rPr>
                        <a:t>3PL 조건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품목 허가·불활성가스·온습도·보험·출입 통제</a:t>
                      </a:r>
                    </a:p>
                  </a:txBody>
                  <a:tcPr marL="45720" marR="45720" marT="18000" marB="18000" anchor="ctr">
                    <a:lnL w="0">
                      <a:noFill/>
                    </a:lnL>
                    <a:lnR w="0">
                      <a:noFill/>
                    </a:lnR>
                    <a:lnT w="0">
                      <a:noFill/>
                    </a:lnT>
                    <a:lnB w="6350">
                      <a:solidFill>
                        <a:srgbClr val="D9D9D9"/>
                      </a:solidFill>
                    </a:lnB>
                    <a:solidFill>
                      <a:srgbClr val="FFFFFF"/>
                    </a:solidFill>
                  </a:tcPr>
                </a:tc>
              </a:tr>
              <a:tr h="411480">
                <a:tc>
                  <a:txBody>
                    <a:bodyPr wrap="square"/>
                    <a:lstStyle/>
                    <a:p>
                      <a:pPr algn="l"/>
                      <a:r>
                        <a:rPr sz="1200" b="0">
                          <a:solidFill>
                            <a:srgbClr val="1A1A1A"/>
                          </a:solidFill>
                          <a:latin typeface="Noto Sans KR"/>
                          <a:ea typeface="Noto Sans KR"/>
                          <a:cs typeface="Noto Sans KR"/>
                        </a:rPr>
                        <a:t>재고 (민감도)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1·2·3개월분 = 월 판매량 × 1·2·3 (판매량 미제공)</a:t>
                      </a:r>
                    </a:p>
                  </a:txBody>
                  <a:tcPr marL="45720" marR="45720" marT="18000" marB="18000" anchor="ctr">
                    <a:lnL w="0">
                      <a:noFill/>
                    </a:lnL>
                    <a:lnR w="0">
                      <a:noFill/>
                    </a:lnR>
                    <a:lnT w="0">
                      <a:noFill/>
                    </a:lnT>
                    <a:lnB w="6350">
                      <a:solidFill>
                        <a:srgbClr val="D9D9D9"/>
                      </a:solidFill>
                    </a:lnB>
                    <a:solidFill>
                      <a:srgbClr val="FFFFFF"/>
                    </a:solidFill>
                  </a:tcPr>
                </a:tc>
              </a:tr>
              <a:tr h="411480">
                <a:tc>
                  <a:txBody>
                    <a:bodyPr wrap="square"/>
                    <a:lstStyle/>
                    <a:p>
                      <a:pPr algn="l"/>
                      <a:r>
                        <a:rPr sz="1200" b="0">
                          <a:solidFill>
                            <a:srgbClr val="1A1A1A"/>
                          </a:solidFill>
                          <a:latin typeface="Noto Sans KR"/>
                          <a:ea typeface="Noto Sans KR"/>
                          <a:cs typeface="Noto Sans KR"/>
                        </a:rPr>
                        <a:t>용기 회수</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잔류물·세정·국제 반송은 별도 규제 — 충진·세정은 F안</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70" name="Rectangle 169"/>
          <p:cNvSpPr/>
          <p:nvPr/>
        </p:nvSpPr>
        <p:spPr>
          <a:xfrm>
            <a:off x="283464" y="4105656"/>
            <a:ext cx="54864" cy="182880"/>
          </a:xfrm>
          <a:prstGeom prst="rect">
            <a:avLst/>
          </a:prstGeom>
          <a:solidFill>
            <a:srgbClr val="EB0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393192" y="4059936"/>
            <a:ext cx="8458200" cy="274320"/>
          </a:xfrm>
          <a:prstGeom prst="rect">
            <a:avLst/>
          </a:prstGeom>
          <a:noFill/>
        </p:spPr>
        <p:txBody>
          <a:bodyPr wrap="square" anchor="t" lIns="27432" rIns="27432" tIns="18288" bIns="18288">
            <a:spAutoFit/>
          </a:bodyPr>
          <a:lstStyle/>
          <a:p>
            <a:pPr algn="l"/>
            <a:r>
              <a:rPr sz="1200" b="1">
                <a:solidFill>
                  <a:srgbClr val="1A1A1A"/>
                </a:solidFill>
                <a:latin typeface="Noto Sans KR"/>
                <a:ea typeface="Noto Sans KR"/>
                <a:cs typeface="Noto Sans KR"/>
              </a:rPr>
              <a:t>운영 조직 (최소 vs 확대)</a:t>
            </a:r>
            <a:r>
              <a:rPr sz="1000" b="1">
                <a:solidFill>
                  <a:srgbClr val="C00000"/>
                </a:solidFill>
                <a:latin typeface="Noto Sans KR"/>
                <a:ea typeface="Noto Sans KR"/>
                <a:cs typeface="Noto Sans KR"/>
              </a:rPr>
              <a:t>   12_LogisticsStaff</a:t>
            </a:r>
          </a:p>
        </p:txBody>
      </p:sp>
      <p:graphicFrame>
        <p:nvGraphicFramePr>
          <p:cNvPr id="172" name="Table 171"/>
          <p:cNvGraphicFramePr>
            <a:graphicFrameLocks noGrp="1"/>
          </p:cNvGraphicFramePr>
          <p:nvPr/>
        </p:nvGraphicFramePr>
        <p:xfrm>
          <a:off x="283464" y="4343400"/>
          <a:ext cx="8567928" cy="1664208"/>
        </p:xfrm>
        <a:graphic>
          <a:graphicData uri="http://schemas.openxmlformats.org/drawingml/2006/table">
            <a:tbl>
              <a:tblPr firstRow="0" bandRow="0"/>
              <a:tblGrid>
                <a:gridCol w="2377440"/>
                <a:gridCol w="1097280"/>
                <a:gridCol w="1097280"/>
                <a:gridCol w="3995928"/>
              </a:tblGrid>
              <a:tr h="274320">
                <a:tc>
                  <a:txBody>
                    <a:bodyPr wrap="square"/>
                    <a:lstStyle/>
                    <a:p>
                      <a:pPr algn="ctr"/>
                      <a:r>
                        <a:rPr sz="1150" b="1">
                          <a:solidFill>
                            <a:srgbClr val="FFFFFF"/>
                          </a:solidFill>
                          <a:latin typeface="Noto Sans KR"/>
                          <a:ea typeface="Noto Sans KR"/>
                          <a:cs typeface="Noto Sans KR"/>
                        </a:rPr>
                        <a:t>역할</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최소</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확대</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비고</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347472">
                <a:tc>
                  <a:txBody>
                    <a:bodyPr wrap="square"/>
                    <a:lstStyle/>
                    <a:p>
                      <a:pPr algn="l"/>
                      <a:r>
                        <a:rPr sz="1150" b="0">
                          <a:solidFill>
                            <a:srgbClr val="1A1A1A"/>
                          </a:solidFill>
                          <a:latin typeface="Noto Sans KR"/>
                          <a:ea typeface="Noto Sans KR"/>
                          <a:cs typeface="Noto Sans KR"/>
                        </a:rPr>
                        <a:t>법인장·법정대표인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1 (주재원)</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경영허가 '주요 책임자' 자격</a:t>
                      </a:r>
                    </a:p>
                  </a:txBody>
                  <a:tcPr marL="45720" marR="45720" marT="18000" marB="18000" anchor="ctr">
                    <a:lnL w="0">
                      <a:noFill/>
                    </a:lnL>
                    <a:lnR w="0">
                      <a:noFill/>
                    </a:lnR>
                    <a:lnT w="0">
                      <a:noFill/>
                    </a:lnT>
                    <a:lnB w="6350">
                      <a:solidFill>
                        <a:srgbClr val="D9D9D9"/>
                      </a:solidFill>
                    </a:lnB>
                    <a:solidFill>
                      <a:srgbClr val="FFFFFF"/>
                    </a:solidFill>
                  </a:tcPr>
                </a:tc>
              </a:tr>
              <a:tr h="347472">
                <a:tc>
                  <a:txBody>
                    <a:bodyPr wrap="square"/>
                    <a:lstStyle/>
                    <a:p>
                      <a:pPr algn="l"/>
                      <a:r>
                        <a:rPr sz="1150" b="0">
                          <a:solidFill>
                            <a:srgbClr val="1A1A1A"/>
                          </a:solidFill>
                          <a:latin typeface="Noto Sans KR"/>
                          <a:ea typeface="Noto Sans KR"/>
                          <a:cs typeface="Noto Sans KR"/>
                        </a:rPr>
                        <a:t>전담 안전관리자</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겸직 불가 해석 주의</a:t>
                      </a:r>
                    </a:p>
                  </a:txBody>
                  <a:tcPr marL="45720" marR="45720" marT="18000" marB="18000" anchor="ctr">
                    <a:lnL w="0">
                      <a:noFill/>
                    </a:lnL>
                    <a:lnR w="0">
                      <a:noFill/>
                    </a:lnR>
                    <a:lnT w="0">
                      <a:noFill/>
                    </a:lnT>
                    <a:lnB w="6350">
                      <a:solidFill>
                        <a:srgbClr val="D9D9D9"/>
                      </a:solidFill>
                    </a:lnB>
                    <a:solidFill>
                      <a:srgbClr val="FFFFFF"/>
                    </a:solidFill>
                  </a:tcPr>
                </a:tc>
              </a:tr>
              <a:tr h="347472">
                <a:tc>
                  <a:txBody>
                    <a:bodyPr wrap="square"/>
                    <a:lstStyle/>
                    <a:p>
                      <a:pPr algn="l"/>
                      <a:r>
                        <a:rPr sz="1150" b="0">
                          <a:solidFill>
                            <a:srgbClr val="1A1A1A"/>
                          </a:solidFill>
                          <a:latin typeface="Noto Sans KR"/>
                          <a:ea typeface="Noto Sans KR"/>
                          <a:cs typeface="Noto Sans KR"/>
                        </a:rPr>
                        <a:t>영업·기술 / 경리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1 / 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2 / 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경리 외주 가능</a:t>
                      </a:r>
                    </a:p>
                  </a:txBody>
                  <a:tcPr marL="45720" marR="45720" marT="18000" marB="18000" anchor="ctr">
                    <a:lnL w="0">
                      <a:noFill/>
                    </a:lnL>
                    <a:lnR w="0">
                      <a:noFill/>
                    </a:lnR>
                    <a:lnT w="0">
                      <a:noFill/>
                    </a:lnT>
                    <a:lnB w="6350">
                      <a:solidFill>
                        <a:srgbClr val="D9D9D9"/>
                      </a:solidFill>
                    </a:lnB>
                    <a:solidFill>
                      <a:srgbClr val="FFFFFF"/>
                    </a:solidFill>
                  </a:tcPr>
                </a:tc>
              </a:tr>
              <a:tr h="347472">
                <a:tc>
                  <a:txBody>
                    <a:bodyPr wrap="square"/>
                    <a:lstStyle/>
                    <a:p>
                      <a:pPr algn="l"/>
                      <a:r>
                        <a:rPr sz="1150" b="0">
                          <a:solidFill>
                            <a:srgbClr val="1A1A1A"/>
                          </a:solidFill>
                          <a:latin typeface="Noto Sans KR"/>
                          <a:ea typeface="Noto Sans KR"/>
                          <a:cs typeface="Noto Sans KR"/>
                        </a:rPr>
                        <a:t>물류·통관 / 창고·품질</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0">
                          <a:solidFill>
                            <a:srgbClr val="1A1A1A"/>
                          </a:solidFill>
                          <a:latin typeface="Noto Sans KR"/>
                          <a:ea typeface="Noto Sans KR"/>
                          <a:cs typeface="Noto Sans KR"/>
                        </a:rPr>
                        <a:t>0 / 0</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0">
                          <a:solidFill>
                            <a:srgbClr val="1A1A1A"/>
                          </a:solidFill>
                          <a:latin typeface="Noto Sans KR"/>
                          <a:ea typeface="Noto Sans KR"/>
                          <a:cs typeface="Noto Sans KR"/>
                        </a:rPr>
                        <a:t>1 / 2</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150" b="0">
                          <a:solidFill>
                            <a:srgbClr val="1A1A1A"/>
                          </a:solidFill>
                          <a:latin typeface="Noto Sans KR"/>
                          <a:ea typeface="Noto Sans KR"/>
                          <a:cs typeface="Noto Sans KR"/>
                        </a:rPr>
                        <a:t>C·D안에서 필요</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73" name="TextBox 172"/>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EVD-012·019·023 · 12_LogisticsStaff · 직선거리·운송시간은 운송사 확인 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확인 가능한 비용은 인건비뿐이고 나머지는 견적이 필요합니다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350" dirty="0">
                <a:latin typeface="Noto Sans KR" panose="02000503000000020004" pitchFamily="2" charset="-127"/>
                <a:ea typeface="Noto Sans KR" panose="02000503000000020004" pitchFamily="2" charset="-127"/>
                <a:cs typeface="Noto Sans KR" panose="02000503000000020004" pitchFamily="2" charset="-127"/>
              </a:rPr>
              <a:t>B안 현지 인건비 연 715,844 CNY ≈ 146백만원 (평균임금 기반 가정)</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25</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- 25 -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2487168"/>
        </p:xfrm>
        <a:graphic>
          <a:graphicData uri="http://schemas.openxmlformats.org/drawingml/2006/table">
            <a:tbl>
              <a:tblPr firstRow="0" bandRow="0"/>
              <a:tblGrid>
                <a:gridCol w="1645920"/>
                <a:gridCol w="1600200"/>
                <a:gridCol w="1097280"/>
                <a:gridCol w="1508760"/>
                <a:gridCol w="2715768"/>
              </a:tblGrid>
              <a:tr h="292608">
                <a:tc>
                  <a:txBody>
                    <a:bodyPr wrap="square"/>
                    <a:lstStyle/>
                    <a:p>
                      <a:pPr algn="ctr"/>
                      <a:r>
                        <a:rPr sz="1150" b="1">
                          <a:solidFill>
                            <a:srgbClr val="FFFFFF"/>
                          </a:solidFill>
                          <a:latin typeface="Noto Sans KR"/>
                          <a:ea typeface="Noto Sans KR"/>
                          <a:cs typeface="Noto Sans KR"/>
                        </a:rPr>
                        <a:t>구분 (B안)</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확인 가능 금액 (CNY)</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KRW (백만원)</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상태</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주요 항목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438912">
                <a:tc>
                  <a:txBody>
                    <a:bodyPr wrap="square"/>
                    <a:lstStyle/>
                    <a:p>
                      <a:pPr algn="l"/>
                      <a:r>
                        <a:rPr sz="1150" b="0">
                          <a:solidFill>
                            <a:srgbClr val="1A1A1A"/>
                          </a:solidFill>
                          <a:latin typeface="Noto Sans KR"/>
                          <a:ea typeface="Noto Sans KR"/>
                          <a:cs typeface="Noto Sans KR"/>
                        </a:rPr>
                        <a:t>초기 일회성</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확인분 없음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미완성(견적 6건)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설립 대행·법무·등록 시험·교육·IT</a:t>
                      </a:r>
                    </a:p>
                  </a:txBody>
                  <a:tcPr marL="45720" marR="45720" marT="18000" marB="18000" anchor="ctr">
                    <a:lnL w="0">
                      <a:noFill/>
                    </a:lnL>
                    <a:lnR w="0">
                      <a:noFill/>
                    </a:lnR>
                    <a:lnT w="0">
                      <a:noFill/>
                    </a:lnT>
                    <a:lnB w="6350">
                      <a:solidFill>
                        <a:srgbClr val="D9D9D9"/>
                      </a:solidFill>
                    </a:lnB>
                    <a:solidFill>
                      <a:srgbClr val="FFFFFF"/>
                    </a:solidFill>
                  </a:tcPr>
                </a:tc>
              </a:tr>
              <a:tr h="438912">
                <a:tc>
                  <a:txBody>
                    <a:bodyPr wrap="square"/>
                    <a:lstStyle/>
                    <a:p>
                      <a:pPr algn="l"/>
                      <a:r>
                        <a:rPr sz="1150" b="0">
                          <a:solidFill>
                            <a:srgbClr val="1A1A1A"/>
                          </a:solidFill>
                          <a:latin typeface="Noto Sans KR"/>
                          <a:ea typeface="Noto Sans KR"/>
                          <a:cs typeface="Noto Sans KR"/>
                        </a:rPr>
                        <a:t>보증금 (회수 가능)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확인분 없음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미완성(견적 1건)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사무실 보증금 3개월 (가정)</a:t>
                      </a:r>
                    </a:p>
                  </a:txBody>
                  <a:tcPr marL="45720" marR="45720" marT="18000" marB="18000" anchor="ctr">
                    <a:lnL w="0">
                      <a:noFill/>
                    </a:lnL>
                    <a:lnR w="0">
                      <a:noFill/>
                    </a:lnR>
                    <a:lnT w="0">
                      <a:noFill/>
                    </a:lnT>
                    <a:lnB w="6350">
                      <a:solidFill>
                        <a:srgbClr val="D9D9D9"/>
                      </a:solidFill>
                    </a:lnB>
                    <a:solidFill>
                      <a:srgbClr val="FFFFFF"/>
                    </a:solidFill>
                  </a:tcPr>
                </a:tc>
              </a:tr>
              <a:tr h="438912">
                <a:tc>
                  <a:txBody>
                    <a:bodyPr wrap="square"/>
                    <a:lstStyle/>
                    <a:p>
                      <a:pPr algn="l"/>
                      <a:r>
                        <a:rPr sz="1150" b="0">
                          <a:solidFill>
                            <a:srgbClr val="1A1A1A"/>
                          </a:solidFill>
                          <a:latin typeface="Noto Sans KR"/>
                          <a:ea typeface="Noto Sans KR"/>
                          <a:cs typeface="Noto Sans KR"/>
                        </a:rPr>
                        <a:t>연간 고정비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715,844</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146</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미완성(견적 5건)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인건비(산출)·임대·회계·보험·허가 유지</a:t>
                      </a:r>
                    </a:p>
                  </a:txBody>
                  <a:tcPr marL="45720" marR="45720" marT="18000" marB="18000" anchor="ctr">
                    <a:lnL w="0">
                      <a:noFill/>
                    </a:lnL>
                    <a:lnR w="0">
                      <a:noFill/>
                    </a:lnR>
                    <a:lnT w="0">
                      <a:noFill/>
                    </a:lnT>
                    <a:lnB w="6350">
                      <a:solidFill>
                        <a:srgbClr val="D9D9D9"/>
                      </a:solidFill>
                    </a:lnB>
                    <a:solidFill>
                      <a:srgbClr val="FFFFFF"/>
                    </a:solidFill>
                  </a:tcPr>
                </a:tc>
              </a:tr>
              <a:tr h="438912">
                <a:tc>
                  <a:txBody>
                    <a:bodyPr wrap="square"/>
                    <a:lstStyle/>
                    <a:p>
                      <a:pPr algn="l"/>
                      <a:r>
                        <a:rPr sz="1150" b="0">
                          <a:solidFill>
                            <a:srgbClr val="1A1A1A"/>
                          </a:solidFill>
                          <a:latin typeface="Noto Sans KR"/>
                          <a:ea typeface="Noto Sans KR"/>
                          <a:cs typeface="Noto Sans KR"/>
                        </a:rPr>
                        <a:t>변동비 (연)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확인분 없음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미완성(견적 2건)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3PL 보관·입출고·위험물 운송</a:t>
                      </a:r>
                    </a:p>
                  </a:txBody>
                  <a:tcPr marL="45720" marR="45720" marT="18000" marB="18000" anchor="ctr">
                    <a:lnL w="0">
                      <a:noFill/>
                    </a:lnL>
                    <a:lnR w="0">
                      <a:noFill/>
                    </a:lnR>
                    <a:lnT w="0">
                      <a:noFill/>
                    </a:lnT>
                    <a:lnB w="6350">
                      <a:solidFill>
                        <a:srgbClr val="D9D9D9"/>
                      </a:solidFill>
                    </a:lnB>
                    <a:solidFill>
                      <a:srgbClr val="FFFFFF"/>
                    </a:solidFill>
                  </a:tcPr>
                </a:tc>
              </a:tr>
              <a:tr h="438912">
                <a:tc>
                  <a:txBody>
                    <a:bodyPr wrap="square"/>
                    <a:lstStyle/>
                    <a:p>
                      <a:pPr algn="l"/>
                      <a:r>
                        <a:rPr sz="1150" b="0">
                          <a:solidFill>
                            <a:srgbClr val="1A1A1A"/>
                          </a:solidFill>
                          <a:latin typeface="Noto Sans KR"/>
                          <a:ea typeface="Noto Sans KR"/>
                          <a:cs typeface="Noto Sans KR"/>
                        </a:rPr>
                        <a:t>운전자본</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0">
                          <a:solidFill>
                            <a:srgbClr val="1A1A1A"/>
                          </a:solidFill>
                          <a:latin typeface="Noto Sans KR"/>
                          <a:ea typeface="Noto Sans KR"/>
                          <a:cs typeface="Noto Sans KR"/>
                        </a:rPr>
                        <a:t>확인분 없음</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0">
                          <a:solidFill>
                            <a:srgbClr val="1A1A1A"/>
                          </a:solidFill>
                          <a:latin typeface="Noto Sans KR"/>
                          <a:ea typeface="Noto Sans KR"/>
                          <a:cs typeface="Noto Sans KR"/>
                        </a:rPr>
                        <a:t>-</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0">
                          <a:solidFill>
                            <a:srgbClr val="1A1A1A"/>
                          </a:solidFill>
                          <a:latin typeface="Noto Sans KR"/>
                          <a:ea typeface="Noto Sans KR"/>
                          <a:cs typeface="Noto Sans KR"/>
                        </a:rPr>
                        <a:t>미완성(견적 1건)</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150" b="0">
                          <a:solidFill>
                            <a:srgbClr val="1A1A1A"/>
                          </a:solidFill>
                          <a:latin typeface="Noto Sans KR"/>
                          <a:ea typeface="Noto Sans KR"/>
                          <a:cs typeface="Noto Sans KR"/>
                        </a:rPr>
                        <a:t>재고 = 월 판매액 × 재고일/30</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graphicFrame>
        <p:nvGraphicFramePr>
          <p:cNvPr id="165" name="Table 164"/>
          <p:cNvGraphicFramePr>
            <a:graphicFrameLocks noGrp="1"/>
          </p:cNvGraphicFramePr>
          <p:nvPr/>
        </p:nvGraphicFramePr>
        <p:xfrm>
          <a:off x="283464" y="3767328"/>
          <a:ext cx="8567928" cy="1261872"/>
        </p:xfrm>
        <a:graphic>
          <a:graphicData uri="http://schemas.openxmlformats.org/drawingml/2006/table">
            <a:tbl>
              <a:tblPr firstRow="0" bandRow="0"/>
              <a:tblGrid>
                <a:gridCol w="2743200"/>
                <a:gridCol w="1371600"/>
                <a:gridCol w="2286000"/>
                <a:gridCol w="2167128"/>
              </a:tblGrid>
              <a:tr h="274320">
                <a:tc>
                  <a:txBody>
                    <a:bodyPr wrap="square"/>
                    <a:lstStyle/>
                    <a:p>
                      <a:pPr algn="ctr"/>
                      <a:r>
                        <a:rPr sz="1150" b="1">
                          <a:solidFill>
                            <a:srgbClr val="FFFFFF"/>
                          </a:solidFill>
                          <a:latin typeface="Noto Sans KR"/>
                          <a:ea typeface="Noto Sans KR"/>
                          <a:cs typeface="Noto Sans KR"/>
                        </a:rPr>
                        <a:t>인건비 시나리오</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현지 인원</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연 인건비 (CNY)</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KRW (백만원)</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329184">
                <a:tc>
                  <a:txBody>
                    <a:bodyPr wrap="square"/>
                    <a:lstStyle/>
                    <a:p>
                      <a:pPr algn="l"/>
                      <a:r>
                        <a:rPr sz="1150" b="0">
                          <a:solidFill>
                            <a:srgbClr val="1A1A1A"/>
                          </a:solidFill>
                          <a:latin typeface="Noto Sans KR"/>
                          <a:ea typeface="Noto Sans KR"/>
                          <a:cs typeface="Noto Sans KR"/>
                        </a:rPr>
                        <a:t>최소 (B안)</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3명</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715,844</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146</a:t>
                      </a:r>
                    </a:p>
                  </a:txBody>
                  <a:tcPr marL="45720" marR="45720" marT="18000" marB="18000" anchor="ctr">
                    <a:lnL w="0">
                      <a:noFill/>
                    </a:lnL>
                    <a:lnR w="0">
                      <a:noFill/>
                    </a:lnR>
                    <a:lnT w="0">
                      <a:noFill/>
                    </a:lnT>
                    <a:lnB w="6350">
                      <a:solidFill>
                        <a:srgbClr val="D9D9D9"/>
                      </a:solidFill>
                    </a:lnB>
                    <a:solidFill>
                      <a:srgbClr val="FFFFFF"/>
                    </a:solidFill>
                  </a:tcPr>
                </a:tc>
              </a:tr>
              <a:tr h="329184">
                <a:tc>
                  <a:txBody>
                    <a:bodyPr wrap="square"/>
                    <a:lstStyle/>
                    <a:p>
                      <a:pPr algn="l"/>
                      <a:r>
                        <a:rPr sz="1150" b="0">
                          <a:solidFill>
                            <a:srgbClr val="1A1A1A"/>
                          </a:solidFill>
                          <a:latin typeface="Noto Sans KR"/>
                          <a:ea typeface="Noto Sans KR"/>
                          <a:cs typeface="Noto Sans KR"/>
                        </a:rPr>
                        <a:t>기준 (B안+물류)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4명</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954,459</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150" b="0">
                          <a:solidFill>
                            <a:srgbClr val="1A1A1A"/>
                          </a:solidFill>
                          <a:latin typeface="Noto Sans KR"/>
                          <a:ea typeface="Noto Sans KR"/>
                          <a:cs typeface="Noto Sans KR"/>
                        </a:rPr>
                        <a:t>195</a:t>
                      </a:r>
                    </a:p>
                  </a:txBody>
                  <a:tcPr marL="45720" marR="45720" marT="18000" marB="18000" anchor="ctr">
                    <a:lnL w="0">
                      <a:noFill/>
                    </a:lnL>
                    <a:lnR w="0">
                      <a:noFill/>
                    </a:lnR>
                    <a:lnT w="0">
                      <a:noFill/>
                    </a:lnT>
                    <a:lnB w="6350">
                      <a:solidFill>
                        <a:srgbClr val="D9D9D9"/>
                      </a:solidFill>
                    </a:lnB>
                    <a:solidFill>
                      <a:srgbClr val="FFFFFF"/>
                    </a:solidFill>
                  </a:tcPr>
                </a:tc>
              </a:tr>
              <a:tr h="329184">
                <a:tc>
                  <a:txBody>
                    <a:bodyPr wrap="square"/>
                    <a:lstStyle/>
                    <a:p>
                      <a:pPr algn="l"/>
                      <a:r>
                        <a:rPr sz="1150" b="0">
                          <a:solidFill>
                            <a:srgbClr val="1A1A1A"/>
                          </a:solidFill>
                          <a:latin typeface="Noto Sans KR"/>
                          <a:ea typeface="Noto Sans KR"/>
                          <a:cs typeface="Noto Sans KR"/>
                        </a:rPr>
                        <a:t>확대 (C안)</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0">
                          <a:solidFill>
                            <a:srgbClr val="1A1A1A"/>
                          </a:solidFill>
                          <a:latin typeface="Noto Sans KR"/>
                          <a:ea typeface="Noto Sans KR"/>
                          <a:cs typeface="Noto Sans KR"/>
                        </a:rPr>
                        <a:t>6명</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0">
                          <a:solidFill>
                            <a:srgbClr val="1A1A1A"/>
                          </a:solidFill>
                          <a:latin typeface="Noto Sans KR"/>
                          <a:ea typeface="Noto Sans KR"/>
                          <a:cs typeface="Noto Sans KR"/>
                        </a:rPr>
                        <a:t>1,431,688</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150" b="0">
                          <a:solidFill>
                            <a:srgbClr val="1A1A1A"/>
                          </a:solidFill>
                          <a:latin typeface="Noto Sans KR"/>
                          <a:ea typeface="Noto Sans KR"/>
                          <a:cs typeface="Noto Sans KR"/>
                        </a:rPr>
                        <a:t>292</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6" name="TextBox 165"/>
          <p:cNvSpPr txBox="1"/>
          <p:nvPr/>
        </p:nvSpPr>
        <p:spPr>
          <a:xfrm>
            <a:off x="283464" y="5120640"/>
            <a:ext cx="8567928" cy="914400"/>
          </a:xfrm>
          <a:prstGeom prst="rect">
            <a:avLst/>
          </a:prstGeom>
          <a:noFill/>
        </p:spPr>
        <p:txBody>
          <a:bodyPr wrap="square" anchor="t" lIns="27432" rIns="27432" tIns="18288" bIns="18288">
            <a:spAutoFit/>
          </a:bodyPr>
          <a:lstStyle/>
          <a:p>
            <a:pPr algn="l"/>
            <a:r>
              <a:rPr sz="1150" b="1">
                <a:solidFill>
                  <a:srgbClr val="C00000"/>
                </a:solidFill>
                <a:latin typeface="Noto Sans KR"/>
                <a:ea typeface="Noto Sans KR"/>
                <a:cs typeface="Noto Sans KR"/>
              </a:rPr>
              <a:t>구분  </a:t>
            </a:r>
            <a:r>
              <a:rPr sz="1100" b="0">
                <a:solidFill>
                  <a:srgbClr val="1A1A1A"/>
                </a:solidFill>
                <a:latin typeface="Noto Sans KR"/>
                <a:ea typeface="Noto Sans KR"/>
                <a:cs typeface="Noto Sans KR"/>
              </a:rPr>
              <a:t>등록자본(법정 최저 없음, 5년 내 납입) ≠ 투자비 ≠ 보증금 ≠ 재고자금. 등록자본 제안 = 확인 가능 고정비 × 1.5 = 1,073,766 CNY (미완성 — 견적 반영 후 재산정). 환율 1 CNY = 204 KRW (2026-09-01, 갱신 필요). 주재원(법인장) 비용은 본사·법인 부담 결정 전.</a:t>
            </a:r>
          </a:p>
        </p:txBody>
      </p:sp>
      <p:sp>
        <p:nvSpPr>
          <p:cNvPr id="167" name="TextBox 166"/>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15_CostModel·14_CostsRaw·13_FXAssumptions · EVD-027 무석 평균임금 147,293 CNY, EVD-034 환율, EVD-036 사회보험 기수</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연말까지 가능한 것은 법인 등기와 기존 备案 전환 신청입니다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350" dirty="0">
                <a:latin typeface="Noto Sans KR" panose="02000503000000020004" pitchFamily="2" charset="-127"/>
                <a:ea typeface="Noto Sans KR" panose="02000503000000020004" pitchFamily="2" charset="-127"/>
                <a:cs typeface="Noto Sans KR" panose="02000503000000020004" pitchFamily="2" charset="-127"/>
              </a:rPr>
              <a:t>기준 시나리오: 허가 2월 · TC 명의 등록 5월 · 초도 공급 2027년 7월</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26</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- 26 -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sp>
        <p:nvSpPr>
          <p:cNvPr id="164" name="Rectangle 163"/>
          <p:cNvSpPr/>
          <p:nvPr/>
        </p:nvSpPr>
        <p:spPr>
          <a:xfrm>
            <a:off x="2514600" y="1078992"/>
            <a:ext cx="4572" cy="379476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2514600" y="1042416"/>
            <a:ext cx="457200" cy="228600"/>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10</a:t>
            </a:r>
          </a:p>
        </p:txBody>
      </p:sp>
      <p:sp>
        <p:nvSpPr>
          <p:cNvPr id="166" name="Rectangle 165"/>
          <p:cNvSpPr/>
          <p:nvPr/>
        </p:nvSpPr>
        <p:spPr>
          <a:xfrm>
            <a:off x="2942587" y="1078992"/>
            <a:ext cx="4572" cy="379476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2942587" y="1042416"/>
            <a:ext cx="457200" cy="228600"/>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11</a:t>
            </a:r>
          </a:p>
        </p:txBody>
      </p:sp>
      <p:sp>
        <p:nvSpPr>
          <p:cNvPr id="168" name="Rectangle 167"/>
          <p:cNvSpPr/>
          <p:nvPr/>
        </p:nvSpPr>
        <p:spPr>
          <a:xfrm>
            <a:off x="3356768" y="1078992"/>
            <a:ext cx="4572" cy="379476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3356768" y="1042416"/>
            <a:ext cx="457200" cy="228600"/>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12</a:t>
            </a:r>
          </a:p>
        </p:txBody>
      </p:sp>
      <p:sp>
        <p:nvSpPr>
          <p:cNvPr id="170" name="Rectangle 169"/>
          <p:cNvSpPr/>
          <p:nvPr/>
        </p:nvSpPr>
        <p:spPr>
          <a:xfrm>
            <a:off x="3784755" y="1078992"/>
            <a:ext cx="4572" cy="379476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3784755" y="1042416"/>
            <a:ext cx="457200" cy="228600"/>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'27.1</a:t>
            </a:r>
          </a:p>
        </p:txBody>
      </p:sp>
      <p:sp>
        <p:nvSpPr>
          <p:cNvPr id="172" name="Rectangle 171"/>
          <p:cNvSpPr/>
          <p:nvPr/>
        </p:nvSpPr>
        <p:spPr>
          <a:xfrm>
            <a:off x="4212742" y="1078992"/>
            <a:ext cx="4572" cy="379476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4212742" y="1042416"/>
            <a:ext cx="457200" cy="228600"/>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2</a:t>
            </a:r>
          </a:p>
        </p:txBody>
      </p:sp>
      <p:sp>
        <p:nvSpPr>
          <p:cNvPr id="174" name="Rectangle 173"/>
          <p:cNvSpPr/>
          <p:nvPr/>
        </p:nvSpPr>
        <p:spPr>
          <a:xfrm>
            <a:off x="4599311" y="1078992"/>
            <a:ext cx="4572" cy="379476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4599311" y="1042416"/>
            <a:ext cx="457200" cy="228600"/>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3</a:t>
            </a:r>
          </a:p>
        </p:txBody>
      </p:sp>
      <p:sp>
        <p:nvSpPr>
          <p:cNvPr id="176" name="Rectangle 175"/>
          <p:cNvSpPr/>
          <p:nvPr/>
        </p:nvSpPr>
        <p:spPr>
          <a:xfrm>
            <a:off x="5027299" y="1078992"/>
            <a:ext cx="4572" cy="379476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5027299" y="1042416"/>
            <a:ext cx="457200" cy="228600"/>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4</a:t>
            </a:r>
          </a:p>
        </p:txBody>
      </p:sp>
      <p:sp>
        <p:nvSpPr>
          <p:cNvPr id="178" name="Rectangle 177"/>
          <p:cNvSpPr/>
          <p:nvPr/>
        </p:nvSpPr>
        <p:spPr>
          <a:xfrm>
            <a:off x="5441480" y="1078992"/>
            <a:ext cx="4572" cy="379476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5441480" y="1042416"/>
            <a:ext cx="457200" cy="228600"/>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5</a:t>
            </a:r>
          </a:p>
        </p:txBody>
      </p:sp>
      <p:sp>
        <p:nvSpPr>
          <p:cNvPr id="180" name="Rectangle 179"/>
          <p:cNvSpPr/>
          <p:nvPr/>
        </p:nvSpPr>
        <p:spPr>
          <a:xfrm>
            <a:off x="5869467" y="1078992"/>
            <a:ext cx="4572" cy="379476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5869467" y="1042416"/>
            <a:ext cx="457200" cy="228600"/>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6</a:t>
            </a:r>
          </a:p>
        </p:txBody>
      </p:sp>
      <p:sp>
        <p:nvSpPr>
          <p:cNvPr id="182" name="Rectangle 181"/>
          <p:cNvSpPr/>
          <p:nvPr/>
        </p:nvSpPr>
        <p:spPr>
          <a:xfrm>
            <a:off x="6283648" y="1078992"/>
            <a:ext cx="4572" cy="379476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6283648" y="1042416"/>
            <a:ext cx="457200" cy="228600"/>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7</a:t>
            </a:r>
          </a:p>
        </p:txBody>
      </p:sp>
      <p:sp>
        <p:nvSpPr>
          <p:cNvPr id="184" name="Rectangle 183"/>
          <p:cNvSpPr/>
          <p:nvPr/>
        </p:nvSpPr>
        <p:spPr>
          <a:xfrm>
            <a:off x="6711635" y="1078992"/>
            <a:ext cx="4572" cy="379476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6711635" y="1042416"/>
            <a:ext cx="457200" cy="228600"/>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8</a:t>
            </a:r>
          </a:p>
        </p:txBody>
      </p:sp>
      <p:sp>
        <p:nvSpPr>
          <p:cNvPr id="186" name="Rectangle 185"/>
          <p:cNvSpPr/>
          <p:nvPr/>
        </p:nvSpPr>
        <p:spPr>
          <a:xfrm>
            <a:off x="7139623" y="1078992"/>
            <a:ext cx="4572" cy="379476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7139623" y="1042416"/>
            <a:ext cx="457200" cy="228600"/>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9</a:t>
            </a:r>
          </a:p>
        </p:txBody>
      </p:sp>
      <p:sp>
        <p:nvSpPr>
          <p:cNvPr id="188" name="Rectangle 187"/>
          <p:cNvSpPr/>
          <p:nvPr/>
        </p:nvSpPr>
        <p:spPr>
          <a:xfrm>
            <a:off x="7553804" y="1078992"/>
            <a:ext cx="4572" cy="379476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7553804" y="1042416"/>
            <a:ext cx="457200" cy="228600"/>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10</a:t>
            </a:r>
          </a:p>
        </p:txBody>
      </p:sp>
      <p:sp>
        <p:nvSpPr>
          <p:cNvPr id="190" name="Rectangle 189"/>
          <p:cNvSpPr/>
          <p:nvPr/>
        </p:nvSpPr>
        <p:spPr>
          <a:xfrm>
            <a:off x="7981791" y="1078992"/>
            <a:ext cx="4572" cy="379476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7981791" y="1042416"/>
            <a:ext cx="457200" cy="228600"/>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11</a:t>
            </a:r>
          </a:p>
        </p:txBody>
      </p:sp>
      <p:sp>
        <p:nvSpPr>
          <p:cNvPr id="192" name="Rectangle 191"/>
          <p:cNvSpPr/>
          <p:nvPr/>
        </p:nvSpPr>
        <p:spPr>
          <a:xfrm>
            <a:off x="8395972" y="1078992"/>
            <a:ext cx="4572" cy="3794760"/>
          </a:xfrm>
          <a:prstGeom prst="rect">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8395972" y="1042416"/>
            <a:ext cx="457200" cy="228600"/>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12</a:t>
            </a:r>
          </a:p>
        </p:txBody>
      </p:sp>
      <p:sp>
        <p:nvSpPr>
          <p:cNvPr id="194" name="TextBox 193"/>
          <p:cNvSpPr txBox="1"/>
          <p:nvPr/>
        </p:nvSpPr>
        <p:spPr>
          <a:xfrm>
            <a:off x="283464" y="1353312"/>
            <a:ext cx="2194560" cy="274320"/>
          </a:xfrm>
          <a:prstGeom prst="rect">
            <a:avLst/>
          </a:prstGeom>
          <a:noFill/>
        </p:spPr>
        <p:txBody>
          <a:bodyPr wrap="square" anchor="t" lIns="27432" rIns="27432" tIns="18288" bIns="18288">
            <a:spAutoFit/>
          </a:bodyPr>
          <a:lstStyle/>
          <a:p>
            <a:pPr algn="l"/>
            <a:r>
              <a:rPr sz="1050" b="0">
                <a:solidFill>
                  <a:srgbClr val="1A1A1A"/>
                </a:solidFill>
                <a:latin typeface="Noto Sans KR"/>
                <a:ea typeface="Noto Sans KR"/>
                <a:cs typeface="Noto Sans KR"/>
              </a:rPr>
              <a:t>물질·규제 분류</a:t>
            </a:r>
          </a:p>
        </p:txBody>
      </p:sp>
      <p:sp>
        <p:nvSpPr>
          <p:cNvPr id="195" name="Rectangle 194"/>
          <p:cNvSpPr/>
          <p:nvPr/>
        </p:nvSpPr>
        <p:spPr>
          <a:xfrm>
            <a:off x="2583630" y="1426464"/>
            <a:ext cx="276120" cy="1645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2583630" y="1426464"/>
            <a:ext cx="179478" cy="16459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283464" y="1682495"/>
            <a:ext cx="2194560" cy="274320"/>
          </a:xfrm>
          <a:prstGeom prst="rect">
            <a:avLst/>
          </a:prstGeom>
          <a:noFill/>
        </p:spPr>
        <p:txBody>
          <a:bodyPr wrap="square" anchor="t" lIns="27432" rIns="27432" tIns="18288" bIns="18288">
            <a:spAutoFit/>
          </a:bodyPr>
          <a:lstStyle/>
          <a:p>
            <a:pPr algn="l"/>
            <a:r>
              <a:rPr sz="1050" b="0">
                <a:solidFill>
                  <a:srgbClr val="1A1A1A"/>
                </a:solidFill>
                <a:latin typeface="Noto Sans KR"/>
                <a:ea typeface="Noto Sans KR"/>
                <a:cs typeface="Noto Sans KR"/>
              </a:rPr>
              <a:t>기관 질의</a:t>
            </a:r>
          </a:p>
        </p:txBody>
      </p:sp>
      <p:sp>
        <p:nvSpPr>
          <p:cNvPr id="198" name="Rectangle 197"/>
          <p:cNvSpPr/>
          <p:nvPr/>
        </p:nvSpPr>
        <p:spPr>
          <a:xfrm>
            <a:off x="2583630" y="1755648"/>
            <a:ext cx="469405" cy="1645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2583630" y="1755648"/>
            <a:ext cx="276120" cy="16459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283464" y="2011679"/>
            <a:ext cx="2194560" cy="274320"/>
          </a:xfrm>
          <a:prstGeom prst="rect">
            <a:avLst/>
          </a:prstGeom>
          <a:noFill/>
        </p:spPr>
        <p:txBody>
          <a:bodyPr wrap="square" anchor="t" lIns="27432" rIns="27432" tIns="18288" bIns="18288">
            <a:spAutoFit/>
          </a:bodyPr>
          <a:lstStyle/>
          <a:p>
            <a:pPr algn="l"/>
            <a:r>
              <a:rPr sz="1050" b="0">
                <a:solidFill>
                  <a:srgbClr val="1A1A1A"/>
                </a:solidFill>
                <a:latin typeface="Noto Sans KR"/>
                <a:ea typeface="Noto Sans KR"/>
                <a:cs typeface="Noto Sans KR"/>
              </a:rPr>
              <a:t>경영진 승인</a:t>
            </a:r>
          </a:p>
        </p:txBody>
      </p:sp>
      <p:sp>
        <p:nvSpPr>
          <p:cNvPr id="201" name="Rectangle 200"/>
          <p:cNvSpPr/>
          <p:nvPr/>
        </p:nvSpPr>
        <p:spPr>
          <a:xfrm>
            <a:off x="2873557" y="2084831"/>
            <a:ext cx="566047" cy="1645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3066841" y="2084831"/>
            <a:ext cx="82836" cy="16459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283464" y="2340864"/>
            <a:ext cx="2194560" cy="274320"/>
          </a:xfrm>
          <a:prstGeom prst="rect">
            <a:avLst/>
          </a:prstGeom>
          <a:noFill/>
        </p:spPr>
        <p:txBody>
          <a:bodyPr wrap="square" anchor="t" lIns="27432" rIns="27432" tIns="18288" bIns="18288">
            <a:spAutoFit/>
          </a:bodyPr>
          <a:lstStyle/>
          <a:p>
            <a:pPr algn="l"/>
            <a:r>
              <a:rPr sz="1050" b="1">
                <a:solidFill>
                  <a:srgbClr val="1A1A1A"/>
                </a:solidFill>
                <a:latin typeface="Noto Sans KR"/>
                <a:ea typeface="Noto Sans KR"/>
                <a:cs typeface="Noto Sans KR"/>
              </a:rPr>
              <a:t>법인 등기</a:t>
            </a:r>
          </a:p>
        </p:txBody>
      </p:sp>
      <p:sp>
        <p:nvSpPr>
          <p:cNvPr id="204" name="Rectangle 203"/>
          <p:cNvSpPr/>
          <p:nvPr/>
        </p:nvSpPr>
        <p:spPr>
          <a:xfrm>
            <a:off x="2970199" y="2414016"/>
            <a:ext cx="1242543" cy="1645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3163483" y="2414016"/>
            <a:ext cx="469405" cy="16459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283464" y="2670048"/>
            <a:ext cx="2194560" cy="274320"/>
          </a:xfrm>
          <a:prstGeom prst="rect">
            <a:avLst/>
          </a:prstGeom>
          <a:noFill/>
        </p:spPr>
        <p:txBody>
          <a:bodyPr wrap="square" anchor="t" lIns="27432" rIns="27432" tIns="18288" bIns="18288">
            <a:spAutoFit/>
          </a:bodyPr>
          <a:lstStyle/>
          <a:p>
            <a:pPr algn="l"/>
            <a:r>
              <a:rPr sz="1050" b="0">
                <a:solidFill>
                  <a:srgbClr val="1A1A1A"/>
                </a:solidFill>
                <a:latin typeface="Noto Sans KR"/>
                <a:ea typeface="Noto Sans KR"/>
                <a:cs typeface="Noto Sans KR"/>
              </a:rPr>
              <a:t>무저장 경영허가</a:t>
            </a:r>
          </a:p>
        </p:txBody>
      </p:sp>
      <p:sp>
        <p:nvSpPr>
          <p:cNvPr id="207" name="Rectangle 206"/>
          <p:cNvSpPr/>
          <p:nvPr/>
        </p:nvSpPr>
        <p:spPr>
          <a:xfrm>
            <a:off x="3260126" y="2743200"/>
            <a:ext cx="2112324" cy="1645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3646695" y="2743200"/>
            <a:ext cx="759332" cy="164592"/>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283464" y="2999232"/>
            <a:ext cx="2194560" cy="274320"/>
          </a:xfrm>
          <a:prstGeom prst="rect">
            <a:avLst/>
          </a:prstGeom>
          <a:noFill/>
        </p:spPr>
        <p:txBody>
          <a:bodyPr wrap="square" anchor="t" lIns="27432" rIns="27432" tIns="18288" bIns="18288">
            <a:spAutoFit/>
          </a:bodyPr>
          <a:lstStyle/>
          <a:p>
            <a:pPr algn="l"/>
            <a:r>
              <a:rPr sz="1050" b="0">
                <a:solidFill>
                  <a:srgbClr val="1A1A1A"/>
                </a:solidFill>
                <a:latin typeface="Noto Sans KR"/>
                <a:ea typeface="Noto Sans KR"/>
                <a:cs typeface="Noto Sans KR"/>
              </a:rPr>
              <a:t>위험화학품 등록</a:t>
            </a:r>
          </a:p>
        </p:txBody>
      </p:sp>
      <p:sp>
        <p:nvSpPr>
          <p:cNvPr id="210" name="Rectangle 209"/>
          <p:cNvSpPr/>
          <p:nvPr/>
        </p:nvSpPr>
        <p:spPr>
          <a:xfrm>
            <a:off x="3743337" y="3072384"/>
            <a:ext cx="2208966" cy="1645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4419833" y="3072384"/>
            <a:ext cx="372763" cy="16459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283464" y="3328416"/>
            <a:ext cx="2194560" cy="274320"/>
          </a:xfrm>
          <a:prstGeom prst="rect">
            <a:avLst/>
          </a:prstGeom>
          <a:noFill/>
        </p:spPr>
        <p:txBody>
          <a:bodyPr wrap="square" anchor="t" lIns="27432" rIns="27432" tIns="18288" bIns="18288">
            <a:spAutoFit/>
          </a:bodyPr>
          <a:lstStyle/>
          <a:p>
            <a:pPr algn="l"/>
            <a:r>
              <a:rPr sz="1050" b="1">
                <a:solidFill>
                  <a:srgbClr val="1A1A1A"/>
                </a:solidFill>
                <a:latin typeface="Noto Sans KR"/>
                <a:ea typeface="Noto Sans KR"/>
                <a:cs typeface="Noto Sans KR"/>
              </a:rPr>
              <a:t>신규물질 등록 (TC 명의)</a:t>
            </a:r>
          </a:p>
        </p:txBody>
      </p:sp>
      <p:sp>
        <p:nvSpPr>
          <p:cNvPr id="213" name="Rectangle 212"/>
          <p:cNvSpPr/>
          <p:nvPr/>
        </p:nvSpPr>
        <p:spPr>
          <a:xfrm>
            <a:off x="3260126" y="3401568"/>
            <a:ext cx="4045169" cy="1645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3646695" y="3401568"/>
            <a:ext cx="1919039" cy="164592"/>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283464" y="3657599"/>
            <a:ext cx="2194560" cy="274320"/>
          </a:xfrm>
          <a:prstGeom prst="rect">
            <a:avLst/>
          </a:prstGeom>
          <a:noFill/>
        </p:spPr>
        <p:txBody>
          <a:bodyPr wrap="square" anchor="t" lIns="27432" rIns="27432" tIns="18288" bIns="18288">
            <a:spAutoFit/>
          </a:bodyPr>
          <a:lstStyle/>
          <a:p>
            <a:pPr algn="l"/>
            <a:r>
              <a:rPr sz="1050" b="0">
                <a:solidFill>
                  <a:srgbClr val="1A1A1A"/>
                </a:solidFill>
                <a:latin typeface="Noto Sans KR"/>
                <a:ea typeface="Noto Sans KR"/>
                <a:cs typeface="Noto Sans KR"/>
              </a:rPr>
              <a:t>3PL 계약</a:t>
            </a:r>
          </a:p>
        </p:txBody>
      </p:sp>
      <p:sp>
        <p:nvSpPr>
          <p:cNvPr id="216" name="Rectangle 215"/>
          <p:cNvSpPr/>
          <p:nvPr/>
        </p:nvSpPr>
        <p:spPr>
          <a:xfrm>
            <a:off x="2776914" y="3730751"/>
            <a:ext cx="1242543" cy="1645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2873557" y="3730751"/>
            <a:ext cx="566047" cy="16459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283464" y="3986784"/>
            <a:ext cx="2194560" cy="274320"/>
          </a:xfrm>
          <a:prstGeom prst="rect">
            <a:avLst/>
          </a:prstGeom>
          <a:noFill/>
        </p:spPr>
        <p:txBody>
          <a:bodyPr wrap="square" anchor="t" lIns="27432" rIns="27432" tIns="18288" bIns="18288">
            <a:spAutoFit/>
          </a:bodyPr>
          <a:lstStyle/>
          <a:p>
            <a:pPr algn="l"/>
            <a:r>
              <a:rPr sz="1050" b="0">
                <a:solidFill>
                  <a:srgbClr val="1A1A1A"/>
                </a:solidFill>
                <a:latin typeface="Noto Sans KR"/>
                <a:ea typeface="Noto Sans KR"/>
                <a:cs typeface="Noto Sans KR"/>
              </a:rPr>
              <a:t>고객 공급자 승인</a:t>
            </a:r>
          </a:p>
        </p:txBody>
      </p:sp>
      <p:sp>
        <p:nvSpPr>
          <p:cNvPr id="219" name="Rectangle 218"/>
          <p:cNvSpPr/>
          <p:nvPr/>
        </p:nvSpPr>
        <p:spPr>
          <a:xfrm>
            <a:off x="4419833" y="4059935"/>
            <a:ext cx="4045169" cy="1645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5579540" y="4059935"/>
            <a:ext cx="759332" cy="16459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283464" y="4315968"/>
            <a:ext cx="2194560" cy="274320"/>
          </a:xfrm>
          <a:prstGeom prst="rect">
            <a:avLst/>
          </a:prstGeom>
          <a:noFill/>
        </p:spPr>
        <p:txBody>
          <a:bodyPr wrap="square" anchor="t" lIns="27432" rIns="27432" tIns="18288" bIns="18288">
            <a:spAutoFit/>
          </a:bodyPr>
          <a:lstStyle/>
          <a:p>
            <a:pPr algn="l"/>
            <a:r>
              <a:rPr sz="1050" b="1">
                <a:solidFill>
                  <a:srgbClr val="1A1A1A"/>
                </a:solidFill>
                <a:latin typeface="Noto Sans KR"/>
                <a:ea typeface="Noto Sans KR"/>
                <a:cs typeface="Noto Sans KR"/>
              </a:rPr>
              <a:t>초도 공급</a:t>
            </a:r>
          </a:p>
        </p:txBody>
      </p:sp>
      <p:sp>
        <p:nvSpPr>
          <p:cNvPr id="222" name="Rectangle 221"/>
          <p:cNvSpPr/>
          <p:nvPr/>
        </p:nvSpPr>
        <p:spPr>
          <a:xfrm>
            <a:off x="4806402" y="4389120"/>
            <a:ext cx="3948527" cy="1645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6352678" y="4389120"/>
            <a:ext cx="179478" cy="16459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283464" y="4645152"/>
            <a:ext cx="2194560" cy="274320"/>
          </a:xfrm>
          <a:prstGeom prst="rect">
            <a:avLst/>
          </a:prstGeom>
          <a:noFill/>
        </p:spPr>
        <p:txBody>
          <a:bodyPr wrap="square" anchor="t" lIns="27432" rIns="27432" tIns="18288" bIns="18288">
            <a:spAutoFit/>
          </a:bodyPr>
          <a:lstStyle/>
          <a:p>
            <a:pPr algn="l"/>
            <a:r>
              <a:rPr sz="1050" b="1">
                <a:solidFill>
                  <a:srgbClr val="C00000"/>
                </a:solidFill>
                <a:latin typeface="Noto Sans KR"/>
                <a:ea typeface="Noto Sans KR"/>
                <a:cs typeface="Noto Sans KR"/>
              </a:rPr>
              <a:t>연말: 备案 전환 신청</a:t>
            </a:r>
          </a:p>
        </p:txBody>
      </p:sp>
      <p:sp>
        <p:nvSpPr>
          <p:cNvPr id="225" name="Rectangle 224"/>
          <p:cNvSpPr/>
          <p:nvPr/>
        </p:nvSpPr>
        <p:spPr>
          <a:xfrm>
            <a:off x="2680272" y="4718303"/>
            <a:ext cx="1145901" cy="164592"/>
          </a:xfrm>
          <a:prstGeom prst="rect">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2776914" y="4718303"/>
            <a:ext cx="566047" cy="16459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3770949" y="1078992"/>
            <a:ext cx="18288" cy="3794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3359469" y="4901183"/>
            <a:ext cx="822960" cy="201168"/>
          </a:xfrm>
          <a:prstGeom prst="rect">
            <a:avLst/>
          </a:prstGeom>
          <a:noFill/>
        </p:spPr>
        <p:txBody>
          <a:bodyPr wrap="square" anchor="t" lIns="27432" rIns="27432" tIns="18288" bIns="18288">
            <a:spAutoFit/>
          </a:bodyPr>
          <a:lstStyle/>
          <a:p>
            <a:pPr algn="ctr"/>
            <a:r>
              <a:rPr sz="900" b="1">
                <a:solidFill>
                  <a:srgbClr val="C00000"/>
                </a:solidFill>
                <a:latin typeface="Noto Sans KR"/>
                <a:ea typeface="Noto Sans KR"/>
                <a:cs typeface="Noto Sans KR"/>
              </a:rPr>
              <a:t>12-31</a:t>
            </a:r>
          </a:p>
        </p:txBody>
      </p:sp>
      <p:sp>
        <p:nvSpPr>
          <p:cNvPr id="229" name="TextBox 228"/>
          <p:cNvSpPr txBox="1"/>
          <p:nvPr/>
        </p:nvSpPr>
        <p:spPr>
          <a:xfrm>
            <a:off x="283464" y="5230368"/>
            <a:ext cx="8567928" cy="868680"/>
          </a:xfrm>
          <a:prstGeom prst="rect">
            <a:avLst/>
          </a:prstGeom>
          <a:noFill/>
        </p:spPr>
        <p:txBody>
          <a:bodyPr wrap="square" anchor="t" lIns="27432" rIns="27432" tIns="18288" bIns="18288">
            <a:spAutoFit/>
          </a:bodyPr>
          <a:lstStyle/>
          <a:p>
            <a:pPr algn="l"/>
            <a:r>
              <a:rPr sz="1100" b="1">
                <a:solidFill>
                  <a:srgbClr val="C00000"/>
                </a:solidFill>
                <a:latin typeface="Noto Sans KR"/>
                <a:ea typeface="Noto Sans KR"/>
                <a:cs typeface="Noto Sans KR"/>
              </a:rPr>
              <a:t>읽는 법  </a:t>
            </a:r>
            <a:r>
              <a:rPr sz="1050" b="0">
                <a:solidFill>
                  <a:srgbClr val="1A1A1A"/>
                </a:solidFill>
                <a:latin typeface="Noto Sans KR"/>
                <a:ea typeface="Noto Sans KR"/>
                <a:cs typeface="Noto Sans KR"/>
              </a:rPr>
              <a:t>진한 막대 = 기준 시나리오, 옅은 막대 = 낙관~보수 범위 (기간은 분석 가정, 공휴일 미반영). </a:t>
            </a:r>
          </a:p>
          <a:p>
            <a:pPr algn="l"/>
            <a:r>
              <a:rPr sz="1100" b="1">
                <a:solidFill>
                  <a:srgbClr val="C00000"/>
                </a:solidFill>
                <a:latin typeface="Noto Sans KR"/>
                <a:ea typeface="Noto Sans KR"/>
                <a:cs typeface="Noto Sans KR"/>
              </a:rPr>
              <a:t>기준 시나리오  </a:t>
            </a:r>
            <a:r>
              <a:rPr sz="1050" b="0">
                <a:solidFill>
                  <a:srgbClr val="1A1A1A"/>
                </a:solidFill>
                <a:latin typeface="Noto Sans KR"/>
                <a:ea typeface="Noto Sans KR"/>
                <a:cs typeface="Noto Sans KR"/>
              </a:rPr>
              <a:t>법인 등기 26.12.21 · 경영허가 27.2.15 · TC 명의 등록 27.5.10 · 초도 공급 27.7.19  |  备案 전환 신청 26.11.30 (낙관 26.11.9 · 보수 27.1.4)</a:t>
            </a:r>
          </a:p>
        </p:txBody>
      </p:sp>
      <p:sp>
        <p:nvSpPr>
          <p:cNvPr id="230" name="TextBox 229"/>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16_Timeline (선행관계 수식, 3시나리오) · EVD-003 연말 기한 · EVD-016 처리기한 사례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첫 2주에 결론을 바꿀 사실 5가지를 확인합니다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备案 보유자 · 제품 분류 · 개정안 확정 · 3PL 품목 · MP 허가</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27</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- 27 -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3282696"/>
        </p:xfrm>
        <a:graphic>
          <a:graphicData uri="http://schemas.openxmlformats.org/drawingml/2006/table">
            <a:tbl>
              <a:tblPr firstRow="0" bandRow="0"/>
              <a:tblGrid>
                <a:gridCol w="3017520"/>
                <a:gridCol w="685800"/>
                <a:gridCol w="2834640"/>
                <a:gridCol w="1024128"/>
                <a:gridCol w="1005840"/>
              </a:tblGrid>
              <a:tr h="274320">
                <a:tc>
                  <a:txBody>
                    <a:bodyPr wrap="square"/>
                    <a:lstStyle/>
                    <a:p>
                      <a:pPr algn="ctr"/>
                      <a:r>
                        <a:rPr sz="1050" b="1">
                          <a:solidFill>
                            <a:srgbClr val="FFFFFF"/>
                          </a:solidFill>
                          <a:latin typeface="Noto Sans KR"/>
                          <a:ea typeface="Noto Sans KR"/>
                          <a:cs typeface="Noto Sans KR"/>
                        </a:rPr>
                        <a:t>리스크</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영향</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조기 확인</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담당</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기한</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429768">
                <a:tc>
                  <a:txBody>
                    <a:bodyPr wrap="square"/>
                    <a:lstStyle/>
                    <a:p>
                      <a:pPr algn="l"/>
                      <a:r>
                        <a:rPr sz="1050" b="0">
                          <a:solidFill>
                            <a:srgbClr val="1A1A1A"/>
                          </a:solidFill>
                          <a:latin typeface="Noto Sans KR"/>
                          <a:ea typeface="Noto Sans KR"/>
                          <a:cs typeface="Noto Sans KR"/>
                        </a:rPr>
                        <a:t>연말 기한 대상 여부 오판 (备案 보유 여부)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높음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备案 번호·보유자 확인 후 전환 신청</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해외영업</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10-16</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050" b="0">
                          <a:solidFill>
                            <a:srgbClr val="1A1A1A"/>
                          </a:solidFill>
                          <a:latin typeface="Noto Sans KR"/>
                          <a:ea typeface="Noto Sans KR"/>
                          <a:cs typeface="Noto Sans KR"/>
                        </a:rPr>
                        <a:t>등록 주체 오판 (개정안 확정 시 해외 기업 신청 불가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높음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최종 공포 여부 확인, TC 법인·대리 두 경로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법무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10-20</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050" b="0">
                          <a:solidFill>
                            <a:srgbClr val="1A1A1A"/>
                          </a:solidFill>
                          <a:latin typeface="Noto Sans KR"/>
                          <a:ea typeface="Noto Sans KR"/>
                          <a:cs typeface="Noto Sans KR"/>
                        </a:rPr>
                        <a:t>제품 분류 오류 (위험화학품·신규 여부)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높음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제품별 판정표 작성·감정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한호진 PL</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10-20</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050" b="0">
                          <a:solidFill>
                            <a:srgbClr val="1A1A1A"/>
                          </a:solidFill>
                          <a:latin typeface="Noto Sans KR"/>
                          <a:ea typeface="Noto Sans KR"/>
                          <a:cs typeface="Noto Sans KR"/>
                        </a:rPr>
                        <a:t>4.2·4.3류 등 특수 물성 수용 창고 미확보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높음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물성 확정 후 품목 범위 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현지·물류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10-31</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050" b="0">
                          <a:solidFill>
                            <a:srgbClr val="1A1A1A"/>
                          </a:solidFill>
                          <a:latin typeface="Noto Sans KR"/>
                          <a:ea typeface="Noto Sans KR"/>
                          <a:cs typeface="Noto Sans KR"/>
                        </a:rPr>
                        <a:t>MP 정보 부족으로 비교 불가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중간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MP 실사 질문지 회신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기획</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10-16</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050" b="0">
                          <a:solidFill>
                            <a:srgbClr val="1A1A1A"/>
                          </a:solidFill>
                          <a:latin typeface="Noto Sans KR"/>
                          <a:ea typeface="Noto Sans KR"/>
                          <a:cs typeface="Noto Sans KR"/>
                        </a:rPr>
                        <a:t>강소성 원구·창고 진입 불가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중간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무석·장자강·상하이 3PL 동시 질의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현지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10-31</a:t>
                      </a:r>
                    </a:p>
                  </a:txBody>
                  <a:tcPr marL="45720" marR="45720" marT="18000" marB="18000" anchor="ctr">
                    <a:lnL w="0">
                      <a:noFill/>
                    </a:lnL>
                    <a:lnR w="0">
                      <a:noFill/>
                    </a:lnR>
                    <a:lnT w="0">
                      <a:noFill/>
                    </a:lnT>
                    <a:lnB w="6350">
                      <a:solidFill>
                        <a:srgbClr val="D9D9D9"/>
                      </a:solidFill>
                    </a:lnB>
                    <a:solidFill>
                      <a:srgbClr val="FFFFFF"/>
                    </a:solidFill>
                  </a:tcPr>
                </a:tc>
              </a:tr>
              <a:tr h="429768">
                <a:tc>
                  <a:txBody>
                    <a:bodyPr wrap="square"/>
                    <a:lstStyle/>
                    <a:p>
                      <a:pPr algn="l"/>
                      <a:r>
                        <a:rPr sz="1050" b="0">
                          <a:solidFill>
                            <a:srgbClr val="1A1A1A"/>
                          </a:solidFill>
                          <a:latin typeface="Noto Sans KR"/>
                          <a:ea typeface="Noto Sans KR"/>
                          <a:cs typeface="Noto Sans KR"/>
                        </a:rPr>
                        <a:t>중국 내 시험 지연 (공시생물 생태독성)</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50" b="0">
                          <a:solidFill>
                            <a:srgbClr val="1A1A1A"/>
                          </a:solidFill>
                          <a:latin typeface="Noto Sans KR"/>
                          <a:ea typeface="Noto Sans KR"/>
                          <a:cs typeface="Noto Sans KR"/>
                        </a:rPr>
                        <a:t>중간</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050" b="0">
                          <a:solidFill>
                            <a:srgbClr val="1A1A1A"/>
                          </a:solidFill>
                          <a:latin typeface="Noto Sans KR"/>
                          <a:ea typeface="Noto Sans KR"/>
                          <a:cs typeface="Noto Sans KR"/>
                        </a:rPr>
                        <a:t>시험기관 견적·일정 확보</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50" b="0">
                          <a:solidFill>
                            <a:srgbClr val="1A1A1A"/>
                          </a:solidFill>
                          <a:latin typeface="Noto Sans KR"/>
                          <a:ea typeface="Noto Sans KR"/>
                          <a:cs typeface="Noto Sans KR"/>
                        </a:rPr>
                        <a:t>한호진 PL</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50" b="0">
                          <a:solidFill>
                            <a:srgbClr val="1A1A1A"/>
                          </a:solidFill>
                          <a:latin typeface="Noto Sans KR"/>
                          <a:ea typeface="Noto Sans KR"/>
                          <a:cs typeface="Noto Sans KR"/>
                        </a:rPr>
                        <a:t>10-31</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Rectangle 164"/>
          <p:cNvSpPr/>
          <p:nvPr/>
        </p:nvSpPr>
        <p:spPr>
          <a:xfrm>
            <a:off x="283464" y="4379976"/>
            <a:ext cx="54864" cy="182880"/>
          </a:xfrm>
          <a:prstGeom prst="rect">
            <a:avLst/>
          </a:prstGeom>
          <a:solidFill>
            <a:srgbClr val="EB0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393192" y="4334256"/>
            <a:ext cx="8458200" cy="274320"/>
          </a:xfrm>
          <a:prstGeom prst="rect">
            <a:avLst/>
          </a:prstGeom>
          <a:noFill/>
        </p:spPr>
        <p:txBody>
          <a:bodyPr wrap="square" anchor="t" lIns="27432" rIns="27432" tIns="18288" bIns="18288">
            <a:spAutoFit/>
          </a:bodyPr>
          <a:lstStyle/>
          <a:p>
            <a:pPr algn="l"/>
            <a:r>
              <a:rPr sz="1200" b="1">
                <a:solidFill>
                  <a:srgbClr val="1A1A1A"/>
                </a:solidFill>
                <a:latin typeface="Noto Sans KR"/>
                <a:ea typeface="Noto Sans KR"/>
                <a:cs typeface="Noto Sans KR"/>
              </a:rPr>
              <a:t>2주 실행 계획 (10/6~10/20)</a:t>
            </a:r>
          </a:p>
        </p:txBody>
      </p:sp>
      <p:sp>
        <p:nvSpPr>
          <p:cNvPr id="167" name="TextBox 166"/>
          <p:cNvSpPr txBox="1"/>
          <p:nvPr/>
        </p:nvSpPr>
        <p:spPr>
          <a:xfrm>
            <a:off x="283464" y="4617720"/>
            <a:ext cx="8567928" cy="1463040"/>
          </a:xfrm>
          <a:prstGeom prst="rect">
            <a:avLst/>
          </a:prstGeom>
          <a:noFill/>
        </p:spPr>
        <p:txBody>
          <a:bodyPr wrap="square" lIns="27432" rIns="27432">
            <a:spAutoFit/>
          </a:bodyPr>
          <a:lstStyle/>
          <a:p>
            <a:pPr>
              <a:spcAft>
                <a:spcPts val="400"/>
              </a:spcAft>
            </a:pPr>
            <a:r>
              <a:rPr sz="1150" b="0">
                <a:solidFill>
                  <a:srgbClr val="1A1A1A"/>
                </a:solidFill>
                <a:latin typeface="Noto Sans KR"/>
                <a:ea typeface="Noto Sans KR"/>
                <a:cs typeface="Noto Sans KR"/>
              </a:rPr>
              <a:t>• 1주: 제품별 CAS·SDS·수입량·备案 번호 수집(한호진 PL) · MP 실사 질문지 발송(기획) · 법무 전문가 후보 선정</a:t>
            </a:r>
          </a:p>
          <a:p>
            <a:pPr>
              <a:spcAft>
                <a:spcPts val="400"/>
              </a:spcAft>
            </a:pPr>
            <a:r>
              <a:rPr sz="1150" b="0">
                <a:solidFill>
                  <a:srgbClr val="1A1A1A"/>
                </a:solidFill>
                <a:latin typeface="Noto Sans KR"/>
                <a:ea typeface="Noto Sans KR"/>
                <a:cs typeface="Noto Sans KR"/>
              </a:rPr>
              <a:t>• 1~2주: 무석 신오구·쑤저우 응급관리/행정심사 질의, 생태환경부 등록 상담, 3PL 3곳(무석 원구·장자강·상하이) 품목 문의</a:t>
            </a:r>
          </a:p>
          <a:p>
            <a:pPr>
              <a:spcAft>
                <a:spcPts val="400"/>
              </a:spcAft>
            </a:pPr>
            <a:r>
              <a:rPr sz="1150" b="0">
                <a:solidFill>
                  <a:srgbClr val="1A1A1A"/>
                </a:solidFill>
                <a:latin typeface="Noto Sans KR"/>
                <a:ea typeface="Noto Sans KR"/>
                <a:cs typeface="Noto Sans KR"/>
              </a:rPr>
              <a:t>• 2주 말: 판정표·회신 정리 → 구조·지역 1차 확정안 보고 (30/60/90일 계획은 부록)</a:t>
            </a:r>
          </a:p>
        </p:txBody>
      </p:sp>
      <p:sp>
        <p:nvSpPr>
          <p:cNvPr id="168" name="TextBox 167"/>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17_RisksActions 시트 (R01~R13) · 모든 기관 문의 상태: 문의 예정</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오늘 결정할 것은 '검증 착수'이고 확정은 11월입니다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현재 최종 도시·구조 확정 불가 — 병행 추진 후보를 승인 요청</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28</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- 28 -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3694176"/>
        </p:xfrm>
        <a:graphic>
          <a:graphicData uri="http://schemas.openxmlformats.org/drawingml/2006/table">
            <a:tbl>
              <a:tblPr firstRow="0" bandRow="0"/>
              <a:tblGrid>
                <a:gridCol w="1280160"/>
                <a:gridCol w="4023360"/>
                <a:gridCol w="2148840"/>
                <a:gridCol w="1115568"/>
              </a:tblGrid>
              <a:tr h="292608">
                <a:tc>
                  <a:txBody>
                    <a:bodyPr wrap="square"/>
                    <a:lstStyle/>
                    <a:p>
                      <a:pPr algn="ctr"/>
                      <a:r>
                        <a:rPr sz="1200" b="1">
                          <a:solidFill>
                            <a:srgbClr val="FFFFFF"/>
                          </a:solidFill>
                          <a:latin typeface="Noto Sans KR"/>
                          <a:ea typeface="Noto Sans KR"/>
                          <a:cs typeface="Noto Sans KR"/>
                        </a:rPr>
                        <a:t>결정 항목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제안</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조건</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200" b="1">
                          <a:solidFill>
                            <a:srgbClr val="FFFFFF"/>
                          </a:solidFill>
                          <a:latin typeface="Noto Sans KR"/>
                          <a:ea typeface="Noto Sans KR"/>
                          <a:cs typeface="Noto Sans KR"/>
                        </a:rPr>
                        <a:t>기한</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566928">
                <a:tc>
                  <a:txBody>
                    <a:bodyPr wrap="square"/>
                    <a:lstStyle/>
                    <a:p>
                      <a:pPr algn="l"/>
                      <a:r>
                        <a:rPr sz="1200" b="0">
                          <a:solidFill>
                            <a:srgbClr val="1A1A1A"/>
                          </a:solidFill>
                          <a:latin typeface="Noto Sans KR"/>
                          <a:ea typeface="Noto Sans KR"/>
                          <a:cs typeface="Noto Sans KR"/>
                        </a:rPr>
                        <a:t>운영 구조</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l"/>
                      <a:r>
                        <a:rPr sz="1200" b="0">
                          <a:solidFill>
                            <a:srgbClr val="1A1A1A"/>
                          </a:solidFill>
                          <a:latin typeface="Noto Sans KR"/>
                          <a:ea typeface="Noto Sans KR"/>
                          <a:cs typeface="Noto Sans KR"/>
                        </a:rPr>
                        <a:t>B안 (TC 법인 + 무저장 + 3PL) 우선, MP·대리인안 병행 검토</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l"/>
                      <a:r>
                        <a:rPr sz="1200" b="0">
                          <a:solidFill>
                            <a:srgbClr val="1A1A1A"/>
                          </a:solidFill>
                          <a:latin typeface="Noto Sans KR"/>
                          <a:ea typeface="Noto Sans KR"/>
                          <a:cs typeface="Noto Sans KR"/>
                        </a:rPr>
                        <a:t>MP 허가 보유 시 재검토</a:t>
                      </a:r>
                    </a:p>
                  </a:txBody>
                  <a:tcPr marL="45720" marR="45720" marT="18000" marB="18000" anchor="ctr">
                    <a:lnL w="0">
                      <a:noFill/>
                    </a:lnL>
                    <a:lnR w="0">
                      <a:noFill/>
                    </a:lnR>
                    <a:lnT w="0">
                      <a:noFill/>
                    </a:lnT>
                    <a:lnB w="6350">
                      <a:solidFill>
                        <a:srgbClr val="D9D9D9"/>
                      </a:solidFill>
                    </a:lnB>
                    <a:solidFill>
                      <a:srgbClr val="FFF2E6"/>
                    </a:solidFill>
                  </a:tcPr>
                </a:tc>
                <a:tc>
                  <a:txBody>
                    <a:bodyPr wrap="square"/>
                    <a:lstStyle/>
                    <a:p>
                      <a:pPr algn="ctr"/>
                      <a:r>
                        <a:rPr sz="1200" b="0">
                          <a:solidFill>
                            <a:srgbClr val="1A1A1A"/>
                          </a:solidFill>
                          <a:latin typeface="Noto Sans KR"/>
                          <a:ea typeface="Noto Sans KR"/>
                          <a:cs typeface="Noto Sans KR"/>
                        </a:rPr>
                        <a:t>11월 중순</a:t>
                      </a:r>
                    </a:p>
                  </a:txBody>
                  <a:tcPr marL="45720" marR="45720" marT="18000" marB="18000" anchor="ctr">
                    <a:lnL w="0">
                      <a:noFill/>
                    </a:lnL>
                    <a:lnR w="0">
                      <a:noFill/>
                    </a:lnR>
                    <a:lnT w="0">
                      <a:noFill/>
                    </a:lnT>
                    <a:lnB w="6350">
                      <a:solidFill>
                        <a:srgbClr val="D9D9D9"/>
                      </a:solidFill>
                    </a:lnB>
                    <a:solidFill>
                      <a:srgbClr val="FFF2E6"/>
                    </a:solidFill>
                  </a:tcPr>
                </a:tc>
              </a:tr>
              <a:tr h="566928">
                <a:tc>
                  <a:txBody>
                    <a:bodyPr wrap="square"/>
                    <a:lstStyle/>
                    <a:p>
                      <a:pPr algn="l"/>
                      <a:r>
                        <a:rPr sz="1200" b="0">
                          <a:solidFill>
                            <a:srgbClr val="1A1A1A"/>
                          </a:solidFill>
                          <a:latin typeface="Noto Sans KR"/>
                          <a:ea typeface="Noto Sans KR"/>
                          <a:cs typeface="Noto Sans KR"/>
                        </a:rPr>
                        <a:t>지역</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무석 1순위 · 쑤저우 차선 · 상하이/허페이 보완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3PL 품목 수용 회신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11월 중순</a:t>
                      </a:r>
                    </a:p>
                  </a:txBody>
                  <a:tcPr marL="45720" marR="45720" marT="18000" marB="18000" anchor="ctr">
                    <a:lnL w="0">
                      <a:noFill/>
                    </a:lnL>
                    <a:lnR w="0">
                      <a:noFill/>
                    </a:lnR>
                    <a:lnT w="0">
                      <a:noFill/>
                    </a:lnT>
                    <a:lnB w="6350">
                      <a:solidFill>
                        <a:srgbClr val="D9D9D9"/>
                      </a:solidFill>
                    </a:lnB>
                    <a:solidFill>
                      <a:srgbClr val="FFFFFF"/>
                    </a:solidFill>
                  </a:tcPr>
                </a:tc>
              </a:tr>
              <a:tr h="566928">
                <a:tc>
                  <a:txBody>
                    <a:bodyPr wrap="square"/>
                    <a:lstStyle/>
                    <a:p>
                      <a:pPr algn="l"/>
                      <a:r>
                        <a:rPr sz="1200" b="0">
                          <a:solidFill>
                            <a:srgbClr val="1A1A1A"/>
                          </a:solidFill>
                          <a:latin typeface="Noto Sans KR"/>
                          <a:ea typeface="Noto Sans KR"/>
                          <a:cs typeface="Noto Sans KR"/>
                        </a:rPr>
                        <a:t>연말 대응</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备案 보유자 확인 → 12-31 전 전환 신청 지원</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TC 제품이 备案 대상일 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10/16 확인</a:t>
                      </a:r>
                    </a:p>
                  </a:txBody>
                  <a:tcPr marL="45720" marR="45720" marT="18000" marB="18000" anchor="ctr">
                    <a:lnL w="0">
                      <a:noFill/>
                    </a:lnL>
                    <a:lnR w="0">
                      <a:noFill/>
                    </a:lnR>
                    <a:lnT w="0">
                      <a:noFill/>
                    </a:lnT>
                    <a:lnB w="6350">
                      <a:solidFill>
                        <a:srgbClr val="D9D9D9"/>
                      </a:solidFill>
                    </a:lnB>
                    <a:solidFill>
                      <a:srgbClr val="FFFFFF"/>
                    </a:solidFill>
                  </a:tcPr>
                </a:tc>
              </a:tr>
              <a:tr h="566928">
                <a:tc>
                  <a:txBody>
                    <a:bodyPr wrap="square"/>
                    <a:lstStyle/>
                    <a:p>
                      <a:pPr algn="l"/>
                      <a:r>
                        <a:rPr sz="1200" b="0">
                          <a:solidFill>
                            <a:srgbClr val="1A1A1A"/>
                          </a:solidFill>
                          <a:latin typeface="Noto Sans KR"/>
                          <a:ea typeface="Noto Sans KR"/>
                          <a:cs typeface="Noto Sans KR"/>
                        </a:rPr>
                        <a:t>예산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2주 확인 비용(전문가 자문) 승인 · 본 예산은 견적 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견적 수령</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10/20</a:t>
                      </a:r>
                    </a:p>
                  </a:txBody>
                  <a:tcPr marL="45720" marR="45720" marT="18000" marB="18000" anchor="ctr">
                    <a:lnL w="0">
                      <a:noFill/>
                    </a:lnL>
                    <a:lnR w="0">
                      <a:noFill/>
                    </a:lnR>
                    <a:lnT w="0">
                      <a:noFill/>
                    </a:lnT>
                    <a:lnB w="6350">
                      <a:solidFill>
                        <a:srgbClr val="D9D9D9"/>
                      </a:solidFill>
                    </a:lnB>
                    <a:solidFill>
                      <a:srgbClr val="FFFFFF"/>
                    </a:solidFill>
                  </a:tcPr>
                </a:tc>
              </a:tr>
              <a:tr h="566928">
                <a:tc>
                  <a:txBody>
                    <a:bodyPr wrap="square"/>
                    <a:lstStyle/>
                    <a:p>
                      <a:pPr algn="l"/>
                      <a:r>
                        <a:rPr sz="1200" b="0">
                          <a:solidFill>
                            <a:srgbClr val="1A1A1A"/>
                          </a:solidFill>
                          <a:latin typeface="Noto Sans KR"/>
                          <a:ea typeface="Noto Sans KR"/>
                          <a:cs typeface="Noto Sans KR"/>
                        </a:rPr>
                        <a:t>조직</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전담 안전관리자 채용 착수 · 법인장 지정 검토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200" b="0">
                          <a:solidFill>
                            <a:srgbClr val="1A1A1A"/>
                          </a:solidFill>
                          <a:latin typeface="Noto Sans KR"/>
                          <a:ea typeface="Noto Sans KR"/>
                          <a:cs typeface="Noto Sans KR"/>
                        </a:rPr>
                        <a:t>구조 확정 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200" b="0">
                          <a:solidFill>
                            <a:srgbClr val="1A1A1A"/>
                          </a:solidFill>
                          <a:latin typeface="Noto Sans KR"/>
                          <a:ea typeface="Noto Sans KR"/>
                          <a:cs typeface="Noto Sans KR"/>
                        </a:rPr>
                        <a:t>11월</a:t>
                      </a:r>
                    </a:p>
                  </a:txBody>
                  <a:tcPr marL="45720" marR="45720" marT="18000" marB="18000" anchor="ctr">
                    <a:lnL w="0">
                      <a:noFill/>
                    </a:lnL>
                    <a:lnR w="0">
                      <a:noFill/>
                    </a:lnR>
                    <a:lnT w="0">
                      <a:noFill/>
                    </a:lnT>
                    <a:lnB w="6350">
                      <a:solidFill>
                        <a:srgbClr val="D9D9D9"/>
                      </a:solidFill>
                    </a:lnB>
                    <a:solidFill>
                      <a:srgbClr val="FFFFFF"/>
                    </a:solidFill>
                  </a:tcPr>
                </a:tc>
              </a:tr>
              <a:tr h="566928">
                <a:tc>
                  <a:txBody>
                    <a:bodyPr wrap="square"/>
                    <a:lstStyle/>
                    <a:p>
                      <a:pPr algn="l"/>
                      <a:r>
                        <a:rPr sz="1200" b="0">
                          <a:solidFill>
                            <a:srgbClr val="1A1A1A"/>
                          </a:solidFill>
                          <a:latin typeface="Noto Sans KR"/>
                          <a:ea typeface="Noto Sans KR"/>
                          <a:cs typeface="Noto Sans KR"/>
                        </a:rPr>
                        <a:t>다음 단계</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2주 확인 결과 보고 → 구조·지역·예산 확정</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200" b="0">
                          <a:solidFill>
                            <a:srgbClr val="1A1A1A"/>
                          </a:solidFill>
                          <a:latin typeface="Noto Sans KR"/>
                          <a:ea typeface="Noto Sans KR"/>
                          <a:cs typeface="Noto Sans KR"/>
                        </a:rPr>
                        <a:t>-</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200" b="0">
                          <a:solidFill>
                            <a:srgbClr val="1A1A1A"/>
                          </a:solidFill>
                          <a:latin typeface="Noto Sans KR"/>
                          <a:ea typeface="Noto Sans KR"/>
                          <a:cs typeface="Noto Sans KR"/>
                        </a:rPr>
                        <a:t>10/20</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TextBox 164"/>
          <p:cNvSpPr txBox="1"/>
          <p:nvPr/>
        </p:nvSpPr>
        <p:spPr>
          <a:xfrm>
            <a:off x="283464" y="4892040"/>
            <a:ext cx="8567928" cy="1097280"/>
          </a:xfrm>
          <a:prstGeom prst="rect">
            <a:avLst/>
          </a:prstGeom>
          <a:noFill/>
        </p:spPr>
        <p:txBody>
          <a:bodyPr wrap="square" anchor="t" lIns="27432" rIns="27432" tIns="18288" bIns="18288">
            <a:spAutoFit/>
          </a:bodyPr>
          <a:lstStyle/>
          <a:p>
            <a:pPr algn="l"/>
            <a:r>
              <a:rPr sz="1200" b="1">
                <a:solidFill>
                  <a:srgbClr val="C00000"/>
                </a:solidFill>
                <a:latin typeface="Noto Sans KR"/>
                <a:ea typeface="Noto Sans KR"/>
                <a:cs typeface="Noto Sans KR"/>
              </a:rPr>
              <a:t>확정에 필요한 조건  </a:t>
            </a:r>
            <a:r>
              <a:rPr sz="1200" b="0">
                <a:solidFill>
                  <a:srgbClr val="1A1A1A"/>
                </a:solidFill>
                <a:latin typeface="Noto Sans KR"/>
                <a:ea typeface="Noto Sans KR"/>
                <a:cs typeface="Noto Sans KR"/>
              </a:rPr>
              <a:t>① 개정 12호령 최종 내용 ② TC 제품의 신규·위험 여부와 备案 보유자 ③ 무석(또는 쑤저우) 허가 관할·기한 회신 ④ 3PL 1곳 이상 품목 수용 확인 ⑤ MP 허가·창고 보유 여부</a:t>
            </a:r>
          </a:p>
        </p:txBody>
      </p:sp>
      <p:sp>
        <p:nvSpPr>
          <p:cNvPr id="166" name="TextBox 165"/>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02_ExecutiveSummary · 17_RisksActions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부록 1 | 핵심 용어를 쉬운 말로 풀었습니다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같은 말처럼 들려도 등록·허가·명의는 서로 다른 절차입니다</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29</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- 29 -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4882896"/>
        </p:xfrm>
        <a:graphic>
          <a:graphicData uri="http://schemas.openxmlformats.org/drawingml/2006/table">
            <a:tbl>
              <a:tblPr firstRow="0" bandRow="0"/>
              <a:tblGrid>
                <a:gridCol w="2286000"/>
                <a:gridCol w="3657600"/>
                <a:gridCol w="2624328"/>
              </a:tblGrid>
              <a:tr h="274320">
                <a:tc>
                  <a:txBody>
                    <a:bodyPr wrap="square"/>
                    <a:lstStyle/>
                    <a:p>
                      <a:pPr algn="ctr"/>
                      <a:r>
                        <a:rPr sz="1050" b="1">
                          <a:solidFill>
                            <a:srgbClr val="FFFFFF"/>
                          </a:solidFill>
                          <a:latin typeface="Noto Sans KR"/>
                          <a:ea typeface="Noto Sans KR"/>
                          <a:cs typeface="Noto Sans KR"/>
                        </a:rPr>
                        <a:t>용어</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쉬운 뜻</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이번 사업과의 관계</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512064">
                <a:tc>
                  <a:txBody>
                    <a:bodyPr wrap="square"/>
                    <a:lstStyle/>
                    <a:p>
                      <a:pPr algn="l"/>
                      <a:r>
                        <a:rPr sz="1050" b="0">
                          <a:solidFill>
                            <a:srgbClr val="1A1A1A"/>
                          </a:solidFill>
                          <a:latin typeface="Noto Sans KR"/>
                          <a:ea typeface="Noto Sans KR"/>
                          <a:cs typeface="Noto Sans KR"/>
                        </a:rPr>
                        <a:t>신규화학물질 등록 (新化学物质环境管理登记)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중국 기존화학물질 목록(IECSC)에 없는 물질을 만들거나 수입하기 전에 생태환경부에 받는 등록</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Y·Sc·La 전구체가 목록에 없으면 수입 전 필요</a:t>
                      </a:r>
                    </a:p>
                  </a:txBody>
                  <a:tcPr marL="45720" marR="45720" marT="18000" marB="18000" anchor="ctr">
                    <a:lnL w="0">
                      <a:noFill/>
                    </a:lnL>
                    <a:lnR w="0">
                      <a:noFill/>
                    </a:lnR>
                    <a:lnT w="0">
                      <a:noFill/>
                    </a:lnT>
                    <a:lnB w="6350">
                      <a:solidFill>
                        <a:srgbClr val="D9D9D9"/>
                      </a:solidFill>
                    </a:lnB>
                    <a:solidFill>
                      <a:srgbClr val="FFFFFF"/>
                    </a:solidFill>
                  </a:tcPr>
                </a:tc>
              </a:tr>
              <a:tr h="512064">
                <a:tc>
                  <a:txBody>
                    <a:bodyPr wrap="square"/>
                    <a:lstStyle/>
                    <a:p>
                      <a:pPr algn="l"/>
                      <a:r>
                        <a:rPr sz="1050" b="0">
                          <a:solidFill>
                            <a:srgbClr val="1A1A1A"/>
                          </a:solidFill>
                          <a:latin typeface="Noto Sans KR"/>
                          <a:ea typeface="Noto Sans KR"/>
                          <a:cs typeface="Noto Sans KR"/>
                        </a:rPr>
                        <a:t>备案 (소량 신고)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종전 1톤 미만 등 소량 신규물질에 쓰던 간단한 신고. 2026-08-15 접수 중단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기존 备案은 2026-12-31까지 등록증으로 전환</a:t>
                      </a:r>
                    </a:p>
                  </a:txBody>
                  <a:tcPr marL="45720" marR="45720" marT="18000" marB="18000" anchor="ctr">
                    <a:lnL w="0">
                      <a:noFill/>
                    </a:lnL>
                    <a:lnR w="0">
                      <a:noFill/>
                    </a:lnR>
                    <a:lnT w="0">
                      <a:noFill/>
                    </a:lnT>
                    <a:lnB w="6350">
                      <a:solidFill>
                        <a:srgbClr val="D9D9D9"/>
                      </a:solidFill>
                    </a:lnB>
                    <a:solidFill>
                      <a:srgbClr val="FFFFFF"/>
                    </a:solidFill>
                  </a:tcPr>
                </a:tc>
              </a:tr>
              <a:tr h="512064">
                <a:tc>
                  <a:txBody>
                    <a:bodyPr wrap="square"/>
                    <a:lstStyle/>
                    <a:p>
                      <a:pPr algn="l"/>
                      <a:r>
                        <a:rPr sz="1050" b="0">
                          <a:solidFill>
                            <a:srgbClr val="1A1A1A"/>
                          </a:solidFill>
                          <a:latin typeface="Noto Sans KR"/>
                          <a:ea typeface="Noto Sans KR"/>
                          <a:cs typeface="Noto Sans KR"/>
                        </a:rPr>
                        <a:t>간이등록 (简易登记)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연 1~10톤 신규물질 등록. 시험자료 일부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备案 전환도 이 절차를 준용</a:t>
                      </a:r>
                    </a:p>
                  </a:txBody>
                  <a:tcPr marL="45720" marR="45720" marT="18000" marB="18000" anchor="ctr">
                    <a:lnL w="0">
                      <a:noFill/>
                    </a:lnL>
                    <a:lnR w="0">
                      <a:noFill/>
                    </a:lnR>
                    <a:lnT w="0">
                      <a:noFill/>
                    </a:lnT>
                    <a:lnB w="6350">
                      <a:solidFill>
                        <a:srgbClr val="D9D9D9"/>
                      </a:solidFill>
                    </a:lnB>
                    <a:solidFill>
                      <a:srgbClr val="FFFFFF"/>
                    </a:solidFill>
                  </a:tcPr>
                </a:tc>
              </a:tr>
              <a:tr h="512064">
                <a:tc>
                  <a:txBody>
                    <a:bodyPr wrap="square"/>
                    <a:lstStyle/>
                    <a:p>
                      <a:pPr algn="l"/>
                      <a:r>
                        <a:rPr sz="1050" b="0">
                          <a:solidFill>
                            <a:srgbClr val="1A1A1A"/>
                          </a:solidFill>
                          <a:latin typeface="Noto Sans KR"/>
                          <a:ea typeface="Noto Sans KR"/>
                          <a:cs typeface="Noto Sans KR"/>
                        </a:rPr>
                        <a:t>위험화학품 (危险化学品)</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중국 위험화학품 목록 등에 해당해 별도 안전관리를 받는 화학품</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해당 시 판매 허가·창고·운송 규제</a:t>
                      </a:r>
                    </a:p>
                  </a:txBody>
                  <a:tcPr marL="45720" marR="45720" marT="18000" marB="18000" anchor="ctr">
                    <a:lnL w="0">
                      <a:noFill/>
                    </a:lnL>
                    <a:lnR w="0">
                      <a:noFill/>
                    </a:lnR>
                    <a:lnT w="0">
                      <a:noFill/>
                    </a:lnT>
                    <a:lnB w="6350">
                      <a:solidFill>
                        <a:srgbClr val="D9D9D9"/>
                      </a:solidFill>
                    </a:lnB>
                    <a:solidFill>
                      <a:srgbClr val="FFFFFF"/>
                    </a:solidFill>
                  </a:tcPr>
                </a:tc>
              </a:tr>
              <a:tr h="512064">
                <a:tc>
                  <a:txBody>
                    <a:bodyPr wrap="square"/>
                    <a:lstStyle/>
                    <a:p>
                      <a:pPr algn="l"/>
                      <a:r>
                        <a:rPr sz="1050" b="0">
                          <a:solidFill>
                            <a:srgbClr val="1A1A1A"/>
                          </a:solidFill>
                          <a:latin typeface="Noto Sans KR"/>
                          <a:ea typeface="Noto Sans KR"/>
                          <a:cs typeface="Noto Sans KR"/>
                        </a:rPr>
                        <a:t>위험화학품 경영허가 (经营许可)</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위험화학품을 사고파는 회사가 받는 판매 허가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TC 중국법인이 판매자면 필요</a:t>
                      </a:r>
                    </a:p>
                  </a:txBody>
                  <a:tcPr marL="45720" marR="45720" marT="18000" marB="18000" anchor="ctr">
                    <a:lnL w="0">
                      <a:noFill/>
                    </a:lnL>
                    <a:lnR w="0">
                      <a:noFill/>
                    </a:lnR>
                    <a:lnT w="0">
                      <a:noFill/>
                    </a:lnT>
                    <a:lnB w="6350">
                      <a:solidFill>
                        <a:srgbClr val="D9D9D9"/>
                      </a:solidFill>
                    </a:lnB>
                    <a:solidFill>
                      <a:srgbClr val="FFFFFF"/>
                    </a:solidFill>
                  </a:tcPr>
                </a:tc>
              </a:tr>
              <a:tr h="512064">
                <a:tc>
                  <a:txBody>
                    <a:bodyPr wrap="square"/>
                    <a:lstStyle/>
                    <a:p>
                      <a:pPr algn="l"/>
                      <a:r>
                        <a:rPr sz="1050" b="0">
                          <a:solidFill>
                            <a:srgbClr val="1A1A1A"/>
                          </a:solidFill>
                          <a:latin typeface="Noto Sans KR"/>
                          <a:ea typeface="Noto Sans KR"/>
                          <a:cs typeface="Noto Sans KR"/>
                        </a:rPr>
                        <a:t>무저장 경영 (无储存经营)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자체 창고 없이 계약·세금계산서로만 거래하는 경영 방식</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최소 투자안(B안)의 기본</a:t>
                      </a:r>
                    </a:p>
                  </a:txBody>
                  <a:tcPr marL="45720" marR="45720" marT="18000" marB="18000" anchor="ctr">
                    <a:lnL w="0">
                      <a:noFill/>
                    </a:lnL>
                    <a:lnR w="0">
                      <a:noFill/>
                    </a:lnR>
                    <a:lnT w="0">
                      <a:noFill/>
                    </a:lnT>
                    <a:lnB w="6350">
                      <a:solidFill>
                        <a:srgbClr val="D9D9D9"/>
                      </a:solidFill>
                    </a:lnB>
                    <a:solidFill>
                      <a:srgbClr val="FFFFFF"/>
                    </a:solidFill>
                  </a:tcPr>
                </a:tc>
              </a:tr>
              <a:tr h="512064">
                <a:tc>
                  <a:txBody>
                    <a:bodyPr wrap="square"/>
                    <a:lstStyle/>
                    <a:p>
                      <a:pPr algn="l"/>
                      <a:r>
                        <a:rPr sz="1050" b="0">
                          <a:solidFill>
                            <a:srgbClr val="1A1A1A"/>
                          </a:solidFill>
                          <a:latin typeface="Noto Sans KR"/>
                          <a:ea typeface="Noto Sans KR"/>
                          <a:cs typeface="Noto Sans KR"/>
                        </a:rPr>
                        <a:t>임차저장 경영 (租赁储存经营)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허가 창고를 빌려 저장하며 경영하는 방식 (무석 세칙 구분)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C안</a:t>
                      </a:r>
                    </a:p>
                  </a:txBody>
                  <a:tcPr marL="45720" marR="45720" marT="18000" marB="18000" anchor="ctr">
                    <a:lnL w="0">
                      <a:noFill/>
                    </a:lnL>
                    <a:lnR w="0">
                      <a:noFill/>
                    </a:lnR>
                    <a:lnT w="0">
                      <a:noFill/>
                    </a:lnT>
                    <a:lnB w="6350">
                      <a:solidFill>
                        <a:srgbClr val="D9D9D9"/>
                      </a:solidFill>
                    </a:lnB>
                    <a:solidFill>
                      <a:srgbClr val="FFFFFF"/>
                    </a:solidFill>
                  </a:tcPr>
                </a:tc>
              </a:tr>
              <a:tr h="512064">
                <a:tc>
                  <a:txBody>
                    <a:bodyPr wrap="square"/>
                    <a:lstStyle/>
                    <a:p>
                      <a:pPr algn="l"/>
                      <a:r>
                        <a:rPr sz="1050" b="0">
                          <a:solidFill>
                            <a:srgbClr val="1A1A1A"/>
                          </a:solidFill>
                          <a:latin typeface="Noto Sans KR"/>
                          <a:ea typeface="Noto Sans KR"/>
                          <a:cs typeface="Noto Sans KR"/>
                        </a:rPr>
                        <a:t>수입자 (进口者/收货人)</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통관 서류상 물품을 들여오는 회사. 위험화학품 등록·중문 SDS 책임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수입 명의가 곧 책임 주체</a:t>
                      </a:r>
                    </a:p>
                  </a:txBody>
                  <a:tcPr marL="45720" marR="45720" marT="18000" marB="18000" anchor="ctr">
                    <a:lnL w="0">
                      <a:noFill/>
                    </a:lnL>
                    <a:lnR w="0">
                      <a:noFill/>
                    </a:lnR>
                    <a:lnT w="0">
                      <a:noFill/>
                    </a:lnT>
                    <a:lnB w="6350">
                      <a:solidFill>
                        <a:srgbClr val="D9D9D9"/>
                      </a:solidFill>
                    </a:lnB>
                    <a:solidFill>
                      <a:srgbClr val="FFFFFF"/>
                    </a:solidFill>
                  </a:tcPr>
                </a:tc>
              </a:tr>
              <a:tr h="512064">
                <a:tc>
                  <a:txBody>
                    <a:bodyPr wrap="square"/>
                    <a:lstStyle/>
                    <a:p>
                      <a:pPr algn="l"/>
                      <a:r>
                        <a:rPr sz="1050" b="0">
                          <a:solidFill>
                            <a:srgbClr val="1A1A1A"/>
                          </a:solidFill>
                          <a:latin typeface="Noto Sans KR"/>
                          <a:ea typeface="Noto Sans KR"/>
                          <a:cs typeface="Noto Sans KR"/>
                        </a:rPr>
                        <a:t>등록 신청 주체</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050" b="0">
                          <a:solidFill>
                            <a:srgbClr val="1A1A1A"/>
                          </a:solidFill>
                          <a:latin typeface="Noto Sans KR"/>
                          <a:ea typeface="Noto Sans KR"/>
                          <a:cs typeface="Noto Sans KR"/>
                        </a:rPr>
                        <a:t>신규화학물질 등록증의 명의자. 의무·책임과 자료 통제권을 가짐</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050" b="0">
                          <a:solidFill>
                            <a:srgbClr val="1A1A1A"/>
                          </a:solidFill>
                          <a:latin typeface="Noto Sans KR"/>
                          <a:ea typeface="Noto Sans KR"/>
                          <a:cs typeface="Noto Sans KR"/>
                        </a:rPr>
                        <a:t>개정안 확정 시 중국 수입기업만 가능</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TextBox 164"/>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19_Glossary_Q 시트</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부록 1 | 핵심 용어 (계속)</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법인장과 법정대표인은 같은 사람일 수도, 다를 수도 있습니다</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30</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- 30 -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3108960"/>
        </p:xfrm>
        <a:graphic>
          <a:graphicData uri="http://schemas.openxmlformats.org/drawingml/2006/table">
            <a:tbl>
              <a:tblPr firstRow="0" bandRow="0"/>
              <a:tblGrid>
                <a:gridCol w="2286000"/>
                <a:gridCol w="3657600"/>
                <a:gridCol w="2624328"/>
              </a:tblGrid>
              <a:tr h="274320">
                <a:tc>
                  <a:txBody>
                    <a:bodyPr wrap="square"/>
                    <a:lstStyle/>
                    <a:p>
                      <a:pPr algn="ctr"/>
                      <a:r>
                        <a:rPr sz="1100" b="1">
                          <a:solidFill>
                            <a:srgbClr val="FFFFFF"/>
                          </a:solidFill>
                          <a:latin typeface="Noto Sans KR"/>
                          <a:ea typeface="Noto Sans KR"/>
                          <a:cs typeface="Noto Sans KR"/>
                        </a:rPr>
                        <a:t>용어</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00" b="1">
                          <a:solidFill>
                            <a:srgbClr val="FFFFFF"/>
                          </a:solidFill>
                          <a:latin typeface="Noto Sans KR"/>
                          <a:ea typeface="Noto Sans KR"/>
                          <a:cs typeface="Noto Sans KR"/>
                        </a:rPr>
                        <a:t>쉬운 뜻</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00" b="1">
                          <a:solidFill>
                            <a:srgbClr val="FFFFFF"/>
                          </a:solidFill>
                          <a:latin typeface="Noto Sans KR"/>
                          <a:ea typeface="Noto Sans KR"/>
                          <a:cs typeface="Noto Sans KR"/>
                        </a:rPr>
                        <a:t>이번 사업과의 관계</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566928">
                <a:tc>
                  <a:txBody>
                    <a:bodyPr wrap="square"/>
                    <a:lstStyle/>
                    <a:p>
                      <a:pPr algn="l"/>
                      <a:r>
                        <a:rPr sz="1100" b="0">
                          <a:solidFill>
                            <a:srgbClr val="1A1A1A"/>
                          </a:solidFill>
                          <a:latin typeface="Noto Sans KR"/>
                          <a:ea typeface="Noto Sans KR"/>
                          <a:cs typeface="Noto Sans KR"/>
                        </a:rPr>
                        <a:t>외부 창고 (3PL)</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00" b="0">
                          <a:solidFill>
                            <a:srgbClr val="1A1A1A"/>
                          </a:solidFill>
                          <a:latin typeface="Noto Sans KR"/>
                          <a:ea typeface="Noto Sans KR"/>
                          <a:cs typeface="Noto Sans KR"/>
                        </a:rPr>
                        <a:t>위험품 보관 허가를 가진 물류회사 창고를 계약해 쓰는 것</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00" b="0">
                          <a:solidFill>
                            <a:srgbClr val="1A1A1A"/>
                          </a:solidFill>
                          <a:latin typeface="Noto Sans KR"/>
                          <a:ea typeface="Noto Sans KR"/>
                          <a:cs typeface="Noto Sans KR"/>
                        </a:rPr>
                        <a:t>허가 범위는 창고 운영사에 귀속</a:t>
                      </a:r>
                    </a:p>
                  </a:txBody>
                  <a:tcPr marL="45720" marR="45720" marT="18000" marB="18000" anchor="ctr">
                    <a:lnL w="0">
                      <a:noFill/>
                    </a:lnL>
                    <a:lnR w="0">
                      <a:noFill/>
                    </a:lnR>
                    <a:lnT w="0">
                      <a:noFill/>
                    </a:lnT>
                    <a:lnB w="6350">
                      <a:solidFill>
                        <a:srgbClr val="D9D9D9"/>
                      </a:solidFill>
                    </a:lnB>
                    <a:solidFill>
                      <a:srgbClr val="FFFFFF"/>
                    </a:solidFill>
                  </a:tcPr>
                </a:tc>
              </a:tr>
              <a:tr h="566928">
                <a:tc>
                  <a:txBody>
                    <a:bodyPr wrap="square"/>
                    <a:lstStyle/>
                    <a:p>
                      <a:pPr algn="l"/>
                      <a:r>
                        <a:rPr sz="1100" b="0">
                          <a:solidFill>
                            <a:srgbClr val="1A1A1A"/>
                          </a:solidFill>
                          <a:latin typeface="Noto Sans KR"/>
                          <a:ea typeface="Noto Sans KR"/>
                          <a:cs typeface="Noto Sans KR"/>
                        </a:rPr>
                        <a:t>화공원구 (化工园区)</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00" b="0">
                          <a:solidFill>
                            <a:srgbClr val="1A1A1A"/>
                          </a:solidFill>
                          <a:latin typeface="Noto Sans KR"/>
                          <a:ea typeface="Noto Sans KR"/>
                          <a:cs typeface="Noto Sans KR"/>
                        </a:rPr>
                        <a:t>성 정부가 인정한 화학산업 단지. 위험화학품 생산·저장 시설이 모이는 곳</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00" b="0">
                          <a:solidFill>
                            <a:srgbClr val="1A1A1A"/>
                          </a:solidFill>
                          <a:latin typeface="Noto Sans KR"/>
                          <a:ea typeface="Noto Sans KR"/>
                          <a:cs typeface="Noto Sans KR"/>
                        </a:rPr>
                        <a:t>강소성 신규 저장은 원구 내가 현실적</a:t>
                      </a:r>
                    </a:p>
                  </a:txBody>
                  <a:tcPr marL="45720" marR="45720" marT="18000" marB="18000" anchor="ctr">
                    <a:lnL w="0">
                      <a:noFill/>
                    </a:lnL>
                    <a:lnR w="0">
                      <a:noFill/>
                    </a:lnR>
                    <a:lnT w="0">
                      <a:noFill/>
                    </a:lnT>
                    <a:lnB w="6350">
                      <a:solidFill>
                        <a:srgbClr val="D9D9D9"/>
                      </a:solidFill>
                    </a:lnB>
                    <a:solidFill>
                      <a:srgbClr val="FFFFFF"/>
                    </a:solidFill>
                  </a:tcPr>
                </a:tc>
              </a:tr>
              <a:tr h="566928">
                <a:tc>
                  <a:txBody>
                    <a:bodyPr wrap="square"/>
                    <a:lstStyle/>
                    <a:p>
                      <a:pPr algn="l"/>
                      <a:r>
                        <a:rPr sz="1100" b="0">
                          <a:solidFill>
                            <a:srgbClr val="1A1A1A"/>
                          </a:solidFill>
                          <a:latin typeface="Noto Sans KR"/>
                          <a:ea typeface="Noto Sans KR"/>
                          <a:cs typeface="Noto Sans KR"/>
                        </a:rPr>
                        <a:t>법인장 / 법정대표인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00" b="0">
                          <a:solidFill>
                            <a:srgbClr val="1A1A1A"/>
                          </a:solidFill>
                          <a:latin typeface="Noto Sans KR"/>
                          <a:ea typeface="Noto Sans KR"/>
                          <a:cs typeface="Noto Sans KR"/>
                        </a:rPr>
                        <a:t>법인장 = 내부 경영 책임자 / 법정대표인 = 등기상 회사를 대표하는 사람(이사 또는 경리)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00" b="0">
                          <a:solidFill>
                            <a:srgbClr val="1A1A1A"/>
                          </a:solidFill>
                          <a:latin typeface="Noto Sans KR"/>
                          <a:ea typeface="Noto Sans KR"/>
                          <a:cs typeface="Noto Sans KR"/>
                        </a:rPr>
                        <a:t>같은 사람일 수도, 다를 수도 있음</a:t>
                      </a:r>
                    </a:p>
                  </a:txBody>
                  <a:tcPr marL="45720" marR="45720" marT="18000" marB="18000" anchor="ctr">
                    <a:lnL w="0">
                      <a:noFill/>
                    </a:lnL>
                    <a:lnR w="0">
                      <a:noFill/>
                    </a:lnR>
                    <a:lnT w="0">
                      <a:noFill/>
                    </a:lnT>
                    <a:lnB w="6350">
                      <a:solidFill>
                        <a:srgbClr val="D9D9D9"/>
                      </a:solidFill>
                    </a:lnB>
                    <a:solidFill>
                      <a:srgbClr val="FFFFFF"/>
                    </a:solidFill>
                  </a:tcPr>
                </a:tc>
              </a:tr>
              <a:tr h="566928">
                <a:tc>
                  <a:txBody>
                    <a:bodyPr wrap="square"/>
                    <a:lstStyle/>
                    <a:p>
                      <a:pPr algn="l"/>
                      <a:r>
                        <a:rPr sz="1100" b="0">
                          <a:solidFill>
                            <a:srgbClr val="1A1A1A"/>
                          </a:solidFill>
                          <a:latin typeface="Noto Sans KR"/>
                          <a:ea typeface="Noto Sans KR"/>
                          <a:cs typeface="Noto Sans KR"/>
                        </a:rPr>
                        <a:t>영업집조 (营业执照)</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00" b="0">
                          <a:solidFill>
                            <a:srgbClr val="1A1A1A"/>
                          </a:solidFill>
                          <a:latin typeface="Noto Sans KR"/>
                          <a:ea typeface="Noto Sans KR"/>
                          <a:cs typeface="Noto Sans KR"/>
                        </a:rPr>
                        <a:t>중국 법인 등기증(사업자등록증)</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00" b="0">
                          <a:solidFill>
                            <a:srgbClr val="1A1A1A"/>
                          </a:solidFill>
                          <a:latin typeface="Noto Sans KR"/>
                          <a:ea typeface="Noto Sans KR"/>
                          <a:cs typeface="Noto Sans KR"/>
                        </a:rPr>
                        <a:t>법인 설립 완료 시점</a:t>
                      </a:r>
                    </a:p>
                  </a:txBody>
                  <a:tcPr marL="45720" marR="45720" marT="18000" marB="18000" anchor="ctr">
                    <a:lnL w="0">
                      <a:noFill/>
                    </a:lnL>
                    <a:lnR w="0">
                      <a:noFill/>
                    </a:lnR>
                    <a:lnT w="0">
                      <a:noFill/>
                    </a:lnT>
                    <a:lnB w="6350">
                      <a:solidFill>
                        <a:srgbClr val="D9D9D9"/>
                      </a:solidFill>
                    </a:lnB>
                    <a:solidFill>
                      <a:srgbClr val="FFFFFF"/>
                    </a:solidFill>
                  </a:tcPr>
                </a:tc>
              </a:tr>
              <a:tr h="566928">
                <a:tc>
                  <a:txBody>
                    <a:bodyPr wrap="square"/>
                    <a:lstStyle/>
                    <a:p>
                      <a:pPr algn="l"/>
                      <a:r>
                        <a:rPr sz="1100" b="0">
                          <a:solidFill>
                            <a:srgbClr val="1A1A1A"/>
                          </a:solidFill>
                          <a:latin typeface="Noto Sans KR"/>
                          <a:ea typeface="Noto Sans KR"/>
                          <a:cs typeface="Noto Sans KR"/>
                        </a:rPr>
                        <a:t>아포스티유</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100" b="0">
                          <a:solidFill>
                            <a:srgbClr val="1A1A1A"/>
                          </a:solidFill>
                          <a:latin typeface="Noto Sans KR"/>
                          <a:ea typeface="Noto Sans KR"/>
                          <a:cs typeface="Noto Sans KR"/>
                        </a:rPr>
                        <a:t>외국 공문서 인증 간소화 확인서. 중국 2023-11-07 발효</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100" b="0">
                          <a:solidFill>
                            <a:srgbClr val="1A1A1A"/>
                          </a:solidFill>
                          <a:latin typeface="Noto Sans KR"/>
                          <a:ea typeface="Noto Sans KR"/>
                          <a:cs typeface="Noto Sans KR"/>
                        </a:rPr>
                        <a:t>한국 본사 서류 준비 기간 단축</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TextBox 164"/>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19_Glossary_Q 시트</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부록 2 | 법령·허가 근거표</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결론은 근거 기반 판단이며 법률 의견이 아닙니다 — 원문 대조 필요</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31</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- 31 -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4828032"/>
        </p:xfrm>
        <a:graphic>
          <a:graphicData uri="http://schemas.openxmlformats.org/drawingml/2006/table">
            <a:tbl>
              <a:tblPr firstRow="0" bandRow="0"/>
              <a:tblGrid>
                <a:gridCol w="2377440"/>
                <a:gridCol w="1920240"/>
                <a:gridCol w="3291840"/>
                <a:gridCol w="978408"/>
              </a:tblGrid>
              <a:tr h="256032">
                <a:tc>
                  <a:txBody>
                    <a:bodyPr wrap="square"/>
                    <a:lstStyle/>
                    <a:p>
                      <a:pPr algn="ctr"/>
                      <a:r>
                        <a:rPr sz="950" b="1">
                          <a:solidFill>
                            <a:srgbClr val="FFFFFF"/>
                          </a:solidFill>
                          <a:latin typeface="Noto Sans KR"/>
                          <a:ea typeface="Noto Sans KR"/>
                          <a:cs typeface="Noto Sans KR"/>
                        </a:rPr>
                        <a:t>쟁점</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950" b="1">
                          <a:solidFill>
                            <a:srgbClr val="FFFFFF"/>
                          </a:solidFill>
                          <a:latin typeface="Noto Sans KR"/>
                          <a:ea typeface="Noto Sans KR"/>
                          <a:cs typeface="Noto Sans KR"/>
                        </a:rPr>
                        <a:t>규정</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950" b="1">
                          <a:solidFill>
                            <a:srgbClr val="FFFFFF"/>
                          </a:solidFill>
                          <a:latin typeface="Noto Sans KR"/>
                          <a:ea typeface="Noto Sans KR"/>
                          <a:cs typeface="Noto Sans KR"/>
                        </a:rPr>
                        <a:t>결론</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950" b="1">
                          <a:solidFill>
                            <a:srgbClr val="FFFFFF"/>
                          </a:solidFill>
                          <a:latin typeface="Noto Sans KR"/>
                          <a:ea typeface="Noto Sans KR"/>
                          <a:cs typeface="Noto Sans KR"/>
                        </a:rPr>
                        <a:t>근거 ID</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457200">
                <a:tc>
                  <a:txBody>
                    <a:bodyPr wrap="square"/>
                    <a:lstStyle/>
                    <a:p>
                      <a:pPr algn="l"/>
                      <a:r>
                        <a:rPr sz="950" b="0">
                          <a:solidFill>
                            <a:srgbClr val="1A1A1A"/>
                          </a:solidFill>
                          <a:latin typeface="Noto Sans KR"/>
                          <a:ea typeface="Noto Sans KR"/>
                          <a:cs typeface="Noto Sans KR"/>
                        </a:rPr>
                        <a:t>신규화학물질 등록 신청 주체 (현행)</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12호령</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현행 규정상 TC 본사 + 대리인 신청 가능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EVD-001</a:t>
                      </a:r>
                    </a:p>
                  </a:txBody>
                  <a:tcPr marL="45720" marR="45720" marT="18000" marB="18000" anchor="ctr">
                    <a:lnL w="0">
                      <a:noFill/>
                    </a:lnL>
                    <a:lnR w="0">
                      <a:noFill/>
                    </a:lnR>
                    <a:lnT w="0">
                      <a:noFill/>
                    </a:lnT>
                    <a:lnB w="6350">
                      <a:solidFill>
                        <a:srgbClr val="D9D9D9"/>
                      </a:solidFill>
                    </a:lnB>
                    <a:solidFill>
                      <a:srgbClr val="FFFFFF"/>
                    </a:solidFill>
                  </a:tcPr>
                </a:tc>
              </a:tr>
              <a:tr h="457200">
                <a:tc>
                  <a:txBody>
                    <a:bodyPr wrap="square"/>
                    <a:lstStyle/>
                    <a:p>
                      <a:pPr algn="l"/>
                      <a:r>
                        <a:rPr sz="950" b="0">
                          <a:solidFill>
                            <a:srgbClr val="1A1A1A"/>
                          </a:solidFill>
                          <a:latin typeface="Noto Sans KR"/>
                          <a:ea typeface="Noto Sans KR"/>
                          <a:cs typeface="Noto Sans KR"/>
                        </a:rPr>
                        <a:t>신규화학물질 등록 신청 주체 (개정안)</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12호령 개정 초안</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확정 시 중국 수입 법인(TC 법인·MP·고객) 명의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EVD-002</a:t>
                      </a:r>
                    </a:p>
                  </a:txBody>
                  <a:tcPr marL="45720" marR="45720" marT="18000" marB="18000" anchor="ctr">
                    <a:lnL w="0">
                      <a:noFill/>
                    </a:lnL>
                    <a:lnR w="0">
                      <a:noFill/>
                    </a:lnR>
                    <a:lnT w="0">
                      <a:noFill/>
                    </a:lnT>
                    <a:lnB w="6350">
                      <a:solidFill>
                        <a:srgbClr val="D9D9D9"/>
                      </a:solidFill>
                    </a:lnB>
                    <a:solidFill>
                      <a:srgbClr val="FFFFFF"/>
                    </a:solidFill>
                  </a:tcPr>
                </a:tc>
              </a:tr>
              <a:tr h="457200">
                <a:tc>
                  <a:txBody>
                    <a:bodyPr wrap="square"/>
                    <a:lstStyle/>
                    <a:p>
                      <a:pPr algn="l"/>
                      <a:r>
                        <a:rPr sz="950" b="0">
                          <a:solidFill>
                            <a:srgbClr val="1A1A1A"/>
                          </a:solidFill>
                          <a:latin typeface="Noto Sans KR"/>
                          <a:ea typeface="Noto Sans KR"/>
                          <a:cs typeface="Noto Sans KR"/>
                        </a:rPr>
                        <a:t>备案 중단·연말 전환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환판고체함〔2026〕301호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기존 备案 보유자에게 연말 기한 존재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EVD-003</a:t>
                      </a:r>
                    </a:p>
                  </a:txBody>
                  <a:tcPr marL="45720" marR="45720" marT="18000" marB="18000" anchor="ctr">
                    <a:lnL w="0">
                      <a:noFill/>
                    </a:lnL>
                    <a:lnR w="0">
                      <a:noFill/>
                    </a:lnR>
                    <a:lnT w="0">
                      <a:noFill/>
                    </a:lnT>
                    <a:lnB w="6350">
                      <a:solidFill>
                        <a:srgbClr val="D9D9D9"/>
                      </a:solidFill>
                    </a:lnB>
                    <a:solidFill>
                      <a:srgbClr val="FFFFFF"/>
                    </a:solidFill>
                  </a:tcPr>
                </a:tc>
              </a:tr>
              <a:tr h="457200">
                <a:tc>
                  <a:txBody>
                    <a:bodyPr wrap="square"/>
                    <a:lstStyle/>
                    <a:p>
                      <a:pPr algn="l"/>
                      <a:r>
                        <a:rPr sz="950" b="0">
                          <a:solidFill>
                            <a:srgbClr val="1A1A1A"/>
                          </a:solidFill>
                          <a:latin typeface="Noto Sans KR"/>
                          <a:ea typeface="Noto Sans KR"/>
                          <a:cs typeface="Noto Sans KR"/>
                        </a:rPr>
                        <a:t>수입·판매만 할 때 생산허가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위험화학품안전법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단순 수입·판매에는 생산허가·생산설비 불필요 (근거 기반)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EVD-009, EVD-011</a:t>
                      </a:r>
                    </a:p>
                  </a:txBody>
                  <a:tcPr marL="45720" marR="45720" marT="18000" marB="18000" anchor="ctr">
                    <a:lnL w="0">
                      <a:noFill/>
                    </a:lnL>
                    <a:lnR w="0">
                      <a:noFill/>
                    </a:lnR>
                    <a:lnT w="0">
                      <a:noFill/>
                    </a:lnT>
                    <a:lnB w="6350">
                      <a:solidFill>
                        <a:srgbClr val="D9D9D9"/>
                      </a:solidFill>
                    </a:lnB>
                    <a:solidFill>
                      <a:srgbClr val="FFFFFF"/>
                    </a:solidFill>
                  </a:tcPr>
                </a:tc>
              </a:tr>
              <a:tr h="457200">
                <a:tc>
                  <a:txBody>
                    <a:bodyPr wrap="square"/>
                    <a:lstStyle/>
                    <a:p>
                      <a:pPr algn="l"/>
                      <a:r>
                        <a:rPr sz="950" b="0">
                          <a:solidFill>
                            <a:srgbClr val="1A1A1A"/>
                          </a:solidFill>
                          <a:latin typeface="Noto Sans KR"/>
                          <a:ea typeface="Noto Sans KR"/>
                          <a:cs typeface="Noto Sans KR"/>
                        </a:rPr>
                        <a:t>위험화학품 경영허가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위험화학품안전법·55호령·무석 세칙</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수입·판매 법인은 경영허가 필요(위험화학품일 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EVD-008, EVD-012, EVD-014</a:t>
                      </a:r>
                    </a:p>
                  </a:txBody>
                  <a:tcPr marL="45720" marR="45720" marT="18000" marB="18000" anchor="ctr">
                    <a:lnL w="0">
                      <a:noFill/>
                    </a:lnL>
                    <a:lnR w="0">
                      <a:noFill/>
                    </a:lnR>
                    <a:lnT w="0">
                      <a:noFill/>
                    </a:lnT>
                    <a:lnB w="6350">
                      <a:solidFill>
                        <a:srgbClr val="D9D9D9"/>
                      </a:solidFill>
                    </a:lnB>
                    <a:solidFill>
                      <a:srgbClr val="FFFFFF"/>
                    </a:solidFill>
                  </a:tcPr>
                </a:tc>
              </a:tr>
              <a:tr h="457200">
                <a:tc>
                  <a:txBody>
                    <a:bodyPr wrap="square"/>
                    <a:lstStyle/>
                    <a:p>
                      <a:pPr algn="l"/>
                      <a:r>
                        <a:rPr sz="950" b="0">
                          <a:solidFill>
                            <a:srgbClr val="1A1A1A"/>
                          </a:solidFill>
                          <a:latin typeface="Noto Sans KR"/>
                          <a:ea typeface="Noto Sans KR"/>
                          <a:cs typeface="Noto Sans KR"/>
                        </a:rPr>
                        <a:t>저장 시설 위치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위험화학품안전법·강소성 화공원구 관리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강소성 신규 저장은 인정 화공원구 내가 현실적</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EVD-013, EVD-020</a:t>
                      </a:r>
                    </a:p>
                  </a:txBody>
                  <a:tcPr marL="45720" marR="45720" marT="18000" marB="18000" anchor="ctr">
                    <a:lnL w="0">
                      <a:noFill/>
                    </a:lnL>
                    <a:lnR w="0">
                      <a:noFill/>
                    </a:lnR>
                    <a:lnT w="0">
                      <a:noFill/>
                    </a:lnT>
                    <a:lnB w="6350">
                      <a:solidFill>
                        <a:srgbClr val="D9D9D9"/>
                      </a:solidFill>
                    </a:lnB>
                    <a:solidFill>
                      <a:srgbClr val="FFFFFF"/>
                    </a:solidFill>
                  </a:tcPr>
                </a:tc>
              </a:tr>
              <a:tr h="457200">
                <a:tc>
                  <a:txBody>
                    <a:bodyPr wrap="square"/>
                    <a:lstStyle/>
                    <a:p>
                      <a:pPr algn="l"/>
                      <a:r>
                        <a:rPr sz="950" b="0">
                          <a:solidFill>
                            <a:srgbClr val="1A1A1A"/>
                          </a:solidFill>
                          <a:latin typeface="Noto Sans KR"/>
                          <a:ea typeface="Noto Sans KR"/>
                          <a:cs typeface="Noto Sans KR"/>
                        </a:rPr>
                        <a:t>수입기업 위험화학품 등록</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53호령(등록관리)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수입 명의자가 등록</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EVD-018</a:t>
                      </a:r>
                    </a:p>
                  </a:txBody>
                  <a:tcPr marL="45720" marR="45720" marT="18000" marB="18000" anchor="ctr">
                    <a:lnL w="0">
                      <a:noFill/>
                    </a:lnL>
                    <a:lnR w="0">
                      <a:noFill/>
                    </a:lnR>
                    <a:lnT w="0">
                      <a:noFill/>
                    </a:lnT>
                    <a:lnB w="6350">
                      <a:solidFill>
                        <a:srgbClr val="D9D9D9"/>
                      </a:solidFill>
                    </a:lnB>
                    <a:solidFill>
                      <a:srgbClr val="FFFFFF"/>
                    </a:solidFill>
                  </a:tcPr>
                </a:tc>
              </a:tr>
              <a:tr h="457200">
                <a:tc>
                  <a:txBody>
                    <a:bodyPr wrap="square"/>
                    <a:lstStyle/>
                    <a:p>
                      <a:pPr algn="l"/>
                      <a:r>
                        <a:rPr sz="950" b="0">
                          <a:solidFill>
                            <a:srgbClr val="1A1A1A"/>
                          </a:solidFill>
                          <a:latin typeface="Noto Sans KR"/>
                          <a:ea typeface="Noto Sans KR"/>
                          <a:cs typeface="Noto Sans KR"/>
                        </a:rPr>
                        <a:t>수입 통관 검사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해관총서 2020-129호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수입자가 중문 SDS·라벨 준비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EVD-019</a:t>
                      </a:r>
                    </a:p>
                  </a:txBody>
                  <a:tcPr marL="45720" marR="45720" marT="18000" marB="18000" anchor="ctr">
                    <a:lnL w="0">
                      <a:noFill/>
                    </a:lnL>
                    <a:lnR w="0">
                      <a:noFill/>
                    </a:lnR>
                    <a:lnT w="0">
                      <a:noFill/>
                    </a:lnT>
                    <a:lnB w="6350">
                      <a:solidFill>
                        <a:srgbClr val="D9D9D9"/>
                      </a:solidFill>
                    </a:lnB>
                    <a:solidFill>
                      <a:srgbClr val="FFFFFF"/>
                    </a:solidFill>
                  </a:tcPr>
                </a:tc>
              </a:tr>
              <a:tr h="457200">
                <a:tc>
                  <a:txBody>
                    <a:bodyPr wrap="square"/>
                    <a:lstStyle/>
                    <a:p>
                      <a:pPr algn="l"/>
                      <a:r>
                        <a:rPr sz="950" b="0">
                          <a:solidFill>
                            <a:srgbClr val="1A1A1A"/>
                          </a:solidFill>
                          <a:latin typeface="Noto Sans KR"/>
                          <a:ea typeface="Noto Sans KR"/>
                          <a:cs typeface="Noto Sans KR"/>
                        </a:rPr>
                        <a:t>한국 시험자료 사용</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등록 지침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그대로 사용은 어려움(일부 보완 시험)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EVD-006</a:t>
                      </a:r>
                    </a:p>
                  </a:txBody>
                  <a:tcPr marL="45720" marR="45720" marT="18000" marB="18000" anchor="ctr">
                    <a:lnL w="0">
                      <a:noFill/>
                    </a:lnL>
                    <a:lnR w="0">
                      <a:noFill/>
                    </a:lnR>
                    <a:lnT w="0">
                      <a:noFill/>
                    </a:lnT>
                    <a:lnB w="6350">
                      <a:solidFill>
                        <a:srgbClr val="D9D9D9"/>
                      </a:solidFill>
                    </a:lnB>
                    <a:solidFill>
                      <a:srgbClr val="FFFFFF"/>
                    </a:solidFill>
                  </a:tcPr>
                </a:tc>
              </a:tr>
              <a:tr h="457200">
                <a:tc>
                  <a:txBody>
                    <a:bodyPr wrap="square"/>
                    <a:lstStyle/>
                    <a:p>
                      <a:pPr algn="l"/>
                      <a:r>
                        <a:rPr sz="950" b="0">
                          <a:solidFill>
                            <a:srgbClr val="1A1A1A"/>
                          </a:solidFill>
                          <a:latin typeface="Noto Sans KR"/>
                          <a:ea typeface="Noto Sans KR"/>
                          <a:cs typeface="Noto Sans KR"/>
                        </a:rPr>
                        <a:t>외국인 독자 법인</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950" b="0">
                          <a:solidFill>
                            <a:srgbClr val="1A1A1A"/>
                          </a:solidFill>
                          <a:latin typeface="Noto Sans KR"/>
                          <a:ea typeface="Noto Sans KR"/>
                          <a:cs typeface="Noto Sans KR"/>
                        </a:rPr>
                        <a:t>네거티브리스트 2024</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950" b="0">
                          <a:solidFill>
                            <a:srgbClr val="1A1A1A"/>
                          </a:solidFill>
                          <a:latin typeface="Noto Sans KR"/>
                          <a:ea typeface="Noto Sans KR"/>
                          <a:cs typeface="Noto Sans KR"/>
                        </a:rPr>
                        <a:t>100% 외자 무역법인 설립 가능(근거 기반)</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950" b="0">
                          <a:solidFill>
                            <a:srgbClr val="1A1A1A"/>
                          </a:solidFill>
                          <a:latin typeface="Noto Sans KR"/>
                          <a:ea typeface="Noto Sans KR"/>
                          <a:cs typeface="Noto Sans KR"/>
                        </a:rPr>
                        <a:t>EVD-024</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TextBox 164"/>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06_LegalMatrix 시트 · 03_SourceRegister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부록 3 | 후보 단지·창고 전체 조사표</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공개 근거는 '인정 원구' 지위까지 — 품목·물성·견적은 모두 문의 예정</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32</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- 32 -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4773168"/>
        </p:xfrm>
        <a:graphic>
          <a:graphicData uri="http://schemas.openxmlformats.org/drawingml/2006/table">
            <a:tbl>
              <a:tblPr firstRow="0" bandRow="0"/>
              <a:tblGrid>
                <a:gridCol w="777240"/>
                <a:gridCol w="3566160"/>
                <a:gridCol w="1463040"/>
                <a:gridCol w="1920240"/>
                <a:gridCol w="841248"/>
              </a:tblGrid>
              <a:tr h="256032">
                <a:tc>
                  <a:txBody>
                    <a:bodyPr wrap="square"/>
                    <a:lstStyle/>
                    <a:p>
                      <a:pPr algn="ctr"/>
                      <a:r>
                        <a:rPr sz="950" b="1">
                          <a:solidFill>
                            <a:srgbClr val="FFFFFF"/>
                          </a:solidFill>
                          <a:latin typeface="Noto Sans KR"/>
                          <a:ea typeface="Noto Sans KR"/>
                          <a:cs typeface="Noto Sans KR"/>
                        </a:rPr>
                        <a:t>ID</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950" b="1">
                          <a:solidFill>
                            <a:srgbClr val="FFFFFF"/>
                          </a:solidFill>
                          <a:latin typeface="Noto Sans KR"/>
                          <a:ea typeface="Noto Sans KR"/>
                          <a:cs typeface="Noto Sans KR"/>
                        </a:rPr>
                        <a:t>단지·창고</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950" b="1">
                          <a:solidFill>
                            <a:srgbClr val="FFFFFF"/>
                          </a:solidFill>
                          <a:latin typeface="Noto Sans KR"/>
                          <a:ea typeface="Noto Sans KR"/>
                          <a:cs typeface="Noto Sans KR"/>
                        </a:rPr>
                        <a:t>공식 인정</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950" b="1">
                          <a:solidFill>
                            <a:srgbClr val="FFFFFF"/>
                          </a:solidFill>
                          <a:latin typeface="Noto Sans KR"/>
                          <a:ea typeface="Noto Sans KR"/>
                          <a:cs typeface="Noto Sans KR"/>
                        </a:rPr>
                        <a:t>품목·특수 물성</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950" b="1">
                          <a:solidFill>
                            <a:srgbClr val="FFFFFF"/>
                          </a:solidFill>
                          <a:latin typeface="Noto Sans KR"/>
                          <a:ea typeface="Noto Sans KR"/>
                          <a:cs typeface="Noto Sans KR"/>
                        </a:rPr>
                        <a:t>상태</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347472">
                <a:tc>
                  <a:txBody>
                    <a:bodyPr wrap="square"/>
                    <a:lstStyle/>
                    <a:p>
                      <a:pPr algn="ctr"/>
                      <a:r>
                        <a:rPr sz="950" b="0">
                          <a:solidFill>
                            <a:srgbClr val="1A1A1A"/>
                          </a:solidFill>
                          <a:latin typeface="Noto Sans KR"/>
                          <a:ea typeface="Noto Sans KR"/>
                          <a:cs typeface="Noto Sans KR"/>
                        </a:rPr>
                        <a:t>SITE-001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江阴临港化工园区 (무석 관할 강음시)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강소성 1차 인정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확인 필요 / 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문의 예정</a:t>
                      </a:r>
                    </a:p>
                  </a:txBody>
                  <a:tcPr marL="45720" marR="45720" marT="18000" marB="18000" anchor="ctr">
                    <a:lnL w="0">
                      <a:noFill/>
                    </a:lnL>
                    <a:lnR w="0">
                      <a:noFill/>
                    </a:lnR>
                    <a:lnT w="0">
                      <a:noFill/>
                    </a:lnT>
                    <a:lnB w="6350">
                      <a:solidFill>
                        <a:srgbClr val="D9D9D9"/>
                      </a:solidFill>
                    </a:lnB>
                    <a:solidFill>
                      <a:srgbClr val="FFFFFF"/>
                    </a:solidFill>
                  </a:tcPr>
                </a:tc>
              </a:tr>
              <a:tr h="347472">
                <a:tc>
                  <a:txBody>
                    <a:bodyPr wrap="square"/>
                    <a:lstStyle/>
                    <a:p>
                      <a:pPr algn="ctr"/>
                      <a:r>
                        <a:rPr sz="950" b="0">
                          <a:solidFill>
                            <a:srgbClr val="1A1A1A"/>
                          </a:solidFill>
                          <a:latin typeface="Noto Sans KR"/>
                          <a:ea typeface="Noto Sans KR"/>
                          <a:cs typeface="Noto Sans KR"/>
                        </a:rPr>
                        <a:t>SITE-002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锡山经济技术开发区新材料产业园</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강소성 1차 인정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확인 필요 / 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문의 예정</a:t>
                      </a:r>
                    </a:p>
                  </a:txBody>
                  <a:tcPr marL="45720" marR="45720" marT="18000" marB="18000" anchor="ctr">
                    <a:lnL w="0">
                      <a:noFill/>
                    </a:lnL>
                    <a:lnR w="0">
                      <a:noFill/>
                    </a:lnR>
                    <a:lnT w="0">
                      <a:noFill/>
                    </a:lnT>
                    <a:lnB w="6350">
                      <a:solidFill>
                        <a:srgbClr val="D9D9D9"/>
                      </a:solidFill>
                    </a:lnB>
                    <a:solidFill>
                      <a:srgbClr val="FFFFFF"/>
                    </a:solidFill>
                  </a:tcPr>
                </a:tc>
              </a:tr>
              <a:tr h="347472">
                <a:tc>
                  <a:txBody>
                    <a:bodyPr wrap="square"/>
                    <a:lstStyle/>
                    <a:p>
                      <a:pPr algn="ctr"/>
                      <a:r>
                        <a:rPr sz="950" b="0">
                          <a:solidFill>
                            <a:srgbClr val="1A1A1A"/>
                          </a:solidFill>
                          <a:latin typeface="Noto Sans KR"/>
                          <a:ea typeface="Noto Sans KR"/>
                          <a:cs typeface="Noto Sans KR"/>
                        </a:rPr>
                        <a:t>SITE-003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宜兴市新材料产业园</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강소성 1차 인정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확인 필요 / 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문의 예정</a:t>
                      </a:r>
                    </a:p>
                  </a:txBody>
                  <a:tcPr marL="45720" marR="45720" marT="18000" marB="18000" anchor="ctr">
                    <a:lnL w="0">
                      <a:noFill/>
                    </a:lnL>
                    <a:lnR w="0">
                      <a:noFill/>
                    </a:lnR>
                    <a:lnT w="0">
                      <a:noFill/>
                    </a:lnT>
                    <a:lnB w="6350">
                      <a:solidFill>
                        <a:srgbClr val="D9D9D9"/>
                      </a:solidFill>
                    </a:lnB>
                    <a:solidFill>
                      <a:srgbClr val="FFFFFF"/>
                    </a:solidFill>
                  </a:tcPr>
                </a:tc>
              </a:tr>
              <a:tr h="347472">
                <a:tc>
                  <a:txBody>
                    <a:bodyPr wrap="square"/>
                    <a:lstStyle/>
                    <a:p>
                      <a:pPr algn="ctr"/>
                      <a:r>
                        <a:rPr sz="950" b="0">
                          <a:solidFill>
                            <a:srgbClr val="1A1A1A"/>
                          </a:solidFill>
                          <a:latin typeface="Noto Sans KR"/>
                          <a:ea typeface="Noto Sans KR"/>
                          <a:cs typeface="Noto Sans KR"/>
                        </a:rPr>
                        <a:t>SITE-004</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무석 신오구 사무 공간 (무저장 경영 장소)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보관 금지(무저장) / -</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문의 예정</a:t>
                      </a:r>
                    </a:p>
                  </a:txBody>
                  <a:tcPr marL="45720" marR="45720" marT="18000" marB="18000" anchor="ctr">
                    <a:lnL w="0">
                      <a:noFill/>
                    </a:lnL>
                    <a:lnR w="0">
                      <a:noFill/>
                    </a:lnR>
                    <a:lnT w="0">
                      <a:noFill/>
                    </a:lnT>
                    <a:lnB w="6350">
                      <a:solidFill>
                        <a:srgbClr val="D9D9D9"/>
                      </a:solidFill>
                    </a:lnB>
                    <a:solidFill>
                      <a:srgbClr val="FFFFFF"/>
                    </a:solidFill>
                  </a:tcPr>
                </a:tc>
              </a:tr>
              <a:tr h="347472">
                <a:tc>
                  <a:txBody>
                    <a:bodyPr wrap="square"/>
                    <a:lstStyle/>
                    <a:p>
                      <a:pPr algn="ctr"/>
                      <a:r>
                        <a:rPr sz="950" b="0">
                          <a:solidFill>
                            <a:srgbClr val="1A1A1A"/>
                          </a:solidFill>
                          <a:latin typeface="Noto Sans KR"/>
                          <a:ea typeface="Noto Sans KR"/>
                          <a:cs typeface="Noto Sans KR"/>
                        </a:rPr>
                        <a:t>SITE-005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江苏扬子江国际化学工业园 / 张家港保税区 위험품 물류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강소성 1차 인정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위험화학품 부두·보세 위험 / 확인 필요(4.2·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문의 예정</a:t>
                      </a:r>
                    </a:p>
                  </a:txBody>
                  <a:tcPr marL="45720" marR="45720" marT="18000" marB="18000" anchor="ctr">
                    <a:lnL w="0">
                      <a:noFill/>
                    </a:lnL>
                    <a:lnR w="0">
                      <a:noFill/>
                    </a:lnR>
                    <a:lnT w="0">
                      <a:noFill/>
                    </a:lnT>
                    <a:lnB w="6350">
                      <a:solidFill>
                        <a:srgbClr val="D9D9D9"/>
                      </a:solidFill>
                    </a:lnB>
                    <a:solidFill>
                      <a:srgbClr val="FFFFFF"/>
                    </a:solidFill>
                  </a:tcPr>
                </a:tc>
              </a:tr>
              <a:tr h="347472">
                <a:tc>
                  <a:txBody>
                    <a:bodyPr wrap="square"/>
                    <a:lstStyle/>
                    <a:p>
                      <a:pPr algn="ctr"/>
                      <a:r>
                        <a:rPr sz="950" b="0">
                          <a:solidFill>
                            <a:srgbClr val="1A1A1A"/>
                          </a:solidFill>
                          <a:latin typeface="Noto Sans KR"/>
                          <a:ea typeface="Noto Sans KR"/>
                          <a:cs typeface="Noto Sans KR"/>
                        </a:rPr>
                        <a:t>SITE-006</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江苏高科技氟化学工业园(常熟新材料产业园)</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강소성 1차 인정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불소화학 중심 / 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문의 예정</a:t>
                      </a:r>
                    </a:p>
                  </a:txBody>
                  <a:tcPr marL="45720" marR="45720" marT="18000" marB="18000" anchor="ctr">
                    <a:lnL w="0">
                      <a:noFill/>
                    </a:lnL>
                    <a:lnR w="0">
                      <a:noFill/>
                    </a:lnR>
                    <a:lnT w="0">
                      <a:noFill/>
                    </a:lnT>
                    <a:lnB w="6350">
                      <a:solidFill>
                        <a:srgbClr val="D9D9D9"/>
                      </a:solidFill>
                    </a:lnB>
                    <a:solidFill>
                      <a:srgbClr val="FFFFFF"/>
                    </a:solidFill>
                  </a:tcPr>
                </a:tc>
              </a:tr>
              <a:tr h="347472">
                <a:tc>
                  <a:txBody>
                    <a:bodyPr wrap="square"/>
                    <a:lstStyle/>
                    <a:p>
                      <a:pPr algn="ctr"/>
                      <a:r>
                        <a:rPr sz="950" b="0">
                          <a:solidFill>
                            <a:srgbClr val="1A1A1A"/>
                          </a:solidFill>
                          <a:latin typeface="Noto Sans KR"/>
                          <a:ea typeface="Noto Sans KR"/>
                          <a:cs typeface="Noto Sans KR"/>
                        </a:rPr>
                        <a:t>SITE-007</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常州滨江经济开发区新材料产业园</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강소성 1차 인정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확인 필요 / 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문의 예정</a:t>
                      </a:r>
                    </a:p>
                  </a:txBody>
                  <a:tcPr marL="45720" marR="45720" marT="18000" marB="18000" anchor="ctr">
                    <a:lnL w="0">
                      <a:noFill/>
                    </a:lnL>
                    <a:lnR w="0">
                      <a:noFill/>
                    </a:lnR>
                    <a:lnT w="0">
                      <a:noFill/>
                    </a:lnT>
                    <a:lnB w="6350">
                      <a:solidFill>
                        <a:srgbClr val="D9D9D9"/>
                      </a:solidFill>
                    </a:lnB>
                    <a:solidFill>
                      <a:srgbClr val="FFFFFF"/>
                    </a:solidFill>
                  </a:tcPr>
                </a:tc>
              </a:tr>
              <a:tr h="347472">
                <a:tc>
                  <a:txBody>
                    <a:bodyPr wrap="square"/>
                    <a:lstStyle/>
                    <a:p>
                      <a:pPr algn="ctr"/>
                      <a:r>
                        <a:rPr sz="950" b="0">
                          <a:solidFill>
                            <a:srgbClr val="1A1A1A"/>
                          </a:solidFill>
                          <a:latin typeface="Noto Sans KR"/>
                          <a:ea typeface="Noto Sans KR"/>
                          <a:cs typeface="Noto Sans KR"/>
                        </a:rPr>
                        <a:t>SITE-008</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镇江新区新材料产业园</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강소성 1차 인정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확인 필요 / 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문의 예정</a:t>
                      </a:r>
                    </a:p>
                  </a:txBody>
                  <a:tcPr marL="45720" marR="45720" marT="18000" marB="18000" anchor="ctr">
                    <a:lnL w="0">
                      <a:noFill/>
                    </a:lnL>
                    <a:lnR w="0">
                      <a:noFill/>
                    </a:lnR>
                    <a:lnT w="0">
                      <a:noFill/>
                    </a:lnT>
                    <a:lnB w="6350">
                      <a:solidFill>
                        <a:srgbClr val="D9D9D9"/>
                      </a:solidFill>
                    </a:lnB>
                    <a:solidFill>
                      <a:srgbClr val="FFFFFF"/>
                    </a:solidFill>
                  </a:tcPr>
                </a:tc>
              </a:tr>
              <a:tr h="347472">
                <a:tc>
                  <a:txBody>
                    <a:bodyPr wrap="square"/>
                    <a:lstStyle/>
                    <a:p>
                      <a:pPr algn="ctr"/>
                      <a:r>
                        <a:rPr sz="950" b="0">
                          <a:solidFill>
                            <a:srgbClr val="1A1A1A"/>
                          </a:solidFill>
                          <a:latin typeface="Noto Sans KR"/>
                          <a:ea typeface="Noto Sans KR"/>
                          <a:cs typeface="Noto Sans KR"/>
                        </a:rPr>
                        <a:t>SITE-009</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南京江北新材料科技园</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강소성 1차 인정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확인 필요 / 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문의 예정</a:t>
                      </a:r>
                    </a:p>
                  </a:txBody>
                  <a:tcPr marL="45720" marR="45720" marT="18000" marB="18000" anchor="ctr">
                    <a:lnL w="0">
                      <a:noFill/>
                    </a:lnL>
                    <a:lnR w="0">
                      <a:noFill/>
                    </a:lnR>
                    <a:lnT w="0">
                      <a:noFill/>
                    </a:lnT>
                    <a:lnB w="6350">
                      <a:solidFill>
                        <a:srgbClr val="D9D9D9"/>
                      </a:solidFill>
                    </a:lnB>
                    <a:solidFill>
                      <a:srgbClr val="FFFFFF"/>
                    </a:solidFill>
                  </a:tcPr>
                </a:tc>
              </a:tr>
              <a:tr h="347472">
                <a:tc>
                  <a:txBody>
                    <a:bodyPr wrap="square"/>
                    <a:lstStyle/>
                    <a:p>
                      <a:pPr algn="ctr"/>
                      <a:r>
                        <a:rPr sz="950" b="0">
                          <a:solidFill>
                            <a:srgbClr val="1A1A1A"/>
                          </a:solidFill>
                          <a:latin typeface="Noto Sans KR"/>
                          <a:ea typeface="Noto Sans KR"/>
                          <a:cs typeface="Noto Sans KR"/>
                        </a:rPr>
                        <a:t>SITE-010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南通经济技术开发区化工园区(南区)·如东洋口·如皋港</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강소성 1차 인정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확인 필요 / 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문의 예정</a:t>
                      </a:r>
                    </a:p>
                  </a:txBody>
                  <a:tcPr marL="45720" marR="45720" marT="18000" marB="18000" anchor="ctr">
                    <a:lnL w="0">
                      <a:noFill/>
                    </a:lnL>
                    <a:lnR w="0">
                      <a:noFill/>
                    </a:lnR>
                    <a:lnT w="0">
                      <a:noFill/>
                    </a:lnT>
                    <a:lnB w="6350">
                      <a:solidFill>
                        <a:srgbClr val="D9D9D9"/>
                      </a:solidFill>
                    </a:lnB>
                    <a:solidFill>
                      <a:srgbClr val="FFFFFF"/>
                    </a:solidFill>
                  </a:tcPr>
                </a:tc>
              </a:tr>
              <a:tr h="347472">
                <a:tc>
                  <a:txBody>
                    <a:bodyPr wrap="square"/>
                    <a:lstStyle/>
                    <a:p>
                      <a:pPr algn="ctr"/>
                      <a:r>
                        <a:rPr sz="950" b="0">
                          <a:solidFill>
                            <a:srgbClr val="1A1A1A"/>
                          </a:solidFill>
                          <a:latin typeface="Noto Sans KR"/>
                          <a:ea typeface="Noto Sans KR"/>
                          <a:cs typeface="Noto Sans KR"/>
                        </a:rPr>
                        <a:t>SITE-011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上海化学工业区 / 외고교 항만·보세 물류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상하이 시 지정(확인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확인 필요 / 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문의 예정</a:t>
                      </a:r>
                    </a:p>
                  </a:txBody>
                  <a:tcPr marL="45720" marR="45720" marT="18000" marB="18000" anchor="ctr">
                    <a:lnL w="0">
                      <a:noFill/>
                    </a:lnL>
                    <a:lnR w="0">
                      <a:noFill/>
                    </a:lnR>
                    <a:lnT w="0">
                      <a:noFill/>
                    </a:lnT>
                    <a:lnB w="6350">
                      <a:solidFill>
                        <a:srgbClr val="D9D9D9"/>
                      </a:solidFill>
                    </a:lnB>
                    <a:solidFill>
                      <a:srgbClr val="FFFFFF"/>
                    </a:solidFill>
                  </a:tcPr>
                </a:tc>
              </a:tr>
              <a:tr h="347472">
                <a:tc>
                  <a:txBody>
                    <a:bodyPr wrap="square"/>
                    <a:lstStyle/>
                    <a:p>
                      <a:pPr algn="ctr"/>
                      <a:r>
                        <a:rPr sz="950" b="0">
                          <a:solidFill>
                            <a:srgbClr val="1A1A1A"/>
                          </a:solidFill>
                          <a:latin typeface="Noto Sans KR"/>
                          <a:ea typeface="Noto Sans KR"/>
                          <a:cs typeface="Noto Sans KR"/>
                        </a:rPr>
                        <a:t>SITE-012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中国化工新材料(嘉兴)园区 / 平湖独山港 화공원구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저장성 명단 대조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확인 필요 / 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문의 예정</a:t>
                      </a:r>
                    </a:p>
                  </a:txBody>
                  <a:tcPr marL="45720" marR="45720" marT="18000" marB="18000" anchor="ctr">
                    <a:lnL w="0">
                      <a:noFill/>
                    </a:lnL>
                    <a:lnR w="0">
                      <a:noFill/>
                    </a:lnR>
                    <a:lnT w="0">
                      <a:noFill/>
                    </a:lnT>
                    <a:lnB w="6350">
                      <a:solidFill>
                        <a:srgbClr val="D9D9D9"/>
                      </a:solidFill>
                    </a:lnB>
                    <a:solidFill>
                      <a:srgbClr val="FFFFFF"/>
                    </a:solidFill>
                  </a:tcPr>
                </a:tc>
              </a:tr>
              <a:tr h="347472">
                <a:tc>
                  <a:txBody>
                    <a:bodyPr wrap="square"/>
                    <a:lstStyle/>
                    <a:p>
                      <a:pPr algn="ctr"/>
                      <a:r>
                        <a:rPr sz="950" b="0">
                          <a:solidFill>
                            <a:srgbClr val="1A1A1A"/>
                          </a:solidFill>
                          <a:latin typeface="Noto Sans KR"/>
                          <a:ea typeface="Noto Sans KR"/>
                          <a:cs typeface="Noto Sans KR"/>
                        </a:rPr>
                        <a:t>SITE-013</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950" b="0">
                          <a:solidFill>
                            <a:srgbClr val="1A1A1A"/>
                          </a:solidFill>
                          <a:latin typeface="Noto Sans KR"/>
                          <a:ea typeface="Noto Sans KR"/>
                          <a:cs typeface="Noto Sans KR"/>
                        </a:rPr>
                        <a:t>허페이 위험화학품 창고 후보 (미특정)</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950" b="0">
                          <a:solidFill>
                            <a:srgbClr val="1A1A1A"/>
                          </a:solidFill>
                          <a:latin typeface="Noto Sans KR"/>
                          <a:ea typeface="Noto Sans KR"/>
                          <a:cs typeface="Noto Sans KR"/>
                        </a:rPr>
                        <a:t>정보 없음</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950" b="0">
                          <a:solidFill>
                            <a:srgbClr val="1A1A1A"/>
                          </a:solidFill>
                          <a:latin typeface="Noto Sans KR"/>
                          <a:ea typeface="Noto Sans KR"/>
                          <a:cs typeface="Noto Sans KR"/>
                        </a:rPr>
                        <a:t>정보 없음 / 정보 없음</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950" b="0">
                          <a:solidFill>
                            <a:srgbClr val="1A1A1A"/>
                          </a:solidFill>
                          <a:latin typeface="Noto Sans KR"/>
                          <a:ea typeface="Noto Sans KR"/>
                          <a:cs typeface="Noto Sans KR"/>
                        </a:rPr>
                        <a:t>문의 예정</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TextBox 164"/>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09_SitesWarehouses 시트 · EVD-020·021 · SRC-031~034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부록 4 | 제품별 입력자료와 규제 판단</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제품 정보가 들어오면 이 표가 시나리오 A~D 중 하나로 확정됩니다</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33</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- 33 -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2103120"/>
        </p:xfrm>
        <a:graphic>
          <a:graphicData uri="http://schemas.openxmlformats.org/drawingml/2006/table">
            <a:tbl>
              <a:tblPr firstRow="0" bandRow="0"/>
              <a:tblGrid>
                <a:gridCol w="1828800"/>
                <a:gridCol w="960120"/>
                <a:gridCol w="1051560"/>
                <a:gridCol w="868680"/>
                <a:gridCol w="1051560"/>
                <a:gridCol w="1005840"/>
                <a:gridCol w="1801368"/>
              </a:tblGrid>
              <a:tr h="274320">
                <a:tc>
                  <a:txBody>
                    <a:bodyPr wrap="square"/>
                    <a:lstStyle/>
                    <a:p>
                      <a:pPr algn="ctr"/>
                      <a:r>
                        <a:rPr sz="1050" b="1">
                          <a:solidFill>
                            <a:srgbClr val="FFFFFF"/>
                          </a:solidFill>
                          <a:latin typeface="Noto Sans KR"/>
                          <a:ea typeface="Noto Sans KR"/>
                          <a:cs typeface="Noto Sans KR"/>
                        </a:rPr>
                        <a:t>제품</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신규물질</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위험화학품</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운송</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물성·보관</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기존 备案</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필요 자료</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457200">
                <a:tc>
                  <a:txBody>
                    <a:bodyPr wrap="square"/>
                    <a:lstStyle/>
                    <a:p>
                      <a:pPr algn="l"/>
                      <a:r>
                        <a:rPr sz="1050" b="0">
                          <a:solidFill>
                            <a:srgbClr val="1A1A1A"/>
                          </a:solidFill>
                          <a:latin typeface="Noto Sans KR"/>
                          <a:ea typeface="Noto Sans KR"/>
                          <a:cs typeface="Noto Sans KR"/>
                        </a:rPr>
                        <a:t>이트륨(Y) 전구체 (제품</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UN 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SDS·CAS·물량·备案 번호</a:t>
                      </a:r>
                    </a:p>
                  </a:txBody>
                  <a:tcPr marL="45720" marR="45720" marT="18000" marB="18000" anchor="ctr">
                    <a:lnL w="0">
                      <a:noFill/>
                    </a:lnL>
                    <a:lnR w="0">
                      <a:noFill/>
                    </a:lnR>
                    <a:lnT w="0">
                      <a:noFill/>
                    </a:lnT>
                    <a:lnB w="6350">
                      <a:solidFill>
                        <a:srgbClr val="D9D9D9"/>
                      </a:solidFill>
                    </a:lnB>
                    <a:solidFill>
                      <a:srgbClr val="FFFFFF"/>
                    </a:solidFill>
                  </a:tcPr>
                </a:tc>
              </a:tr>
              <a:tr h="457200">
                <a:tc>
                  <a:txBody>
                    <a:bodyPr wrap="square"/>
                    <a:lstStyle/>
                    <a:p>
                      <a:pPr algn="l"/>
                      <a:r>
                        <a:rPr sz="1050" b="0">
                          <a:solidFill>
                            <a:srgbClr val="1A1A1A"/>
                          </a:solidFill>
                          <a:latin typeface="Noto Sans KR"/>
                          <a:ea typeface="Noto Sans KR"/>
                          <a:cs typeface="Noto Sans KR"/>
                        </a:rPr>
                        <a:t>스칸듐(Sc) 전구체 (제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UN 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SDS·CAS·물량·备案 번호</a:t>
                      </a:r>
                    </a:p>
                  </a:txBody>
                  <a:tcPr marL="45720" marR="45720" marT="18000" marB="18000" anchor="ctr">
                    <a:lnL w="0">
                      <a:noFill/>
                    </a:lnL>
                    <a:lnR w="0">
                      <a:noFill/>
                    </a:lnR>
                    <a:lnT w="0">
                      <a:noFill/>
                    </a:lnT>
                    <a:lnB w="6350">
                      <a:solidFill>
                        <a:srgbClr val="D9D9D9"/>
                      </a:solidFill>
                    </a:lnB>
                    <a:solidFill>
                      <a:srgbClr val="FFFFFF"/>
                    </a:solidFill>
                  </a:tcPr>
                </a:tc>
              </a:tr>
              <a:tr h="457200">
                <a:tc>
                  <a:txBody>
                    <a:bodyPr wrap="square"/>
                    <a:lstStyle/>
                    <a:p>
                      <a:pPr algn="l"/>
                      <a:r>
                        <a:rPr sz="1050" b="0">
                          <a:solidFill>
                            <a:srgbClr val="1A1A1A"/>
                          </a:solidFill>
                          <a:latin typeface="Noto Sans KR"/>
                          <a:ea typeface="Noto Sans KR"/>
                          <a:cs typeface="Noto Sans KR"/>
                        </a:rPr>
                        <a:t>란타늄(La) 전구체 (제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UN 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SDS·CAS·물량·备案 번호</a:t>
                      </a:r>
                    </a:p>
                  </a:txBody>
                  <a:tcPr marL="45720" marR="45720" marT="18000" marB="18000" anchor="ctr">
                    <a:lnL w="0">
                      <a:noFill/>
                    </a:lnL>
                    <a:lnR w="0">
                      <a:noFill/>
                    </a:lnR>
                    <a:lnT w="0">
                      <a:noFill/>
                    </a:lnT>
                    <a:lnB w="6350">
                      <a:solidFill>
                        <a:srgbClr val="D9D9D9"/>
                      </a:solidFill>
                    </a:lnB>
                    <a:solidFill>
                      <a:srgbClr val="FFFFFF"/>
                    </a:solidFill>
                  </a:tcPr>
                </a:tc>
              </a:tr>
              <a:tr h="457200">
                <a:tc>
                  <a:txBody>
                    <a:bodyPr wrap="square"/>
                    <a:lstStyle/>
                    <a:p>
                      <a:pPr algn="l"/>
                      <a:r>
                        <a:rPr sz="1050" b="0">
                          <a:solidFill>
                            <a:srgbClr val="1A1A1A"/>
                          </a:solidFill>
                          <a:latin typeface="Noto Sans KR"/>
                          <a:ea typeface="Noto Sans KR"/>
                          <a:cs typeface="Noto Sans KR"/>
                        </a:rPr>
                        <a:t>CpZr 계열 (후속 검토</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50" b="0">
                          <a:solidFill>
                            <a:srgbClr val="1A1A1A"/>
                          </a:solidFill>
                          <a:latin typeface="Noto Sans KR"/>
                          <a:ea typeface="Noto Sans KR"/>
                          <a:cs typeface="Noto Sans KR"/>
                        </a:rPr>
                        <a:t>UN 확인</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50" b="0">
                          <a:solidFill>
                            <a:srgbClr val="1A1A1A"/>
                          </a:solidFill>
                          <a:latin typeface="Noto Sans KR"/>
                          <a:ea typeface="Noto Sans KR"/>
                          <a:cs typeface="Noto Sans KR"/>
                        </a:rPr>
                        <a:t>확인 필요</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050" b="0">
                          <a:solidFill>
                            <a:srgbClr val="1A1A1A"/>
                          </a:solidFill>
                          <a:latin typeface="Noto Sans KR"/>
                          <a:ea typeface="Noto Sans KR"/>
                          <a:cs typeface="Noto Sans KR"/>
                        </a:rPr>
                        <a:t>SDS·CAS·물량·备案 번호</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Rectangle 164"/>
          <p:cNvSpPr/>
          <p:nvPr/>
        </p:nvSpPr>
        <p:spPr>
          <a:xfrm>
            <a:off x="283464" y="3328416"/>
            <a:ext cx="54864" cy="182880"/>
          </a:xfrm>
          <a:prstGeom prst="rect">
            <a:avLst/>
          </a:prstGeom>
          <a:solidFill>
            <a:srgbClr val="EB0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393192" y="3282696"/>
            <a:ext cx="8458200" cy="274320"/>
          </a:xfrm>
          <a:prstGeom prst="rect">
            <a:avLst/>
          </a:prstGeom>
          <a:noFill/>
        </p:spPr>
        <p:txBody>
          <a:bodyPr wrap="square" anchor="t" lIns="27432" rIns="27432" tIns="18288" bIns="18288">
            <a:spAutoFit/>
          </a:bodyPr>
          <a:lstStyle/>
          <a:p>
            <a:pPr algn="l"/>
            <a:r>
              <a:rPr sz="1200" b="1">
                <a:solidFill>
                  <a:srgbClr val="1A1A1A"/>
                </a:solidFill>
                <a:latin typeface="Noto Sans KR"/>
                <a:ea typeface="Noto Sans KR"/>
                <a:cs typeface="Noto Sans KR"/>
              </a:rPr>
              <a:t>판정 순서</a:t>
            </a:r>
          </a:p>
        </p:txBody>
      </p:sp>
      <p:sp>
        <p:nvSpPr>
          <p:cNvPr id="167" name="Pentagon 166"/>
          <p:cNvSpPr/>
          <p:nvPr/>
        </p:nvSpPr>
        <p:spPr>
          <a:xfrm>
            <a:off x="283464" y="3611880"/>
            <a:ext cx="1768449" cy="731520"/>
          </a:xfrm>
          <a:prstGeom prst="homePlate">
            <a:avLst>
              <a:gd name="adj" fmla="val 2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73152"/>
          <a:lstStyle/>
          <a:p>
            <a:pPr algn="ctr"/>
            <a:r>
              <a:rPr sz="1100" b="1">
                <a:solidFill>
                  <a:srgbClr val="FFFFFF"/>
                </a:solidFill>
                <a:latin typeface="Noto Sans KR"/>
                <a:ea typeface="Noto Sans KR"/>
                <a:cs typeface="Noto Sans KR"/>
              </a:rPr>
              <a:t>CAS 확인</a:t>
            </a:r>
          </a:p>
          <a:p>
            <a:pPr algn="ctr"/>
            <a:r>
              <a:rPr sz="900" b="0">
                <a:solidFill>
                  <a:srgbClr val="FFFFFF"/>
                </a:solidFill>
                <a:latin typeface="Noto Sans KR"/>
                <a:ea typeface="Noto Sans KR"/>
                <a:cs typeface="Noto Sans KR"/>
              </a:rPr>
              <a:t>IECSC 검색</a:t>
            </a:r>
          </a:p>
        </p:txBody>
      </p:sp>
      <p:sp>
        <p:nvSpPr>
          <p:cNvPr id="168" name="Chevron 167"/>
          <p:cNvSpPr/>
          <p:nvPr/>
        </p:nvSpPr>
        <p:spPr>
          <a:xfrm>
            <a:off x="1997049" y="3611880"/>
            <a:ext cx="1768449" cy="731520"/>
          </a:xfrm>
          <a:prstGeom prst="chevron">
            <a:avLst>
              <a:gd name="adj" fmla="val 25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100" b="1">
                <a:solidFill>
                  <a:srgbClr val="FFFFFF"/>
                </a:solidFill>
                <a:latin typeface="Noto Sans KR"/>
                <a:ea typeface="Noto Sans KR"/>
                <a:cs typeface="Noto Sans KR"/>
              </a:rPr>
              <a:t>GHS 분류</a:t>
            </a:r>
          </a:p>
          <a:p>
            <a:pPr algn="ctr"/>
            <a:r>
              <a:rPr sz="900" b="0">
                <a:solidFill>
                  <a:srgbClr val="FFFFFF"/>
                </a:solidFill>
                <a:latin typeface="Noto Sans KR"/>
                <a:ea typeface="Noto Sans KR"/>
                <a:cs typeface="Noto Sans KR"/>
              </a:rPr>
              <a:t>SDS</a:t>
            </a:r>
          </a:p>
        </p:txBody>
      </p:sp>
      <p:sp>
        <p:nvSpPr>
          <p:cNvPr id="169" name="Chevron 168"/>
          <p:cNvSpPr/>
          <p:nvPr/>
        </p:nvSpPr>
        <p:spPr>
          <a:xfrm>
            <a:off x="3710635" y="3611880"/>
            <a:ext cx="1768449" cy="731520"/>
          </a:xfrm>
          <a:prstGeom prst="chevron">
            <a:avLst>
              <a:gd name="adj" fmla="val 25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100" b="1">
                <a:solidFill>
                  <a:srgbClr val="FFFFFF"/>
                </a:solidFill>
                <a:latin typeface="Noto Sans KR"/>
                <a:ea typeface="Noto Sans KR"/>
                <a:cs typeface="Noto Sans KR"/>
              </a:rPr>
              <a:t>목록 대조</a:t>
            </a:r>
          </a:p>
          <a:p>
            <a:pPr algn="ctr"/>
            <a:r>
              <a:rPr sz="900" b="0">
                <a:solidFill>
                  <a:srgbClr val="FFFFFF"/>
                </a:solidFill>
                <a:latin typeface="Noto Sans KR"/>
                <a:ea typeface="Noto Sans KR"/>
                <a:cs typeface="Noto Sans KR"/>
              </a:rPr>
              <a:t>위험화학품</a:t>
            </a:r>
          </a:p>
        </p:txBody>
      </p:sp>
      <p:sp>
        <p:nvSpPr>
          <p:cNvPr id="170" name="Chevron 169"/>
          <p:cNvSpPr/>
          <p:nvPr/>
        </p:nvSpPr>
        <p:spPr>
          <a:xfrm>
            <a:off x="5424220" y="3611880"/>
            <a:ext cx="1768449" cy="731520"/>
          </a:xfrm>
          <a:prstGeom prst="chevron">
            <a:avLst>
              <a:gd name="adj" fmla="val 25000"/>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100" b="1">
                <a:solidFill>
                  <a:srgbClr val="FFFFFF"/>
                </a:solidFill>
                <a:latin typeface="Noto Sans KR"/>
                <a:ea typeface="Noto Sans KR"/>
                <a:cs typeface="Noto Sans KR"/>
              </a:rPr>
              <a:t>UN 분류</a:t>
            </a:r>
          </a:p>
          <a:p>
            <a:pPr algn="ctr"/>
            <a:r>
              <a:rPr sz="900" b="0">
                <a:solidFill>
                  <a:srgbClr val="FFFFFF"/>
                </a:solidFill>
                <a:latin typeface="Noto Sans KR"/>
                <a:ea typeface="Noto Sans KR"/>
                <a:cs typeface="Noto Sans KR"/>
              </a:rPr>
              <a:t>운송</a:t>
            </a:r>
          </a:p>
        </p:txBody>
      </p:sp>
      <p:sp>
        <p:nvSpPr>
          <p:cNvPr id="171" name="Chevron 170"/>
          <p:cNvSpPr/>
          <p:nvPr/>
        </p:nvSpPr>
        <p:spPr>
          <a:xfrm>
            <a:off x="7137806" y="3611880"/>
            <a:ext cx="1768449" cy="731520"/>
          </a:xfrm>
          <a:prstGeom prst="chevron">
            <a:avLst>
              <a:gd name="adj" fmla="val 25000"/>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73152"/>
          <a:lstStyle/>
          <a:p>
            <a:pPr algn="ctr"/>
            <a:r>
              <a:rPr sz="1100" b="1">
                <a:solidFill>
                  <a:srgbClr val="FFFFFF"/>
                </a:solidFill>
                <a:latin typeface="Noto Sans KR"/>
                <a:ea typeface="Noto Sans KR"/>
                <a:cs typeface="Noto Sans KR"/>
              </a:rPr>
              <a:t>물량·备案</a:t>
            </a:r>
          </a:p>
          <a:p>
            <a:pPr algn="ctr"/>
            <a:r>
              <a:rPr sz="900" b="0">
                <a:solidFill>
                  <a:srgbClr val="FFFFFF"/>
                </a:solidFill>
                <a:latin typeface="Noto Sans KR"/>
                <a:ea typeface="Noto Sans KR"/>
                <a:cs typeface="Noto Sans KR"/>
              </a:rPr>
              <a:t>등록 유형</a:t>
            </a:r>
          </a:p>
        </p:txBody>
      </p:sp>
      <p:sp>
        <p:nvSpPr>
          <p:cNvPr id="172" name="TextBox 171"/>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05_Materials 시트 · EVD-032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부록 5 | 비용 산식·가정·환율</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파란 입력값을 견적으로 바꾸면 15_CostModel이 자동 갱신됩니다</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34</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- 34 -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3977640"/>
        </p:xfrm>
        <a:graphic>
          <a:graphicData uri="http://schemas.openxmlformats.org/drawingml/2006/table">
            <a:tbl>
              <a:tblPr firstRow="0" bandRow="0"/>
              <a:tblGrid>
                <a:gridCol w="914400"/>
                <a:gridCol w="4206240"/>
                <a:gridCol w="1463040"/>
                <a:gridCol w="1984248"/>
              </a:tblGrid>
              <a:tr h="256032">
                <a:tc>
                  <a:txBody>
                    <a:bodyPr wrap="square"/>
                    <a:lstStyle/>
                    <a:p>
                      <a:pPr algn="ctr"/>
                      <a:r>
                        <a:rPr sz="1000" b="1">
                          <a:solidFill>
                            <a:srgbClr val="FFFFFF"/>
                          </a:solidFill>
                          <a:latin typeface="Noto Sans KR"/>
                          <a:ea typeface="Noto Sans KR"/>
                          <a:cs typeface="Noto Sans KR"/>
                        </a:rPr>
                        <a:t>가정 ID</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00" b="1">
                          <a:solidFill>
                            <a:srgbClr val="FFFFFF"/>
                          </a:solidFill>
                          <a:latin typeface="Noto Sans KR"/>
                          <a:ea typeface="Noto Sans KR"/>
                          <a:cs typeface="Noto Sans KR"/>
                        </a:rPr>
                        <a:t>항목</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00" b="1">
                          <a:solidFill>
                            <a:srgbClr val="FFFFFF"/>
                          </a:solidFill>
                          <a:latin typeface="Noto Sans KR"/>
                          <a:ea typeface="Noto Sans KR"/>
                          <a:cs typeface="Noto Sans KR"/>
                        </a:rPr>
                        <a:t>값</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00" b="1">
                          <a:solidFill>
                            <a:srgbClr val="FFFFFF"/>
                          </a:solidFill>
                          <a:latin typeface="Noto Sans KR"/>
                          <a:ea typeface="Noto Sans KR"/>
                          <a:cs typeface="Noto Sans KR"/>
                        </a:rPr>
                        <a:t>상태</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338328">
                <a:tc>
                  <a:txBody>
                    <a:bodyPr wrap="square"/>
                    <a:lstStyle/>
                    <a:p>
                      <a:pPr algn="ctr"/>
                      <a:r>
                        <a:rPr sz="1000" b="0">
                          <a:solidFill>
                            <a:srgbClr val="1A1A1A"/>
                          </a:solidFill>
                          <a:latin typeface="Noto Sans KR"/>
                          <a:ea typeface="Noto Sans KR"/>
                          <a:cs typeface="Noto Sans KR"/>
                        </a:rPr>
                        <a:t>ASM-001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00" b="0">
                          <a:solidFill>
                            <a:srgbClr val="1A1A1A"/>
                          </a:solidFill>
                          <a:latin typeface="Noto Sans KR"/>
                          <a:ea typeface="Noto Sans KR"/>
                          <a:cs typeface="Noto Sans KR"/>
                        </a:rPr>
                        <a:t>환율 CNY→KRW</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204</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언론·기타</a:t>
                      </a:r>
                    </a:p>
                  </a:txBody>
                  <a:tcPr marL="45720" marR="45720" marT="18000" marB="18000" anchor="ctr">
                    <a:lnL w="0">
                      <a:noFill/>
                    </a:lnL>
                    <a:lnR w="0">
                      <a:noFill/>
                    </a:lnR>
                    <a:lnT w="0">
                      <a:noFill/>
                    </a:lnT>
                    <a:lnB w="6350">
                      <a:solidFill>
                        <a:srgbClr val="D9D9D9"/>
                      </a:solidFill>
                    </a:lnB>
                    <a:solidFill>
                      <a:srgbClr val="FFFFFF"/>
                    </a:solidFill>
                  </a:tcPr>
                </a:tc>
              </a:tr>
              <a:tr h="338328">
                <a:tc>
                  <a:txBody>
                    <a:bodyPr wrap="square"/>
                    <a:lstStyle/>
                    <a:p>
                      <a:pPr algn="ctr"/>
                      <a:r>
                        <a:rPr sz="1000" b="0">
                          <a:solidFill>
                            <a:srgbClr val="1A1A1A"/>
                          </a:solidFill>
                          <a:latin typeface="Noto Sans KR"/>
                          <a:ea typeface="Noto Sans KR"/>
                          <a:cs typeface="Noto Sans KR"/>
                        </a:rPr>
                        <a:t>ASM-002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00" b="0">
                          <a:solidFill>
                            <a:srgbClr val="1A1A1A"/>
                          </a:solidFill>
                          <a:latin typeface="Noto Sans KR"/>
                          <a:ea typeface="Noto Sans KR"/>
                          <a:cs typeface="Noto Sans KR"/>
                        </a:rPr>
                        <a:t>현지 직원 연 기본급 (무석 평균임금 기준)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147,293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언론·기타</a:t>
                      </a:r>
                    </a:p>
                  </a:txBody>
                  <a:tcPr marL="45720" marR="45720" marT="18000" marB="18000" anchor="ctr">
                    <a:lnL w="0">
                      <a:noFill/>
                    </a:lnL>
                    <a:lnR w="0">
                      <a:noFill/>
                    </a:lnR>
                    <a:lnT w="0">
                      <a:noFill/>
                    </a:lnT>
                    <a:lnB w="6350">
                      <a:solidFill>
                        <a:srgbClr val="D9D9D9"/>
                      </a:solidFill>
                    </a:lnB>
                    <a:solidFill>
                      <a:srgbClr val="FFFFFF"/>
                    </a:solidFill>
                  </a:tcPr>
                </a:tc>
              </a:tr>
              <a:tr h="338328">
                <a:tc>
                  <a:txBody>
                    <a:bodyPr wrap="square"/>
                    <a:lstStyle/>
                    <a:p>
                      <a:pPr algn="ctr"/>
                      <a:r>
                        <a:rPr sz="1000" b="0">
                          <a:solidFill>
                            <a:srgbClr val="1A1A1A"/>
                          </a:solidFill>
                          <a:latin typeface="Noto Sans KR"/>
                          <a:ea typeface="Noto Sans KR"/>
                          <a:cs typeface="Noto Sans KR"/>
                        </a:rPr>
                        <a:t>ASM-003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00" b="0">
                          <a:solidFill>
                            <a:srgbClr val="1A1A1A"/>
                          </a:solidFill>
                          <a:latin typeface="Noto Sans KR"/>
                          <a:ea typeface="Noto Sans KR"/>
                          <a:cs typeface="Noto Sans KR"/>
                        </a:rPr>
                        <a:t>직무 급여 배수 (평균 대비)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1.2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분석 가정</a:t>
                      </a:r>
                    </a:p>
                  </a:txBody>
                  <a:tcPr marL="45720" marR="45720" marT="18000" marB="18000" anchor="ctr">
                    <a:lnL w="0">
                      <a:noFill/>
                    </a:lnL>
                    <a:lnR w="0">
                      <a:noFill/>
                    </a:lnR>
                    <a:lnT w="0">
                      <a:noFill/>
                    </a:lnT>
                    <a:lnB w="6350">
                      <a:solidFill>
                        <a:srgbClr val="D9D9D9"/>
                      </a:solidFill>
                    </a:lnB>
                    <a:solidFill>
                      <a:srgbClr val="FFFFFF"/>
                    </a:solidFill>
                  </a:tcPr>
                </a:tc>
              </a:tr>
              <a:tr h="338328">
                <a:tc>
                  <a:txBody>
                    <a:bodyPr wrap="square"/>
                    <a:lstStyle/>
                    <a:p>
                      <a:pPr algn="ctr"/>
                      <a:r>
                        <a:rPr sz="1000" b="0">
                          <a:solidFill>
                            <a:srgbClr val="1A1A1A"/>
                          </a:solidFill>
                          <a:latin typeface="Noto Sans KR"/>
                          <a:ea typeface="Noto Sans KR"/>
                          <a:cs typeface="Noto Sans KR"/>
                        </a:rPr>
                        <a:t>ASM-004</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00" b="0">
                          <a:solidFill>
                            <a:srgbClr val="1A1A1A"/>
                          </a:solidFill>
                          <a:latin typeface="Noto Sans KR"/>
                          <a:ea typeface="Noto Sans KR"/>
                          <a:cs typeface="Noto Sans KR"/>
                        </a:rPr>
                        <a:t>사업주 사회보험·주택공적금 부담률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0.35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분석 가정</a:t>
                      </a:r>
                    </a:p>
                  </a:txBody>
                  <a:tcPr marL="45720" marR="45720" marT="18000" marB="18000" anchor="ctr">
                    <a:lnL w="0">
                      <a:noFill/>
                    </a:lnL>
                    <a:lnR w="0">
                      <a:noFill/>
                    </a:lnR>
                    <a:lnT w="0">
                      <a:noFill/>
                    </a:lnT>
                    <a:lnB w="6350">
                      <a:solidFill>
                        <a:srgbClr val="D9D9D9"/>
                      </a:solidFill>
                    </a:lnB>
                    <a:solidFill>
                      <a:srgbClr val="FFFFFF"/>
                    </a:solidFill>
                  </a:tcPr>
                </a:tc>
              </a:tr>
              <a:tr h="338328">
                <a:tc>
                  <a:txBody>
                    <a:bodyPr wrap="square"/>
                    <a:lstStyle/>
                    <a:p>
                      <a:pPr algn="ctr"/>
                      <a:r>
                        <a:rPr sz="1000" b="0">
                          <a:solidFill>
                            <a:srgbClr val="1A1A1A"/>
                          </a:solidFill>
                          <a:latin typeface="Noto Sans KR"/>
                          <a:ea typeface="Noto Sans KR"/>
                          <a:cs typeface="Noto Sans KR"/>
                        </a:rPr>
                        <a:t>ASM-005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00" b="0">
                          <a:solidFill>
                            <a:srgbClr val="1A1A1A"/>
                          </a:solidFill>
                          <a:latin typeface="Noto Sans KR"/>
                          <a:ea typeface="Noto Sans KR"/>
                          <a:cs typeface="Noto Sans KR"/>
                        </a:rPr>
                        <a:t>현지 채용 인원 (최소안)</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분석 가정</a:t>
                      </a:r>
                    </a:p>
                  </a:txBody>
                  <a:tcPr marL="45720" marR="45720" marT="18000" marB="18000" anchor="ctr">
                    <a:lnL w="0">
                      <a:noFill/>
                    </a:lnL>
                    <a:lnR w="0">
                      <a:noFill/>
                    </a:lnR>
                    <a:lnT w="0">
                      <a:noFill/>
                    </a:lnT>
                    <a:lnB w="6350">
                      <a:solidFill>
                        <a:srgbClr val="D9D9D9"/>
                      </a:solidFill>
                    </a:lnB>
                    <a:solidFill>
                      <a:srgbClr val="FFFFFF"/>
                    </a:solidFill>
                  </a:tcPr>
                </a:tc>
              </a:tr>
              <a:tr h="338328">
                <a:tc>
                  <a:txBody>
                    <a:bodyPr wrap="square"/>
                    <a:lstStyle/>
                    <a:p>
                      <a:pPr algn="ctr"/>
                      <a:r>
                        <a:rPr sz="1000" b="0">
                          <a:solidFill>
                            <a:srgbClr val="1A1A1A"/>
                          </a:solidFill>
                          <a:latin typeface="Noto Sans KR"/>
                          <a:ea typeface="Noto Sans KR"/>
                          <a:cs typeface="Noto Sans KR"/>
                        </a:rPr>
                        <a:t>ASM-006</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00" b="0">
                          <a:solidFill>
                            <a:srgbClr val="1A1A1A"/>
                          </a:solidFill>
                          <a:latin typeface="Noto Sans KR"/>
                          <a:ea typeface="Noto Sans KR"/>
                          <a:cs typeface="Noto Sans KR"/>
                        </a:rPr>
                        <a:t>사무실 면적</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120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분석 가정</a:t>
                      </a:r>
                    </a:p>
                  </a:txBody>
                  <a:tcPr marL="45720" marR="45720" marT="18000" marB="18000" anchor="ctr">
                    <a:lnL w="0">
                      <a:noFill/>
                    </a:lnL>
                    <a:lnR w="0">
                      <a:noFill/>
                    </a:lnR>
                    <a:lnT w="0">
                      <a:noFill/>
                    </a:lnT>
                    <a:lnB w="6350">
                      <a:solidFill>
                        <a:srgbClr val="D9D9D9"/>
                      </a:solidFill>
                    </a:lnB>
                    <a:solidFill>
                      <a:srgbClr val="FFFFFF"/>
                    </a:solidFill>
                  </a:tcPr>
                </a:tc>
              </a:tr>
              <a:tr h="338328">
                <a:tc>
                  <a:txBody>
                    <a:bodyPr wrap="square"/>
                    <a:lstStyle/>
                    <a:p>
                      <a:pPr algn="ctr"/>
                      <a:r>
                        <a:rPr sz="1000" b="0">
                          <a:solidFill>
                            <a:srgbClr val="1A1A1A"/>
                          </a:solidFill>
                          <a:latin typeface="Noto Sans KR"/>
                          <a:ea typeface="Noto Sans KR"/>
                          <a:cs typeface="Noto Sans KR"/>
                        </a:rPr>
                        <a:t>ASM-007</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00" b="0">
                          <a:solidFill>
                            <a:srgbClr val="1A1A1A"/>
                          </a:solidFill>
                          <a:latin typeface="Noto Sans KR"/>
                          <a:ea typeface="Noto Sans KR"/>
                          <a:cs typeface="Noto Sans KR"/>
                        </a:rPr>
                        <a:t>사무실 임대 단가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견적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기관 확인 필요</a:t>
                      </a:r>
                    </a:p>
                  </a:txBody>
                  <a:tcPr marL="45720" marR="45720" marT="18000" marB="18000" anchor="ctr">
                    <a:lnL w="0">
                      <a:noFill/>
                    </a:lnL>
                    <a:lnR w="0">
                      <a:noFill/>
                    </a:lnR>
                    <a:lnT w="0">
                      <a:noFill/>
                    </a:lnT>
                    <a:lnB w="6350">
                      <a:solidFill>
                        <a:srgbClr val="D9D9D9"/>
                      </a:solidFill>
                    </a:lnB>
                    <a:solidFill>
                      <a:srgbClr val="FFFFFF"/>
                    </a:solidFill>
                  </a:tcPr>
                </a:tc>
              </a:tr>
              <a:tr h="338328">
                <a:tc>
                  <a:txBody>
                    <a:bodyPr wrap="square"/>
                    <a:lstStyle/>
                    <a:p>
                      <a:pPr algn="ctr"/>
                      <a:r>
                        <a:rPr sz="1000" b="0">
                          <a:solidFill>
                            <a:srgbClr val="1A1A1A"/>
                          </a:solidFill>
                          <a:latin typeface="Noto Sans KR"/>
                          <a:ea typeface="Noto Sans KR"/>
                          <a:cs typeface="Noto Sans KR"/>
                        </a:rPr>
                        <a:t>ASM-008</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00" b="0">
                          <a:solidFill>
                            <a:srgbClr val="1A1A1A"/>
                          </a:solidFill>
                          <a:latin typeface="Noto Sans KR"/>
                          <a:ea typeface="Noto Sans KR"/>
                          <a:cs typeface="Noto Sans KR"/>
                        </a:rPr>
                        <a:t>보증금 개월수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분석 가정</a:t>
                      </a:r>
                    </a:p>
                  </a:txBody>
                  <a:tcPr marL="45720" marR="45720" marT="18000" marB="18000" anchor="ctr">
                    <a:lnL w="0">
                      <a:noFill/>
                    </a:lnL>
                    <a:lnR w="0">
                      <a:noFill/>
                    </a:lnR>
                    <a:lnT w="0">
                      <a:noFill/>
                    </a:lnT>
                    <a:lnB w="6350">
                      <a:solidFill>
                        <a:srgbClr val="D9D9D9"/>
                      </a:solidFill>
                    </a:lnB>
                    <a:solidFill>
                      <a:srgbClr val="FFFFFF"/>
                    </a:solidFill>
                  </a:tcPr>
                </a:tc>
              </a:tr>
              <a:tr h="338328">
                <a:tc>
                  <a:txBody>
                    <a:bodyPr wrap="square"/>
                    <a:lstStyle/>
                    <a:p>
                      <a:pPr algn="ctr"/>
                      <a:r>
                        <a:rPr sz="1000" b="0">
                          <a:solidFill>
                            <a:srgbClr val="1A1A1A"/>
                          </a:solidFill>
                          <a:latin typeface="Noto Sans KR"/>
                          <a:ea typeface="Noto Sans KR"/>
                          <a:cs typeface="Noto Sans KR"/>
                        </a:rPr>
                        <a:t>ASM-009</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00" b="0">
                          <a:solidFill>
                            <a:srgbClr val="1A1A1A"/>
                          </a:solidFill>
                          <a:latin typeface="Noto Sans KR"/>
                          <a:ea typeface="Noto Sans KR"/>
                          <a:cs typeface="Noto Sans KR"/>
                        </a:rPr>
                        <a:t>현지 재고 일수 (민감도)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30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분석 가정</a:t>
                      </a:r>
                    </a:p>
                  </a:txBody>
                  <a:tcPr marL="45720" marR="45720" marT="18000" marB="18000" anchor="ctr">
                    <a:lnL w="0">
                      <a:noFill/>
                    </a:lnL>
                    <a:lnR w="0">
                      <a:noFill/>
                    </a:lnR>
                    <a:lnT w="0">
                      <a:noFill/>
                    </a:lnT>
                    <a:lnB w="6350">
                      <a:solidFill>
                        <a:srgbClr val="D9D9D9"/>
                      </a:solidFill>
                    </a:lnB>
                    <a:solidFill>
                      <a:srgbClr val="FFFFFF"/>
                    </a:solidFill>
                  </a:tcPr>
                </a:tc>
              </a:tr>
              <a:tr h="338328">
                <a:tc>
                  <a:txBody>
                    <a:bodyPr wrap="square"/>
                    <a:lstStyle/>
                    <a:p>
                      <a:pPr algn="ctr"/>
                      <a:r>
                        <a:rPr sz="1000" b="0">
                          <a:solidFill>
                            <a:srgbClr val="1A1A1A"/>
                          </a:solidFill>
                          <a:latin typeface="Noto Sans KR"/>
                          <a:ea typeface="Noto Sans KR"/>
                          <a:cs typeface="Noto Sans KR"/>
                        </a:rPr>
                        <a:t>ASM-010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00" b="0">
                          <a:solidFill>
                            <a:srgbClr val="1A1A1A"/>
                          </a:solidFill>
                          <a:latin typeface="Noto Sans KR"/>
                          <a:ea typeface="Noto Sans KR"/>
                          <a:cs typeface="Noto Sans KR"/>
                        </a:rPr>
                        <a:t>월 판매액 (중국 공급)</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견적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00" b="0">
                          <a:solidFill>
                            <a:srgbClr val="1A1A1A"/>
                          </a:solidFill>
                          <a:latin typeface="Noto Sans KR"/>
                          <a:ea typeface="Noto Sans KR"/>
                          <a:cs typeface="Noto Sans KR"/>
                        </a:rPr>
                        <a:t>정보 없음</a:t>
                      </a:r>
                    </a:p>
                  </a:txBody>
                  <a:tcPr marL="45720" marR="45720" marT="18000" marB="18000" anchor="ctr">
                    <a:lnL w="0">
                      <a:noFill/>
                    </a:lnL>
                    <a:lnR w="0">
                      <a:noFill/>
                    </a:lnR>
                    <a:lnT w="0">
                      <a:noFill/>
                    </a:lnT>
                    <a:lnB w="6350">
                      <a:solidFill>
                        <a:srgbClr val="D9D9D9"/>
                      </a:solidFill>
                    </a:lnB>
                    <a:solidFill>
                      <a:srgbClr val="FFFFFF"/>
                    </a:solidFill>
                  </a:tcPr>
                </a:tc>
              </a:tr>
              <a:tr h="338328">
                <a:tc>
                  <a:txBody>
                    <a:bodyPr wrap="square"/>
                    <a:lstStyle/>
                    <a:p>
                      <a:pPr algn="ctr"/>
                      <a:r>
                        <a:rPr sz="1000" b="0">
                          <a:solidFill>
                            <a:srgbClr val="1A1A1A"/>
                          </a:solidFill>
                          <a:latin typeface="Noto Sans KR"/>
                          <a:ea typeface="Noto Sans KR"/>
                          <a:cs typeface="Noto Sans KR"/>
                        </a:rPr>
                        <a:t>ASM-011</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000" b="0">
                          <a:solidFill>
                            <a:srgbClr val="1A1A1A"/>
                          </a:solidFill>
                          <a:latin typeface="Noto Sans KR"/>
                          <a:ea typeface="Noto Sans KR"/>
                          <a:cs typeface="Noto Sans KR"/>
                        </a:rPr>
                        <a:t>등록자본 = 첫해 고정비 × 배수</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00" b="0">
                          <a:solidFill>
                            <a:srgbClr val="1A1A1A"/>
                          </a:solidFill>
                          <a:latin typeface="Noto Sans KR"/>
                          <a:ea typeface="Noto Sans KR"/>
                          <a:cs typeface="Noto Sans KR"/>
                        </a:rPr>
                        <a:t>1.5</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00" b="0">
                          <a:solidFill>
                            <a:srgbClr val="1A1A1A"/>
                          </a:solidFill>
                          <a:latin typeface="Noto Sans KR"/>
                          <a:ea typeface="Noto Sans KR"/>
                          <a:cs typeface="Noto Sans KR"/>
                        </a:rPr>
                        <a:t>분석 가정</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TextBox 164"/>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13_FXAssumptions · 14_CostsRaw · SRC-024~026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부록 6 | 일정 세부표와 시나리오</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달력일·주 단위 · 공휴일 미반영 — 영업일 일정 아님</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35</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- 35 -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4850892"/>
        </p:xfrm>
        <a:graphic>
          <a:graphicData uri="http://schemas.openxmlformats.org/drawingml/2006/table">
            <a:tbl>
              <a:tblPr firstRow="0" bandRow="0"/>
              <a:tblGrid>
                <a:gridCol w="640080"/>
                <a:gridCol w="4206240"/>
                <a:gridCol w="1234440"/>
                <a:gridCol w="1234440"/>
                <a:gridCol w="1252728"/>
              </a:tblGrid>
              <a:tr h="256032">
                <a:tc>
                  <a:txBody>
                    <a:bodyPr wrap="square"/>
                    <a:lstStyle/>
                    <a:p>
                      <a:pPr algn="ctr"/>
                      <a:r>
                        <a:rPr sz="950" b="1">
                          <a:solidFill>
                            <a:srgbClr val="FFFFFF"/>
                          </a:solidFill>
                          <a:latin typeface="Noto Sans KR"/>
                          <a:ea typeface="Noto Sans KR"/>
                          <a:cs typeface="Noto Sans KR"/>
                        </a:rPr>
                        <a:t>ID</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950" b="1">
                          <a:solidFill>
                            <a:srgbClr val="FFFFFF"/>
                          </a:solidFill>
                          <a:latin typeface="Noto Sans KR"/>
                          <a:ea typeface="Noto Sans KR"/>
                          <a:cs typeface="Noto Sans KR"/>
                        </a:rPr>
                        <a:t>단계</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950" b="1">
                          <a:solidFill>
                            <a:srgbClr val="FFFFFF"/>
                          </a:solidFill>
                          <a:latin typeface="Noto Sans KR"/>
                          <a:ea typeface="Noto Sans KR"/>
                          <a:cs typeface="Noto Sans KR"/>
                        </a:rPr>
                        <a:t>낙관 종료</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950" b="1">
                          <a:solidFill>
                            <a:srgbClr val="FFFFFF"/>
                          </a:solidFill>
                          <a:latin typeface="Noto Sans KR"/>
                          <a:ea typeface="Noto Sans KR"/>
                          <a:cs typeface="Noto Sans KR"/>
                        </a:rPr>
                        <a:t>기준 종료</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950" b="1">
                          <a:solidFill>
                            <a:srgbClr val="FFFFFF"/>
                          </a:solidFill>
                          <a:latin typeface="Noto Sans KR"/>
                          <a:ea typeface="Noto Sans KR"/>
                          <a:cs typeface="Noto Sans KR"/>
                        </a:rPr>
                        <a:t>보수 종료</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306324">
                <a:tc>
                  <a:txBody>
                    <a:bodyPr wrap="square"/>
                    <a:lstStyle/>
                    <a:p>
                      <a:pPr algn="ctr"/>
                      <a:r>
                        <a:rPr sz="950" b="0">
                          <a:solidFill>
                            <a:srgbClr val="1A1A1A"/>
                          </a:solidFill>
                          <a:latin typeface="Noto Sans KR"/>
                          <a:ea typeface="Noto Sans KR"/>
                          <a:cs typeface="Noto Sans KR"/>
                        </a:rPr>
                        <a:t>T01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물질·규제 분류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26.10.12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26.10.19</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26.10.26</a:t>
                      </a:r>
                    </a:p>
                  </a:txBody>
                  <a:tcPr marL="45720" marR="45720" marT="18000" marB="18000" anchor="ctr">
                    <a:lnL w="0">
                      <a:noFill/>
                    </a:lnL>
                    <a:lnR w="0">
                      <a:noFill/>
                    </a:lnR>
                    <a:lnT w="0">
                      <a:noFill/>
                    </a:lnT>
                    <a:lnB w="6350">
                      <a:solidFill>
                        <a:srgbClr val="D9D9D9"/>
                      </a:solidFill>
                    </a:lnB>
                    <a:solidFill>
                      <a:srgbClr val="FFFFFF"/>
                    </a:solidFill>
                  </a:tcPr>
                </a:tc>
              </a:tr>
              <a:tr h="306324">
                <a:tc>
                  <a:txBody>
                    <a:bodyPr wrap="square"/>
                    <a:lstStyle/>
                    <a:p>
                      <a:pPr algn="ctr"/>
                      <a:r>
                        <a:rPr sz="950" b="0">
                          <a:solidFill>
                            <a:srgbClr val="1A1A1A"/>
                          </a:solidFill>
                          <a:latin typeface="Noto Sans KR"/>
                          <a:ea typeface="Noto Sans KR"/>
                          <a:cs typeface="Noto Sans KR"/>
                        </a:rPr>
                        <a:t>T02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MP 현황 확인 (허가·창고·등록 능력)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26.10.12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26.10.19</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26.10.26</a:t>
                      </a:r>
                    </a:p>
                  </a:txBody>
                  <a:tcPr marL="45720" marR="45720" marT="18000" marB="18000" anchor="ctr">
                    <a:lnL w="0">
                      <a:noFill/>
                    </a:lnL>
                    <a:lnR w="0">
                      <a:noFill/>
                    </a:lnR>
                    <a:lnT w="0">
                      <a:noFill/>
                    </a:lnT>
                    <a:lnB w="6350">
                      <a:solidFill>
                        <a:srgbClr val="D9D9D9"/>
                      </a:solidFill>
                    </a:lnB>
                    <a:solidFill>
                      <a:srgbClr val="FFFFFF"/>
                    </a:solidFill>
                  </a:tcPr>
                </a:tc>
              </a:tr>
              <a:tr h="306324">
                <a:tc>
                  <a:txBody>
                    <a:bodyPr wrap="square"/>
                    <a:lstStyle/>
                    <a:p>
                      <a:pPr algn="ctr"/>
                      <a:r>
                        <a:rPr sz="950" b="0">
                          <a:solidFill>
                            <a:srgbClr val="1A1A1A"/>
                          </a:solidFill>
                          <a:latin typeface="Noto Sans KR"/>
                          <a:ea typeface="Noto Sans KR"/>
                          <a:cs typeface="Noto Sans KR"/>
                        </a:rPr>
                        <a:t>T03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기관 질의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26.10.19</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26.10.26</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26.11.9</a:t>
                      </a:r>
                    </a:p>
                  </a:txBody>
                  <a:tcPr marL="45720" marR="45720" marT="18000" marB="18000" anchor="ctr">
                    <a:lnL w="0">
                      <a:noFill/>
                    </a:lnL>
                    <a:lnR w="0">
                      <a:noFill/>
                    </a:lnR>
                    <a:lnT w="0">
                      <a:noFill/>
                    </a:lnT>
                    <a:lnB w="6350">
                      <a:solidFill>
                        <a:srgbClr val="D9D9D9"/>
                      </a:solidFill>
                    </a:lnB>
                    <a:solidFill>
                      <a:srgbClr val="FFFFFF"/>
                    </a:solidFill>
                  </a:tcPr>
                </a:tc>
              </a:tr>
              <a:tr h="306324">
                <a:tc>
                  <a:txBody>
                    <a:bodyPr wrap="square"/>
                    <a:lstStyle/>
                    <a:p>
                      <a:pPr algn="ctr"/>
                      <a:r>
                        <a:rPr sz="950" b="0">
                          <a:solidFill>
                            <a:srgbClr val="1A1A1A"/>
                          </a:solidFill>
                          <a:latin typeface="Noto Sans KR"/>
                          <a:ea typeface="Noto Sans KR"/>
                          <a:cs typeface="Noto Sans KR"/>
                        </a:rPr>
                        <a:t>T04</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법무·현지 전문가 검토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26.10.26</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26.11.9</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26.11.23</a:t>
                      </a:r>
                    </a:p>
                  </a:txBody>
                  <a:tcPr marL="45720" marR="45720" marT="18000" marB="18000" anchor="ctr">
                    <a:lnL w="0">
                      <a:noFill/>
                    </a:lnL>
                    <a:lnR w="0">
                      <a:noFill/>
                    </a:lnR>
                    <a:lnT w="0">
                      <a:noFill/>
                    </a:lnT>
                    <a:lnB w="6350">
                      <a:solidFill>
                        <a:srgbClr val="D9D9D9"/>
                      </a:solidFill>
                    </a:lnB>
                    <a:solidFill>
                      <a:srgbClr val="FFFFFF"/>
                    </a:solidFill>
                  </a:tcPr>
                </a:tc>
              </a:tr>
              <a:tr h="306324">
                <a:tc>
                  <a:txBody>
                    <a:bodyPr wrap="square"/>
                    <a:lstStyle/>
                    <a:p>
                      <a:pPr algn="ctr"/>
                      <a:r>
                        <a:rPr sz="950" b="0">
                          <a:solidFill>
                            <a:srgbClr val="1A1A1A"/>
                          </a:solidFill>
                          <a:latin typeface="Noto Sans KR"/>
                          <a:ea typeface="Noto Sans KR"/>
                          <a:cs typeface="Noto Sans KR"/>
                        </a:rPr>
                        <a:t>T05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경영진 승인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26.11.2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26.11.16</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26.12.7</a:t>
                      </a:r>
                    </a:p>
                  </a:txBody>
                  <a:tcPr marL="45720" marR="45720" marT="18000" marB="18000" anchor="ctr">
                    <a:lnL w="0">
                      <a:noFill/>
                    </a:lnL>
                    <a:lnR w="0">
                      <a:noFill/>
                    </a:lnR>
                    <a:lnT w="0">
                      <a:noFill/>
                    </a:lnT>
                    <a:lnB w="6350">
                      <a:solidFill>
                        <a:srgbClr val="D9D9D9"/>
                      </a:solidFill>
                    </a:lnB>
                    <a:solidFill>
                      <a:srgbClr val="FFFFFF"/>
                    </a:solidFill>
                  </a:tcPr>
                </a:tc>
              </a:tr>
              <a:tr h="306324">
                <a:tc>
                  <a:txBody>
                    <a:bodyPr wrap="square"/>
                    <a:lstStyle/>
                    <a:p>
                      <a:pPr algn="ctr"/>
                      <a:r>
                        <a:rPr sz="950" b="0">
                          <a:solidFill>
                            <a:srgbClr val="1A1A1A"/>
                          </a:solidFill>
                          <a:latin typeface="Noto Sans KR"/>
                          <a:ea typeface="Noto Sans KR"/>
                          <a:cs typeface="Noto Sans KR"/>
                        </a:rPr>
                        <a:t>T06</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한국 해외직접투자 신고·송금</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26.11.9</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26.11.23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26.12.21</a:t>
                      </a:r>
                    </a:p>
                  </a:txBody>
                  <a:tcPr marL="45720" marR="45720" marT="18000" marB="18000" anchor="ctr">
                    <a:lnL w="0">
                      <a:noFill/>
                    </a:lnL>
                    <a:lnR w="0">
                      <a:noFill/>
                    </a:lnR>
                    <a:lnT w="0">
                      <a:noFill/>
                    </a:lnT>
                    <a:lnB w="6350">
                      <a:solidFill>
                        <a:srgbClr val="D9D9D9"/>
                      </a:solidFill>
                    </a:lnB>
                    <a:solidFill>
                      <a:srgbClr val="FFFFFF"/>
                    </a:solidFill>
                  </a:tcPr>
                </a:tc>
              </a:tr>
              <a:tr h="306324">
                <a:tc>
                  <a:txBody>
                    <a:bodyPr wrap="square"/>
                    <a:lstStyle/>
                    <a:p>
                      <a:pPr algn="ctr"/>
                      <a:r>
                        <a:rPr sz="950" b="0">
                          <a:solidFill>
                            <a:srgbClr val="1A1A1A"/>
                          </a:solidFill>
                          <a:latin typeface="Noto Sans KR"/>
                          <a:ea typeface="Noto Sans KR"/>
                          <a:cs typeface="Noto Sans KR"/>
                        </a:rPr>
                        <a:t>T07</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법인 등기</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26.11.23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26.12.21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27.2.1</a:t>
                      </a:r>
                    </a:p>
                  </a:txBody>
                  <a:tcPr marL="45720" marR="45720" marT="18000" marB="18000" anchor="ctr">
                    <a:lnL w="0">
                      <a:noFill/>
                    </a:lnL>
                    <a:lnR w="0">
                      <a:noFill/>
                    </a:lnR>
                    <a:lnT w="0">
                      <a:noFill/>
                    </a:lnT>
                    <a:lnB w="6350">
                      <a:solidFill>
                        <a:srgbClr val="D9D9D9"/>
                      </a:solidFill>
                    </a:lnB>
                    <a:solidFill>
                      <a:srgbClr val="FFFFFF"/>
                    </a:solidFill>
                  </a:tcPr>
                </a:tc>
              </a:tr>
              <a:tr h="306324">
                <a:tc>
                  <a:txBody>
                    <a:bodyPr wrap="square"/>
                    <a:lstStyle/>
                    <a:p>
                      <a:pPr algn="ctr"/>
                      <a:r>
                        <a:rPr sz="950" b="0">
                          <a:solidFill>
                            <a:srgbClr val="1A1A1A"/>
                          </a:solidFill>
                          <a:latin typeface="Noto Sans KR"/>
                          <a:ea typeface="Noto Sans KR"/>
                          <a:cs typeface="Noto Sans KR"/>
                        </a:rPr>
                        <a:t>T08</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계좌·외환·세무·해관 등록</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26.12.7</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27.1.11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27.3.8</a:t>
                      </a:r>
                    </a:p>
                  </a:txBody>
                  <a:tcPr marL="45720" marR="45720" marT="18000" marB="18000" anchor="ctr">
                    <a:lnL w="0">
                      <a:noFill/>
                    </a:lnL>
                    <a:lnR w="0">
                      <a:noFill/>
                    </a:lnR>
                    <a:lnT w="0">
                      <a:noFill/>
                    </a:lnT>
                    <a:lnB w="6350">
                      <a:solidFill>
                        <a:srgbClr val="D9D9D9"/>
                      </a:solidFill>
                    </a:lnB>
                    <a:solidFill>
                      <a:srgbClr val="FFFFFF"/>
                    </a:solidFill>
                  </a:tcPr>
                </a:tc>
              </a:tr>
              <a:tr h="306324">
                <a:tc>
                  <a:txBody>
                    <a:bodyPr wrap="square"/>
                    <a:lstStyle/>
                    <a:p>
                      <a:pPr algn="ctr"/>
                      <a:r>
                        <a:rPr sz="950" b="0">
                          <a:solidFill>
                            <a:srgbClr val="1A1A1A"/>
                          </a:solidFill>
                          <a:latin typeface="Noto Sans KR"/>
                          <a:ea typeface="Noto Sans KR"/>
                          <a:cs typeface="Noto Sans KR"/>
                        </a:rPr>
                        <a:t>T09</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무저장 경영허가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26.12.28</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27.2.15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27.4.26</a:t>
                      </a:r>
                    </a:p>
                  </a:txBody>
                  <a:tcPr marL="45720" marR="45720" marT="18000" marB="18000" anchor="ctr">
                    <a:lnL w="0">
                      <a:noFill/>
                    </a:lnL>
                    <a:lnR w="0">
                      <a:noFill/>
                    </a:lnR>
                    <a:lnT w="0">
                      <a:noFill/>
                    </a:lnT>
                    <a:lnB w="6350">
                      <a:solidFill>
                        <a:srgbClr val="D9D9D9"/>
                      </a:solidFill>
                    </a:lnB>
                    <a:solidFill>
                      <a:srgbClr val="FFFFFF"/>
                    </a:solidFill>
                  </a:tcPr>
                </a:tc>
              </a:tr>
              <a:tr h="306324">
                <a:tc>
                  <a:txBody>
                    <a:bodyPr wrap="square"/>
                    <a:lstStyle/>
                    <a:p>
                      <a:pPr algn="ctr"/>
                      <a:r>
                        <a:rPr sz="950" b="0">
                          <a:solidFill>
                            <a:srgbClr val="1A1A1A"/>
                          </a:solidFill>
                          <a:latin typeface="Noto Sans KR"/>
                          <a:ea typeface="Noto Sans KR"/>
                          <a:cs typeface="Noto Sans KR"/>
                        </a:rPr>
                        <a:t>T10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위험화학품 등록</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27.1.11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27.3.15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27.6.7</a:t>
                      </a:r>
                    </a:p>
                  </a:txBody>
                  <a:tcPr marL="45720" marR="45720" marT="18000" marB="18000" anchor="ctr">
                    <a:lnL w="0">
                      <a:noFill/>
                    </a:lnL>
                    <a:lnR w="0">
                      <a:noFill/>
                    </a:lnR>
                    <a:lnT w="0">
                      <a:noFill/>
                    </a:lnT>
                    <a:lnB w="6350">
                      <a:solidFill>
                        <a:srgbClr val="D9D9D9"/>
                      </a:solidFill>
                    </a:lnB>
                    <a:solidFill>
                      <a:srgbClr val="FFFFFF"/>
                    </a:solidFill>
                  </a:tcPr>
                </a:tc>
              </a:tr>
              <a:tr h="306324">
                <a:tc>
                  <a:txBody>
                    <a:bodyPr wrap="square"/>
                    <a:lstStyle/>
                    <a:p>
                      <a:pPr algn="ctr"/>
                      <a:r>
                        <a:rPr sz="950" b="0">
                          <a:solidFill>
                            <a:srgbClr val="1A1A1A"/>
                          </a:solidFill>
                          <a:latin typeface="Noto Sans KR"/>
                          <a:ea typeface="Noto Sans KR"/>
                          <a:cs typeface="Noto Sans KR"/>
                        </a:rPr>
                        <a:t>T11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신규물질 등록 (TC 명의)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27.2.15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27.5.10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27.9.13</a:t>
                      </a:r>
                    </a:p>
                  </a:txBody>
                  <a:tcPr marL="45720" marR="45720" marT="18000" marB="18000" anchor="ctr">
                    <a:lnL w="0">
                      <a:noFill/>
                    </a:lnL>
                    <a:lnR w="0">
                      <a:noFill/>
                    </a:lnR>
                    <a:lnT w="0">
                      <a:noFill/>
                    </a:lnT>
                    <a:lnB w="6350">
                      <a:solidFill>
                        <a:srgbClr val="D9D9D9"/>
                      </a:solidFill>
                    </a:lnB>
                    <a:solidFill>
                      <a:srgbClr val="FFFFFF"/>
                    </a:solidFill>
                  </a:tcPr>
                </a:tc>
              </a:tr>
              <a:tr h="306324">
                <a:tc>
                  <a:txBody>
                    <a:bodyPr wrap="square"/>
                    <a:lstStyle/>
                    <a:p>
                      <a:pPr algn="ctr"/>
                      <a:r>
                        <a:rPr sz="950" b="0">
                          <a:solidFill>
                            <a:srgbClr val="1A1A1A"/>
                          </a:solidFill>
                          <a:latin typeface="Noto Sans KR"/>
                          <a:ea typeface="Noto Sans KR"/>
                          <a:cs typeface="Noto Sans KR"/>
                        </a:rPr>
                        <a:t>T12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3PL 계약</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26.11.16</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26.12.7</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27.1.18</a:t>
                      </a:r>
                    </a:p>
                  </a:txBody>
                  <a:tcPr marL="45720" marR="45720" marT="18000" marB="18000" anchor="ctr">
                    <a:lnL w="0">
                      <a:noFill/>
                    </a:lnL>
                    <a:lnR w="0">
                      <a:noFill/>
                    </a:lnR>
                    <a:lnT w="0">
                      <a:noFill/>
                    </a:lnT>
                    <a:lnB w="6350">
                      <a:solidFill>
                        <a:srgbClr val="D9D9D9"/>
                      </a:solidFill>
                    </a:lnB>
                    <a:solidFill>
                      <a:srgbClr val="FFFFFF"/>
                    </a:solidFill>
                  </a:tcPr>
                </a:tc>
              </a:tr>
              <a:tr h="306324">
                <a:tc>
                  <a:txBody>
                    <a:bodyPr wrap="square"/>
                    <a:lstStyle/>
                    <a:p>
                      <a:pPr algn="ctr"/>
                      <a:r>
                        <a:rPr sz="950" b="0">
                          <a:solidFill>
                            <a:srgbClr val="1A1A1A"/>
                          </a:solidFill>
                          <a:latin typeface="Noto Sans KR"/>
                          <a:ea typeface="Noto Sans KR"/>
                          <a:cs typeface="Noto Sans KR"/>
                        </a:rPr>
                        <a:t>T13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고객 공급자 승인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27.3.15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27.7.5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27.12.6</a:t>
                      </a:r>
                    </a:p>
                  </a:txBody>
                  <a:tcPr marL="45720" marR="45720" marT="18000" marB="18000" anchor="ctr">
                    <a:lnL w="0">
                      <a:noFill/>
                    </a:lnL>
                    <a:lnR w="0">
                      <a:noFill/>
                    </a:lnR>
                    <a:lnT w="0">
                      <a:noFill/>
                    </a:lnT>
                    <a:lnB w="6350">
                      <a:solidFill>
                        <a:srgbClr val="D9D9D9"/>
                      </a:solidFill>
                    </a:lnB>
                    <a:solidFill>
                      <a:srgbClr val="FFFFFF"/>
                    </a:solidFill>
                  </a:tcPr>
                </a:tc>
              </a:tr>
              <a:tr h="306324">
                <a:tc>
                  <a:txBody>
                    <a:bodyPr wrap="square"/>
                    <a:lstStyle/>
                    <a:p>
                      <a:pPr algn="ctr"/>
                      <a:r>
                        <a:rPr sz="950" b="0">
                          <a:solidFill>
                            <a:srgbClr val="1A1A1A"/>
                          </a:solidFill>
                          <a:latin typeface="Noto Sans KR"/>
                          <a:ea typeface="Noto Sans KR"/>
                          <a:cs typeface="Noto Sans KR"/>
                        </a:rPr>
                        <a:t>T14</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950" b="0">
                          <a:solidFill>
                            <a:srgbClr val="1A1A1A"/>
                          </a:solidFill>
                          <a:latin typeface="Noto Sans KR"/>
                          <a:ea typeface="Noto Sans KR"/>
                          <a:cs typeface="Noto Sans KR"/>
                        </a:rPr>
                        <a:t>초도 공급</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27.3.22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27.7.19</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950" b="0">
                          <a:solidFill>
                            <a:srgbClr val="1A1A1A"/>
                          </a:solidFill>
                          <a:latin typeface="Noto Sans KR"/>
                          <a:ea typeface="Noto Sans KR"/>
                          <a:cs typeface="Noto Sans KR"/>
                        </a:rPr>
                        <a:t>27.12.27</a:t>
                      </a:r>
                    </a:p>
                  </a:txBody>
                  <a:tcPr marL="45720" marR="45720" marT="18000" marB="18000" anchor="ctr">
                    <a:lnL w="0">
                      <a:noFill/>
                    </a:lnL>
                    <a:lnR w="0">
                      <a:noFill/>
                    </a:lnR>
                    <a:lnT w="0">
                      <a:noFill/>
                    </a:lnT>
                    <a:lnB w="6350">
                      <a:solidFill>
                        <a:srgbClr val="D9D9D9"/>
                      </a:solidFill>
                    </a:lnB>
                    <a:solidFill>
                      <a:srgbClr val="FFFFFF"/>
                    </a:solidFill>
                  </a:tcPr>
                </a:tc>
              </a:tr>
              <a:tr h="306324">
                <a:tc>
                  <a:txBody>
                    <a:bodyPr wrap="square"/>
                    <a:lstStyle/>
                    <a:p>
                      <a:pPr algn="ctr"/>
                      <a:r>
                        <a:rPr sz="950" b="0">
                          <a:solidFill>
                            <a:srgbClr val="1A1A1A"/>
                          </a:solidFill>
                          <a:latin typeface="Noto Sans KR"/>
                          <a:ea typeface="Noto Sans KR"/>
                          <a:cs typeface="Noto Sans KR"/>
                        </a:rPr>
                        <a:t>T20</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950" b="0">
                          <a:solidFill>
                            <a:srgbClr val="1A1A1A"/>
                          </a:solidFill>
                          <a:latin typeface="Noto Sans KR"/>
                          <a:ea typeface="Noto Sans KR"/>
                          <a:cs typeface="Noto Sans KR"/>
                        </a:rPr>
                        <a:t>연말: 备案 전환 신청</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950" b="0">
                          <a:solidFill>
                            <a:srgbClr val="1A1A1A"/>
                          </a:solidFill>
                          <a:latin typeface="Noto Sans KR"/>
                          <a:ea typeface="Noto Sans KR"/>
                          <a:cs typeface="Noto Sans KR"/>
                        </a:rPr>
                        <a:t>26.11.9</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950" b="0">
                          <a:solidFill>
                            <a:srgbClr val="1A1A1A"/>
                          </a:solidFill>
                          <a:latin typeface="Noto Sans KR"/>
                          <a:ea typeface="Noto Sans KR"/>
                          <a:cs typeface="Noto Sans KR"/>
                        </a:rPr>
                        <a:t>26.11.30</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950" b="0">
                          <a:solidFill>
                            <a:srgbClr val="1A1A1A"/>
                          </a:solidFill>
                          <a:latin typeface="Noto Sans KR"/>
                          <a:ea typeface="Noto Sans KR"/>
                          <a:cs typeface="Noto Sans KR"/>
                        </a:rPr>
                        <a:t>27.1.4</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TextBox 164"/>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16_Timeline 시트 (선행관계 수식)</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부록 7 | 기관 질문지 A·B</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모든 질의의 진행 상태: 문의 예정 (실제 연락·회신 없음)</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36</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- 36 -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sp>
        <p:nvSpPr>
          <p:cNvPr id="164" name="TextBox 163"/>
          <p:cNvSpPr txBox="1"/>
          <p:nvPr/>
        </p:nvSpPr>
        <p:spPr>
          <a:xfrm>
            <a:off x="283464" y="1005840"/>
            <a:ext cx="8567928" cy="256032"/>
          </a:xfrm>
          <a:prstGeom prst="rect">
            <a:avLst/>
          </a:prstGeom>
          <a:noFill/>
        </p:spPr>
        <p:txBody>
          <a:bodyPr wrap="square" anchor="t" lIns="27432" rIns="27432" tIns="18288" bIns="18288">
            <a:spAutoFit/>
          </a:bodyPr>
          <a:lstStyle/>
          <a:p>
            <a:pPr algn="l"/>
            <a:r>
              <a:rPr sz="1150" b="1">
                <a:solidFill>
                  <a:srgbClr val="C00000"/>
                </a:solidFill>
                <a:latin typeface="Noto Sans KR"/>
                <a:ea typeface="Noto Sans KR"/>
                <a:cs typeface="Noto Sans KR"/>
              </a:rPr>
              <a:t>A. 중국 법률·등록 전문가</a:t>
            </a:r>
          </a:p>
        </p:txBody>
      </p:sp>
      <p:sp>
        <p:nvSpPr>
          <p:cNvPr id="165" name="TextBox 164"/>
          <p:cNvSpPr txBox="1"/>
          <p:nvPr/>
        </p:nvSpPr>
        <p:spPr>
          <a:xfrm>
            <a:off x="283464" y="1280160"/>
            <a:ext cx="8567928" cy="2066544"/>
          </a:xfrm>
          <a:prstGeom prst="rect">
            <a:avLst/>
          </a:prstGeom>
          <a:noFill/>
        </p:spPr>
        <p:txBody>
          <a:bodyPr wrap="square" lIns="27432" rIns="27432">
            <a:spAutoFit/>
          </a:bodyPr>
          <a:lstStyle/>
          <a:p>
            <a:pPr>
              <a:spcAft>
                <a:spcPts val="200"/>
              </a:spcAft>
            </a:pPr>
            <a:r>
              <a:rPr sz="1000" b="0">
                <a:solidFill>
                  <a:srgbClr val="1A1A1A"/>
                </a:solidFill>
                <a:latin typeface="Noto Sans KR"/>
                <a:ea typeface="Noto Sans KR"/>
                <a:cs typeface="Noto Sans KR"/>
              </a:rPr>
              <a:t>• 12호령 개정안(2026-06 초안)은 최종 공포됐는가? 신청 주체를 중국 내 생산·수입 기업으로 한정하는 조항이 확정됐는가?</a:t>
            </a:r>
          </a:p>
          <a:p>
            <a:pPr>
              <a:spcAft>
                <a:spcPts val="200"/>
              </a:spcAft>
            </a:pPr>
            <a:r>
              <a:rPr sz="1000" b="0">
                <a:solidFill>
                  <a:srgbClr val="1A1A1A"/>
                </a:solidFill>
                <a:latin typeface="Noto Sans KR"/>
                <a:ea typeface="Noto Sans KR"/>
                <a:cs typeface="Noto Sans KR"/>
              </a:rPr>
              <a:t>• 환판고체함〔2026〕301호의 '2026-12-31까지 등록증 취득' 의무는 누구(备案 신청인)에게 적용되며, 미취득 시 수입·사용 제한·처벌 근거는?</a:t>
            </a:r>
          </a:p>
          <a:p>
            <a:pPr>
              <a:spcAft>
                <a:spcPts val="200"/>
              </a:spcAft>
            </a:pPr>
            <a:r>
              <a:rPr sz="1000" b="0">
                <a:solidFill>
                  <a:srgbClr val="1A1A1A"/>
                </a:solidFill>
                <a:latin typeface="Noto Sans KR"/>
                <a:ea typeface="Noto Sans KR"/>
                <a:cs typeface="Noto Sans KR"/>
              </a:rPr>
              <a:t>• 현행 규정에서 TC 본사(해외 생산자)+대리인으로 등록 후 TC 중국법인으로 명의를 바꿀 수 있는가? 재신청이 필요한가?</a:t>
            </a:r>
          </a:p>
          <a:p>
            <a:pPr>
              <a:spcAft>
                <a:spcPts val="200"/>
              </a:spcAft>
            </a:pPr>
            <a:r>
              <a:rPr sz="1000" b="0">
                <a:solidFill>
                  <a:srgbClr val="1A1A1A"/>
                </a:solidFill>
                <a:latin typeface="Noto Sans KR"/>
                <a:ea typeface="Noto Sans KR"/>
                <a:cs typeface="Noto Sans KR"/>
              </a:rPr>
              <a:t>• 한국에서 수행한 시험자료 중 인정 가능한 항목과 중국 내 보완 시험(공시생물) 목록은?</a:t>
            </a:r>
          </a:p>
          <a:p>
            <a:pPr>
              <a:spcAft>
                <a:spcPts val="200"/>
              </a:spcAft>
            </a:pPr>
            <a:r>
              <a:rPr sz="1000" b="0">
                <a:solidFill>
                  <a:srgbClr val="1A1A1A"/>
                </a:solidFill>
                <a:latin typeface="Noto Sans KR"/>
                <a:ea typeface="Noto Sans KR"/>
                <a:cs typeface="Noto Sans KR"/>
              </a:rPr>
              <a:t>• 수입·판매·외부 창고 보관만 할 때 생산허가·생산설비 요구 근거가 있는가? 충진·소분은 어디부터 생산/분장 경영인가?</a:t>
            </a:r>
          </a:p>
          <a:p>
            <a:pPr>
              <a:spcAft>
                <a:spcPts val="200"/>
              </a:spcAft>
            </a:pPr>
            <a:r>
              <a:rPr sz="1000" b="0">
                <a:solidFill>
                  <a:srgbClr val="1A1A1A"/>
                </a:solidFill>
                <a:latin typeface="Noto Sans KR"/>
                <a:ea typeface="Noto Sans KR"/>
                <a:cs typeface="Noto Sans KR"/>
              </a:rPr>
              <a:t>• 위험화학품안전법 시행(2026-05-01) 후 경영허가 하위 규정(55호령) 개정·경과조치는?</a:t>
            </a:r>
          </a:p>
        </p:txBody>
      </p:sp>
      <p:sp>
        <p:nvSpPr>
          <p:cNvPr id="166" name="TextBox 165"/>
          <p:cNvSpPr txBox="1"/>
          <p:nvPr/>
        </p:nvSpPr>
        <p:spPr>
          <a:xfrm>
            <a:off x="283464" y="3392424"/>
            <a:ext cx="8567928" cy="256032"/>
          </a:xfrm>
          <a:prstGeom prst="rect">
            <a:avLst/>
          </a:prstGeom>
          <a:noFill/>
        </p:spPr>
        <p:txBody>
          <a:bodyPr wrap="square" anchor="t" lIns="27432" rIns="27432" tIns="18288" bIns="18288">
            <a:spAutoFit/>
          </a:bodyPr>
          <a:lstStyle/>
          <a:p>
            <a:pPr algn="l"/>
            <a:r>
              <a:rPr sz="1150" b="1">
                <a:solidFill>
                  <a:srgbClr val="C00000"/>
                </a:solidFill>
                <a:latin typeface="Noto Sans KR"/>
                <a:ea typeface="Noto Sans KR"/>
                <a:cs typeface="Noto Sans KR"/>
              </a:rPr>
              <a:t>B. 도시·산업단지 (무석 신오구 등)</a:t>
            </a:r>
          </a:p>
        </p:txBody>
      </p:sp>
      <p:sp>
        <p:nvSpPr>
          <p:cNvPr id="167" name="TextBox 166"/>
          <p:cNvSpPr txBox="1"/>
          <p:nvPr/>
        </p:nvSpPr>
        <p:spPr>
          <a:xfrm>
            <a:off x="283464" y="3666744"/>
            <a:ext cx="8567928" cy="1737360"/>
          </a:xfrm>
          <a:prstGeom prst="rect">
            <a:avLst/>
          </a:prstGeom>
          <a:noFill/>
        </p:spPr>
        <p:txBody>
          <a:bodyPr wrap="square" lIns="27432" rIns="27432">
            <a:spAutoFit/>
          </a:bodyPr>
          <a:lstStyle/>
          <a:p>
            <a:pPr>
              <a:spcAft>
                <a:spcPts val="200"/>
              </a:spcAft>
            </a:pPr>
            <a:r>
              <a:rPr sz="1000" b="0">
                <a:solidFill>
                  <a:srgbClr val="1A1A1A"/>
                </a:solidFill>
                <a:latin typeface="Noto Sans KR"/>
                <a:ea typeface="Noto Sans KR"/>
                <a:cs typeface="Noto Sans KR"/>
              </a:rPr>
              <a:t>• 외국인 독자 화학품 무역법인(무저장 경영) 설립·허가 관할 부서와 처리기한은?</a:t>
            </a:r>
          </a:p>
          <a:p>
            <a:pPr>
              <a:spcAft>
                <a:spcPts val="200"/>
              </a:spcAft>
            </a:pPr>
            <a:r>
              <a:rPr sz="1000" b="0">
                <a:solidFill>
                  <a:srgbClr val="1A1A1A"/>
                </a:solidFill>
                <a:latin typeface="Noto Sans KR"/>
                <a:ea typeface="Noto Sans KR"/>
                <a:cs typeface="Noto Sans KR"/>
              </a:rPr>
              <a:t>• 무저장 경영 사무 장소 요건(용도·면적·소방)과 전담 안전관리자 요건은?</a:t>
            </a:r>
          </a:p>
          <a:p>
            <a:pPr>
              <a:spcAft>
                <a:spcPts val="200"/>
              </a:spcAft>
            </a:pPr>
            <a:r>
              <a:rPr sz="1000" b="0">
                <a:solidFill>
                  <a:srgbClr val="1A1A1A"/>
                </a:solidFill>
                <a:latin typeface="Noto Sans KR"/>
                <a:ea typeface="Noto Sans KR"/>
                <a:cs typeface="Noto Sans KR"/>
              </a:rPr>
              <a:t>• 임차저장 경영 시 임차 창고가 무석 관할 밖(장자강·상하이)이어도 되는가?</a:t>
            </a:r>
          </a:p>
          <a:p>
            <a:pPr>
              <a:spcAft>
                <a:spcPts val="200"/>
              </a:spcAft>
            </a:pPr>
            <a:r>
              <a:rPr sz="1000" b="0">
                <a:solidFill>
                  <a:srgbClr val="1A1A1A"/>
                </a:solidFill>
                <a:latin typeface="Noto Sans KR"/>
                <a:ea typeface="Noto Sans KR"/>
                <a:cs typeface="Noto Sans KR"/>
              </a:rPr>
              <a:t>• 인정 화공원구(江阴临港·锡山·宜兴) 내 위험품 창고 임차·입주 조건, 외자 소규모 무역법인 수용 여부는?</a:t>
            </a:r>
          </a:p>
          <a:p>
            <a:pPr>
              <a:spcAft>
                <a:spcPts val="200"/>
              </a:spcAft>
            </a:pPr>
            <a:r>
              <a:rPr sz="1000" b="0">
                <a:solidFill>
                  <a:srgbClr val="1A1A1A"/>
                </a:solidFill>
                <a:latin typeface="Noto Sans KR"/>
                <a:ea typeface="Noto Sans KR"/>
                <a:cs typeface="Noto Sans KR"/>
              </a:rPr>
              <a:t>• 자연발화·수분반응 물질(4.2·4.3류 가능성) 보관 가능한 창고가 관내에 있는가?</a:t>
            </a:r>
          </a:p>
        </p:txBody>
      </p:sp>
      <p:sp>
        <p:nvSpPr>
          <p:cNvPr id="168" name="TextBox 167"/>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19_Glossary_Q 시트</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부록 7 | 기관 질문지 C·D·E</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모든 질의의 진행 상태: 문의 예정 (실제 연락·회신 없음)</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37</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- 37 -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sp>
        <p:nvSpPr>
          <p:cNvPr id="164" name="TextBox 163"/>
          <p:cNvSpPr txBox="1"/>
          <p:nvPr/>
        </p:nvSpPr>
        <p:spPr>
          <a:xfrm>
            <a:off x="283464" y="1005840"/>
            <a:ext cx="8567928" cy="256032"/>
          </a:xfrm>
          <a:prstGeom prst="rect">
            <a:avLst/>
          </a:prstGeom>
          <a:noFill/>
        </p:spPr>
        <p:txBody>
          <a:bodyPr wrap="square" anchor="t" lIns="27432" rIns="27432" tIns="18288" bIns="18288">
            <a:spAutoFit/>
          </a:bodyPr>
          <a:lstStyle/>
          <a:p>
            <a:pPr algn="l"/>
            <a:r>
              <a:rPr sz="1150" b="1">
                <a:solidFill>
                  <a:srgbClr val="C00000"/>
                </a:solidFill>
                <a:latin typeface="Noto Sans KR"/>
                <a:ea typeface="Noto Sans KR"/>
                <a:cs typeface="Noto Sans KR"/>
              </a:rPr>
              <a:t>C. 창고·운송사</a:t>
            </a:r>
          </a:p>
        </p:txBody>
      </p:sp>
      <p:sp>
        <p:nvSpPr>
          <p:cNvPr id="165" name="TextBox 164"/>
          <p:cNvSpPr txBox="1"/>
          <p:nvPr/>
        </p:nvSpPr>
        <p:spPr>
          <a:xfrm>
            <a:off x="283464" y="1280160"/>
            <a:ext cx="8567928" cy="1737360"/>
          </a:xfrm>
          <a:prstGeom prst="rect">
            <a:avLst/>
          </a:prstGeom>
          <a:noFill/>
        </p:spPr>
        <p:txBody>
          <a:bodyPr wrap="square" lIns="27432" rIns="27432">
            <a:spAutoFit/>
          </a:bodyPr>
          <a:lstStyle/>
          <a:p>
            <a:pPr>
              <a:spcAft>
                <a:spcPts val="200"/>
              </a:spcAft>
            </a:pPr>
            <a:r>
              <a:rPr sz="1000" b="0">
                <a:solidFill>
                  <a:srgbClr val="1A1A1A"/>
                </a:solidFill>
                <a:latin typeface="Noto Sans KR"/>
                <a:ea typeface="Noto Sans KR"/>
                <a:cs typeface="Noto Sans KR"/>
              </a:rPr>
              <a:t>• 위험화학품 경영(저장/창고) 허가증 사본과 허가 품목 범위는?</a:t>
            </a:r>
          </a:p>
          <a:p>
            <a:pPr>
              <a:spcAft>
                <a:spcPts val="200"/>
              </a:spcAft>
            </a:pPr>
            <a:r>
              <a:rPr sz="1000" b="0">
                <a:solidFill>
                  <a:srgbClr val="1A1A1A"/>
                </a:solidFill>
                <a:latin typeface="Noto Sans KR"/>
                <a:ea typeface="Noto Sans KR"/>
                <a:cs typeface="Noto Sans KR"/>
              </a:rPr>
              <a:t>• 자연발화·수분반응 물질, 불활성가스 봉입 용기 보관 가능 여부와 수량 제한은?</a:t>
            </a:r>
          </a:p>
          <a:p>
            <a:pPr>
              <a:spcAft>
                <a:spcPts val="200"/>
              </a:spcAft>
            </a:pPr>
            <a:r>
              <a:rPr sz="1000" b="0">
                <a:solidFill>
                  <a:srgbClr val="1A1A1A"/>
                </a:solidFill>
                <a:latin typeface="Noto Sans KR"/>
                <a:ea typeface="Noto Sans KR"/>
                <a:cs typeface="Noto Sans KR"/>
              </a:rPr>
              <a:t>• 보험·책임 범위, 재고 관리 시스템, 온습도 관리, 출입 통제는?</a:t>
            </a:r>
          </a:p>
          <a:p>
            <a:pPr>
              <a:spcAft>
                <a:spcPts val="200"/>
              </a:spcAft>
            </a:pPr>
            <a:r>
              <a:rPr sz="1000" b="0">
                <a:solidFill>
                  <a:srgbClr val="1A1A1A"/>
                </a:solidFill>
                <a:latin typeface="Noto Sans KR"/>
                <a:ea typeface="Noto Sans KR"/>
                <a:cs typeface="Noto Sans KR"/>
              </a:rPr>
              <a:t>• 항만(상하이·장자강) 수입 → 창고 → 고객(무석·허페이) 위험물 운송 가능 여부와 리드타임·견적은?</a:t>
            </a:r>
          </a:p>
          <a:p>
            <a:pPr>
              <a:spcAft>
                <a:spcPts val="200"/>
              </a:spcAft>
            </a:pPr>
            <a:r>
              <a:rPr sz="1000" b="0">
                <a:solidFill>
                  <a:srgbClr val="1A1A1A"/>
                </a:solidFill>
                <a:latin typeface="Noto Sans KR"/>
                <a:ea typeface="Noto Sans KR"/>
                <a:cs typeface="Noto Sans KR"/>
              </a:rPr>
              <a:t>• 공병 회수·잔류물 처리·국제 반송 대응 가능 여부는?</a:t>
            </a:r>
          </a:p>
        </p:txBody>
      </p:sp>
      <p:sp>
        <p:nvSpPr>
          <p:cNvPr id="166" name="TextBox 165"/>
          <p:cNvSpPr txBox="1"/>
          <p:nvPr/>
        </p:nvSpPr>
        <p:spPr>
          <a:xfrm>
            <a:off x="283464" y="3063240"/>
            <a:ext cx="8567928" cy="256032"/>
          </a:xfrm>
          <a:prstGeom prst="rect">
            <a:avLst/>
          </a:prstGeom>
          <a:noFill/>
        </p:spPr>
        <p:txBody>
          <a:bodyPr wrap="square" anchor="t" lIns="27432" rIns="27432" tIns="18288" bIns="18288">
            <a:spAutoFit/>
          </a:bodyPr>
          <a:lstStyle/>
          <a:p>
            <a:pPr algn="l"/>
            <a:r>
              <a:rPr sz="1150" b="1">
                <a:solidFill>
                  <a:srgbClr val="C00000"/>
                </a:solidFill>
                <a:latin typeface="Noto Sans KR"/>
                <a:ea typeface="Noto Sans KR"/>
                <a:cs typeface="Noto Sans KR"/>
              </a:rPr>
              <a:t>D. MP</a:t>
            </a:r>
          </a:p>
        </p:txBody>
      </p:sp>
      <p:sp>
        <p:nvSpPr>
          <p:cNvPr id="167" name="TextBox 166"/>
          <p:cNvSpPr txBox="1"/>
          <p:nvPr/>
        </p:nvSpPr>
        <p:spPr>
          <a:xfrm>
            <a:off x="283464" y="3337560"/>
            <a:ext cx="8567928" cy="1408176"/>
          </a:xfrm>
          <a:prstGeom prst="rect">
            <a:avLst/>
          </a:prstGeom>
          <a:noFill/>
        </p:spPr>
        <p:txBody>
          <a:bodyPr wrap="square" lIns="27432" rIns="27432">
            <a:spAutoFit/>
          </a:bodyPr>
          <a:lstStyle/>
          <a:p>
            <a:pPr>
              <a:spcAft>
                <a:spcPts val="200"/>
              </a:spcAft>
            </a:pPr>
            <a:r>
              <a:rPr sz="1000" b="0">
                <a:solidFill>
                  <a:srgbClr val="1A1A1A"/>
                </a:solidFill>
                <a:latin typeface="Noto Sans KR"/>
                <a:ea typeface="Noto Sans KR"/>
                <a:cs typeface="Noto Sans KR"/>
              </a:rPr>
              <a:t>• 정식 법인명·주소·지분·사업범위(营业执照) 및 위험화학품 경영허가 보유 여부·품목·저장 방식은?</a:t>
            </a:r>
          </a:p>
          <a:p>
            <a:pPr>
              <a:spcAft>
                <a:spcPts val="200"/>
              </a:spcAft>
            </a:pPr>
            <a:r>
              <a:rPr sz="1000" b="0">
                <a:solidFill>
                  <a:srgbClr val="1A1A1A"/>
                </a:solidFill>
                <a:latin typeface="Noto Sans KR"/>
                <a:ea typeface="Noto Sans KR"/>
                <a:cs typeface="Noto Sans KR"/>
              </a:rPr>
              <a:t>• 수입기업 위험화학품 등록·신규화학물질 등록(또는 备案) 수행 실적은?</a:t>
            </a:r>
          </a:p>
          <a:p>
            <a:pPr>
              <a:spcAft>
                <a:spcPts val="200"/>
              </a:spcAft>
            </a:pPr>
            <a:r>
              <a:rPr sz="1000" b="0">
                <a:solidFill>
                  <a:srgbClr val="1A1A1A"/>
                </a:solidFill>
                <a:latin typeface="Noto Sans KR"/>
                <a:ea typeface="Noto Sans KR"/>
                <a:cs typeface="Noto Sans KR"/>
              </a:rPr>
              <a:t>• 창고 보유 여부·허가 범위, TC 제품 취급에 필요한 추가 투자·기간은?</a:t>
            </a:r>
          </a:p>
          <a:p>
            <a:pPr>
              <a:spcAft>
                <a:spcPts val="200"/>
              </a:spcAft>
            </a:pPr>
            <a:r>
              <a:rPr sz="1000" b="0">
                <a:solidFill>
                  <a:srgbClr val="1A1A1A"/>
                </a:solidFill>
                <a:latin typeface="Noto Sans KR"/>
                <a:ea typeface="Noto Sans KR"/>
                <a:cs typeface="Noto Sans KR"/>
              </a:rPr>
              <a:t>• TC 업무 지원 가능 인원·일정, 서비스 대가·책임 분담·자료 접근 통제 방안은?</a:t>
            </a:r>
          </a:p>
        </p:txBody>
      </p:sp>
      <p:sp>
        <p:nvSpPr>
          <p:cNvPr id="168" name="TextBox 167"/>
          <p:cNvSpPr txBox="1"/>
          <p:nvPr/>
        </p:nvSpPr>
        <p:spPr>
          <a:xfrm>
            <a:off x="283464" y="4791456"/>
            <a:ext cx="8567928" cy="256032"/>
          </a:xfrm>
          <a:prstGeom prst="rect">
            <a:avLst/>
          </a:prstGeom>
          <a:noFill/>
        </p:spPr>
        <p:txBody>
          <a:bodyPr wrap="square" anchor="t" lIns="27432" rIns="27432" tIns="18288" bIns="18288">
            <a:spAutoFit/>
          </a:bodyPr>
          <a:lstStyle/>
          <a:p>
            <a:pPr algn="l"/>
            <a:r>
              <a:rPr sz="1150" b="1">
                <a:solidFill>
                  <a:srgbClr val="C00000"/>
                </a:solidFill>
                <a:latin typeface="Noto Sans KR"/>
                <a:ea typeface="Noto Sans KR"/>
                <a:cs typeface="Noto Sans KR"/>
              </a:rPr>
              <a:t>E. SKTC 내부</a:t>
            </a:r>
          </a:p>
        </p:txBody>
      </p:sp>
      <p:sp>
        <p:nvSpPr>
          <p:cNvPr id="169" name="TextBox 168"/>
          <p:cNvSpPr txBox="1"/>
          <p:nvPr/>
        </p:nvSpPr>
        <p:spPr>
          <a:xfrm>
            <a:off x="283464" y="5065776"/>
            <a:ext cx="8567928" cy="1737360"/>
          </a:xfrm>
          <a:prstGeom prst="rect">
            <a:avLst/>
          </a:prstGeom>
          <a:noFill/>
        </p:spPr>
        <p:txBody>
          <a:bodyPr wrap="square" lIns="27432" rIns="27432">
            <a:spAutoFit/>
          </a:bodyPr>
          <a:lstStyle/>
          <a:p>
            <a:pPr>
              <a:spcAft>
                <a:spcPts val="200"/>
              </a:spcAft>
            </a:pPr>
            <a:r>
              <a:rPr sz="1000" b="0">
                <a:solidFill>
                  <a:srgbClr val="1A1A1A"/>
                </a:solidFill>
                <a:latin typeface="Noto Sans KR"/>
                <a:ea typeface="Noto Sans KR"/>
                <a:cs typeface="Noto Sans KR"/>
              </a:rPr>
              <a:t>• Y·Sc·La 전구체 각각의 제품명·화학명·CAS·조성·SDS·연간 중국 수입량(샘플/양산 구분)은?</a:t>
            </a:r>
          </a:p>
          <a:p>
            <a:pPr>
              <a:spcAft>
                <a:spcPts val="200"/>
              </a:spcAft>
            </a:pPr>
            <a:r>
              <a:rPr sz="1000" b="0">
                <a:solidFill>
                  <a:srgbClr val="1A1A1A"/>
                </a:solidFill>
                <a:latin typeface="Noto Sans KR"/>
                <a:ea typeface="Noto Sans KR"/>
                <a:cs typeface="Noto Sans KR"/>
              </a:rPr>
              <a:t>• 현재 중국 수입자·备案/등록 보유자(번호)는 누구인가? 연말 전환 대상인가?</a:t>
            </a:r>
          </a:p>
          <a:p>
            <a:pPr>
              <a:spcAft>
                <a:spcPts val="200"/>
              </a:spcAft>
            </a:pPr>
            <a:r>
              <a:rPr sz="1000" b="0">
                <a:solidFill>
                  <a:srgbClr val="1A1A1A"/>
                </a:solidFill>
                <a:latin typeface="Noto Sans KR"/>
                <a:ea typeface="Noto Sans KR"/>
                <a:cs typeface="Noto Sans KR"/>
              </a:rPr>
              <a:t>• 보유 시험자료 목록·시험기관·GLP 여부·소유권(공동시험 포함)은?</a:t>
            </a:r>
          </a:p>
          <a:p>
            <a:pPr>
              <a:spcAft>
                <a:spcPts val="200"/>
              </a:spcAft>
            </a:pPr>
            <a:r>
              <a:rPr sz="1000" b="0">
                <a:solidFill>
                  <a:srgbClr val="1A1A1A"/>
                </a:solidFill>
                <a:latin typeface="Noto Sans KR"/>
                <a:ea typeface="Noto Sans KR"/>
                <a:cs typeface="Noto Sans KR"/>
              </a:rPr>
              <a:t>• 고객별 공급 구조(직판/유통사), 고객 승인 공급자 변경 절차는?</a:t>
            </a:r>
          </a:p>
          <a:p>
            <a:pPr>
              <a:spcAft>
                <a:spcPts val="200"/>
              </a:spcAft>
            </a:pPr>
            <a:r>
              <a:rPr sz="1000" b="0">
                <a:solidFill>
                  <a:srgbClr val="1A1A1A"/>
                </a:solidFill>
                <a:latin typeface="Noto Sans KR"/>
                <a:ea typeface="Noto Sans KR"/>
                <a:cs typeface="Noto Sans KR"/>
              </a:rPr>
              <a:t>• 향후 충진·소분·세정 계획, 투자 예산 범위, 기존 연락사무소 현황은?</a:t>
            </a:r>
          </a:p>
        </p:txBody>
      </p:sp>
      <p:sp>
        <p:nvSpPr>
          <p:cNvPr id="170" name="TextBox 169"/>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19_Glossary_Q 시트</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부록 8 | 30·60·90일 실행 계획</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법인 등기 완료는 출발점 — 허가·등록·고객 승인까지 관리</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38</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- 38 -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2331720"/>
        </p:xfrm>
        <a:graphic>
          <a:graphicData uri="http://schemas.openxmlformats.org/drawingml/2006/table">
            <a:tbl>
              <a:tblPr firstRow="0" bandRow="0"/>
              <a:tblGrid>
                <a:gridCol w="1371600"/>
                <a:gridCol w="3017520"/>
                <a:gridCol w="2926080"/>
                <a:gridCol w="1252728"/>
              </a:tblGrid>
              <a:tr h="274320">
                <a:tc>
                  <a:txBody>
                    <a:bodyPr wrap="square"/>
                    <a:lstStyle/>
                    <a:p>
                      <a:pPr algn="ctr"/>
                      <a:r>
                        <a:rPr sz="1150" b="1">
                          <a:solidFill>
                            <a:srgbClr val="FFFFFF"/>
                          </a:solidFill>
                          <a:latin typeface="Noto Sans KR"/>
                          <a:ea typeface="Noto Sans KR"/>
                          <a:cs typeface="Noto Sans KR"/>
                        </a:rPr>
                        <a:t>기간</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목표</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산출물</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150" b="1">
                          <a:solidFill>
                            <a:srgbClr val="FFFFFF"/>
                          </a:solidFill>
                          <a:latin typeface="Noto Sans KR"/>
                          <a:ea typeface="Noto Sans KR"/>
                          <a:cs typeface="Noto Sans KR"/>
                        </a:rPr>
                        <a:t>책임</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685800">
                <a:tc>
                  <a:txBody>
                    <a:bodyPr wrap="square"/>
                    <a:lstStyle/>
                    <a:p>
                      <a:pPr algn="ctr"/>
                      <a:r>
                        <a:rPr sz="1150" b="0">
                          <a:solidFill>
                            <a:srgbClr val="1A1A1A"/>
                          </a:solidFill>
                          <a:latin typeface="Noto Sans KR"/>
                          <a:ea typeface="Noto Sans KR"/>
                          <a:cs typeface="Noto Sans KR"/>
                        </a:rPr>
                        <a:t>~30일 (11/5)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구조·지역 확정, 备案 전환 대응 착수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판정표·기관 회신·법률 의견·경영진 승인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해외영업·법무·기획</a:t>
                      </a:r>
                    </a:p>
                  </a:txBody>
                  <a:tcPr marL="45720" marR="45720" marT="18000" marB="18000" anchor="ctr">
                    <a:lnL w="0">
                      <a:noFill/>
                    </a:lnL>
                    <a:lnR w="0">
                      <a:noFill/>
                    </a:lnR>
                    <a:lnT w="0">
                      <a:noFill/>
                    </a:lnT>
                    <a:lnB w="6350">
                      <a:solidFill>
                        <a:srgbClr val="D9D9D9"/>
                      </a:solidFill>
                    </a:lnB>
                    <a:solidFill>
                      <a:srgbClr val="FFFFFF"/>
                    </a:solidFill>
                  </a:tcPr>
                </a:tc>
              </a:tr>
              <a:tr h="685800">
                <a:tc>
                  <a:txBody>
                    <a:bodyPr wrap="square"/>
                    <a:lstStyle/>
                    <a:p>
                      <a:pPr algn="ctr"/>
                      <a:r>
                        <a:rPr sz="1150" b="0">
                          <a:solidFill>
                            <a:srgbClr val="1A1A1A"/>
                          </a:solidFill>
                          <a:latin typeface="Noto Sans KR"/>
                          <a:ea typeface="Noto Sans KR"/>
                          <a:cs typeface="Noto Sans KR"/>
                        </a:rPr>
                        <a:t>~60일 (12/5)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해외직접투자 신고·법인 등기 신청, 안전관리자 채용</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신고 수리·등기 서류·채용</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150" b="0">
                          <a:solidFill>
                            <a:srgbClr val="1A1A1A"/>
                          </a:solidFill>
                          <a:latin typeface="Noto Sans KR"/>
                          <a:ea typeface="Noto Sans KR"/>
                          <a:cs typeface="Noto Sans KR"/>
                        </a:rPr>
                        <a:t>기획·법무·인사</a:t>
                      </a:r>
                    </a:p>
                  </a:txBody>
                  <a:tcPr marL="45720" marR="45720" marT="18000" marB="18000" anchor="ctr">
                    <a:lnL w="0">
                      <a:noFill/>
                    </a:lnL>
                    <a:lnR w="0">
                      <a:noFill/>
                    </a:lnR>
                    <a:lnT w="0">
                      <a:noFill/>
                    </a:lnT>
                    <a:lnB w="6350">
                      <a:solidFill>
                        <a:srgbClr val="D9D9D9"/>
                      </a:solidFill>
                    </a:lnB>
                    <a:solidFill>
                      <a:srgbClr val="FFFFFF"/>
                    </a:solidFill>
                  </a:tcPr>
                </a:tc>
              </a:tr>
              <a:tr h="685800">
                <a:tc>
                  <a:txBody>
                    <a:bodyPr wrap="square"/>
                    <a:lstStyle/>
                    <a:p>
                      <a:pPr algn="ctr"/>
                      <a:r>
                        <a:rPr sz="1150" b="0">
                          <a:solidFill>
                            <a:srgbClr val="1A1A1A"/>
                          </a:solidFill>
                          <a:latin typeface="Noto Sans KR"/>
                          <a:ea typeface="Noto Sans KR"/>
                          <a:cs typeface="Noto Sans KR"/>
                        </a:rPr>
                        <a:t>~90일 (1/4)</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150" b="0">
                          <a:solidFill>
                            <a:srgbClr val="1A1A1A"/>
                          </a:solidFill>
                          <a:latin typeface="Noto Sans KR"/>
                          <a:ea typeface="Noto Sans KR"/>
                          <a:cs typeface="Noto Sans KR"/>
                        </a:rPr>
                        <a:t>등기 완료·경영허가 신청·3PL 계약·등록 시험 착수</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150" b="0">
                          <a:solidFill>
                            <a:srgbClr val="1A1A1A"/>
                          </a:solidFill>
                          <a:latin typeface="Noto Sans KR"/>
                          <a:ea typeface="Noto Sans KR"/>
                          <a:cs typeface="Noto Sans KR"/>
                        </a:rPr>
                        <a:t>营业执照·허가 신청·계약·시험 계약</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150" b="0">
                          <a:solidFill>
                            <a:srgbClr val="1A1A1A"/>
                          </a:solidFill>
                          <a:latin typeface="Noto Sans KR"/>
                          <a:ea typeface="Noto Sans KR"/>
                          <a:cs typeface="Noto Sans KR"/>
                        </a:rPr>
                        <a:t>현지·물류·한호진 PL</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TextBox 164"/>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16_Timeline · 17_RisksActions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부록 9 | 출처 목록 (1/2)</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URL·조문·주의사항 전체는 03_SourceRegister 시트</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39</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- 39 -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5029184"/>
        </p:xfrm>
        <a:graphic>
          <a:graphicData uri="http://schemas.openxmlformats.org/drawingml/2006/table">
            <a:tbl>
              <a:tblPr firstRow="0" bandRow="0"/>
              <a:tblGrid>
                <a:gridCol w="731520"/>
                <a:gridCol w="4663440"/>
                <a:gridCol w="1645920"/>
                <a:gridCol w="868680"/>
                <a:gridCol w="658368"/>
              </a:tblGrid>
              <a:tr h="237744">
                <a:tc>
                  <a:txBody>
                    <a:bodyPr wrap="square"/>
                    <a:lstStyle/>
                    <a:p>
                      <a:pPr algn="ctr"/>
                      <a:r>
                        <a:rPr sz="850" b="1">
                          <a:solidFill>
                            <a:srgbClr val="FFFFFF"/>
                          </a:solidFill>
                          <a:latin typeface="Noto Sans KR"/>
                          <a:ea typeface="Noto Sans KR"/>
                          <a:cs typeface="Noto Sans KR"/>
                        </a:rPr>
                        <a:t>ID</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850" b="1">
                          <a:solidFill>
                            <a:srgbClr val="FFFFFF"/>
                          </a:solidFill>
                          <a:latin typeface="Noto Sans KR"/>
                          <a:ea typeface="Noto Sans KR"/>
                          <a:cs typeface="Noto Sans KR"/>
                        </a:rPr>
                        <a:t>문서명</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850" b="1">
                          <a:solidFill>
                            <a:srgbClr val="FFFFFF"/>
                          </a:solidFill>
                          <a:latin typeface="Noto Sans KR"/>
                          <a:ea typeface="Noto Sans KR"/>
                          <a:cs typeface="Noto Sans KR"/>
                        </a:rPr>
                        <a:t>기관</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850" b="1">
                          <a:solidFill>
                            <a:srgbClr val="FFFFFF"/>
                          </a:solidFill>
                          <a:latin typeface="Noto Sans KR"/>
                          <a:ea typeface="Noto Sans KR"/>
                          <a:cs typeface="Noto Sans KR"/>
                        </a:rPr>
                        <a:t>시행일</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850" b="1">
                          <a:solidFill>
                            <a:srgbClr val="FFFFFF"/>
                          </a:solidFill>
                          <a:latin typeface="Noto Sans KR"/>
                          <a:ea typeface="Noto Sans KR"/>
                          <a:cs typeface="Noto Sans KR"/>
                        </a:rPr>
                        <a:t>상태</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239572">
                <a:tc>
                  <a:txBody>
                    <a:bodyPr wrap="square"/>
                    <a:lstStyle/>
                    <a:p>
                      <a:pPr algn="ctr"/>
                      <a:r>
                        <a:rPr sz="850" b="0">
                          <a:solidFill>
                            <a:srgbClr val="1A1A1A"/>
                          </a:solidFill>
                          <a:latin typeface="Noto Sans KR"/>
                          <a:ea typeface="Noto Sans KR"/>
                          <a:cs typeface="Noto Sans KR"/>
                        </a:rPr>
                        <a:t>SRC-001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新化学物质环境管理登记办法 (生态环境部令第12号)</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生态环境部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2021-01-01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SRC-002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新化学物质环境管理登记指南</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生态环境部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2021-01-01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SRC-003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关于公开征求《新化学物质环境管理登记办法（修订征求意见稿）》意见的函</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生态环境部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SRC-004</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新化学物质环境管理登记办法（修订征求意见稿）附件2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生态环境部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SRC-005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生态环境部办公厅关于新化学物质环境管理登记有关事项的通知 (环办固体函〔2026〕301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生态环境部 판공청</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2026-08-15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SRC-006</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생태환경법전(生态环境法典) 시행과 신규화학물질 등록 개정 해설</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瑞旭集团(CIRS)</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비공식</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SRC-007</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China's New Ecological and Environmental Cod</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Hogan Lovells</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2026-08-15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비공식</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SRC-008</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2026新化学物质登记办法修订解读 FAQ</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REACH24H</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비공식</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SRC-009</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中华人民共和国危险化学品安全法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全国人大常委会</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2026-05-01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SRC-010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危险化学品经营许可证管理办法 (原安监总局令第55号, 2015修正)</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应急管理部(原安监总局)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2012-09-01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SRC-011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无锡市危险化学品经营许可工作实施细则（试行）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无锡市应急管理局·无锡市行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SRC-012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南京市危险化学品经营许可工作实施细则（试行）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南京市应急管理局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SRC-013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省政府关于公布江苏省化工园区认定复核通过名单（第一批）的通知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江苏省人民政府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2023-06-02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SRC-014</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江苏省化工园区管理办法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江苏省人民政府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2024</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SRC-015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江苏省化工产业结构调整限制和淘汰目录（2025年本）</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江苏省人民政府办公厅</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2026-01-24</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SRC-016</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危险化学品登记管理办法 (原安监总局令第53号)</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应急管理部(原安监总局)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2012-08-01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SRC-017</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海关总署公告2020年第129号 (进出口危险化学品及其包装检验)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海关总署</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2021-01-10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SRC-018</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GB 15603-2022 危险化学品仓库储存通则</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国家市场监督管理总局·国家</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2023-07-01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SRC-019</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应急管理部等10部门 2026年第3号公告 (危险化学品目录 5종 추가)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应急管理部 등</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2026-04-16</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SRC-020</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850" b="0">
                          <a:solidFill>
                            <a:srgbClr val="1A1A1A"/>
                          </a:solidFill>
                          <a:latin typeface="Noto Sans KR"/>
                          <a:ea typeface="Noto Sans KR"/>
                          <a:cs typeface="Noto Sans KR"/>
                        </a:rPr>
                        <a:t>中华人民共和国公司法 (2023修订) 및 국무원 등록자본 관리 규정</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850" b="0">
                          <a:solidFill>
                            <a:srgbClr val="1A1A1A"/>
                          </a:solidFill>
                          <a:latin typeface="Noto Sans KR"/>
                          <a:ea typeface="Noto Sans KR"/>
                          <a:cs typeface="Noto Sans KR"/>
                        </a:rPr>
                        <a:t>全国人大常委会·国务院</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850" b="0">
                          <a:solidFill>
                            <a:srgbClr val="1A1A1A"/>
                          </a:solidFill>
                          <a:latin typeface="Noto Sans KR"/>
                          <a:ea typeface="Noto Sans KR"/>
                          <a:cs typeface="Noto Sans KR"/>
                        </a:rPr>
                        <a:t>2024-07-01</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TextBox 164"/>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03_SourceRegister 시트 (하이퍼링크)</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부록 9 | 출처 목록 (2/2)</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URL·조문·주의사항 전체는 03_SourceRegister 시트</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40</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- 40 -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5029184"/>
        </p:xfrm>
        <a:graphic>
          <a:graphicData uri="http://schemas.openxmlformats.org/drawingml/2006/table">
            <a:tbl>
              <a:tblPr firstRow="0" bandRow="0"/>
              <a:tblGrid>
                <a:gridCol w="731520"/>
                <a:gridCol w="4663440"/>
                <a:gridCol w="1645920"/>
                <a:gridCol w="868680"/>
                <a:gridCol w="658368"/>
              </a:tblGrid>
              <a:tr h="237744">
                <a:tc>
                  <a:txBody>
                    <a:bodyPr wrap="square"/>
                    <a:lstStyle/>
                    <a:p>
                      <a:pPr algn="ctr"/>
                      <a:r>
                        <a:rPr sz="850" b="1">
                          <a:solidFill>
                            <a:srgbClr val="FFFFFF"/>
                          </a:solidFill>
                          <a:latin typeface="Noto Sans KR"/>
                          <a:ea typeface="Noto Sans KR"/>
                          <a:cs typeface="Noto Sans KR"/>
                        </a:rPr>
                        <a:t>ID</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850" b="1">
                          <a:solidFill>
                            <a:srgbClr val="FFFFFF"/>
                          </a:solidFill>
                          <a:latin typeface="Noto Sans KR"/>
                          <a:ea typeface="Noto Sans KR"/>
                          <a:cs typeface="Noto Sans KR"/>
                        </a:rPr>
                        <a:t>문서명</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850" b="1">
                          <a:solidFill>
                            <a:srgbClr val="FFFFFF"/>
                          </a:solidFill>
                          <a:latin typeface="Noto Sans KR"/>
                          <a:ea typeface="Noto Sans KR"/>
                          <a:cs typeface="Noto Sans KR"/>
                        </a:rPr>
                        <a:t>기관</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850" b="1">
                          <a:solidFill>
                            <a:srgbClr val="FFFFFF"/>
                          </a:solidFill>
                          <a:latin typeface="Noto Sans KR"/>
                          <a:ea typeface="Noto Sans KR"/>
                          <a:cs typeface="Noto Sans KR"/>
                        </a:rPr>
                        <a:t>시행일</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850" b="1">
                          <a:solidFill>
                            <a:srgbClr val="FFFFFF"/>
                          </a:solidFill>
                          <a:latin typeface="Noto Sans KR"/>
                          <a:ea typeface="Noto Sans KR"/>
                          <a:cs typeface="Noto Sans KR"/>
                        </a:rPr>
                        <a:t>상태</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239572">
                <a:tc>
                  <a:txBody>
                    <a:bodyPr wrap="square"/>
                    <a:lstStyle/>
                    <a:p>
                      <a:pPr algn="ctr"/>
                      <a:r>
                        <a:rPr sz="850" b="0">
                          <a:solidFill>
                            <a:srgbClr val="1A1A1A"/>
                          </a:solidFill>
                          <a:latin typeface="Noto Sans KR"/>
                          <a:ea typeface="Noto Sans KR"/>
                          <a:cs typeface="Noto Sans KR"/>
                        </a:rPr>
                        <a:t>SRC-021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外商投资准入特别管理措施（负面清单）（2024年版）</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国家发展改革委·商务部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2024-11-01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SRC-022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중국 아포스티유 협약 가입(2023-11-07 발효)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中华人民共和国外交部</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2023-11-07</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SRC-023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해외직접투자 신고 (외국환거래법·외국환거래규정)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외국환은행·언론 해설</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비공식</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SRC-024</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2025년 무석시 비사영 단위 평균임금 147,293 CNY</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언론(扬子晚报) 경유 통</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비공식</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SRC-025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2025년 강소성 사회보험 납부기수 상한 24,762 / 하한 4,952 CNY</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国家税务总局江苏省税务局(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2025-01-01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SRC-026</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CNY/KRW 환율 1 CNY = 204 KRW (2026-09-01)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XE 환율 (검색 요약)</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비공식</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SRC-027</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长鑫存储 등록 주소 (合肥经开区空港工业园兴业大道388号)</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언론·기업정보 (검색 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비공식</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SRC-028</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长江存储 주소 (武汉东湖新技术开发区未来三路88号)</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언론·기업정보 (검색 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비공식</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SRC-029</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SK海力士 无锡 (新吴区) 공장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언론 (검색 요약)</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비공식</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SRC-030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扬子江国际化学工业园 — 위험화학품 부두·보세 위험품 창고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扬子晚报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비공식</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SRC-031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上海市危险化学品安全管理办法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上海市人民政府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SRC-032</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上海 危险化学品经营（仓储）许可 新增品名 申请 指引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上海市应急管理局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SRC-033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浙江省 化工园区 (宁波石化·中国化工新材料(嘉兴)·平湖独山港 등)</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前瞻产业研究院 등</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비공식</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SRC-034</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安徽省 化工园区 2批 39곳 인정 / 위험등급 공고</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安徽省应急管理厅 (검색 </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SRC-035</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위험화학품 경영허가 심사기한 20 영업일(자유무역시험구 무저장 고지승낙 15 영</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지방정부 (검색 요약)</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SRC-036</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신규화학물질 식별정보 보호(기간·연장 최대 5년)</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ChemLinked (생</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비공식</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SRC-037</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배당 원천징수 10%(조약 시 인하)·배당 재투자 세액공제 10%(2025~20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Fieldfisher</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2025-01-01</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비공식</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SRC-038</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苏州 무저장 위험화학품 경영허가 장소 요건 (업체 안내)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등록대행 업체</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비공식</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SRC-039</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省政府关于公布江苏省化工园区认定复核通过名单（第二批）(苏政发〔2023〕115号)</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850" b="0">
                          <a:solidFill>
                            <a:srgbClr val="1A1A1A"/>
                          </a:solidFill>
                          <a:latin typeface="Noto Sans KR"/>
                          <a:ea typeface="Noto Sans KR"/>
                          <a:cs typeface="Noto Sans KR"/>
                        </a:rPr>
                        <a:t>江苏省人民政府</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6350">
                      <a:solidFill>
                        <a:srgbClr val="D9D9D9"/>
                      </a:solidFill>
                    </a:lnB>
                    <a:solidFill>
                      <a:srgbClr val="FFFFFF"/>
                    </a:solidFill>
                  </a:tcPr>
                </a:tc>
              </a:tr>
              <a:tr h="239572">
                <a:tc>
                  <a:txBody>
                    <a:bodyPr wrap="square"/>
                    <a:lstStyle/>
                    <a:p>
                      <a:pPr algn="ctr"/>
                      <a:r>
                        <a:rPr sz="850" b="0">
                          <a:solidFill>
                            <a:srgbClr val="1A1A1A"/>
                          </a:solidFill>
                          <a:latin typeface="Noto Sans KR"/>
                          <a:ea typeface="Noto Sans KR"/>
                          <a:cs typeface="Noto Sans KR"/>
                        </a:rPr>
                        <a:t>SRC-040</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850" b="0">
                          <a:solidFill>
                            <a:srgbClr val="1A1A1A"/>
                          </a:solidFill>
                          <a:latin typeface="Noto Sans KR"/>
                          <a:ea typeface="Noto Sans KR"/>
                          <a:cs typeface="Noto Sans KR"/>
                        </a:rPr>
                        <a:t>简易登记 시험자료 요건(중국 공시생물 생태독성 시험 포함)</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850" b="0">
                          <a:solidFill>
                            <a:srgbClr val="1A1A1A"/>
                          </a:solidFill>
                          <a:latin typeface="Noto Sans KR"/>
                          <a:ea typeface="Noto Sans KR"/>
                          <a:cs typeface="Noto Sans KR"/>
                        </a:rPr>
                        <a:t>생태환경부 지침 (검색 </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850" b="0">
                          <a:solidFill>
                            <a:srgbClr val="1A1A1A"/>
                          </a:solidFill>
                          <a:latin typeface="Noto Sans KR"/>
                          <a:ea typeface="Noto Sans KR"/>
                          <a:cs typeface="Noto Sans KR"/>
                        </a:rPr>
                        <a:t>2021-01-01</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850" b="0">
                          <a:solidFill>
                            <a:srgbClr val="1A1A1A"/>
                          </a:solidFill>
                          <a:latin typeface="Noto Sans KR"/>
                          <a:ea typeface="Noto Sans KR"/>
                          <a:cs typeface="Noto Sans KR"/>
                        </a:rPr>
                        <a:t>공식·요약</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5" name="TextBox 164"/>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03_SourceRegister 시트 (하이퍼링크)</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75E2DD2F-BCF5-ECAE-E5D5-3CF0B6E970A6}"/>
              </a:ext>
            </a:extLst>
          </p:cNvPr>
          <p:cNvSpPr txBox="1"/>
          <p:nvPr/>
        </p:nvSpPr>
        <p:spPr>
          <a:xfrm>
            <a:off x="419241" y="188640"/>
            <a:ext cx="7400000" cy="276999"/>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800" dirty="0" b="1">
                <a:gradFill>
                  <a:gsLst>
                    <a:gs pos="0">
                      <a:srgbClr val="FF7900"/>
                    </a:gs>
                    <a:gs pos="67000">
                      <a:srgbClr val="EB002C"/>
                    </a:gs>
                  </a:gsLst>
                  <a:lin ang="5400000" scaled="1"/>
                </a:gradFill>
              </a:rPr>
              <a:t>부록 10 | 근거 충족 현황</a:t>
            </a:r>
          </a:p>
        </p:txBody>
      </p:sp>
      <p:sp>
        <p:nvSpPr>
          <p:cNvPr id="4" name="직사각형 3">
            <a:extLst>
              <a:ext uri="{FF2B5EF4-FFF2-40B4-BE49-F238E27FC236}">
                <a16:creationId xmlns:a16="http://schemas.microsoft.com/office/drawing/2014/main" id="{F5E334A9-F66D-C6A4-7BE9-6D50F9536A48}"/>
              </a:ext>
            </a:extLst>
          </p:cNvPr>
          <p:cNvSpPr/>
          <p:nvPr/>
        </p:nvSpPr>
        <p:spPr>
          <a:xfrm>
            <a:off x="243076" y="0"/>
            <a:ext cx="45719" cy="900000"/>
          </a:xfrm>
          <a:prstGeom prst="rect">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TextBox 5">
            <a:extLst>
              <a:ext uri="{FF2B5EF4-FFF2-40B4-BE49-F238E27FC236}">
                <a16:creationId xmlns:a16="http://schemas.microsoft.com/office/drawing/2014/main" id="{42E35880-4093-876B-A5F4-41C1E861B78E}"/>
              </a:ext>
            </a:extLst>
          </p:cNvPr>
          <p:cNvSpPr txBox="1"/>
          <p:nvPr/>
        </p:nvSpPr>
        <p:spPr>
          <a:xfrm>
            <a:off x="683568" y="649029"/>
            <a:ext cx="8217356" cy="246221"/>
          </a:xfrm>
          <a:prstGeom prst="rect">
            <a:avLst/>
          </a:prstGeom>
          <a:noFill/>
        </p:spPr>
        <p:txBody>
          <a:bodyPr wrap="square" lIns="0" tIns="0" rIns="0" bIns="0" rtlCol="0">
            <a:spAutoFit/>
          </a:bodyPr>
          <a:lstStyle>
            <a:defPPr>
              <a:defRPr lang="ko-KR"/>
            </a:defPPr>
            <a:lvl1pPr algn="ctr">
              <a:defRPr kumimoji="1" sz="2800" b="1">
                <a:solidFill>
                  <a:schemeClr val="tx1">
                    <a:lumMod val="95000"/>
                    <a:lumOff val="5000"/>
                  </a:schemeClr>
                </a:solidFill>
                <a:latin typeface="Noto Sans KR" pitchFamily="2" charset="-127"/>
                <a:ea typeface="Noto Sans KR" pitchFamily="2" charset="-127"/>
              </a:defRPr>
            </a:lvl1pPr>
          </a:lstStyle>
          <a:p>
            <a:pPr algn="l"/>
            <a:r>
              <a:rPr lang="en-US" altLang="ko-KR" sz="1500" dirty="0">
                <a:latin typeface="Noto Sans KR" panose="02000503000000020004" pitchFamily="2" charset="-127"/>
                <a:ea typeface="Noto Sans KR" panose="02000503000000020004" pitchFamily="2" charset="-127"/>
                <a:cs typeface="Noto Sans KR" panose="02000503000000020004" pitchFamily="2" charset="-127"/>
              </a:rPr>
              <a:t>핵심 주장마다 근거 수준과 남은 확인 사항을 표시합니다</a:t>
            </a:r>
            <a:endParaRPr lang="en-US" altLang="ko-KR" sz="1600" dirty="0">
              <a:solidFill>
                <a:srgbClr val="FB6306"/>
              </a:solidFill>
              <a:latin typeface="Noto Sans KR" panose="02000503000000020004" pitchFamily="2" charset="-127"/>
              <a:ea typeface="Noto Sans KR" panose="02000503000000020004" pitchFamily="2" charset="-127"/>
              <a:cs typeface="Noto Sans KR" panose="02000503000000020004" pitchFamily="2" charset="-127"/>
            </a:endParaRPr>
          </a:p>
        </p:txBody>
      </p:sp>
      <p:sp>
        <p:nvSpPr>
          <p:cNvPr id="7" name="타원 6">
            <a:extLst>
              <a:ext uri="{FF2B5EF4-FFF2-40B4-BE49-F238E27FC236}">
                <a16:creationId xmlns:a16="http://schemas.microsoft.com/office/drawing/2014/main" id="{8FCEA6BD-DE04-59B4-A8D4-190141D5218B}"/>
              </a:ext>
            </a:extLst>
          </p:cNvPr>
          <p:cNvSpPr>
            <a:spLocks noChangeAspect="1"/>
          </p:cNvSpPr>
          <p:nvPr/>
        </p:nvSpPr>
        <p:spPr>
          <a:xfrm>
            <a:off x="419241" y="682139"/>
            <a:ext cx="180000" cy="180000"/>
          </a:xfrm>
          <a:prstGeom prst="ellipse">
            <a:avLst/>
          </a:prstGeom>
          <a:solidFill>
            <a:srgbClr val="EB0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a:lstStyle/>
          <a:p>
            <a:pPr algn="ctr"/>
            <a:r>
              <a:rPr kumimoji="1" lang="en-US" altLang="ko-KR" sz="750" b="1" dirty="0">
                <a:latin typeface="Noto Sans KR" pitchFamily="2" charset="-127"/>
                <a:ea typeface="Noto Sans KR" pitchFamily="2" charset="-127"/>
              </a:rPr>
              <a:t>41</a:t>
            </a:r>
            <a:endParaRPr kumimoji="1" lang="ko-KR" altLang="en-US" sz="1000" b="1" dirty="0">
              <a:latin typeface="Noto Sans KR" pitchFamily="2" charset="-127"/>
              <a:ea typeface="Noto Sans KR" pitchFamily="2" charset="-127"/>
            </a:endParaRPr>
          </a:p>
        </p:txBody>
      </p:sp>
      <p:pic>
        <p:nvPicPr>
          <p:cNvPr id="8" name="그림 7">
            <a:extLst>
              <a:ext uri="{FF2B5EF4-FFF2-40B4-BE49-F238E27FC236}">
                <a16:creationId xmlns:a16="http://schemas.microsoft.com/office/drawing/2014/main" id="{B8A963E8-7BFA-8421-BB5D-9C25023F1E9B}"/>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8028384" y="165102"/>
            <a:ext cx="872541" cy="372545"/>
          </a:xfrm>
          <a:prstGeom prst="rect">
            <a:avLst/>
          </a:prstGeom>
        </p:spPr>
      </p:pic>
      <p:sp>
        <p:nvSpPr>
          <p:cNvPr id="161" name="직사각형 160">
            <a:extLst>
              <a:ext uri="{FF2B5EF4-FFF2-40B4-BE49-F238E27FC236}">
                <a16:creationId xmlns:a16="http://schemas.microsoft.com/office/drawing/2014/main" id="{93943A90-8311-883B-A173-01407C63CEE4}"/>
              </a:ext>
            </a:extLst>
          </p:cNvPr>
          <p:cNvSpPr/>
          <p:nvPr/>
        </p:nvSpPr>
        <p:spPr>
          <a:xfrm>
            <a:off x="234424" y="6411907"/>
            <a:ext cx="1027462" cy="252555"/>
          </a:xfrm>
          <a:prstGeom prst="rect">
            <a:avLst/>
          </a:prstGeom>
          <a:no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ko-KR"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rPr>
              <a:t>Confidential</a:t>
            </a:r>
            <a:endParaRPr kumimoji="1" lang="ko-KR" altLang="en-US" sz="1100" dirty="0">
              <a:solidFill>
                <a:schemeClr val="bg1">
                  <a:lumMod val="50000"/>
                </a:schemeClr>
              </a:solidFill>
              <a:latin typeface="Noto Sans KR" panose="02000503000000020004" pitchFamily="2" charset="-127"/>
              <a:ea typeface="Noto Sans KR" panose="02000503000000020004" pitchFamily="2" charset="-127"/>
              <a:cs typeface="Noto Sans KR" panose="02000503000000020004" pitchFamily="2" charset="-127"/>
            </a:endParaRPr>
          </a:p>
        </p:txBody>
      </p:sp>
      <p:cxnSp>
        <p:nvCxnSpPr>
          <p:cNvPr id="163" name="직선 연결선[R] 162">
            <a:extLst>
              <a:ext uri="{FF2B5EF4-FFF2-40B4-BE49-F238E27FC236}">
                <a16:creationId xmlns:a16="http://schemas.microsoft.com/office/drawing/2014/main" id="{8DEBABA2-333E-086B-36F6-137958AA3974}"/>
              </a:ext>
            </a:extLst>
          </p:cNvPr>
          <p:cNvCxnSpPr>
            <a:cxnSpLocks/>
          </p:cNvCxnSpPr>
          <p:nvPr/>
        </p:nvCxnSpPr>
        <p:spPr>
          <a:xfrm>
            <a:off x="1442533" y="6538184"/>
            <a:ext cx="72008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53F489-CBFB-4C6F-878D-02975AD51256}"/>
              </a:ext>
            </a:extLst>
          </p:cNvPr>
          <p:cNvSpPr txBox="1"/>
          <p:nvPr/>
        </p:nvSpPr>
        <p:spPr>
          <a:xfrm>
            <a:off x="3972000" y="6461240"/>
            <a:ext cx="1200000" cy="153888"/>
          </a:xfrm>
          <a:prstGeom prst="rect">
            <a:avLst/>
          </a:prstGeom>
          <a:noFill/>
        </p:spPr>
        <p:txBody>
          <a:bodyPr wrap="none" lIns="0" tIns="0" rIns="0" bIns="0">
            <a:spAutoFit/>
          </a:bodyPr>
          <a:lstStyle/>
          <a:p>
            <a:pPr algn="ctr"/>
            <a:r>
              <a:rPr kumimoji="1" lang="en-US" altLang="ko-KR" sz="1000" dirty="0" b="0" i="0">
                <a:solidFill>
                  <a:srgbClr val="7F7F7F"/>
                </a:solidFill>
                <a:latin typeface="Noto Sans KR" panose="02000403000000020004" pitchFamily="2" charset="-127"/>
                <a:ea typeface="Noto Sans KR" panose="02000403000000020004" pitchFamily="2" charset="-127"/>
                <a:cs typeface="Noto Sans KR" panose="02000403000000020004" pitchFamily="2" charset="-127"/>
              </a:rPr>
              <a:t>- 41 -</a:t>
            </a:r>
            <a:endParaRPr kumimoji="1" lang="ko-KR" altLang="en-US" sz="1000" dirty="0">
              <a:solidFill>
                <a:schemeClr val="bg1">
                  <a:lumMod val="50000"/>
                </a:schemeClr>
              </a:solidFill>
              <a:latin typeface="Noto Sans KR" panose="02000403000000020004" pitchFamily="2" charset="-127"/>
              <a:ea typeface="Noto Sans KR" panose="02000403000000020004" pitchFamily="2" charset="-127"/>
              <a:cs typeface="Noto Sans KR" panose="02000403000000020004" pitchFamily="2" charset="-127"/>
            </a:endParaRPr>
          </a:p>
        </p:txBody>
      </p:sp>
      <p:graphicFrame>
        <p:nvGraphicFramePr>
          <p:cNvPr id="164" name="Table 163"/>
          <p:cNvGraphicFramePr>
            <a:graphicFrameLocks noGrp="1"/>
          </p:cNvGraphicFramePr>
          <p:nvPr/>
        </p:nvGraphicFramePr>
        <p:xfrm>
          <a:off x="283464" y="987552"/>
          <a:ext cx="8567928" cy="2962656"/>
        </p:xfrm>
        <a:graphic>
          <a:graphicData uri="http://schemas.openxmlformats.org/drawingml/2006/table">
            <a:tbl>
              <a:tblPr firstRow="0" bandRow="0"/>
              <a:tblGrid>
                <a:gridCol w="2103120"/>
                <a:gridCol w="914400"/>
                <a:gridCol w="5550408"/>
              </a:tblGrid>
              <a:tr h="274320">
                <a:tc>
                  <a:txBody>
                    <a:bodyPr wrap="square"/>
                    <a:lstStyle/>
                    <a:p>
                      <a:pPr algn="ctr"/>
                      <a:r>
                        <a:rPr sz="1050" b="1">
                          <a:solidFill>
                            <a:srgbClr val="FFFFFF"/>
                          </a:solidFill>
                          <a:latin typeface="Noto Sans KR"/>
                          <a:ea typeface="Noto Sans KR"/>
                          <a:cs typeface="Noto Sans KR"/>
                        </a:rPr>
                        <a:t>정보 상태</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근거 건수</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의미</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384048">
                <a:tc>
                  <a:txBody>
                    <a:bodyPr wrap="square"/>
                    <a:lstStyle/>
                    <a:p>
                      <a:pPr algn="l"/>
                      <a:r>
                        <a:rPr sz="1050" b="0">
                          <a:solidFill>
                            <a:srgbClr val="1A1A1A"/>
                          </a:solidFill>
                          <a:latin typeface="Noto Sans KR"/>
                          <a:ea typeface="Noto Sans KR"/>
                          <a:cs typeface="Noto Sans KR"/>
                        </a:rPr>
                        <a:t>공식 출처·요약 확인</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26</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정부·기관 공식 URL을 찾았고 내용은 검색 결과 요약으로 확인. 원문 조문 대조 </a:t>
                      </a:r>
                    </a:p>
                  </a:txBody>
                  <a:tcPr marL="45720" marR="45720" marT="18000" marB="18000" anchor="ctr">
                    <a:lnL w="0">
                      <a:noFill/>
                    </a:lnL>
                    <a:lnR w="0">
                      <a:noFill/>
                    </a:lnR>
                    <a:lnT w="0">
                      <a:noFill/>
                    </a:lnT>
                    <a:lnB w="6350">
                      <a:solidFill>
                        <a:srgbClr val="D9D9D9"/>
                      </a:solidFill>
                    </a:lnB>
                    <a:solidFill>
                      <a:srgbClr val="FFFFFF"/>
                    </a:solidFill>
                  </a:tcPr>
                </a:tc>
              </a:tr>
              <a:tr h="384048">
                <a:tc>
                  <a:txBody>
                    <a:bodyPr wrap="square"/>
                    <a:lstStyle/>
                    <a:p>
                      <a:pPr algn="l"/>
                      <a:r>
                        <a:rPr sz="1050" b="0">
                          <a:solidFill>
                            <a:srgbClr val="1A1A1A"/>
                          </a:solidFill>
                          <a:latin typeface="Noto Sans KR"/>
                          <a:ea typeface="Noto Sans KR"/>
                          <a:cs typeface="Noto Sans KR"/>
                        </a:rPr>
                        <a:t>전문가 자료</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3</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법무법인·인증 컨설팅·회계법인 등 전문가 해설. 원문과 대조 필요</a:t>
                      </a:r>
                    </a:p>
                  </a:txBody>
                  <a:tcPr marL="45720" marR="45720" marT="18000" marB="18000" anchor="ctr">
                    <a:lnL w="0">
                      <a:noFill/>
                    </a:lnL>
                    <a:lnR w="0">
                      <a:noFill/>
                    </a:lnR>
                    <a:lnT w="0">
                      <a:noFill/>
                    </a:lnT>
                    <a:lnB w="6350">
                      <a:solidFill>
                        <a:srgbClr val="D9D9D9"/>
                      </a:solidFill>
                    </a:lnB>
                    <a:solidFill>
                      <a:srgbClr val="FFFFFF"/>
                    </a:solidFill>
                  </a:tcPr>
                </a:tc>
              </a:tr>
              <a:tr h="384048">
                <a:tc>
                  <a:txBody>
                    <a:bodyPr wrap="square"/>
                    <a:lstStyle/>
                    <a:p>
                      <a:pPr algn="l"/>
                      <a:r>
                        <a:rPr sz="1050" b="0">
                          <a:solidFill>
                            <a:srgbClr val="1A1A1A"/>
                          </a:solidFill>
                          <a:latin typeface="Noto Sans KR"/>
                          <a:ea typeface="Noto Sans KR"/>
                          <a:cs typeface="Noto Sans KR"/>
                        </a:rPr>
                        <a:t>언론·기타</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7</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언론 보도·업체 자료. 사실 확인용 보조 근거</a:t>
                      </a:r>
                    </a:p>
                  </a:txBody>
                  <a:tcPr marL="45720" marR="45720" marT="18000" marB="18000" anchor="ctr">
                    <a:lnL w="0">
                      <a:noFill/>
                    </a:lnL>
                    <a:lnR w="0">
                      <a:noFill/>
                    </a:lnR>
                    <a:lnT w="0">
                      <a:noFill/>
                    </a:lnT>
                    <a:lnB w="6350">
                      <a:solidFill>
                        <a:srgbClr val="D9D9D9"/>
                      </a:solidFill>
                    </a:lnB>
                    <a:solidFill>
                      <a:srgbClr val="FFFFFF"/>
                    </a:solidFill>
                  </a:tcPr>
                </a:tc>
              </a:tr>
              <a:tr h="384048">
                <a:tc>
                  <a:txBody>
                    <a:bodyPr wrap="square"/>
                    <a:lstStyle/>
                    <a:p>
                      <a:pPr algn="l"/>
                      <a:r>
                        <a:rPr sz="1050" b="0">
                          <a:solidFill>
                            <a:srgbClr val="1A1A1A"/>
                          </a:solidFill>
                          <a:latin typeface="Noto Sans KR"/>
                          <a:ea typeface="Noto Sans KR"/>
                          <a:cs typeface="Noto Sans KR"/>
                        </a:rPr>
                        <a:t>내부 제공</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2026-10-06 내부 회의에서 나온 내용. 검증 전</a:t>
                      </a:r>
                    </a:p>
                  </a:txBody>
                  <a:tcPr marL="45720" marR="45720" marT="18000" marB="18000" anchor="ctr">
                    <a:lnL w="0">
                      <a:noFill/>
                    </a:lnL>
                    <a:lnR w="0">
                      <a:noFill/>
                    </a:lnR>
                    <a:lnT w="0">
                      <a:noFill/>
                    </a:lnT>
                    <a:lnB w="6350">
                      <a:solidFill>
                        <a:srgbClr val="D9D9D9"/>
                      </a:solidFill>
                    </a:lnB>
                    <a:solidFill>
                      <a:srgbClr val="FFFFFF"/>
                    </a:solidFill>
                  </a:tcPr>
                </a:tc>
              </a:tr>
              <a:tr h="384048">
                <a:tc>
                  <a:txBody>
                    <a:bodyPr wrap="square"/>
                    <a:lstStyle/>
                    <a:p>
                      <a:pPr algn="l"/>
                      <a:r>
                        <a:rPr sz="1050" b="0">
                          <a:solidFill>
                            <a:srgbClr val="1A1A1A"/>
                          </a:solidFill>
                          <a:latin typeface="Noto Sans KR"/>
                          <a:ea typeface="Noto Sans KR"/>
                          <a:cs typeface="Noto Sans KR"/>
                        </a:rPr>
                        <a:t>분석 가정</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의사결정 비교를 위한 분석상 가정. 견적·실측으로 교체 필요</a:t>
                      </a:r>
                    </a:p>
                  </a:txBody>
                  <a:tcPr marL="45720" marR="45720" marT="18000" marB="18000" anchor="ctr">
                    <a:lnL w="0">
                      <a:noFill/>
                    </a:lnL>
                    <a:lnR w="0">
                      <a:noFill/>
                    </a:lnR>
                    <a:lnT w="0">
                      <a:noFill/>
                    </a:lnT>
                    <a:lnB w="6350">
                      <a:solidFill>
                        <a:srgbClr val="D9D9D9"/>
                      </a:solidFill>
                    </a:lnB>
                    <a:solidFill>
                      <a:srgbClr val="FFFFFF"/>
                    </a:solidFill>
                  </a:tcPr>
                </a:tc>
              </a:tr>
              <a:tr h="384048">
                <a:tc>
                  <a:txBody>
                    <a:bodyPr wrap="square"/>
                    <a:lstStyle/>
                    <a:p>
                      <a:pPr algn="l"/>
                      <a:r>
                        <a:rPr sz="1050" b="0">
                          <a:solidFill>
                            <a:srgbClr val="1A1A1A"/>
                          </a:solidFill>
                          <a:latin typeface="Noto Sans KR"/>
                          <a:ea typeface="Noto Sans KR"/>
                          <a:cs typeface="Noto Sans KR"/>
                        </a:rPr>
                        <a:t>기관 확인 필요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ctr"/>
                      <a:r>
                        <a:rPr sz="1050" b="0">
                          <a:solidFill>
                            <a:srgbClr val="1A1A1A"/>
                          </a:solidFill>
                          <a:latin typeface="Noto Sans KR"/>
                          <a:ea typeface="Noto Sans KR"/>
                          <a:cs typeface="Noto Sans KR"/>
                        </a:rPr>
                        <a:t>0</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담당 기관·업체에 질의해야 확정되는 항목 (문의 예정)</a:t>
                      </a:r>
                    </a:p>
                  </a:txBody>
                  <a:tcPr marL="45720" marR="45720" marT="18000" marB="18000" anchor="ctr">
                    <a:lnL w="0">
                      <a:noFill/>
                    </a:lnL>
                    <a:lnR w="0">
                      <a:noFill/>
                    </a:lnR>
                    <a:lnT w="0">
                      <a:noFill/>
                    </a:lnT>
                    <a:lnB w="6350">
                      <a:solidFill>
                        <a:srgbClr val="D9D9D9"/>
                      </a:solidFill>
                    </a:lnB>
                    <a:solidFill>
                      <a:srgbClr val="FFFFFF"/>
                    </a:solidFill>
                  </a:tcPr>
                </a:tc>
              </a:tr>
              <a:tr h="384048">
                <a:tc>
                  <a:txBody>
                    <a:bodyPr wrap="square"/>
                    <a:lstStyle/>
                    <a:p>
                      <a:pPr algn="l"/>
                      <a:r>
                        <a:rPr sz="1050" b="0">
                          <a:solidFill>
                            <a:srgbClr val="1A1A1A"/>
                          </a:solidFill>
                          <a:latin typeface="Noto Sans KR"/>
                          <a:ea typeface="Noto Sans KR"/>
                          <a:cs typeface="Noto Sans KR"/>
                        </a:rPr>
                        <a:t>정보 없음</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ctr"/>
                      <a:r>
                        <a:rPr sz="1050" b="0">
                          <a:solidFill>
                            <a:srgbClr val="1A1A1A"/>
                          </a:solidFill>
                          <a:latin typeface="Noto Sans KR"/>
                          <a:ea typeface="Noto Sans KR"/>
                          <a:cs typeface="Noto Sans KR"/>
                        </a:rPr>
                        <a:t>0</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050" b="0">
                          <a:solidFill>
                            <a:srgbClr val="1A1A1A"/>
                          </a:solidFill>
                          <a:latin typeface="Noto Sans KR"/>
                          <a:ea typeface="Noto Sans KR"/>
                          <a:cs typeface="Noto Sans KR"/>
                        </a:rPr>
                        <a:t>현재 정보 없음 (0이 아님)</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graphicFrame>
        <p:nvGraphicFramePr>
          <p:cNvPr id="165" name="Table 164"/>
          <p:cNvGraphicFramePr>
            <a:graphicFrameLocks noGrp="1"/>
          </p:cNvGraphicFramePr>
          <p:nvPr/>
        </p:nvGraphicFramePr>
        <p:xfrm>
          <a:off x="283464" y="3977639"/>
          <a:ext cx="8567928" cy="1920240"/>
        </p:xfrm>
        <a:graphic>
          <a:graphicData uri="http://schemas.openxmlformats.org/drawingml/2006/table">
            <a:tbl>
              <a:tblPr firstRow="0" bandRow="0"/>
              <a:tblGrid>
                <a:gridCol w="2926080"/>
                <a:gridCol w="2377440"/>
                <a:gridCol w="3264408"/>
              </a:tblGrid>
              <a:tr h="274320">
                <a:tc>
                  <a:txBody>
                    <a:bodyPr wrap="square"/>
                    <a:lstStyle/>
                    <a:p>
                      <a:pPr algn="ctr"/>
                      <a:r>
                        <a:rPr sz="1050" b="1">
                          <a:solidFill>
                            <a:srgbClr val="FFFFFF"/>
                          </a:solidFill>
                          <a:latin typeface="Noto Sans KR"/>
                          <a:ea typeface="Noto Sans KR"/>
                          <a:cs typeface="Noto Sans KR"/>
                        </a:rPr>
                        <a:t>핵심 주장</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근거 수준</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c>
                  <a:txBody>
                    <a:bodyPr wrap="square"/>
                    <a:lstStyle/>
                    <a:p>
                      <a:pPr algn="ctr"/>
                      <a:r>
                        <a:rPr sz="1050" b="1">
                          <a:solidFill>
                            <a:srgbClr val="FFFFFF"/>
                          </a:solidFill>
                          <a:latin typeface="Noto Sans KR"/>
                          <a:ea typeface="Noto Sans KR"/>
                          <a:cs typeface="Noto Sans KR"/>
                        </a:rPr>
                        <a:t>남은 확인</a:t>
                      </a:r>
                    </a:p>
                  </a:txBody>
                  <a:tcPr marL="45720" marR="45720" marT="18000" marB="18000" anchor="ctr">
                    <a:lnL w="0">
                      <a:noFill/>
                    </a:lnL>
                    <a:lnR w="0">
                      <a:noFill/>
                    </a:lnR>
                    <a:lnT w="12700">
                      <a:solidFill>
                        <a:srgbClr val="404040"/>
                      </a:solidFill>
                    </a:lnT>
                    <a:lnB w="9525">
                      <a:solidFill>
                        <a:srgbClr val="404040"/>
                      </a:solidFill>
                    </a:lnB>
                    <a:solidFill>
                      <a:srgbClr val="595959"/>
                    </a:solidFill>
                  </a:tcPr>
                </a:tc>
              </a:tr>
              <a:tr h="329184">
                <a:tc>
                  <a:txBody>
                    <a:bodyPr wrap="square"/>
                    <a:lstStyle/>
                    <a:p>
                      <a:pPr algn="l"/>
                      <a:r>
                        <a:rPr sz="1050" b="0">
                          <a:solidFill>
                            <a:srgbClr val="1A1A1A"/>
                          </a:solidFill>
                          <a:latin typeface="Noto Sans KR"/>
                          <a:ea typeface="Noto Sans KR"/>
                          <a:cs typeface="Noto Sans KR"/>
                        </a:rPr>
                        <a:t>연말 기한(备案 전환)</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공식 통지(요약)</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원문·TC 제품 적용 여부</a:t>
                      </a:r>
                    </a:p>
                  </a:txBody>
                  <a:tcPr marL="45720" marR="45720" marT="18000" marB="18000" anchor="ctr">
                    <a:lnL w="0">
                      <a:noFill/>
                    </a:lnL>
                    <a:lnR w="0">
                      <a:noFill/>
                    </a:lnR>
                    <a:lnT w="0">
                      <a:noFill/>
                    </a:lnT>
                    <a:lnB w="6350">
                      <a:solidFill>
                        <a:srgbClr val="D9D9D9"/>
                      </a:solidFill>
                    </a:lnB>
                    <a:solidFill>
                      <a:srgbClr val="FFFFFF"/>
                    </a:solidFill>
                  </a:tcPr>
                </a:tc>
              </a:tr>
              <a:tr h="329184">
                <a:tc>
                  <a:txBody>
                    <a:bodyPr wrap="square"/>
                    <a:lstStyle/>
                    <a:p>
                      <a:pPr algn="l"/>
                      <a:r>
                        <a:rPr sz="1050" b="0">
                          <a:solidFill>
                            <a:srgbClr val="1A1A1A"/>
                          </a:solidFill>
                          <a:latin typeface="Noto Sans KR"/>
                          <a:ea typeface="Noto Sans KR"/>
                          <a:cs typeface="Noto Sans KR"/>
                        </a:rPr>
                        <a:t>등록 신청 주체 변경</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공식 초안(요약)</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최종 공포</a:t>
                      </a:r>
                    </a:p>
                  </a:txBody>
                  <a:tcPr marL="45720" marR="45720" marT="18000" marB="18000" anchor="ctr">
                    <a:lnL w="0">
                      <a:noFill/>
                    </a:lnL>
                    <a:lnR w="0">
                      <a:noFill/>
                    </a:lnR>
                    <a:lnT w="0">
                      <a:noFill/>
                    </a:lnT>
                    <a:lnB w="6350">
                      <a:solidFill>
                        <a:srgbClr val="D9D9D9"/>
                      </a:solidFill>
                    </a:lnB>
                    <a:solidFill>
                      <a:srgbClr val="FFFFFF"/>
                    </a:solidFill>
                  </a:tcPr>
                </a:tc>
              </a:tr>
              <a:tr h="329184">
                <a:tc>
                  <a:txBody>
                    <a:bodyPr wrap="square"/>
                    <a:lstStyle/>
                    <a:p>
                      <a:pPr algn="l"/>
                      <a:r>
                        <a:rPr sz="1050" b="0">
                          <a:solidFill>
                            <a:srgbClr val="1A1A1A"/>
                          </a:solidFill>
                          <a:latin typeface="Noto Sans KR"/>
                          <a:ea typeface="Noto Sans KR"/>
                          <a:cs typeface="Noto Sans KR"/>
                        </a:rPr>
                        <a:t>수입·판매에 생산설비 불요</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법률(요약)</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충진·소분 해석</a:t>
                      </a:r>
                    </a:p>
                  </a:txBody>
                  <a:tcPr marL="45720" marR="45720" marT="18000" marB="18000" anchor="ctr">
                    <a:lnL w="0">
                      <a:noFill/>
                    </a:lnL>
                    <a:lnR w="0">
                      <a:noFill/>
                    </a:lnR>
                    <a:lnT w="0">
                      <a:noFill/>
                    </a:lnT>
                    <a:lnB w="6350">
                      <a:solidFill>
                        <a:srgbClr val="D9D9D9"/>
                      </a:solidFill>
                    </a:lnB>
                    <a:solidFill>
                      <a:srgbClr val="FFFFFF"/>
                    </a:solidFill>
                  </a:tcPr>
                </a:tc>
              </a:tr>
              <a:tr h="329184">
                <a:tc>
                  <a:txBody>
                    <a:bodyPr wrap="square"/>
                    <a:lstStyle/>
                    <a:p>
                      <a:pPr algn="l"/>
                      <a:r>
                        <a:rPr sz="1050" b="0">
                          <a:solidFill>
                            <a:srgbClr val="1A1A1A"/>
                          </a:solidFill>
                          <a:latin typeface="Noto Sans KR"/>
                          <a:ea typeface="Noto Sans KR"/>
                          <a:cs typeface="Noto Sans KR"/>
                        </a:rPr>
                        <a:t>무석 무저장 경영 가능</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지방 세칙(요약)</a:t>
                      </a:r>
                    </a:p>
                  </a:txBody>
                  <a:tcPr marL="45720" marR="45720" marT="18000" marB="18000" anchor="ctr">
                    <a:lnL w="0">
                      <a:noFill/>
                    </a:lnL>
                    <a:lnR w="0">
                      <a:noFill/>
                    </a:lnR>
                    <a:lnT w="0">
                      <a:noFill/>
                    </a:lnT>
                    <a:lnB w="6350">
                      <a:solidFill>
                        <a:srgbClr val="D9D9D9"/>
                      </a:solidFill>
                    </a:lnB>
                    <a:solidFill>
                      <a:srgbClr val="FFFFFF"/>
                    </a:solidFill>
                  </a:tcPr>
                </a:tc>
                <a:tc>
                  <a:txBody>
                    <a:bodyPr wrap="square"/>
                    <a:lstStyle/>
                    <a:p>
                      <a:pPr algn="l"/>
                      <a:r>
                        <a:rPr sz="1050" b="0">
                          <a:solidFill>
                            <a:srgbClr val="1A1A1A"/>
                          </a:solidFill>
                          <a:latin typeface="Noto Sans KR"/>
                          <a:ea typeface="Noto Sans KR"/>
                          <a:cs typeface="Noto Sans KR"/>
                        </a:rPr>
                        <a:t>신오구 요건·기한</a:t>
                      </a:r>
                    </a:p>
                  </a:txBody>
                  <a:tcPr marL="45720" marR="45720" marT="18000" marB="18000" anchor="ctr">
                    <a:lnL w="0">
                      <a:noFill/>
                    </a:lnL>
                    <a:lnR w="0">
                      <a:noFill/>
                    </a:lnR>
                    <a:lnT w="0">
                      <a:noFill/>
                    </a:lnT>
                    <a:lnB w="6350">
                      <a:solidFill>
                        <a:srgbClr val="D9D9D9"/>
                      </a:solidFill>
                    </a:lnB>
                    <a:solidFill>
                      <a:srgbClr val="FFFFFF"/>
                    </a:solidFill>
                  </a:tcPr>
                </a:tc>
              </a:tr>
              <a:tr h="329184">
                <a:tc>
                  <a:txBody>
                    <a:bodyPr wrap="square"/>
                    <a:lstStyle/>
                    <a:p>
                      <a:pPr algn="l"/>
                      <a:r>
                        <a:rPr sz="1050" b="0">
                          <a:solidFill>
                            <a:srgbClr val="1A1A1A"/>
                          </a:solidFill>
                          <a:latin typeface="Noto Sans KR"/>
                          <a:ea typeface="Noto Sans KR"/>
                          <a:cs typeface="Noto Sans KR"/>
                        </a:rPr>
                        <a:t>강소성 원구 창고</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050" b="0">
                          <a:solidFill>
                            <a:srgbClr val="1A1A1A"/>
                          </a:solidFill>
                          <a:latin typeface="Noto Sans KR"/>
                          <a:ea typeface="Noto Sans KR"/>
                          <a:cs typeface="Noto Sans KR"/>
                        </a:rPr>
                        <a:t>성 공고(요약)</a:t>
                      </a:r>
                    </a:p>
                  </a:txBody>
                  <a:tcPr marL="45720" marR="45720" marT="18000" marB="18000" anchor="ctr">
                    <a:lnL w="0">
                      <a:noFill/>
                    </a:lnL>
                    <a:lnR w="0">
                      <a:noFill/>
                    </a:lnR>
                    <a:lnT w="0">
                      <a:noFill/>
                    </a:lnT>
                    <a:lnB w="9525">
                      <a:solidFill>
                        <a:srgbClr val="404040"/>
                      </a:solidFill>
                    </a:lnB>
                    <a:solidFill>
                      <a:srgbClr val="FFFFFF"/>
                    </a:solidFill>
                  </a:tcPr>
                </a:tc>
                <a:tc>
                  <a:txBody>
                    <a:bodyPr wrap="square"/>
                    <a:lstStyle/>
                    <a:p>
                      <a:pPr algn="l"/>
                      <a:r>
                        <a:rPr sz="1050" b="0">
                          <a:solidFill>
                            <a:srgbClr val="1A1A1A"/>
                          </a:solidFill>
                          <a:latin typeface="Noto Sans KR"/>
                          <a:ea typeface="Noto Sans KR"/>
                          <a:cs typeface="Noto Sans KR"/>
                        </a:rPr>
                        <a:t>3PL 품목·견적</a:t>
                      </a:r>
                    </a:p>
                  </a:txBody>
                  <a:tcPr marL="45720" marR="45720" marT="18000" marB="18000" anchor="ctr">
                    <a:lnL w="0">
                      <a:noFill/>
                    </a:lnL>
                    <a:lnR w="0">
                      <a:noFill/>
                    </a:lnR>
                    <a:lnT w="0">
                      <a:noFill/>
                    </a:lnT>
                    <a:lnB w="9525">
                      <a:solidFill>
                        <a:srgbClr val="404040"/>
                      </a:solidFill>
                    </a:lnB>
                    <a:solidFill>
                      <a:srgbClr val="FFFFFF"/>
                    </a:solidFill>
                  </a:tcPr>
                </a:tc>
              </a:tr>
            </a:tbl>
          </a:graphicData>
        </a:graphic>
      </p:graphicFrame>
      <p:sp>
        <p:nvSpPr>
          <p:cNvPr id="166" name="TextBox 165"/>
          <p:cNvSpPr txBox="1"/>
          <p:nvPr/>
        </p:nvSpPr>
        <p:spPr>
          <a:xfrm>
            <a:off x="283464" y="6126480"/>
            <a:ext cx="8567928" cy="237744"/>
          </a:xfrm>
          <a:prstGeom prst="rect">
            <a:avLst/>
          </a:prstGeom>
          <a:noFill/>
        </p:spPr>
        <p:txBody>
          <a:bodyPr wrap="square" anchor="t" lIns="27432" rIns="27432" tIns="18288" bIns="18288">
            <a:spAutoFit/>
          </a:bodyPr>
          <a:lstStyle/>
          <a:p>
            <a:pPr algn="l"/>
            <a:r>
              <a:rPr sz="800" b="1">
                <a:solidFill>
                  <a:srgbClr val="7F7F7F"/>
                </a:solidFill>
                <a:latin typeface="Noto Sans KR"/>
                <a:ea typeface="Noto Sans KR"/>
                <a:cs typeface="Noto Sans KR"/>
              </a:rPr>
              <a:t>출처: </a:t>
            </a:r>
            <a:r>
              <a:rPr sz="800" b="0">
                <a:solidFill>
                  <a:srgbClr val="7F7F7F"/>
                </a:solidFill>
                <a:latin typeface="Noto Sans KR"/>
                <a:ea typeface="Noto Sans KR"/>
                <a:cs typeface="Noto Sans KR"/>
              </a:rPr>
              <a:t>04_EvidenceRaw · 18_PPTTraceability</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95502</TotalTime>
  <Words>9459</Words>
  <Application>Microsoft Office PowerPoint</Application>
  <PresentationFormat>화면 슬라이드 쇼(4:3)</PresentationFormat>
  <Paragraphs>2567</Paragraphs>
  <Slides>54</Slides>
  <Notes>54</Notes>
  <HiddenSlides>0</HiddenSlides>
  <MMClips>0</MMClips>
  <ScaleCrop>false</ScaleCrop>
  <HeadingPairs>
    <vt:vector size="6" baseType="variant">
      <vt:variant>
        <vt:lpstr>사용한 글꼴</vt:lpstr>
      </vt:variant>
      <vt:variant>
        <vt:i4>18</vt:i4>
      </vt:variant>
      <vt:variant>
        <vt:lpstr>테마</vt:lpstr>
      </vt:variant>
      <vt:variant>
        <vt:i4>1</vt:i4>
      </vt:variant>
      <vt:variant>
        <vt:lpstr>슬라이드 제목</vt:lpstr>
      </vt:variant>
      <vt:variant>
        <vt:i4>54</vt:i4>
      </vt:variant>
    </vt:vector>
  </HeadingPairs>
  <TitlesOfParts>
    <vt:vector size="73" baseType="lpstr">
      <vt:lpstr>Meiryo UI</vt:lpstr>
      <vt:lpstr>ＭＳ Ｐゴシック</vt:lpstr>
      <vt:lpstr>Paperlogy 4 Regular</vt:lpstr>
      <vt:lpstr>Paperlogy 5 Medium</vt:lpstr>
      <vt:lpstr>Paperlogy 6 SemiBold</vt:lpstr>
      <vt:lpstr>Paperlogy 7 Bold</vt:lpstr>
      <vt:lpstr>Paperlogy 8 ExtraBold</vt:lpstr>
      <vt:lpstr>Pretendard</vt:lpstr>
      <vt:lpstr>Pretendard Light</vt:lpstr>
      <vt:lpstr>Pretendard Medium</vt:lpstr>
      <vt:lpstr>Pretendard SemiBold</vt:lpstr>
      <vt:lpstr>맑은 고딕</vt:lpstr>
      <vt:lpstr>맑은 고딕</vt:lpstr>
      <vt:lpstr>Arial</vt:lpstr>
      <vt:lpstr>Arial Narrow</vt:lpstr>
      <vt:lpstr>Tahoma</vt:lpstr>
      <vt:lpstr>Times New Roman</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XP R2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User</dc:creator>
  <cp:lastModifiedBy>김지현(JIHYUN KIM)/SK트리켐 마케팅팀/SKMR</cp:lastModifiedBy>
  <cp:revision>2121</cp:revision>
  <cp:lastPrinted>2024-01-02T22:30:24Z</cp:lastPrinted>
  <dcterms:created xsi:type="dcterms:W3CDTF">2016-08-27T13:10:56Z</dcterms:created>
  <dcterms:modified xsi:type="dcterms:W3CDTF">2026-09-10T02:13:59Z</dcterms:modified>
</cp:coreProperties>
</file>